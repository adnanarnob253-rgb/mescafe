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6" r:id="rId1"/>
    <p:sldMasterId id="2147483659" r:id="rId2"/>
  </p:sldMasterIdLst>
  <p:notesMasterIdLst>
    <p:notesMasterId r:id="rId30"/>
  </p:notesMasterIdLst>
  <p:handoutMasterIdLst>
    <p:handoutMasterId r:id="rId31"/>
  </p:handoutMasterIdLst>
  <p:sldIdLst>
    <p:sldId id="317" r:id="rId3"/>
    <p:sldId id="259" r:id="rId4"/>
    <p:sldId id="394" r:id="rId5"/>
    <p:sldId id="578" r:id="rId6"/>
    <p:sldId id="395" r:id="rId7"/>
    <p:sldId id="575" r:id="rId8"/>
    <p:sldId id="397" r:id="rId9"/>
    <p:sldId id="396" r:id="rId10"/>
    <p:sldId id="581" r:id="rId11"/>
    <p:sldId id="400" r:id="rId12"/>
    <p:sldId id="429" r:id="rId13"/>
    <p:sldId id="401" r:id="rId14"/>
    <p:sldId id="402" r:id="rId15"/>
    <p:sldId id="398" r:id="rId16"/>
    <p:sldId id="404" r:id="rId17"/>
    <p:sldId id="405" r:id="rId18"/>
    <p:sldId id="579" r:id="rId19"/>
    <p:sldId id="580" r:id="rId20"/>
    <p:sldId id="414" r:id="rId21"/>
    <p:sldId id="415" r:id="rId22"/>
    <p:sldId id="417" r:id="rId23"/>
    <p:sldId id="576" r:id="rId24"/>
    <p:sldId id="418" r:id="rId25"/>
    <p:sldId id="419" r:id="rId26"/>
    <p:sldId id="420" r:id="rId27"/>
    <p:sldId id="422" r:id="rId28"/>
    <p:sldId id="577" r:id="rId2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Leah Cooper" initials="LC" lastIdx="8" clrIdx="7"/>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Leah Cooper" initials="" lastIdx="1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002A7E"/>
    <a:srgbClr val="0044CC"/>
    <a:srgbClr val="0040C0"/>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9AC24F-B099-4EA7-BAA2-D55EA1A2808E}" v="2" dt="2025-08-25T01:49:04.870"/>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90452" autoAdjust="0"/>
  </p:normalViewPr>
  <p:slideViewPr>
    <p:cSldViewPr snapToGrid="0" snapToObjects="1">
      <p:cViewPr varScale="1">
        <p:scale>
          <a:sx n="57" d="100"/>
          <a:sy n="57" d="100"/>
        </p:scale>
        <p:origin x="1596" y="4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snapToObjects="1">
      <p:cViewPr varScale="1">
        <p:scale>
          <a:sx n="65" d="100"/>
          <a:sy n="65" d="100"/>
        </p:scale>
        <p:origin x="87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12/11/2025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756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9799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3862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diagram depicts three components: Product costs and Consumer perceptions of value are connected with bidirectional arrows with the middle component, which is titled ‘Competition and other external factors’.</a:t>
            </a: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middle component includes: Competitors’ strategies and prices; Marketing strategy, objectives and mix; Nature of the market and demand.</a:t>
            </a: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Below the first component Product costs is the text ‘Price floor; No profits below this price’.</a:t>
            </a: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Below the third component Consumer perceptions of value is the text ‘Price ceiling; No demand above the price’.</a:t>
            </a: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Below all three components is a bidirectional arrow labelled ‘Price’, leading from ‘$’ at the left-hand side to ‘$$’ at the right-hand side.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52306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DD179D17-3DD5-4F22-BDA6-259265FB8992}" type="slidenum">
              <a:rPr lang="en-GB" smtClean="0"/>
              <a:pPr>
                <a:defRPr/>
              </a:pPr>
              <a:t>6</a:t>
            </a:fld>
            <a:endParaRPr lang="en-GB"/>
          </a:p>
        </p:txBody>
      </p:sp>
    </p:spTree>
    <p:extLst>
      <p:ext uri="{BB962C8B-B14F-4D97-AF65-F5344CB8AC3E}">
        <p14:creationId xmlns:p14="http://schemas.microsoft.com/office/powerpoint/2010/main" val="337149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0838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780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3799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5089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408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8966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Horizontal axis shows 'Sales volume in units' in thousands, ranging from zero to 800, in increments of 200. Vertical axis shows 'dollars' in millions, ranging from zero to 12, in increments of 2. </a:t>
            </a: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A horizontal straight-line curve is starting from 6 million dollars, and is labelled as ‘Fixed cost’.</a:t>
            </a:r>
            <a:endParaRPr lang="en-NZ" sz="1800" dirty="0">
              <a:effectLst/>
              <a:latin typeface="Calibri" panose="020F0502020204030204" pitchFamily="34" charset="0"/>
              <a:ea typeface="Calibri" panose="020F0502020204030204" pitchFamily="34" charset="0"/>
            </a:endParaRP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An upward-sloping straight-line curve, starting from the origin, is intersecting the Fixed cost curve at 400 thousand sales units. This line is labelled as ‘Total revenue’. </a:t>
            </a: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Another upward-sloping straight-line curve, depicting Total cost, is starting from the Fixed cost curve at 6 million dollars. The Total cost curve is intersecting the Total revenue curve at 600 thousand sales units. Vertical distance between the Total cost curve and the Total revenue curve, measured at 800 sales units, is labelled as Target return (2 million dollars).</a:t>
            </a:r>
            <a:endParaRPr lang="en-NZ" sz="1800" dirty="0">
              <a:effectLst/>
              <a:latin typeface="Calibri" panose="020F0502020204030204" pitchFamily="34" charset="0"/>
              <a:ea typeface="Calibri" panose="020F0502020204030204" pitchFamily="34" charset="0"/>
            </a:endParaRPr>
          </a:p>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46493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Components of Cost-based pricing are in the following order:</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Design a good product</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Determine product costs</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Set price based on cost</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spcAft>
                <a:spcPts val="1000"/>
              </a:spcAft>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Convince buyers of product’s value.</a:t>
            </a:r>
            <a:endParaRPr lang="en-NZ" sz="1800" dirty="0">
              <a:effectLst/>
              <a:latin typeface="Calibri" panose="020F0502020204030204" pitchFamily="34" charset="0"/>
              <a:ea typeface="Calibri" panose="020F0502020204030204" pitchFamily="34" charset="0"/>
            </a:endParaRP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Components of Value-based pricing are in the following order:</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Assess customer needs and value perceptions</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Set target price to match customer-perceived value</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Determine costs that can be incurred</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spcAft>
                <a:spcPts val="1000"/>
              </a:spcAft>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Design product to deliver desired value at target price.</a:t>
            </a:r>
            <a:endParaRPr lang="en-NZ"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5273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349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88404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9323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6196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0289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5069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94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50064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1352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833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207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9061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editable copyright line">
    <p:spTree>
      <p:nvGrpSpPr>
        <p:cNvPr id="1" name="Shape 17"/>
        <p:cNvGrpSpPr/>
        <p:nvPr/>
      </p:nvGrpSpPr>
      <p:grpSpPr>
        <a:xfrm>
          <a:off x="0" y="0"/>
          <a:ext cx="0" cy="0"/>
          <a:chOff x="0" y="0"/>
          <a:chExt cx="0" cy="0"/>
        </a:xfrm>
      </p:grpSpPr>
      <p:sp>
        <p:nvSpPr>
          <p:cNvPr id="18" name="Background"/>
          <p:cNvSpPr/>
          <p:nvPr/>
        </p:nvSpPr>
        <p:spPr>
          <a:xfrm>
            <a:off x="0" y="-9525"/>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1"/>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Copyright line">
            <a:extLst>
              <a:ext uri="{FF2B5EF4-FFF2-40B4-BE49-F238E27FC236}">
                <a16:creationId xmlns:a16="http://schemas.microsoft.com/office/drawing/2014/main" id="{0291B9DA-1DAD-4AB4-94B2-688DFC8B093A}"/>
              </a:ext>
            </a:extLst>
          </p:cNvPr>
          <p:cNvSpPr>
            <a:spLocks noGrp="1"/>
          </p:cNvSpPr>
          <p:nvPr>
            <p:ph type="body" sz="quarter" idx="13"/>
          </p:nvPr>
        </p:nvSpPr>
        <p:spPr>
          <a:xfrm>
            <a:off x="1494693" y="6407662"/>
            <a:ext cx="7194635" cy="334534"/>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200">
                <a:latin typeface="Verdana" panose="020B0604030504040204" pitchFamily="34" charset="0"/>
                <a:ea typeface="Verdana" panose="020B0604030504040204" pitchFamily="34" charset="0"/>
                <a:cs typeface="Verdana" panose="020B0604030504040204" pitchFamily="34" charset="0"/>
              </a:defRPr>
            </a:lvl3pPr>
            <a:lvl4pPr>
              <a:defRPr sz="1200">
                <a:latin typeface="Verdana" panose="020B0604030504040204" pitchFamily="34" charset="0"/>
                <a:ea typeface="Verdana" panose="020B0604030504040204" pitchFamily="34" charset="0"/>
                <a:cs typeface="Verdana" panose="020B0604030504040204" pitchFamily="34" charset="0"/>
              </a:defRPr>
            </a:lvl4pPr>
            <a:lvl5pPr>
              <a:defRPr sz="1200">
                <a:latin typeface="Verdana" panose="020B0604030504040204" pitchFamily="34" charset="0"/>
                <a:ea typeface="Verdana" panose="020B0604030504040204" pitchFamily="34" charset="0"/>
                <a:cs typeface="Verdana" panose="020B0604030504040204" pitchFamily="34" charset="0"/>
              </a:defRPr>
            </a:lvl5pPr>
          </a:lstStyle>
          <a:p>
            <a:pPr lvl="0"/>
            <a:endParaRPr lang="en-US" dirty="0"/>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401267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Opener editable copyright line">
    <p:spTree>
      <p:nvGrpSpPr>
        <p:cNvPr id="1" name="Shape 37"/>
        <p:cNvGrpSpPr/>
        <p:nvPr/>
      </p:nvGrpSpPr>
      <p:grpSpPr>
        <a:xfrm>
          <a:off x="0" y="0"/>
          <a:ext cx="0" cy="0"/>
          <a:chOff x="0" y="0"/>
          <a:chExt cx="0" cy="0"/>
        </a:xfrm>
      </p:grpSpPr>
      <p:sp>
        <p:nvSpPr>
          <p:cNvPr id="38" name="Title"/>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ubtitle"/>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Chapter Number"/>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Chapter title"/>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3" name="Book cover">
            <a:extLst>
              <a:ext uri="{FF2B5EF4-FFF2-40B4-BE49-F238E27FC236}">
                <a16:creationId xmlns:a16="http://schemas.microsoft.com/office/drawing/2014/main" id="{0321E090-1CF7-424F-AB1C-A74C4C5178D1}"/>
              </a:ext>
            </a:extLst>
          </p:cNvPr>
          <p:cNvSpPr>
            <a:spLocks noGrp="1"/>
          </p:cNvSpPr>
          <p:nvPr>
            <p:ph type="pic" sz="quarter" idx="13"/>
          </p:nvPr>
        </p:nvSpPr>
        <p:spPr>
          <a:xfrm>
            <a:off x="457200" y="1600200"/>
            <a:ext cx="4360863" cy="4565650"/>
          </a:xfrm>
        </p:spPr>
        <p:txBody>
          <a:bodyPr/>
          <a:lstStyle/>
          <a:p>
            <a:endParaRPr lang="en-US" dirty="0"/>
          </a:p>
        </p:txBody>
      </p:sp>
      <p:sp>
        <p:nvSpPr>
          <p:cNvPr id="9" name="Copyright line"/>
          <p:cNvSpPr>
            <a:spLocks noGrp="1"/>
          </p:cNvSpPr>
          <p:nvPr>
            <p:ph type="body" sz="quarter" idx="17" hasCustomPrompt="1"/>
          </p:nvPr>
        </p:nvSpPr>
        <p:spPr>
          <a:xfrm>
            <a:off x="1452563" y="6165850"/>
            <a:ext cx="7234237" cy="509704"/>
          </a:xfrm>
        </p:spPr>
        <p:txBody>
          <a:bodyPr vert="horz"/>
          <a:lstStyle>
            <a:lvl1pPr marL="101600" indent="0" algn="r">
              <a:buNone/>
              <a:defRPr sz="1200">
                <a:latin typeface="Verdana"/>
                <a:cs typeface="Verdana"/>
              </a:defRPr>
            </a:lvl1p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a:p>
            <a:pPr lvl="0"/>
            <a:endParaRPr lang="en-US" dirty="0"/>
          </a:p>
        </p:txBody>
      </p:sp>
      <p:sp>
        <p:nvSpPr>
          <p:cNvPr id="4" name="Date"/>
          <p:cNvSpPr>
            <a:spLocks noGrp="1"/>
          </p:cNvSpPr>
          <p:nvPr>
            <p:ph type="dt" idx="14"/>
          </p:nvPr>
        </p:nvSpPr>
        <p:spPr/>
        <p:txBody>
          <a:bodyPr/>
          <a:lstStyle/>
          <a:p>
            <a:endParaRPr lang="en-US" dirty="0"/>
          </a:p>
        </p:txBody>
      </p:sp>
      <p:sp>
        <p:nvSpPr>
          <p:cNvPr id="6" name="Slide Number"/>
          <p:cNvSpPr>
            <a:spLocks noGrp="1"/>
          </p:cNvSpPr>
          <p:nvPr>
            <p:ph type="sldNum" idx="16"/>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95558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hasCustomPrompt="1"/>
          </p:nvPr>
        </p:nvSpPr>
        <p:spPr>
          <a:xfrm>
            <a:off x="457200" y="1441450"/>
            <a:ext cx="8232775" cy="4598988"/>
          </a:xfrm>
        </p:spPr>
        <p:txBody>
          <a:bodyPr/>
          <a:lstStyle>
            <a:lvl1pPr marL="1588" indent="0">
              <a:buNone/>
              <a:defRPr sz="2400"/>
            </a:lvl1pPr>
          </a:lstStyle>
          <a:p>
            <a:pPr lvl="0"/>
            <a:r>
              <a:rPr lang="en-US" dirty="0"/>
              <a:t>Edit Master text styles</a:t>
            </a:r>
          </a:p>
        </p:txBody>
      </p:sp>
      <p:sp>
        <p:nvSpPr>
          <p:cNvPr id="27"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8"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4503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598988"/>
          </a:xfrm>
        </p:spPr>
        <p:txBody>
          <a:bodyPr/>
          <a:lstStyle>
            <a:lvl1pPr marL="360363" indent="-258763">
              <a:defRPr sz="2400"/>
            </a:lvl1pPr>
            <a:lvl2pPr marL="809625" indent="-250825">
              <a:defRPr sz="2400"/>
            </a:lvl2pPr>
            <a:lvl3pPr marL="1260475" indent="-244475">
              <a:defRPr sz="2000"/>
            </a:lvl3pPr>
            <a:lvl4pPr marL="1700213" indent="-227013">
              <a:defRPr sz="2000"/>
            </a:lvl4pPr>
            <a:lvl5pPr marL="2149475" indent="-219075">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Background"/>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Figure number"/>
          <p:cNvSpPr txBox="1">
            <a:spLocks noGrp="1"/>
          </p:cNvSpPr>
          <p:nvPr>
            <p:ph type="title" hasCustomPrompt="1"/>
          </p:nvPr>
        </p:nvSpPr>
        <p:spPr>
          <a:xfrm>
            <a:off x="457200" y="228600"/>
            <a:ext cx="8229600" cy="672657"/>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a:t>
            </a:r>
            <a:endParaRPr dirty="0"/>
          </a:p>
        </p:txBody>
      </p:sp>
      <p:sp>
        <p:nvSpPr>
          <p:cNvPr id="4" name="Figure title"/>
          <p:cNvSpPr>
            <a:spLocks noGrp="1"/>
          </p:cNvSpPr>
          <p:nvPr>
            <p:ph type="body" sz="quarter" idx="14" hasCustomPrompt="1"/>
          </p:nvPr>
        </p:nvSpPr>
        <p:spPr>
          <a:xfrm>
            <a:off x="457200" y="901257"/>
            <a:ext cx="8232775" cy="611631"/>
          </a:xfrm>
        </p:spPr>
        <p:txBody>
          <a:bodyPr vert="horz"/>
          <a:lstStyle>
            <a:lvl1pPr marL="0" indent="0">
              <a:buNone/>
              <a:defRPr sz="2400" b="1">
                <a:solidFill>
                  <a:srgbClr val="007FA3"/>
                </a:solidFill>
              </a:defRPr>
            </a:lvl1pPr>
          </a:lstStyle>
          <a:p>
            <a:pPr lvl="0"/>
            <a:r>
              <a:rPr lang="en-AU" dirty="0"/>
              <a:t>Click to add figure title</a:t>
            </a:r>
          </a:p>
        </p:txBody>
      </p:sp>
      <p:sp>
        <p:nvSpPr>
          <p:cNvPr id="3" name="Picture placeholder">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720546"/>
          </a:xfrm>
        </p:spPr>
        <p:txBody>
          <a:bodyPr/>
          <a:lstStyle/>
          <a:p>
            <a:endParaRPr lang="en-US" dirty="0"/>
          </a:p>
        </p:txBody>
      </p:sp>
      <p:sp>
        <p:nvSpPr>
          <p:cNvPr id="55" name="Figure caption"/>
          <p:cNvSpPr txBox="1">
            <a:spLocks noGrp="1"/>
          </p:cNvSpPr>
          <p:nvPr>
            <p:ph type="body" idx="1" hasCustomPrompt="1"/>
          </p:nvPr>
        </p:nvSpPr>
        <p:spPr>
          <a:xfrm>
            <a:off x="457200" y="5233434"/>
            <a:ext cx="8229600" cy="835904"/>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Figure number and title">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dirty="0"/>
          </a:p>
        </p:txBody>
      </p:sp>
      <p:sp>
        <p:nvSpPr>
          <p:cNvPr id="11" name="Caption">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5192713" y="5399088"/>
            <a:ext cx="3592512" cy="490537"/>
          </a:xfrm>
        </p:spPr>
        <p:txBody>
          <a:bodyPr/>
          <a:lstStyle>
            <a:lvl1pPr marL="101600" indent="0">
              <a:buNone/>
              <a:defRPr sz="1200"/>
            </a:lvl1pPr>
          </a:lstStyle>
          <a:p>
            <a:pPr lvl="0"/>
            <a:r>
              <a:rPr lang="en-US" dirty="0"/>
              <a:t>Caption</a:t>
            </a:r>
          </a:p>
        </p:txBody>
      </p:sp>
      <p:sp>
        <p:nvSpPr>
          <p:cNvPr id="5" name="Footer">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ection title"/>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Tex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4978" y="566928"/>
            <a:ext cx="8373208" cy="552892"/>
          </a:xfrm>
        </p:spPr>
        <p:txBody>
          <a:bodyPr/>
          <a:lstStyle>
            <a:lvl1pPr>
              <a:defRPr baseline="0">
                <a:solidFill>
                  <a:srgbClr val="C00000"/>
                </a:solidFill>
              </a:defRPr>
            </a:lvl1pPr>
          </a:lstStyle>
          <a:p>
            <a:r>
              <a:rPr lang="en-US" dirty="0"/>
              <a:t> Managing the product line</a:t>
            </a:r>
            <a:endParaRPr lang="en-GB" dirty="0"/>
          </a:p>
        </p:txBody>
      </p:sp>
      <p:sp>
        <p:nvSpPr>
          <p:cNvPr id="4" name="Rectangle 11"/>
          <p:cNvSpPr>
            <a:spLocks noGrp="1" noChangeArrowheads="1"/>
          </p:cNvSpPr>
          <p:nvPr>
            <p:ph type="sldNum" sz="quarter" idx="10"/>
          </p:nvPr>
        </p:nvSpPr>
        <p:spPr>
          <a:xfrm>
            <a:off x="8811358" y="6678614"/>
            <a:ext cx="332642" cy="179387"/>
          </a:xfrm>
          <a:prstGeom prst="rect">
            <a:avLst/>
          </a:prstGeom>
          <a:ln/>
        </p:spPr>
        <p:txBody>
          <a:bodyPr/>
          <a:lstStyle>
            <a:lvl1pPr>
              <a:defRPr/>
            </a:lvl1pPr>
          </a:lstStyle>
          <a:p>
            <a:pPr>
              <a:defRPr/>
            </a:pPr>
            <a:fld id="{A38E4037-6637-4F58-A3D6-02D940F5DE4F}" type="slidenum">
              <a:rPr lang="en-GB"/>
              <a:pPr>
                <a:defRPr/>
              </a:pPr>
              <a:t>‹#›</a:t>
            </a:fld>
            <a:endParaRPr lang="en-GB" dirty="0"/>
          </a:p>
        </p:txBody>
      </p:sp>
      <p:sp>
        <p:nvSpPr>
          <p:cNvPr id="5" name="Rectangle 27"/>
          <p:cNvSpPr>
            <a:spLocks noGrp="1" noChangeArrowheads="1"/>
          </p:cNvSpPr>
          <p:nvPr>
            <p:ph type="ftr" sz="quarter" idx="11"/>
          </p:nvPr>
        </p:nvSpPr>
        <p:spPr>
          <a:xfrm>
            <a:off x="385397" y="6697664"/>
            <a:ext cx="8253046" cy="160337"/>
          </a:xfrm>
          <a:prstGeom prst="rect">
            <a:avLst/>
          </a:prstGeom>
          <a:ln/>
        </p:spPr>
        <p:txBody>
          <a:bodyPr/>
          <a:lstStyle>
            <a:lvl1pPr>
              <a:defRPr/>
            </a:lvl1pPr>
          </a:lstStyle>
          <a:p>
            <a:pPr>
              <a:defRPr/>
            </a:pPr>
            <a:r>
              <a:rPr lang="en-AU" dirty="0"/>
              <a:t>Copyright ©2015 Pearson Australia (a division of Pearson Australia Group Pty Ltd) – 9781486002696/Armstrong/Principles of Marketing/6</a:t>
            </a:r>
            <a:r>
              <a:rPr lang="en-AU" baseline="30000" dirty="0"/>
              <a:t>th</a:t>
            </a:r>
            <a:r>
              <a:rPr lang="en-AU" dirty="0"/>
              <a:t> edition</a:t>
            </a:r>
          </a:p>
        </p:txBody>
      </p:sp>
    </p:spTree>
    <p:extLst>
      <p:ext uri="{BB962C8B-B14F-4D97-AF65-F5344CB8AC3E}">
        <p14:creationId xmlns:p14="http://schemas.microsoft.com/office/powerpoint/2010/main" val="18973161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
        <p:nvSpPr>
          <p:cNvPr id="16" name="Shape 16"/>
          <p:cNvSpPr txBox="1"/>
          <p:nvPr/>
        </p:nvSpPr>
        <p:spPr>
          <a:xfrm>
            <a:off x="1524001" y="6229160"/>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endParaRPr lang="en-AU" sz="1200" b="0" i="0" u="none" strike="noStrike" cap="none" dirty="0">
              <a:solidFill>
                <a:schemeClr val="tx1"/>
              </a:solidFill>
              <a:latin typeface="Verdana"/>
              <a:ea typeface="Arial"/>
              <a:cs typeface="Verdana"/>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524916008"/>
      </p:ext>
    </p:extLst>
  </p:cSld>
  <p:clrMap bg1="lt1" tx1="dk1" bg2="dk2" tx2="lt2" accent1="accent1" accent2="accent2" accent3="accent3" accent4="accent4" accent5="accent5" accent6="accent6" hlink="hlink" folHlink="folHlink"/>
  <p:sldLayoutIdLst>
    <p:sldLayoutId id="2147483688" r:id="rId1"/>
    <p:sldLayoutId id="214748368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Text box"/>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Pearson logo" descr="Pearson Logo"/>
          <p:cNvPicPr preferRelativeResize="0"/>
          <p:nvPr/>
        </p:nvPicPr>
        <p:blipFill rotWithShape="1">
          <a:blip r:embed="rId13">
            <a:alphaModFix/>
          </a:blip>
          <a:srcRect/>
          <a:stretch/>
        </p:blipFill>
        <p:spPr>
          <a:xfrm>
            <a:off x="443972" y="6429709"/>
            <a:ext cx="917999" cy="279914"/>
          </a:xfrm>
          <a:prstGeom prst="rect">
            <a:avLst/>
          </a:prstGeom>
          <a:noFill/>
          <a:ln>
            <a:noFill/>
          </a:ln>
        </p:spPr>
      </p:pic>
      <p:sp>
        <p:nvSpPr>
          <p:cNvPr id="16" name="Copyright line"/>
          <p:cNvSpPr txBox="1"/>
          <p:nvPr/>
        </p:nvSpPr>
        <p:spPr>
          <a:xfrm>
            <a:off x="1524001" y="6280967"/>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r>
              <a:rPr lang="en-AU" sz="1200" dirty="0">
                <a:solidFill>
                  <a:schemeClr val="tx1"/>
                </a:solidFill>
                <a:ea typeface="Open Sans"/>
                <a:sym typeface="Open Sans"/>
              </a:rPr>
              <a:t>Copyright © 2021 Pearson Australia (a division of Pearson Australia Group Pty Ltd)</a:t>
            </a:r>
          </a:p>
          <a:p>
            <a:pPr marL="0" lvl="0" algn="r">
              <a:spcBef>
                <a:spcPts val="0"/>
              </a:spcBef>
              <a:buClr>
                <a:schemeClr val="lt2"/>
              </a:buClr>
            </a:pPr>
            <a:r>
              <a:rPr lang="en-AU" sz="1200" dirty="0">
                <a:solidFill>
                  <a:schemeClr val="tx1"/>
                </a:solidFill>
                <a:ea typeface="Open Sans"/>
                <a:sym typeface="Open Sans"/>
              </a:rPr>
              <a:t>9781488626203/Armstrong/Principles of Marketing, 8e</a:t>
            </a:r>
            <a:endParaRPr lang="en-AU" sz="1200" dirty="0">
              <a:solidFill>
                <a:schemeClr val="tx1"/>
              </a:solidFill>
            </a:endParaRPr>
          </a:p>
        </p:txBody>
      </p:sp>
      <p:sp>
        <p:nvSpPr>
          <p:cNvPr id="2" name="Footer">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cSld>
  <p:clrMap bg1="lt1" tx1="dk1" bg2="dk2" tx2="lt2" accent1="accent1" accent2="accent2" accent3="accent3" accent4="accent4" accent5="accent5" accent6="accent6" hlink="hlink" folHlink="folHlink"/>
  <p:sldLayoutIdLst>
    <p:sldLayoutId id="2147483689" r:id="rId1"/>
    <p:sldLayoutId id="2147483649" r:id="rId2"/>
    <p:sldLayoutId id="2147483664" r:id="rId3"/>
    <p:sldLayoutId id="2147483671" r:id="rId4"/>
    <p:sldLayoutId id="2147483673" r:id="rId5"/>
    <p:sldLayoutId id="2147483655" r:id="rId6"/>
    <p:sldLayoutId id="2147483656" r:id="rId7"/>
    <p:sldLayoutId id="2147483670" r:id="rId8"/>
    <p:sldLayoutId id="2147483669" r:id="rId9"/>
    <p:sldLayoutId id="2147483657" r:id="rId10"/>
    <p:sldLayoutId id="214748369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video" Target="https://www.youtube.com/embed/lmLZMLhqN4k?feature=oembed" TargetMode="Externa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Marketing</a:t>
            </a:r>
          </a:p>
        </p:txBody>
      </p:sp>
      <p:sp>
        <p:nvSpPr>
          <p:cNvPr id="3" name="Sub heading"/>
          <p:cNvSpPr>
            <a:spLocks noGrp="1"/>
          </p:cNvSpPr>
          <p:nvPr>
            <p:ph type="body" idx="1"/>
          </p:nvPr>
        </p:nvSpPr>
        <p:spPr/>
        <p:txBody>
          <a:bodyPr/>
          <a:lstStyle/>
          <a:p>
            <a:r>
              <a:rPr lang="en-US" sz="2400" dirty="0"/>
              <a:t>8</a:t>
            </a:r>
            <a:r>
              <a:rPr lang="en-US" sz="2400" baseline="30000" dirty="0"/>
              <a:t>th</a:t>
            </a:r>
            <a:r>
              <a:rPr lang="en-US" sz="2400" dirty="0"/>
              <a:t> edition</a:t>
            </a:r>
          </a:p>
        </p:txBody>
      </p:sp>
      <p:sp>
        <p:nvSpPr>
          <p:cNvPr id="5" name="Chapter #"/>
          <p:cNvSpPr>
            <a:spLocks noGrp="1"/>
          </p:cNvSpPr>
          <p:nvPr>
            <p:ph type="body" idx="2"/>
          </p:nvPr>
        </p:nvSpPr>
        <p:spPr>
          <a:xfrm>
            <a:off x="4572000" y="1600200"/>
            <a:ext cx="4114800" cy="1600198"/>
          </a:xfrm>
        </p:spPr>
        <p:txBody>
          <a:bodyPr/>
          <a:lstStyle/>
          <a:p>
            <a:r>
              <a:rPr lang="en-US" dirty="0"/>
              <a:t>Chapter 9</a:t>
            </a:r>
          </a:p>
        </p:txBody>
      </p:sp>
      <p:sp>
        <p:nvSpPr>
          <p:cNvPr id="6" name="Chapter title"/>
          <p:cNvSpPr>
            <a:spLocks noGrp="1"/>
          </p:cNvSpPr>
          <p:nvPr>
            <p:ph type="body" idx="3"/>
          </p:nvPr>
        </p:nvSpPr>
        <p:spPr>
          <a:xfrm>
            <a:off x="4572000" y="3200400"/>
            <a:ext cx="4114800" cy="2925763"/>
          </a:xfrm>
        </p:spPr>
        <p:txBody>
          <a:bodyPr/>
          <a:lstStyle/>
          <a:p>
            <a:r>
              <a:rPr lang="en-US" sz="2400" dirty="0"/>
              <a:t>Pricing: Capturing customer value</a:t>
            </a:r>
          </a:p>
        </p:txBody>
      </p:sp>
      <p:sp>
        <p:nvSpPr>
          <p:cNvPr id="7" name="Copyright line"/>
          <p:cNvSpPr>
            <a:spLocks noGrp="1"/>
          </p:cNvSpPr>
          <p:nvPr>
            <p:ph type="body" sz="quarter" idx="17"/>
          </p:nvPr>
        </p:nvSpPr>
        <p:spPr/>
        <p:txBody>
          <a:body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p:txBody>
      </p:sp>
      <p:pic>
        <p:nvPicPr>
          <p:cNvPr id="18" name="Picture 17" descr="Front cover: Principles of marketing 8th edition by Armstrong, Denize, Volkov, Adam, Kotler, Ang, Love, Doherty and van Esch">
            <a:extLst>
              <a:ext uri="{FF2B5EF4-FFF2-40B4-BE49-F238E27FC236}">
                <a16:creationId xmlns:a16="http://schemas.microsoft.com/office/drawing/2014/main" id="{6CA55C66-AF2C-40EA-9858-A7FB2499B473}"/>
              </a:ext>
            </a:extLst>
          </p:cNvPr>
          <p:cNvPicPr>
            <a:picLocks noChangeAspect="1"/>
          </p:cNvPicPr>
          <p:nvPr/>
        </p:nvPicPr>
        <p:blipFill>
          <a:blip r:embed="rId3"/>
          <a:stretch>
            <a:fillRect/>
          </a:stretch>
        </p:blipFill>
        <p:spPr>
          <a:xfrm>
            <a:off x="565665" y="1439257"/>
            <a:ext cx="3692010" cy="4639959"/>
          </a:xfrm>
          <a:prstGeom prst="rect">
            <a:avLst/>
          </a:prstGeom>
        </p:spPr>
      </p:pic>
    </p:spTree>
    <p:extLst>
      <p:ext uri="{BB962C8B-B14F-4D97-AF65-F5344CB8AC3E}">
        <p14:creationId xmlns:p14="http://schemas.microsoft.com/office/powerpoint/2010/main" val="2404558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What is a price?</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1324682"/>
            <a:ext cx="8229599" cy="4525963"/>
          </a:xfrm>
        </p:spPr>
        <p:txBody>
          <a:bodyPr/>
          <a:lstStyle/>
          <a:p>
            <a:r>
              <a:rPr lang="en-US" sz="2000" b="1" dirty="0"/>
              <a:t>Price</a:t>
            </a:r>
            <a:r>
              <a:rPr lang="en-US" sz="2000" dirty="0"/>
              <a:t> </a:t>
            </a:r>
            <a:br>
              <a:rPr lang="en-US" sz="2000" dirty="0"/>
            </a:br>
            <a:r>
              <a:rPr lang="en-US" sz="2000" dirty="0"/>
              <a:t>is the amount of money charged for a product or service, </a:t>
            </a:r>
            <a:br>
              <a:rPr lang="en-US" sz="2000" dirty="0"/>
            </a:br>
            <a:r>
              <a:rPr lang="en-US" sz="2000" dirty="0"/>
              <a:t>				or </a:t>
            </a:r>
            <a:br>
              <a:rPr lang="en-US" sz="2000" dirty="0"/>
            </a:br>
            <a:r>
              <a:rPr lang="en-US" sz="2000" dirty="0"/>
              <a:t>the sum of the values consumers exchange for the benefits of having or using the product or service.</a:t>
            </a:r>
            <a:br>
              <a:rPr lang="en-US" sz="2000" dirty="0"/>
            </a:br>
            <a:endParaRPr lang="en-US" sz="2000" dirty="0"/>
          </a:p>
          <a:p>
            <a:pPr lvl="1">
              <a:buFont typeface="Wingdings" panose="05000000000000000000" pitchFamily="2" charset="2"/>
              <a:buChar char="§"/>
            </a:pPr>
            <a:r>
              <a:rPr lang="en-US" sz="2000" dirty="0"/>
              <a:t>is the only element in the marketing mix that produces revenue; all other elements represent costs</a:t>
            </a:r>
          </a:p>
          <a:p>
            <a:pPr lvl="1">
              <a:buFont typeface="Wingdings" panose="05000000000000000000" pitchFamily="2" charset="2"/>
              <a:buChar char="§"/>
            </a:pPr>
            <a:r>
              <a:rPr lang="en-US" sz="2000" dirty="0"/>
              <a:t>is one of the most flexible marketing mix elements</a:t>
            </a:r>
          </a:p>
          <a:p>
            <a:pPr lvl="1">
              <a:buFont typeface="Wingdings" panose="05000000000000000000" pitchFamily="2" charset="2"/>
              <a:buChar char="§"/>
            </a:pPr>
            <a:r>
              <a:rPr lang="en-US" sz="2000" dirty="0"/>
              <a:t>is also the number-one problem facing many marketing executives</a:t>
            </a:r>
          </a:p>
          <a:p>
            <a:pPr lvl="1">
              <a:buFont typeface="Wingdings" panose="05000000000000000000" pitchFamily="2" charset="2"/>
              <a:buChar char="§"/>
            </a:pPr>
            <a:r>
              <a:rPr lang="en-US" sz="2000" dirty="0"/>
              <a:t>has a direct impact on a firm’s bottom line.</a:t>
            </a:r>
          </a:p>
          <a:p>
            <a:pPr lvl="1">
              <a:buFont typeface="Wingdings" panose="05000000000000000000" pitchFamily="2" charset="2"/>
              <a:buChar char="§"/>
            </a:pPr>
            <a:r>
              <a:rPr lang="en-US" sz="2000" dirty="0"/>
              <a:t>Smart managers treat pricing as a key strategic tool for creating and capturing customer value. </a:t>
            </a:r>
          </a:p>
          <a:p>
            <a:pPr lvl="1">
              <a:buFont typeface="Wingdings" panose="05000000000000000000" pitchFamily="2" charset="2"/>
              <a:buChar char="§"/>
            </a:pPr>
            <a:endParaRPr lang="en-US" sz="2000" dirty="0"/>
          </a:p>
          <a:p>
            <a:endParaRPr lang="en-US" sz="2000" dirty="0"/>
          </a:p>
          <a:p>
            <a:pPr lvl="1"/>
            <a:endParaRPr lang="en-US" sz="2000" dirty="0"/>
          </a:p>
          <a:p>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718907"/>
          </a:xfrm>
        </p:spPr>
        <p:txBody>
          <a:bodyPr/>
          <a:lstStyle/>
          <a:p>
            <a:r>
              <a:rPr lang="en-AU" altLang="en-US" sz="3200" b="1" dirty="0"/>
              <a:t>The importance of price</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8" y="944217"/>
            <a:ext cx="8229599" cy="4525963"/>
          </a:xfrm>
        </p:spPr>
        <p:txBody>
          <a:bodyPr/>
          <a:lstStyle/>
          <a:p>
            <a:r>
              <a:rPr lang="en-US" sz="2000" dirty="0"/>
              <a:t>The price the company charges will fall somewhere between one that is too high to produce any demand and one that is too low to produce a profit.</a:t>
            </a:r>
          </a:p>
          <a:p>
            <a:r>
              <a:rPr lang="en-US" sz="2000" dirty="0"/>
              <a:t>Here are some of the considerations in setting price:</a:t>
            </a:r>
          </a:p>
          <a:p>
            <a:pPr lvl="1">
              <a:buFont typeface="Wingdings" panose="05000000000000000000" pitchFamily="2" charset="2"/>
              <a:buChar char="§"/>
            </a:pPr>
            <a:r>
              <a:rPr lang="en-AU" sz="2000" b="1" dirty="0"/>
              <a:t>Price: </a:t>
            </a:r>
            <a:r>
              <a:rPr lang="en-AU" sz="2000" dirty="0"/>
              <a:t>what is given in an exchange for a good or service</a:t>
            </a:r>
          </a:p>
          <a:p>
            <a:pPr lvl="1">
              <a:buFont typeface="Wingdings" panose="05000000000000000000" pitchFamily="2" charset="2"/>
              <a:buChar char="§"/>
            </a:pPr>
            <a:r>
              <a:rPr lang="en-AU" sz="2000" b="1" dirty="0"/>
              <a:t>Revenue: </a:t>
            </a:r>
            <a:r>
              <a:rPr lang="en-AU" sz="2000" dirty="0"/>
              <a:t>the price charged to customers multiplied by the number of units sold</a:t>
            </a:r>
          </a:p>
          <a:p>
            <a:pPr lvl="1">
              <a:buFont typeface="Wingdings" panose="05000000000000000000" pitchFamily="2" charset="2"/>
              <a:buChar char="§"/>
            </a:pPr>
            <a:r>
              <a:rPr lang="en-AU" sz="2000" b="1" dirty="0"/>
              <a:t>Profit: </a:t>
            </a:r>
            <a:r>
              <a:rPr lang="en-AU" sz="2000" dirty="0"/>
              <a:t>revenue minus expenses</a:t>
            </a:r>
          </a:p>
          <a:p>
            <a:pPr lvl="1">
              <a:buFont typeface="Wingdings" panose="05000000000000000000" pitchFamily="2" charset="2"/>
              <a:buChar char="§"/>
            </a:pPr>
            <a:r>
              <a:rPr lang="en-AU" sz="2000" b="1" dirty="0"/>
              <a:t>To earn a profit: </a:t>
            </a:r>
            <a:r>
              <a:rPr lang="en-AU" sz="2000" dirty="0"/>
              <a:t>managers must choose a price that isn’t too high or too low</a:t>
            </a:r>
          </a:p>
          <a:p>
            <a:pPr lvl="1">
              <a:buFont typeface="Wingdings" panose="05000000000000000000" pitchFamily="2" charset="2"/>
              <a:buChar char="§"/>
            </a:pPr>
            <a:r>
              <a:rPr lang="en-US" sz="2000" b="1" dirty="0"/>
              <a:t>Customer perception</a:t>
            </a:r>
          </a:p>
          <a:p>
            <a:pPr lvl="1">
              <a:buFont typeface="Wingdings" panose="05000000000000000000" pitchFamily="2" charset="2"/>
              <a:buChar char="§"/>
            </a:pPr>
            <a:r>
              <a:rPr lang="en-US" sz="2000" b="1" dirty="0"/>
              <a:t>Competition</a:t>
            </a:r>
            <a:r>
              <a:rPr lang="en-US" sz="2000" dirty="0"/>
              <a:t>.</a:t>
            </a:r>
          </a:p>
          <a:p>
            <a:pPr lvl="1"/>
            <a:endParaRPr lang="en-US" sz="2000" dirty="0"/>
          </a:p>
          <a:p>
            <a:pPr marL="101600" indent="0">
              <a:buNone/>
            </a:pPr>
            <a:endParaRPr lang="en-US" sz="2000" dirty="0"/>
          </a:p>
          <a:p>
            <a:pPr marL="558800" lvl="1" indent="0">
              <a:buNone/>
            </a:pPr>
            <a:endParaRPr lang="en-US" sz="2000" dirty="0"/>
          </a:p>
        </p:txBody>
      </p:sp>
    </p:spTree>
    <p:extLst>
      <p:ext uri="{BB962C8B-B14F-4D97-AF65-F5344CB8AC3E}">
        <p14:creationId xmlns:p14="http://schemas.microsoft.com/office/powerpoint/2010/main" val="2228579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99029"/>
          </a:xfrm>
        </p:spPr>
        <p:txBody>
          <a:bodyPr/>
          <a:lstStyle/>
          <a:p>
            <a:r>
              <a:rPr lang="en-AU" sz="3200" b="1" dirty="0"/>
              <a:t>Marketing objective of pricing</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166018"/>
            <a:ext cx="8229599" cy="4525963"/>
          </a:xfrm>
        </p:spPr>
        <p:txBody>
          <a:bodyPr/>
          <a:lstStyle/>
          <a:p>
            <a:r>
              <a:rPr lang="en-AU" sz="2000" dirty="0"/>
              <a:t>Price decisions must be coordinated with product design, distribution and promotion decisions to form a </a:t>
            </a:r>
            <a:r>
              <a:rPr lang="en-AU" sz="2000" b="1" dirty="0"/>
              <a:t>consistent and effective</a:t>
            </a:r>
            <a:r>
              <a:rPr lang="en-AU" sz="2000" dirty="0"/>
              <a:t> marketing program</a:t>
            </a:r>
          </a:p>
          <a:p>
            <a:r>
              <a:rPr lang="en-AU" sz="2000" dirty="0"/>
              <a:t>Price decisions must also be based on the understanding of the target market</a:t>
            </a:r>
          </a:p>
          <a:p>
            <a:r>
              <a:rPr lang="en-AU" sz="2000" dirty="0"/>
              <a:t>JC Penny and pricing strategy</a:t>
            </a:r>
            <a:br>
              <a:rPr lang="en-AU" sz="2000" dirty="0"/>
            </a:br>
            <a:endParaRPr lang="en-AU" sz="2000" dirty="0"/>
          </a:p>
          <a:p>
            <a:pPr marL="558800" lvl="1" indent="0">
              <a:buNone/>
            </a:pPr>
            <a:endParaRPr lang="en-US" sz="2000" dirty="0"/>
          </a:p>
        </p:txBody>
      </p:sp>
      <p:pic>
        <p:nvPicPr>
          <p:cNvPr id="5" name="Online Media 4" title="JC Penny Fires President After Failed Strategy June 2012">
            <a:hlinkClick r:id="" action="ppaction://media"/>
            <a:extLst>
              <a:ext uri="{FF2B5EF4-FFF2-40B4-BE49-F238E27FC236}">
                <a16:creationId xmlns:a16="http://schemas.microsoft.com/office/drawing/2014/main" id="{FCA8C18D-8822-1BB1-4EC2-C8B8977318E1}"/>
              </a:ext>
            </a:extLst>
          </p:cNvPr>
          <p:cNvPicPr>
            <a:picLocks noRot="1" noChangeAspect="1"/>
          </p:cNvPicPr>
          <p:nvPr>
            <a:videoFile r:link="rId1"/>
          </p:nvPr>
        </p:nvPicPr>
        <p:blipFill>
          <a:blip r:embed="rId4"/>
          <a:stretch>
            <a:fillRect/>
          </a:stretch>
        </p:blipFill>
        <p:spPr>
          <a:xfrm>
            <a:off x="721063" y="3516203"/>
            <a:ext cx="3850935" cy="2175778"/>
          </a:xfrm>
          <a:prstGeom prst="rect">
            <a:avLst/>
          </a:prstGeom>
        </p:spPr>
      </p:pic>
    </p:spTree>
    <p:extLst>
      <p:ext uri="{BB962C8B-B14F-4D97-AF65-F5344CB8AC3E}">
        <p14:creationId xmlns:p14="http://schemas.microsoft.com/office/powerpoint/2010/main" val="4831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0FF5A-3BB7-4868-AEF0-9C8F01C05449}"/>
              </a:ext>
            </a:extLst>
          </p:cNvPr>
          <p:cNvSpPr>
            <a:spLocks noGrp="1"/>
          </p:cNvSpPr>
          <p:nvPr>
            <p:ph type="title"/>
          </p:nvPr>
        </p:nvSpPr>
        <p:spPr/>
        <p:txBody>
          <a:bodyPr/>
          <a:lstStyle/>
          <a:p>
            <a:r>
              <a:rPr lang="en-NZ" sz="3200" dirty="0"/>
              <a:t>Considerations in setting price</a:t>
            </a:r>
          </a:p>
        </p:txBody>
      </p:sp>
      <p:pic>
        <p:nvPicPr>
          <p:cNvPr id="6" name="Picture 5" descr="A diagram shows points to consider in setting the price. Full alt text description in Notes.">
            <a:extLst>
              <a:ext uri="{FF2B5EF4-FFF2-40B4-BE49-F238E27FC236}">
                <a16:creationId xmlns:a16="http://schemas.microsoft.com/office/drawing/2014/main" id="{8AF4439A-6CAA-4A26-B867-250737100359}"/>
              </a:ext>
            </a:extLst>
          </p:cNvPr>
          <p:cNvPicPr>
            <a:picLocks noChangeAspect="1"/>
          </p:cNvPicPr>
          <p:nvPr/>
        </p:nvPicPr>
        <p:blipFill>
          <a:blip r:embed="rId3"/>
          <a:stretch>
            <a:fillRect/>
          </a:stretch>
        </p:blipFill>
        <p:spPr>
          <a:xfrm>
            <a:off x="495300" y="1083085"/>
            <a:ext cx="8153400" cy="3600450"/>
          </a:xfrm>
          <a:prstGeom prst="rect">
            <a:avLst/>
          </a:prstGeom>
        </p:spPr>
      </p:pic>
      <p:sp>
        <p:nvSpPr>
          <p:cNvPr id="5" name="TextBox 4">
            <a:extLst>
              <a:ext uri="{FF2B5EF4-FFF2-40B4-BE49-F238E27FC236}">
                <a16:creationId xmlns:a16="http://schemas.microsoft.com/office/drawing/2014/main" id="{C1ECDD86-0492-3BC0-AB45-417A82C964FF}"/>
              </a:ext>
            </a:extLst>
          </p:cNvPr>
          <p:cNvSpPr txBox="1"/>
          <p:nvPr/>
        </p:nvSpPr>
        <p:spPr>
          <a:xfrm>
            <a:off x="457200" y="4893059"/>
            <a:ext cx="8153400" cy="1261884"/>
          </a:xfrm>
          <a:prstGeom prst="rect">
            <a:avLst/>
          </a:prstGeom>
          <a:noFill/>
        </p:spPr>
        <p:txBody>
          <a:bodyPr wrap="square">
            <a:spAutoFit/>
          </a:bodyPr>
          <a:lstStyle/>
          <a:p>
            <a:pPr marL="342900" indent="-342900">
              <a:spcBef>
                <a:spcPts val="600"/>
              </a:spcBef>
              <a:spcAft>
                <a:spcPts val="600"/>
              </a:spcAft>
              <a:buSzPct val="110000"/>
              <a:buFont typeface="Arial" panose="020B0604020202020204" pitchFamily="34" charset="0"/>
              <a:buChar char="•"/>
            </a:pPr>
            <a:r>
              <a:rPr lang="en-AU" sz="2000" dirty="0"/>
              <a:t>Marketers must select a price that</a:t>
            </a:r>
          </a:p>
          <a:p>
            <a:pPr marL="530225" lvl="2" indent="-354013">
              <a:spcBef>
                <a:spcPts val="600"/>
              </a:spcBef>
              <a:spcAft>
                <a:spcPts val="600"/>
              </a:spcAft>
              <a:buFont typeface="Wingdings" panose="05000000000000000000" pitchFamily="2" charset="2"/>
              <a:buChar char="§"/>
            </a:pPr>
            <a:r>
              <a:rPr lang="en-AU" sz="1800" dirty="0"/>
              <a:t>Ensures the sustainability of the business</a:t>
            </a:r>
          </a:p>
          <a:p>
            <a:pPr marL="530225" lvl="2" indent="-354013">
              <a:spcBef>
                <a:spcPts val="600"/>
              </a:spcBef>
              <a:spcAft>
                <a:spcPts val="600"/>
              </a:spcAft>
              <a:buFont typeface="Wingdings" panose="05000000000000000000" pitchFamily="2" charset="2"/>
              <a:buChar char="§"/>
            </a:pPr>
            <a:r>
              <a:rPr lang="en-AU" sz="1800" dirty="0"/>
              <a:t>Equals the perceived value to target consumers</a:t>
            </a:r>
            <a:endParaRPr lang="en-AU" sz="2000" dirty="0"/>
          </a:p>
        </p:txBody>
      </p:sp>
    </p:spTree>
    <p:extLst>
      <p:ext uri="{BB962C8B-B14F-4D97-AF65-F5344CB8AC3E}">
        <p14:creationId xmlns:p14="http://schemas.microsoft.com/office/powerpoint/2010/main" val="1452320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Isosceles Triangle 13"/>
          <p:cNvSpPr/>
          <p:nvPr/>
        </p:nvSpPr>
        <p:spPr bwMode="auto">
          <a:xfrm>
            <a:off x="1137454" y="1150275"/>
            <a:ext cx="7011640" cy="5125105"/>
          </a:xfrm>
          <a:prstGeom prst="triangle">
            <a:avLst/>
          </a:prstGeom>
          <a:gradFill flip="none" rotWithShape="1">
            <a:gsLst>
              <a:gs pos="60720">
                <a:srgbClr val="92D050"/>
              </a:gs>
              <a:gs pos="71420">
                <a:srgbClr val="E3F3D1"/>
              </a:gs>
              <a:gs pos="18000">
                <a:srgbClr val="D2FCFE"/>
              </a:gs>
              <a:gs pos="79000">
                <a:srgbClr val="D2FCFE"/>
              </a:gs>
              <a:gs pos="100000">
                <a:srgbClr val="E3F3D1"/>
              </a:gs>
            </a:gsLst>
            <a:path path="shape">
              <a:fillToRect l="50000" t="50000" r="50000" b="50000"/>
            </a:path>
            <a:tileRect/>
          </a:gra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13314" name="Slide Number Placeholder 3"/>
          <p:cNvSpPr>
            <a:spLocks noGrp="1"/>
          </p:cNvSpPr>
          <p:nvPr>
            <p:ph type="sldNum" sz="quarter" idx="10"/>
          </p:nvPr>
        </p:nvSpPr>
        <p:spPr>
          <a:noFill/>
        </p:spPr>
        <p:txBody>
          <a:bodyPr/>
          <a:lstStyle>
            <a:lvl1pPr eaLnBrk="0" hangingPunct="0">
              <a:spcBef>
                <a:spcPct val="20000"/>
              </a:spcBef>
              <a:spcAft>
                <a:spcPct val="20000"/>
              </a:spcAft>
              <a:buSzPct val="80000"/>
              <a:buFont typeface="Verdana" pitchFamily="34" charset="0"/>
              <a:defRPr sz="1846">
                <a:solidFill>
                  <a:schemeClr val="tx1"/>
                </a:solidFill>
                <a:latin typeface="Verdana" pitchFamily="34" charset="0"/>
                <a:cs typeface="Arial" charset="0"/>
              </a:defRPr>
            </a:lvl1pPr>
            <a:lvl2pPr marL="685817" indent="-263776" eaLnBrk="0" hangingPunct="0">
              <a:spcBef>
                <a:spcPct val="20000"/>
              </a:spcBef>
              <a:spcAft>
                <a:spcPct val="20000"/>
              </a:spcAft>
              <a:buSzPct val="80000"/>
              <a:buFont typeface="Verdana" pitchFamily="34" charset="0"/>
              <a:buChar char="•"/>
              <a:defRPr sz="1846">
                <a:solidFill>
                  <a:schemeClr val="tx1"/>
                </a:solidFill>
                <a:latin typeface="Verdana" pitchFamily="34" charset="0"/>
                <a:cs typeface="Arial" charset="0"/>
              </a:defRPr>
            </a:lvl2pPr>
            <a:lvl3pPr marL="1055103" indent="-211021" eaLnBrk="0" hangingPunct="0">
              <a:spcBef>
                <a:spcPct val="20000"/>
              </a:spcBef>
              <a:spcAft>
                <a:spcPct val="20000"/>
              </a:spcAft>
              <a:buSzPct val="80000"/>
              <a:buFont typeface="Verdana" pitchFamily="34" charset="0"/>
              <a:buChar char="•"/>
              <a:defRPr sz="1846">
                <a:solidFill>
                  <a:schemeClr val="tx1"/>
                </a:solidFill>
                <a:latin typeface="Verdana" pitchFamily="34" charset="0"/>
                <a:cs typeface="Arial" charset="0"/>
              </a:defRPr>
            </a:lvl3pPr>
            <a:lvl4pPr marL="1477145" indent="-211021" eaLnBrk="0"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4pPr>
            <a:lvl5pPr marL="1899186" indent="-211021" eaLnBrk="0"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5pPr>
            <a:lvl6pPr marL="2321227"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6pPr>
            <a:lvl7pPr marL="2743269"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7pPr>
            <a:lvl8pPr marL="3165310"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8pPr>
            <a:lvl9pPr marL="3587351" indent="-211021" eaLnBrk="0" fontAlgn="base" hangingPunct="0">
              <a:spcBef>
                <a:spcPct val="20000"/>
              </a:spcBef>
              <a:spcAft>
                <a:spcPct val="20000"/>
              </a:spcAft>
              <a:buSzPct val="80000"/>
              <a:buFont typeface="Arial" charset="0"/>
              <a:buChar char="○"/>
              <a:defRPr sz="1846">
                <a:solidFill>
                  <a:schemeClr val="tx1"/>
                </a:solidFill>
                <a:latin typeface="Verdana" pitchFamily="34" charset="0"/>
                <a:cs typeface="Arial" charset="0"/>
              </a:defRPr>
            </a:lvl9pPr>
          </a:lstStyle>
          <a:p>
            <a:pPr eaLnBrk="1" hangingPunct="1">
              <a:spcBef>
                <a:spcPct val="0"/>
              </a:spcBef>
              <a:spcAft>
                <a:spcPct val="0"/>
              </a:spcAft>
              <a:buSzTx/>
              <a:buFontTx/>
              <a:buNone/>
            </a:pPr>
            <a:fld id="{228AF38D-EBB2-4B65-A171-5D19233BF007}" type="slidenum">
              <a:rPr lang="en-GB" altLang="en-US" sz="831">
                <a:solidFill>
                  <a:srgbClr val="4D4D4D"/>
                </a:solidFill>
              </a:rPr>
              <a:pPr eaLnBrk="1" hangingPunct="1">
                <a:spcBef>
                  <a:spcPct val="0"/>
                </a:spcBef>
                <a:spcAft>
                  <a:spcPct val="0"/>
                </a:spcAft>
                <a:buSzTx/>
                <a:buFontTx/>
                <a:buNone/>
              </a:pPr>
              <a:t>6</a:t>
            </a:fld>
            <a:endParaRPr lang="en-GB" altLang="en-US" sz="831">
              <a:solidFill>
                <a:srgbClr val="4D4D4D"/>
              </a:solidFill>
            </a:endParaRPr>
          </a:p>
        </p:txBody>
      </p:sp>
      <p:sp>
        <p:nvSpPr>
          <p:cNvPr id="13315" name="Rectangle 2"/>
          <p:cNvSpPr>
            <a:spLocks noGrp="1" noChangeArrowheads="1"/>
          </p:cNvSpPr>
          <p:nvPr>
            <p:ph type="title"/>
          </p:nvPr>
        </p:nvSpPr>
        <p:spPr>
          <a:xfrm>
            <a:off x="521784" y="177441"/>
            <a:ext cx="8118337" cy="770447"/>
          </a:xfrm>
        </p:spPr>
        <p:txBody>
          <a:bodyPr/>
          <a:lstStyle/>
          <a:p>
            <a:pPr eaLnBrk="1" hangingPunct="1">
              <a:spcBef>
                <a:spcPts val="1500"/>
              </a:spcBef>
              <a:buSzPct val="100000"/>
            </a:pPr>
            <a:r>
              <a:rPr lang="en-GB" altLang="en-US" sz="3200" dirty="0">
                <a:solidFill>
                  <a:srgbClr val="007FA3"/>
                </a:solidFill>
                <a:latin typeface="Arial"/>
                <a:cs typeface="Arial"/>
                <a:sym typeface="Arial"/>
              </a:rPr>
              <a:t>Concepts of price &amp; value</a:t>
            </a:r>
          </a:p>
        </p:txBody>
      </p:sp>
      <p:sp>
        <p:nvSpPr>
          <p:cNvPr id="13317" name="Rectangle 27"/>
          <p:cNvSpPr txBox="1">
            <a:spLocks noChangeArrowheads="1"/>
          </p:cNvSpPr>
          <p:nvPr/>
        </p:nvSpPr>
        <p:spPr bwMode="gray">
          <a:xfrm>
            <a:off x="657958" y="6447692"/>
            <a:ext cx="8253046" cy="148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spcBef>
                <a:spcPct val="20000"/>
              </a:spcBef>
              <a:spcAft>
                <a:spcPct val="20000"/>
              </a:spcAft>
              <a:buSzPct val="80000"/>
              <a:buFont typeface="Verdana" pitchFamily="34" charset="0"/>
              <a:defRPr sz="2000">
                <a:solidFill>
                  <a:schemeClr val="tx1"/>
                </a:solidFill>
                <a:latin typeface="Verdana" pitchFamily="34" charset="0"/>
                <a:cs typeface="Arial" charset="0"/>
              </a:defRPr>
            </a:lvl1pPr>
            <a:lvl2pPr marL="358775" indent="-244475"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2pPr>
            <a:lvl3pPr marL="714375" indent="-247650"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3pPr>
            <a:lvl4pPr marL="1066800" indent="-247650"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4pPr>
            <a:lvl5pPr marL="1428750" indent="-257175"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5pPr>
            <a:lvl6pPr marL="18859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6pPr>
            <a:lvl7pPr marL="23431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7pPr>
            <a:lvl8pPr marL="28003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8pPr>
            <a:lvl9pPr marL="32575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9pPr>
          </a:lstStyle>
          <a:p>
            <a:pPr>
              <a:defRPr/>
            </a:pPr>
            <a:r>
              <a:rPr lang="en-AU" sz="738" dirty="0"/>
              <a:t>Copyright ©2015 Pearson Australia (a division of Pearson Australia Group Pty Ltd) – 9781486002696/Armstrong/Principles of Marketing/6e</a:t>
            </a:r>
          </a:p>
          <a:p>
            <a:pPr>
              <a:defRPr/>
            </a:pPr>
            <a:endParaRPr lang="en-AU" sz="738" dirty="0"/>
          </a:p>
        </p:txBody>
      </p:sp>
      <p:sp>
        <p:nvSpPr>
          <p:cNvPr id="16" name="Rounded Rectangle 15"/>
          <p:cNvSpPr/>
          <p:nvPr/>
        </p:nvSpPr>
        <p:spPr bwMode="auto">
          <a:xfrm>
            <a:off x="521783" y="1364822"/>
            <a:ext cx="8118338" cy="847963"/>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rtlCol="0" anchor="t" anchorCtr="0" compatLnSpc="1">
            <a:prstTxWarp prst="textNoShape">
              <a:avLst/>
            </a:prstTxWarp>
          </a:bodyPr>
          <a:lstStyle/>
          <a:p>
            <a:pPr marL="105510"/>
            <a:r>
              <a:rPr lang="en-US" sz="2215" dirty="0">
                <a:latin typeface="Verdana" panose="020B0604030504040204" pitchFamily="34" charset="0"/>
                <a:ea typeface="Verdana" panose="020B0604030504040204" pitchFamily="34" charset="0"/>
              </a:rPr>
              <a:t>When considering price setting, it is important to remember that…</a:t>
            </a:r>
            <a:endParaRPr lang="en-US" sz="2215" dirty="0">
              <a:solidFill>
                <a:prstClr val="black"/>
              </a:solidFill>
              <a:latin typeface="Verdana" panose="020B0604030504040204" pitchFamily="34" charset="0"/>
              <a:ea typeface="Verdana" panose="020B0604030504040204" pitchFamily="34" charset="0"/>
              <a:cs typeface="Arial" charset="0"/>
            </a:endParaRPr>
          </a:p>
        </p:txBody>
      </p:sp>
      <p:grpSp>
        <p:nvGrpSpPr>
          <p:cNvPr id="3" name="Group 2"/>
          <p:cNvGrpSpPr/>
          <p:nvPr/>
        </p:nvGrpSpPr>
        <p:grpSpPr>
          <a:xfrm>
            <a:off x="521783" y="2940244"/>
            <a:ext cx="8118338" cy="1031232"/>
            <a:chOff x="1920240" y="2899514"/>
            <a:chExt cx="6761801" cy="1117168"/>
          </a:xfrm>
        </p:grpSpPr>
        <p:sp>
          <p:nvSpPr>
            <p:cNvPr id="8" name="Content Placeholder 7"/>
            <p:cNvSpPr txBox="1">
              <a:spLocks/>
            </p:cNvSpPr>
            <p:nvPr/>
          </p:nvSpPr>
          <p:spPr bwMode="auto">
            <a:xfrm>
              <a:off x="1920240" y="2931102"/>
              <a:ext cx="2795012" cy="1033894"/>
            </a:xfrm>
            <a:prstGeom prst="flowChartAlternateProcess">
              <a:avLst/>
            </a:prstGeom>
            <a:solidFill>
              <a:srgbClr val="D8EEC0"/>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indent="0">
                <a:tabLst>
                  <a:tab pos="211021" algn="l"/>
                </a:tabLst>
              </a:pPr>
              <a:r>
                <a:rPr lang="en-US" sz="3323" b="1" dirty="0"/>
                <a:t>Low Price </a:t>
              </a:r>
              <a:endParaRPr lang="en-US" sz="3323" dirty="0">
                <a:ea typeface="ＭＳ Ｐゴシック" pitchFamily="34" charset="-128"/>
              </a:endParaRPr>
            </a:p>
          </p:txBody>
        </p:sp>
        <p:sp>
          <p:nvSpPr>
            <p:cNvPr id="24" name="Content Placeholder 7"/>
            <p:cNvSpPr txBox="1">
              <a:spLocks/>
            </p:cNvSpPr>
            <p:nvPr/>
          </p:nvSpPr>
          <p:spPr bwMode="auto">
            <a:xfrm>
              <a:off x="5872117" y="2899514"/>
              <a:ext cx="2809924" cy="1117168"/>
            </a:xfrm>
            <a:prstGeom prst="flowChartAlternateProcess">
              <a:avLst/>
            </a:prstGeom>
            <a:solidFill>
              <a:srgbClr val="D8EEC0"/>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indent="0"/>
              <a:r>
                <a:rPr lang="en-US" sz="3323" b="1" dirty="0"/>
                <a:t>Good Value</a:t>
              </a:r>
              <a:endParaRPr lang="en-US" sz="3323" dirty="0">
                <a:ea typeface="ＭＳ Ｐゴシック" pitchFamily="34" charset="-128"/>
              </a:endParaRPr>
            </a:p>
          </p:txBody>
        </p:sp>
        <p:sp>
          <p:nvSpPr>
            <p:cNvPr id="2" name="Not Equal 1"/>
            <p:cNvSpPr/>
            <p:nvPr/>
          </p:nvSpPr>
          <p:spPr bwMode="auto">
            <a:xfrm>
              <a:off x="4715252" y="3096417"/>
              <a:ext cx="983398" cy="703264"/>
            </a:xfrm>
            <a:prstGeom prst="mathNotEqual">
              <a:avLst/>
            </a:prstGeom>
            <a:solidFill>
              <a:srgbClr val="619428"/>
            </a:solidFill>
            <a:ln>
              <a:solidFill>
                <a:schemeClr val="tx1"/>
              </a:solid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sp>
        <p:nvSpPr>
          <p:cNvPr id="18" name="Rounded Rectangle 17"/>
          <p:cNvSpPr/>
          <p:nvPr/>
        </p:nvSpPr>
        <p:spPr bwMode="auto">
          <a:xfrm>
            <a:off x="1137454" y="4845933"/>
            <a:ext cx="6869092" cy="847963"/>
          </a:xfrm>
          <a:prstGeom prst="roundRect">
            <a:avLst/>
          </a:prstGeom>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prstTxWarp prst="textNoShape">
              <a:avLst/>
            </a:prstTxWarp>
          </a:bodyPr>
          <a:lstStyle/>
          <a:p>
            <a:pPr marL="105510" algn="ctr"/>
            <a:r>
              <a:rPr lang="en-US" sz="2215" dirty="0">
                <a:latin typeface="Verdana" panose="020B0604030504040204" pitchFamily="34" charset="0"/>
                <a:ea typeface="Verdana" panose="020B0604030504040204" pitchFamily="34" charset="0"/>
              </a:rPr>
              <a:t>That is, OTHER factors than </a:t>
            </a:r>
            <a:r>
              <a:rPr lang="en-US" sz="2215" u="sng" dirty="0">
                <a:latin typeface="Verdana" panose="020B0604030504040204" pitchFamily="34" charset="0"/>
                <a:ea typeface="Verdana" panose="020B0604030504040204" pitchFamily="34" charset="0"/>
              </a:rPr>
              <a:t>just</a:t>
            </a:r>
            <a:r>
              <a:rPr lang="en-US" sz="2215" dirty="0">
                <a:latin typeface="Verdana" panose="020B0604030504040204" pitchFamily="34" charset="0"/>
                <a:ea typeface="Verdana" panose="020B0604030504040204" pitchFamily="34" charset="0"/>
              </a:rPr>
              <a:t> price also determine ‘value’ in the customer’s mind</a:t>
            </a:r>
            <a:endParaRPr lang="en-US" sz="2215" dirty="0">
              <a:solidFill>
                <a:prstClr val="black"/>
              </a:solidFill>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348003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nodeType="after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750"/>
                                        <p:tgtEl>
                                          <p:spTgt spid="3"/>
                                        </p:tgtEl>
                                      </p:cBhvr>
                                    </p:animEffect>
                                  </p:childTnLst>
                                </p:cTn>
                              </p:par>
                            </p:childTnLst>
                          </p:cTn>
                        </p:par>
                        <p:par>
                          <p:cTn id="11" fill="hold">
                            <p:stCondLst>
                              <p:cond delay="1750"/>
                            </p:stCondLst>
                            <p:childTnLst>
                              <p:par>
                                <p:cTn id="12" presetID="1" presetClass="entr" presetSubtype="0" fill="hold" grpId="0" nodeType="afterEffect">
                                  <p:stCondLst>
                                    <p:cond delay="0"/>
                                  </p:stCondLst>
                                  <p:childTnLst>
                                    <p:set>
                                      <p:cBhvr>
                                        <p:cTn id="13" dur="1" fill="hold">
                                          <p:stCondLst>
                                            <p:cond delay="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876010"/>
          </a:xfrm>
        </p:spPr>
        <p:txBody>
          <a:bodyPr/>
          <a:lstStyle/>
          <a:p>
            <a:r>
              <a:rPr lang="en-US" sz="3200" dirty="0"/>
              <a:t>Major “ongoing” pricing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r>
              <a:rPr lang="en-US" sz="2000" dirty="0"/>
              <a:t>There are three main “ongoing” pricing strategies:</a:t>
            </a:r>
          </a:p>
          <a:p>
            <a:pPr lvl="1">
              <a:buFont typeface="Wingdings" panose="05000000000000000000" pitchFamily="2" charset="2"/>
              <a:buChar char="§"/>
            </a:pPr>
            <a:r>
              <a:rPr lang="en-US" sz="1800" dirty="0"/>
              <a:t>customer value-based pricing</a:t>
            </a:r>
          </a:p>
          <a:p>
            <a:pPr lvl="1">
              <a:buFont typeface="Wingdings" panose="05000000000000000000" pitchFamily="2" charset="2"/>
              <a:buChar char="§"/>
            </a:pPr>
            <a:r>
              <a:rPr lang="en-US" sz="1800" dirty="0"/>
              <a:t>cost-based pricing</a:t>
            </a:r>
          </a:p>
          <a:p>
            <a:pPr lvl="1">
              <a:buFont typeface="Wingdings" panose="05000000000000000000" pitchFamily="2" charset="2"/>
              <a:buChar char="§"/>
            </a:pPr>
            <a:r>
              <a:rPr lang="en-US" sz="1800" dirty="0"/>
              <a:t>competition-based pricing.</a:t>
            </a:r>
          </a:p>
          <a:p>
            <a:pPr marL="101600" indent="0">
              <a:buNone/>
            </a:pPr>
            <a:endParaRPr lang="en-US" sz="2000" dirty="0"/>
          </a:p>
          <a:p>
            <a:pPr lvl="1"/>
            <a:endParaRPr lang="en-US" sz="2000" dirty="0"/>
          </a:p>
          <a:p>
            <a:endParaRPr lang="en-US" sz="2000" dirty="0"/>
          </a:p>
        </p:txBody>
      </p:sp>
    </p:spTree>
    <p:extLst>
      <p:ext uri="{BB962C8B-B14F-4D97-AF65-F5344CB8AC3E}">
        <p14:creationId xmlns:p14="http://schemas.microsoft.com/office/powerpoint/2010/main" val="2956184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115981"/>
            <a:ext cx="8229600" cy="688638"/>
          </a:xfrm>
        </p:spPr>
        <p:txBody>
          <a:bodyPr/>
          <a:lstStyle/>
          <a:p>
            <a:r>
              <a:rPr lang="en-US" dirty="0"/>
              <a:t>Major “ongoing” pricing strategies</a:t>
            </a:r>
            <a:endParaRPr lang="en-US" sz="24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808685"/>
            <a:ext cx="8229599" cy="4525963"/>
          </a:xfrm>
        </p:spPr>
        <p:txBody>
          <a:bodyPr/>
          <a:lstStyle/>
          <a:p>
            <a:pPr marL="101600" indent="0">
              <a:buNone/>
            </a:pPr>
            <a:r>
              <a:rPr lang="en-US" sz="2400" b="1" dirty="0">
                <a:solidFill>
                  <a:srgbClr val="007FA3"/>
                </a:solidFill>
              </a:rPr>
              <a:t>Customer value-based pricing</a:t>
            </a:r>
            <a:endParaRPr lang="en-US" sz="2000" b="1" dirty="0">
              <a:solidFill>
                <a:srgbClr val="007FA3"/>
              </a:solidFill>
            </a:endParaRPr>
          </a:p>
          <a:p>
            <a:pPr marL="101600" indent="0">
              <a:buNone/>
            </a:pPr>
            <a:r>
              <a:rPr lang="en-US" sz="1800" dirty="0"/>
              <a:t>refers to the process of setting the price based on buyers’ perceptions of value, rather than on the seller’s costs.</a:t>
            </a:r>
          </a:p>
          <a:p>
            <a:pPr marL="101600" indent="0">
              <a:buNone/>
            </a:pPr>
            <a:r>
              <a:rPr lang="en-US" sz="1800" dirty="0"/>
              <a:t>This approach requires a deep understanding of the customer's needs, preferences, and how they perceive the benefits of the product or service.</a:t>
            </a:r>
          </a:p>
          <a:p>
            <a:pPr marL="444500" indent="-342900">
              <a:buFont typeface="+mj-lt"/>
              <a:buAutoNum type="arabicPeriod"/>
            </a:pPr>
            <a:r>
              <a:rPr lang="en-US" b="1" dirty="0"/>
              <a:t>Perceived Value: </a:t>
            </a:r>
            <a:r>
              <a:rPr lang="en-US" dirty="0"/>
              <a:t>The price is set based on the value that the customer perceives they are getting from the product or service. </a:t>
            </a:r>
          </a:p>
          <a:p>
            <a:pPr marL="444500" indent="-342900">
              <a:buFont typeface="+mj-lt"/>
              <a:buAutoNum type="arabicPeriod"/>
            </a:pPr>
            <a:r>
              <a:rPr lang="en-US" b="1" dirty="0"/>
              <a:t>Customer Segmentation: </a:t>
            </a:r>
            <a:r>
              <a:rPr lang="en-US" dirty="0"/>
              <a:t>Different customer segments may perceive value differently, so pricing can be adjusted to match the value perceived by different groups. </a:t>
            </a:r>
          </a:p>
          <a:p>
            <a:pPr marL="444500" indent="-342900">
              <a:buFont typeface="+mj-lt"/>
              <a:buAutoNum type="arabicPeriod"/>
            </a:pPr>
            <a:r>
              <a:rPr lang="en-US" b="1" dirty="0"/>
              <a:t>Competitive Differentiation: </a:t>
            </a:r>
            <a:r>
              <a:rPr lang="en-US" dirty="0"/>
              <a:t>The unique value that a product or service offers compared to competitors is crucial in determining price </a:t>
            </a:r>
            <a:r>
              <a:rPr lang="en-US" dirty="0" err="1"/>
              <a:t>eg</a:t>
            </a:r>
            <a:r>
              <a:rPr lang="en-US" dirty="0"/>
              <a:t> features, quality, customer experience</a:t>
            </a:r>
          </a:p>
          <a:p>
            <a:pPr marL="444500" indent="-342900">
              <a:buFont typeface="+mj-lt"/>
              <a:buAutoNum type="arabicPeriod"/>
            </a:pPr>
            <a:r>
              <a:rPr lang="en-US" b="1" dirty="0"/>
              <a:t>Willingness to Pay: </a:t>
            </a:r>
            <a:r>
              <a:rPr lang="en-US" dirty="0"/>
              <a:t>Understanding what the customer is willing to pay is essential. </a:t>
            </a:r>
          </a:p>
          <a:p>
            <a:pPr marL="444500" indent="-342900">
              <a:buFont typeface="+mj-lt"/>
              <a:buAutoNum type="arabicPeriod"/>
            </a:pPr>
            <a:r>
              <a:rPr lang="en-US" b="1" dirty="0"/>
              <a:t>Value Communication: </a:t>
            </a:r>
            <a:r>
              <a:rPr lang="en-US" dirty="0"/>
              <a:t>It’s important to effectively communicate the value proposition to customers so that they understand why the price is set at a certain level.</a:t>
            </a:r>
            <a:endParaRPr lang="en-US" sz="1800" dirty="0"/>
          </a:p>
          <a:p>
            <a:endParaRPr lang="en-US" sz="1800" dirty="0"/>
          </a:p>
        </p:txBody>
      </p:sp>
    </p:spTree>
    <p:extLst>
      <p:ext uri="{BB962C8B-B14F-4D97-AF65-F5344CB8AC3E}">
        <p14:creationId xmlns:p14="http://schemas.microsoft.com/office/powerpoint/2010/main" val="3143789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115981"/>
            <a:ext cx="8229600" cy="688638"/>
          </a:xfrm>
        </p:spPr>
        <p:txBody>
          <a:bodyPr/>
          <a:lstStyle/>
          <a:p>
            <a:r>
              <a:rPr lang="en-US" dirty="0"/>
              <a:t>Major “ongoing” pricing strategies</a:t>
            </a:r>
            <a:endParaRPr lang="en-US" sz="24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808685"/>
            <a:ext cx="8229599" cy="4525963"/>
          </a:xfrm>
        </p:spPr>
        <p:txBody>
          <a:bodyPr/>
          <a:lstStyle/>
          <a:p>
            <a:pPr marL="101600" indent="0">
              <a:buNone/>
            </a:pPr>
            <a:r>
              <a:rPr lang="en-US" sz="2000" b="1" dirty="0">
                <a:solidFill>
                  <a:srgbClr val="007FA3"/>
                </a:solidFill>
              </a:rPr>
              <a:t>Two sub-types of value-based pricing</a:t>
            </a:r>
          </a:p>
          <a:p>
            <a:pPr marL="558800" indent="-457200">
              <a:buFont typeface="+mj-lt"/>
              <a:buAutoNum type="arabicPeriod"/>
            </a:pPr>
            <a:r>
              <a:rPr lang="en-US" sz="2000" b="1" dirty="0">
                <a:solidFill>
                  <a:srgbClr val="007FA3"/>
                </a:solidFill>
              </a:rPr>
              <a:t>Good-value pricing</a:t>
            </a:r>
          </a:p>
          <a:p>
            <a:pPr marL="1045718" lvl="1" indent="-457200">
              <a:buFont typeface="Wingdings" panose="05000000000000000000" pitchFamily="2" charset="2"/>
              <a:buChar char="§"/>
            </a:pPr>
            <a:r>
              <a:rPr lang="en-US" sz="1800" dirty="0"/>
              <a:t>refers to the process of offering just the right combination of quality and good service that customers want at a fair price.</a:t>
            </a:r>
          </a:p>
          <a:p>
            <a:pPr marL="1445768" lvl="2" indent="-457200">
              <a:buFont typeface="Wingdings" panose="05000000000000000000" pitchFamily="2" charset="2"/>
              <a:buChar char="Ø"/>
            </a:pPr>
            <a:r>
              <a:rPr lang="en-US" dirty="0"/>
              <a:t>Hungry Jack’s and McDonalds offering value meals</a:t>
            </a:r>
          </a:p>
          <a:p>
            <a:pPr marL="1445768" lvl="2" indent="-457200">
              <a:buFont typeface="Wingdings" panose="05000000000000000000" pitchFamily="2" charset="2"/>
              <a:buChar char="Ø"/>
            </a:pPr>
            <a:r>
              <a:rPr lang="en-US" dirty="0"/>
              <a:t>Mercedes offering A-Class entry models</a:t>
            </a:r>
          </a:p>
          <a:p>
            <a:pPr marL="558800" indent="-457200">
              <a:buFont typeface="+mj-lt"/>
              <a:buAutoNum type="arabicPeriod"/>
            </a:pPr>
            <a:r>
              <a:rPr lang="en-US" sz="2000" b="1" dirty="0">
                <a:solidFill>
                  <a:srgbClr val="007FA3"/>
                </a:solidFill>
              </a:rPr>
              <a:t>Value added pricing</a:t>
            </a:r>
          </a:p>
          <a:p>
            <a:pPr marL="1045718" lvl="1" indent="-457200">
              <a:buFont typeface="Wingdings" panose="05000000000000000000" pitchFamily="2" charset="2"/>
              <a:buChar char="§"/>
            </a:pPr>
            <a:r>
              <a:rPr lang="en-US" sz="1800" dirty="0"/>
              <a:t>companies attach value-added features and services to differentiate their offers and thus support higher prices</a:t>
            </a:r>
          </a:p>
          <a:p>
            <a:pPr marL="1045718" lvl="1" indent="-457200">
              <a:buFont typeface="Wingdings" panose="05000000000000000000" pitchFamily="2" charset="2"/>
              <a:buChar char="§"/>
            </a:pPr>
            <a:r>
              <a:rPr lang="en-US" sz="1800" dirty="0"/>
              <a:t>Airline Industry: Example: </a:t>
            </a:r>
          </a:p>
          <a:p>
            <a:pPr marL="1445768" lvl="2" indent="-457200">
              <a:buFont typeface="Wingdings" panose="05000000000000000000" pitchFamily="2" charset="2"/>
              <a:buChar char="Ø"/>
            </a:pPr>
            <a:r>
              <a:rPr lang="en-US" dirty="0"/>
              <a:t>Airlines offer value-added pricing for their business and first-class tickets.</a:t>
            </a:r>
          </a:p>
          <a:p>
            <a:pPr marL="1445768" lvl="2" indent="-457200">
              <a:buFont typeface="Wingdings" panose="05000000000000000000" pitchFamily="2" charset="2"/>
              <a:buChar char="Ø"/>
            </a:pPr>
            <a:r>
              <a:rPr lang="en-US" dirty="0"/>
              <a:t>Value-Added Features: Extra legroom, lie-flat seats, gourmet meals, priority boarding, access to exclusive airport lounges.</a:t>
            </a:r>
          </a:p>
          <a:p>
            <a:pPr marL="1445768" lvl="2" indent="-457200">
              <a:buFont typeface="Wingdings" panose="05000000000000000000" pitchFamily="2" charset="2"/>
              <a:buChar char="Ø"/>
            </a:pPr>
            <a:r>
              <a:rPr lang="en-US" dirty="0"/>
              <a:t>Customer Perception: Passengers, especially business travelers, are willing to pay a premium for the added comfort, convenience, and service.</a:t>
            </a:r>
          </a:p>
          <a:p>
            <a:pPr marL="1445768" lvl="2" indent="-457200">
              <a:buFont typeface="Wingdings" panose="05000000000000000000" pitchFamily="2" charset="2"/>
              <a:buChar char="Ø"/>
            </a:pPr>
            <a:endParaRPr lang="en-US" dirty="0"/>
          </a:p>
          <a:p>
            <a:endParaRPr lang="en-US" sz="1800" dirty="0"/>
          </a:p>
        </p:txBody>
      </p:sp>
    </p:spTree>
    <p:extLst>
      <p:ext uri="{BB962C8B-B14F-4D97-AF65-F5344CB8AC3E}">
        <p14:creationId xmlns:p14="http://schemas.microsoft.com/office/powerpoint/2010/main" val="877246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549941"/>
          </a:xfrm>
        </p:spPr>
        <p:txBody>
          <a:bodyPr/>
          <a:lstStyle/>
          <a:p>
            <a:r>
              <a:rPr lang="en-US" sz="3200" dirty="0"/>
              <a:t>Major “ongoing” pricing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7" y="788331"/>
            <a:ext cx="8229599" cy="4525963"/>
          </a:xfrm>
        </p:spPr>
        <p:txBody>
          <a:bodyPr/>
          <a:lstStyle/>
          <a:p>
            <a:pPr marL="101600" indent="0">
              <a:buNone/>
            </a:pPr>
            <a:r>
              <a:rPr lang="en-US" sz="2400" b="1" dirty="0">
                <a:solidFill>
                  <a:srgbClr val="007FA3"/>
                </a:solidFill>
              </a:rPr>
              <a:t>Cost-based pricing</a:t>
            </a:r>
          </a:p>
          <a:p>
            <a:r>
              <a:rPr lang="en-US" sz="2000" dirty="0"/>
              <a:t>Refers to the process of setting prices based on the costs for producing, distributing and selling the product, plus a fair rate of return for company’s effort and risk.</a:t>
            </a:r>
          </a:p>
          <a:p>
            <a:r>
              <a:rPr lang="en-US" sz="2000" dirty="0"/>
              <a:t>Costs set the floor for the price the company can charge</a:t>
            </a:r>
          </a:p>
          <a:p>
            <a:r>
              <a:rPr lang="en-AU" sz="2000" dirty="0"/>
              <a:t>Benefits</a:t>
            </a:r>
          </a:p>
          <a:p>
            <a:pPr marL="1045718" lvl="1" indent="-457200">
              <a:buFont typeface="Wingdings" panose="05000000000000000000" pitchFamily="2" charset="2"/>
              <a:buChar char="§"/>
            </a:pPr>
            <a:r>
              <a:rPr lang="en-AU" sz="1800" dirty="0"/>
              <a:t>Sellers are certain about costs.</a:t>
            </a:r>
          </a:p>
          <a:p>
            <a:pPr marL="1045718" lvl="1" indent="-457200">
              <a:buFont typeface="Wingdings" panose="05000000000000000000" pitchFamily="2" charset="2"/>
              <a:buChar char="§"/>
            </a:pPr>
            <a:r>
              <a:rPr lang="en-AU" sz="1800" dirty="0"/>
              <a:t>Price competition is minimised.</a:t>
            </a:r>
          </a:p>
          <a:p>
            <a:pPr marL="1045718" lvl="1" indent="-457200">
              <a:buFont typeface="Wingdings" panose="05000000000000000000" pitchFamily="2" charset="2"/>
              <a:buChar char="§"/>
            </a:pPr>
            <a:r>
              <a:rPr lang="en-AU" sz="1800" dirty="0"/>
              <a:t>Buyers feel it is “fair”.</a:t>
            </a:r>
          </a:p>
          <a:p>
            <a:r>
              <a:rPr lang="en-AU" sz="2000" dirty="0"/>
              <a:t>Disadvantages</a:t>
            </a:r>
          </a:p>
          <a:p>
            <a:pPr marL="1045718" lvl="1" indent="-457200">
              <a:buFont typeface="Wingdings" panose="05000000000000000000" pitchFamily="2" charset="2"/>
              <a:buChar char="§"/>
            </a:pPr>
            <a:r>
              <a:rPr lang="en-AU" sz="1800" dirty="0"/>
              <a:t>Ignores demand and competitor prices</a:t>
            </a:r>
          </a:p>
          <a:p>
            <a:pPr marL="1045718" lvl="1" indent="-457200">
              <a:buFont typeface="Wingdings" panose="05000000000000000000" pitchFamily="2" charset="2"/>
              <a:buChar char="§"/>
            </a:pPr>
            <a:r>
              <a:rPr lang="en-AU" sz="1800" dirty="0"/>
              <a:t>Narrow definition of value and/or benefits</a:t>
            </a:r>
          </a:p>
          <a:p>
            <a:pPr marL="1045718" lvl="1" indent="-457200">
              <a:buFont typeface="Wingdings" panose="05000000000000000000" pitchFamily="2" charset="2"/>
              <a:buChar char="§"/>
            </a:pPr>
            <a:r>
              <a:rPr lang="en-AU" sz="1800" dirty="0"/>
              <a:t>Tangible vs intangible value (how much would you pay to be “cool”?</a:t>
            </a:r>
          </a:p>
          <a:p>
            <a:pPr marL="101600" indent="0">
              <a:buNone/>
            </a:pPr>
            <a:endParaRPr lang="en-US" sz="2000" dirty="0"/>
          </a:p>
          <a:p>
            <a:pPr lvl="1"/>
            <a:endParaRPr lang="en-US" sz="2000" dirty="0"/>
          </a:p>
          <a:p>
            <a:endParaRPr lang="en-US" sz="2000" dirty="0"/>
          </a:p>
        </p:txBody>
      </p:sp>
    </p:spTree>
    <p:extLst>
      <p:ext uri="{BB962C8B-B14F-4D97-AF65-F5344CB8AC3E}">
        <p14:creationId xmlns:p14="http://schemas.microsoft.com/office/powerpoint/2010/main" val="3780522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779936"/>
          </a:xfrm>
        </p:spPr>
        <p:txBody>
          <a:bodyPr/>
          <a:lstStyle/>
          <a:p>
            <a:r>
              <a:rPr lang="en-US" sz="3200" dirty="0"/>
              <a:t>Major “ongoing” pricing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176396"/>
            <a:ext cx="8229599" cy="4525963"/>
          </a:xfrm>
        </p:spPr>
        <p:txBody>
          <a:bodyPr/>
          <a:lstStyle/>
          <a:p>
            <a:pPr marL="101600" indent="0">
              <a:buNone/>
            </a:pPr>
            <a:r>
              <a:rPr lang="en-US" sz="2400" b="1" dirty="0">
                <a:solidFill>
                  <a:srgbClr val="007FA3"/>
                </a:solidFill>
              </a:rPr>
              <a:t>Cost-based pricing (cont.)</a:t>
            </a:r>
          </a:p>
          <a:p>
            <a:pPr marL="101600" indent="0">
              <a:buNone/>
            </a:pPr>
            <a:r>
              <a:rPr lang="en-US" sz="2200" b="1" dirty="0">
                <a:solidFill>
                  <a:srgbClr val="00B0F0"/>
                </a:solidFill>
              </a:rPr>
              <a:t>Types of costs</a:t>
            </a:r>
          </a:p>
          <a:p>
            <a:r>
              <a:rPr lang="en-US" sz="2000" b="1" dirty="0"/>
              <a:t>Fixed costs</a:t>
            </a:r>
            <a:r>
              <a:rPr lang="en-US" sz="2000" dirty="0"/>
              <a:t> (</a:t>
            </a:r>
            <a:r>
              <a:rPr lang="en-US" sz="2000" b="1" dirty="0"/>
              <a:t>overhead</a:t>
            </a:r>
            <a:r>
              <a:rPr lang="en-US" sz="2000" dirty="0"/>
              <a:t>) are those costs that do not vary with production or sales level.</a:t>
            </a:r>
          </a:p>
          <a:p>
            <a:r>
              <a:rPr lang="en-US" sz="2000" b="1" dirty="0"/>
              <a:t>Variable costs </a:t>
            </a:r>
            <a:r>
              <a:rPr lang="en-US" sz="2000" dirty="0"/>
              <a:t>are those costs that vary directly with the level of production.</a:t>
            </a:r>
          </a:p>
          <a:p>
            <a:r>
              <a:rPr lang="en-US" sz="2000" b="1" dirty="0"/>
              <a:t>Total costs </a:t>
            </a:r>
            <a:r>
              <a:rPr lang="en-US" sz="2000" dirty="0"/>
              <a:t>are the sum of the fixed costs and variable costs for any given level of production.</a:t>
            </a:r>
          </a:p>
          <a:p>
            <a:pPr marL="558800" lvl="1" indent="0">
              <a:buNone/>
            </a:pPr>
            <a:endParaRPr lang="en-US" sz="2000" dirty="0"/>
          </a:p>
          <a:p>
            <a:endParaRPr lang="en-US" sz="2000" dirty="0"/>
          </a:p>
        </p:txBody>
      </p:sp>
      <p:grpSp>
        <p:nvGrpSpPr>
          <p:cNvPr id="5" name="Group 4">
            <a:extLst>
              <a:ext uri="{FF2B5EF4-FFF2-40B4-BE49-F238E27FC236}">
                <a16:creationId xmlns:a16="http://schemas.microsoft.com/office/drawing/2014/main" id="{AFE2064C-FEA0-4A86-84B0-252E0B1835AE}"/>
              </a:ext>
            </a:extLst>
          </p:cNvPr>
          <p:cNvGrpSpPr/>
          <p:nvPr/>
        </p:nvGrpSpPr>
        <p:grpSpPr>
          <a:xfrm>
            <a:off x="351420" y="4933088"/>
            <a:ext cx="8441160" cy="1097279"/>
            <a:chOff x="835025" y="4145022"/>
            <a:chExt cx="8441160" cy="1235964"/>
          </a:xfrm>
        </p:grpSpPr>
        <p:sp>
          <p:nvSpPr>
            <p:cNvPr id="6" name="Content Placeholder 7">
              <a:extLst>
                <a:ext uri="{FF2B5EF4-FFF2-40B4-BE49-F238E27FC236}">
                  <a16:creationId xmlns:a16="http://schemas.microsoft.com/office/drawing/2014/main" id="{B51F719A-667C-4A97-9A2D-EFBC6B6F7DD4}"/>
                </a:ext>
              </a:extLst>
            </p:cNvPr>
            <p:cNvSpPr txBox="1">
              <a:spLocks/>
            </p:cNvSpPr>
            <p:nvPr/>
          </p:nvSpPr>
          <p:spPr bwMode="auto">
            <a:xfrm>
              <a:off x="835025" y="4145022"/>
              <a:ext cx="2232025" cy="1160284"/>
            </a:xfrm>
            <a:prstGeom prst="flowChartAlternateProcess">
              <a:avLst/>
            </a:prstGeom>
            <a:solidFill>
              <a:srgbClr val="D8EEC0"/>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lgn="ctr">
                <a:tabLst>
                  <a:tab pos="114300" algn="l"/>
                </a:tabLst>
              </a:pPr>
              <a:r>
                <a:rPr lang="en-US" sz="3200" b="1" dirty="0"/>
                <a:t>Fixed costs</a:t>
              </a:r>
              <a:endParaRPr lang="en-US" sz="3200" kern="0" dirty="0">
                <a:ea typeface="ＭＳ Ｐゴシック" pitchFamily="34" charset="-128"/>
              </a:endParaRPr>
            </a:p>
          </p:txBody>
        </p:sp>
        <p:sp>
          <p:nvSpPr>
            <p:cNvPr id="7" name="Content Placeholder 7">
              <a:extLst>
                <a:ext uri="{FF2B5EF4-FFF2-40B4-BE49-F238E27FC236}">
                  <a16:creationId xmlns:a16="http://schemas.microsoft.com/office/drawing/2014/main" id="{42511625-A332-473D-9F4C-241F36F0E941}"/>
                </a:ext>
              </a:extLst>
            </p:cNvPr>
            <p:cNvSpPr txBox="1">
              <a:spLocks/>
            </p:cNvSpPr>
            <p:nvPr/>
          </p:nvSpPr>
          <p:spPr bwMode="auto">
            <a:xfrm>
              <a:off x="3895725" y="4197070"/>
              <a:ext cx="2433055" cy="1160284"/>
            </a:xfrm>
            <a:prstGeom prst="flowChartAlternateProcess">
              <a:avLst/>
            </a:prstGeom>
            <a:solidFill>
              <a:srgbClr val="D8EEC0"/>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lgn="ctr">
                <a:tabLst>
                  <a:tab pos="114300" algn="l"/>
                </a:tabLst>
              </a:pPr>
              <a:r>
                <a:rPr lang="en-US" sz="3200" b="1" dirty="0"/>
                <a:t>Variable costs</a:t>
              </a:r>
              <a:endParaRPr lang="en-US" sz="3200" kern="0" dirty="0">
                <a:ea typeface="ＭＳ Ｐゴシック" pitchFamily="34" charset="-128"/>
              </a:endParaRPr>
            </a:p>
          </p:txBody>
        </p:sp>
        <p:sp>
          <p:nvSpPr>
            <p:cNvPr id="8" name="Content Placeholder 7">
              <a:extLst>
                <a:ext uri="{FF2B5EF4-FFF2-40B4-BE49-F238E27FC236}">
                  <a16:creationId xmlns:a16="http://schemas.microsoft.com/office/drawing/2014/main" id="{C1B54A10-CCFD-4D70-879D-0CB3399D9B2B}"/>
                </a:ext>
              </a:extLst>
            </p:cNvPr>
            <p:cNvSpPr txBox="1">
              <a:spLocks/>
            </p:cNvSpPr>
            <p:nvPr/>
          </p:nvSpPr>
          <p:spPr bwMode="auto">
            <a:xfrm>
              <a:off x="7400925" y="4220702"/>
              <a:ext cx="1875260" cy="1160284"/>
            </a:xfrm>
            <a:prstGeom prst="flowChartAlternateProcess">
              <a:avLst/>
            </a:prstGeom>
            <a:solidFill>
              <a:srgbClr val="D8EEC0"/>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14300" indent="0" algn="ctr">
                <a:tabLst>
                  <a:tab pos="114300" algn="l"/>
                </a:tabLst>
              </a:pPr>
              <a:r>
                <a:rPr lang="en-US" sz="3200" b="1" dirty="0"/>
                <a:t>Total costs</a:t>
              </a:r>
              <a:endParaRPr lang="en-US" sz="3200" kern="0" dirty="0">
                <a:ea typeface="ＭＳ Ｐゴシック" pitchFamily="34" charset="-128"/>
              </a:endParaRPr>
            </a:p>
          </p:txBody>
        </p:sp>
        <p:sp>
          <p:nvSpPr>
            <p:cNvPr id="9" name="Plus 4">
              <a:extLst>
                <a:ext uri="{FF2B5EF4-FFF2-40B4-BE49-F238E27FC236}">
                  <a16:creationId xmlns:a16="http://schemas.microsoft.com/office/drawing/2014/main" id="{74227530-3AD4-4323-A433-056BA3C03C62}"/>
                </a:ext>
              </a:extLst>
            </p:cNvPr>
            <p:cNvSpPr/>
            <p:nvPr/>
          </p:nvSpPr>
          <p:spPr bwMode="auto">
            <a:xfrm>
              <a:off x="3111842" y="4362450"/>
              <a:ext cx="704850" cy="719562"/>
            </a:xfrm>
            <a:prstGeom prst="mathPlus">
              <a:avLst/>
            </a:prstGeom>
            <a:solidFill>
              <a:srgbClr val="619428"/>
            </a:solidFill>
            <a:ln>
              <a:solidFill>
                <a:schemeClr val="tx1"/>
              </a:solidFill>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900" b="0" i="0" u="none" strike="noStrike" cap="none" normalizeH="0" baseline="0">
                <a:ln>
                  <a:noFill/>
                </a:ln>
                <a:solidFill>
                  <a:schemeClr val="tx1"/>
                </a:solidFill>
                <a:effectLst/>
                <a:latin typeface="Verdana" pitchFamily="34" charset="0"/>
                <a:cs typeface="Arial" charset="0"/>
              </a:endParaRPr>
            </a:p>
          </p:txBody>
        </p:sp>
        <p:sp>
          <p:nvSpPr>
            <p:cNvPr id="10" name="Equal 5">
              <a:extLst>
                <a:ext uri="{FF2B5EF4-FFF2-40B4-BE49-F238E27FC236}">
                  <a16:creationId xmlns:a16="http://schemas.microsoft.com/office/drawing/2014/main" id="{019935B7-F3CC-4681-BF4F-7050ADE1B14E}"/>
                </a:ext>
              </a:extLst>
            </p:cNvPr>
            <p:cNvSpPr/>
            <p:nvPr/>
          </p:nvSpPr>
          <p:spPr bwMode="auto">
            <a:xfrm>
              <a:off x="6328780" y="4472412"/>
              <a:ext cx="993273" cy="509030"/>
            </a:xfrm>
            <a:prstGeom prst="mathEqual">
              <a:avLst/>
            </a:prstGeom>
            <a:solidFill>
              <a:srgbClr val="619428"/>
            </a:solidFill>
            <a:ln>
              <a:solidFill>
                <a:schemeClr val="tx1"/>
              </a:solidFill>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900" b="0" i="0" u="none" strike="noStrike" cap="none" normalizeH="0" baseline="0">
                <a:ln>
                  <a:noFill/>
                </a:ln>
                <a:solidFill>
                  <a:schemeClr val="tx1"/>
                </a:solidFill>
                <a:effectLst/>
                <a:latin typeface="Verdana" pitchFamily="34" charset="0"/>
                <a:cs typeface="Arial" charset="0"/>
              </a:endParaRPr>
            </a:p>
          </p:txBody>
        </p:sp>
      </p:grpSp>
    </p:spTree>
    <p:extLst>
      <p:ext uri="{BB962C8B-B14F-4D97-AF65-F5344CB8AC3E}">
        <p14:creationId xmlns:p14="http://schemas.microsoft.com/office/powerpoint/2010/main" val="3390524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50"/>
                                  </p:stCondLst>
                                  <p:childTnLst>
                                    <p:set>
                                      <p:cBhvr>
                                        <p:cTn id="6" dur="1" fill="hold">
                                          <p:stCondLst>
                                            <p:cond delay="74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0"/>
            <a:ext cx="8229600" cy="761374"/>
          </a:xfrm>
        </p:spPr>
        <p:txBody>
          <a:bodyPr/>
          <a:lstStyle/>
          <a:p>
            <a:r>
              <a:rPr lang="en-US" sz="3200" dirty="0"/>
              <a:t>Major “ongoing” pricing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644237"/>
            <a:ext cx="8229599" cy="4525963"/>
          </a:xfrm>
        </p:spPr>
        <p:txBody>
          <a:bodyPr/>
          <a:lstStyle/>
          <a:p>
            <a:pPr marL="101600" indent="0">
              <a:buNone/>
            </a:pPr>
            <a:r>
              <a:rPr lang="en-US" sz="2400" b="1" dirty="0">
                <a:solidFill>
                  <a:srgbClr val="007FA3"/>
                </a:solidFill>
              </a:rPr>
              <a:t>Cost-based pricing </a:t>
            </a:r>
          </a:p>
          <a:p>
            <a:pPr marL="558800" indent="-457200">
              <a:buFont typeface="+mj-lt"/>
              <a:buAutoNum type="arabicPeriod"/>
            </a:pPr>
            <a:r>
              <a:rPr lang="en-US" sz="2200" b="1" dirty="0">
                <a:solidFill>
                  <a:srgbClr val="00B0F0"/>
                </a:solidFill>
              </a:rPr>
              <a:t>Cost-plus pricing (markup pricing) </a:t>
            </a:r>
          </a:p>
          <a:p>
            <a:r>
              <a:rPr lang="en-US" sz="2000" dirty="0"/>
              <a:t>refers to the process of adding a standard markup to the cost of the product.</a:t>
            </a:r>
          </a:p>
          <a:p>
            <a:pPr lvl="1">
              <a:buFont typeface="Wingdings" panose="05000000000000000000" pitchFamily="2" charset="2"/>
              <a:buChar char="§"/>
            </a:pPr>
            <a:r>
              <a:rPr lang="en-US" sz="1800" dirty="0"/>
              <a:t>For example, an electronics retailer might pay a manufacturer $20 for a 64Gb flash drive and mark it up to sell at $30, a 50 per cent markup on cost.</a:t>
            </a:r>
          </a:p>
          <a:p>
            <a:pPr marL="558800" indent="-457200">
              <a:buFont typeface="+mj-lt"/>
              <a:buAutoNum type="arabicPeriod" startAt="2"/>
            </a:pPr>
            <a:r>
              <a:rPr lang="en-US" sz="2200" b="1" dirty="0">
                <a:solidFill>
                  <a:srgbClr val="00B0F0"/>
                </a:solidFill>
              </a:rPr>
              <a:t>Breakeven pricing (target-return pricing) </a:t>
            </a:r>
          </a:p>
          <a:p>
            <a:r>
              <a:rPr lang="en-US" sz="2000" dirty="0"/>
              <a:t>refers to the process of setting the price to break even on the costs of making and marketing a product or to make the desired profit.</a:t>
            </a:r>
          </a:p>
          <a:p>
            <a:pPr lvl="1">
              <a:buFont typeface="Wingdings" panose="05000000000000000000" pitchFamily="2" charset="2"/>
              <a:buChar char="§"/>
            </a:pPr>
            <a:r>
              <a:rPr lang="en-US" sz="1800" dirty="0"/>
              <a:t>If the flash-drive manufacturer wants a target return of $2 million, it must sell at least 800 000 units (@ $15 per unit) to obtain the $12 million of total revenue needed to cover the total cost of $10 million plus the $2 million of target profits.</a:t>
            </a:r>
          </a:p>
          <a:p>
            <a:pPr lvl="1">
              <a:buFont typeface="Wingdings" panose="05000000000000000000" pitchFamily="2" charset="2"/>
              <a:buChar char="§"/>
            </a:pPr>
            <a:r>
              <a:rPr lang="en-US" sz="1800" dirty="0"/>
              <a:t>Key issue for business, as price increase, consumer demand falls</a:t>
            </a:r>
          </a:p>
          <a:p>
            <a:pPr marL="558800" lvl="1" indent="0">
              <a:buNone/>
            </a:pPr>
            <a:endParaRPr lang="en-US" sz="2000" dirty="0"/>
          </a:p>
        </p:txBody>
      </p:sp>
    </p:spTree>
    <p:extLst>
      <p:ext uri="{BB962C8B-B14F-4D97-AF65-F5344CB8AC3E}">
        <p14:creationId xmlns:p14="http://schemas.microsoft.com/office/powerpoint/2010/main" val="15861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DDE13-5752-470A-87BC-CDF58991DDB7}"/>
              </a:ext>
            </a:extLst>
          </p:cNvPr>
          <p:cNvSpPr>
            <a:spLocks noGrp="1"/>
          </p:cNvSpPr>
          <p:nvPr>
            <p:ph type="title"/>
          </p:nvPr>
        </p:nvSpPr>
        <p:spPr>
          <a:xfrm>
            <a:off x="457200" y="564928"/>
            <a:ext cx="8229600" cy="672657"/>
          </a:xfrm>
        </p:spPr>
        <p:txBody>
          <a:bodyPr anchor="b">
            <a:noAutofit/>
          </a:bodyPr>
          <a:lstStyle/>
          <a:p>
            <a:pPr>
              <a:lnSpc>
                <a:spcPct val="90000"/>
              </a:lnSpc>
            </a:pPr>
            <a:r>
              <a:rPr lang="en-NZ" sz="3200" dirty="0"/>
              <a:t>Breakeven chart for determining target-return price and breakeven volume</a:t>
            </a:r>
          </a:p>
        </p:txBody>
      </p:sp>
      <p:pic>
        <p:nvPicPr>
          <p:cNvPr id="4" name="Picture 3" descr="A line graph shows a breakeven chart for determining the target-return price and breakeven volume. Full alt text description in Notes.">
            <a:extLst>
              <a:ext uri="{FF2B5EF4-FFF2-40B4-BE49-F238E27FC236}">
                <a16:creationId xmlns:a16="http://schemas.microsoft.com/office/drawing/2014/main" id="{A6E0E850-C18D-4058-B32D-3F97A5591646}"/>
              </a:ext>
            </a:extLst>
          </p:cNvPr>
          <p:cNvPicPr>
            <a:picLocks noChangeAspect="1"/>
          </p:cNvPicPr>
          <p:nvPr/>
        </p:nvPicPr>
        <p:blipFill>
          <a:blip r:embed="rId3"/>
          <a:stretch>
            <a:fillRect/>
          </a:stretch>
        </p:blipFill>
        <p:spPr>
          <a:xfrm>
            <a:off x="457200" y="1746693"/>
            <a:ext cx="8401050" cy="4210050"/>
          </a:xfrm>
          <a:prstGeom prst="rect">
            <a:avLst/>
          </a:prstGeom>
        </p:spPr>
      </p:pic>
    </p:spTree>
    <p:extLst>
      <p:ext uri="{BB962C8B-B14F-4D97-AF65-F5344CB8AC3E}">
        <p14:creationId xmlns:p14="http://schemas.microsoft.com/office/powerpoint/2010/main" val="848783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D9AE-1F5C-4F48-BF67-A1370C90279A}"/>
              </a:ext>
            </a:extLst>
          </p:cNvPr>
          <p:cNvSpPr>
            <a:spLocks noGrp="1"/>
          </p:cNvSpPr>
          <p:nvPr>
            <p:ph type="title"/>
          </p:nvPr>
        </p:nvSpPr>
        <p:spPr>
          <a:xfrm>
            <a:off x="457200" y="744794"/>
            <a:ext cx="8229600" cy="672657"/>
          </a:xfrm>
        </p:spPr>
        <p:txBody>
          <a:bodyPr/>
          <a:lstStyle/>
          <a:p>
            <a:r>
              <a:rPr lang="en-NZ" dirty="0"/>
              <a:t>Value-based pricing versus cost-based pricing</a:t>
            </a:r>
          </a:p>
        </p:txBody>
      </p:sp>
      <p:pic>
        <p:nvPicPr>
          <p:cNvPr id="8" name="Picture 7" descr="Two flowcharts compare components of value-based pricing and cost-based pricing. Full alt text description in Notes.">
            <a:extLst>
              <a:ext uri="{FF2B5EF4-FFF2-40B4-BE49-F238E27FC236}">
                <a16:creationId xmlns:a16="http://schemas.microsoft.com/office/drawing/2014/main" id="{5C427869-F538-47B6-A844-C73D76B0284F}"/>
              </a:ext>
            </a:extLst>
          </p:cNvPr>
          <p:cNvPicPr>
            <a:picLocks noChangeAspect="1"/>
          </p:cNvPicPr>
          <p:nvPr/>
        </p:nvPicPr>
        <p:blipFill>
          <a:blip r:embed="rId3"/>
          <a:stretch>
            <a:fillRect/>
          </a:stretch>
        </p:blipFill>
        <p:spPr>
          <a:xfrm>
            <a:off x="600075" y="1638300"/>
            <a:ext cx="7943850" cy="3581400"/>
          </a:xfrm>
          <a:prstGeom prst="rect">
            <a:avLst/>
          </a:prstGeom>
        </p:spPr>
      </p:pic>
    </p:spTree>
    <p:extLst>
      <p:ext uri="{BB962C8B-B14F-4D97-AF65-F5344CB8AC3E}">
        <p14:creationId xmlns:p14="http://schemas.microsoft.com/office/powerpoint/2010/main" val="3335042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771765"/>
          </a:xfrm>
        </p:spPr>
        <p:txBody>
          <a:bodyPr/>
          <a:lstStyle/>
          <a:p>
            <a:r>
              <a:rPr lang="en-US" sz="3200" dirty="0"/>
              <a:t>Major “ongoing” pricing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987136"/>
            <a:ext cx="8229599" cy="2070462"/>
          </a:xfrm>
        </p:spPr>
        <p:txBody>
          <a:bodyPr/>
          <a:lstStyle/>
          <a:p>
            <a:pPr marL="101600" indent="0">
              <a:buNone/>
            </a:pPr>
            <a:r>
              <a:rPr lang="en-US" sz="2400" b="1" dirty="0">
                <a:solidFill>
                  <a:srgbClr val="007FA3"/>
                </a:solidFill>
              </a:rPr>
              <a:t>Competition-based pricing</a:t>
            </a:r>
          </a:p>
          <a:p>
            <a:r>
              <a:rPr lang="en-US" sz="2000" b="1" dirty="0"/>
              <a:t>Competition-based pricing </a:t>
            </a:r>
            <a:r>
              <a:rPr lang="en-US" sz="2000" dirty="0"/>
              <a:t>refers to the process of setting prices based on competitors’ strategies, costs, prices and market offerings.</a:t>
            </a:r>
          </a:p>
          <a:p>
            <a:r>
              <a:rPr lang="en-US" sz="2000" dirty="0"/>
              <a:t>Consumers base their judgments of a product’s value on the prices that competitors charge for similar products.</a:t>
            </a:r>
          </a:p>
          <a:p>
            <a:endParaRPr lang="en-US" sz="2000" dirty="0"/>
          </a:p>
          <a:p>
            <a:endParaRPr lang="en-US" sz="2000" dirty="0"/>
          </a:p>
          <a:p>
            <a:endParaRPr lang="en-US" sz="2000" dirty="0"/>
          </a:p>
        </p:txBody>
      </p:sp>
      <p:sp>
        <p:nvSpPr>
          <p:cNvPr id="5" name="Rectangle 3">
            <a:extLst>
              <a:ext uri="{FF2B5EF4-FFF2-40B4-BE49-F238E27FC236}">
                <a16:creationId xmlns:a16="http://schemas.microsoft.com/office/drawing/2014/main" id="{AC3DCFBE-BB00-4F8E-9BA6-DF1A35698338}"/>
              </a:ext>
            </a:extLst>
          </p:cNvPr>
          <p:cNvSpPr txBox="1">
            <a:spLocks noChangeArrowheads="1"/>
          </p:cNvSpPr>
          <p:nvPr/>
        </p:nvSpPr>
        <p:spPr>
          <a:xfrm>
            <a:off x="457201" y="3179617"/>
            <a:ext cx="8229597" cy="3283528"/>
          </a:xfrm>
          <a:prstGeom prst="rect">
            <a:avLst/>
          </a:prstGeom>
          <a:solidFill>
            <a:srgbClr val="E1F2CE"/>
          </a:solidFill>
          <a:ln>
            <a:solidFill>
              <a:srgbClr val="00B050"/>
            </a:solidFill>
          </a:ln>
          <a:effectLst>
            <a:outerShdw blurRad="50800" dist="38100" dir="2700000" algn="tl" rotWithShape="0">
              <a:prstClr val="black">
                <a:alpha val="40000"/>
              </a:prstClr>
            </a:outerShdw>
          </a:effectLst>
        </p:spPr>
        <p:txBody>
          <a:bodyPr lIns="91425" tIns="91425" rIns="91425" bIns="91425" anchor="t" anchorCtr="0"/>
          <a:lstStyle>
            <a:defPPr marR="0" lvl="0" algn="l" rtl="0">
              <a:lnSpc>
                <a:spcPct val="100000"/>
              </a:lnSpc>
              <a:spcBef>
                <a:spcPts val="0"/>
              </a:spcBef>
              <a:spcAft>
                <a:spcPts val="0"/>
              </a:spcAft>
            </a:defPPr>
            <a:lvl1pPr marL="256032" marR="0" lvl="0" indent="-154432" algn="l" rtl="0">
              <a:lnSpc>
                <a:spcPct val="100000"/>
              </a:lnSpc>
              <a:spcBef>
                <a:spcPts val="15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lnSpc>
                <a:spcPct val="100000"/>
              </a:lnSpc>
              <a:spcBef>
                <a:spcPts val="600"/>
              </a:spcBef>
              <a:spcAft>
                <a:spcPts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r>
              <a:rPr lang="en-US" sz="2000" dirty="0"/>
              <a:t>In the competitive marketplace, pricing pressure has increased. </a:t>
            </a:r>
          </a:p>
          <a:p>
            <a:r>
              <a:rPr lang="en-US" sz="2000" dirty="0"/>
              <a:t>Yet, cutting prices is often not always the best solution. Reducing prices:</a:t>
            </a:r>
          </a:p>
          <a:p>
            <a:pPr marL="855218" lvl="1" indent="-285750">
              <a:spcAft>
                <a:spcPts val="600"/>
              </a:spcAft>
              <a:buFont typeface="Wingdings" panose="05000000000000000000" pitchFamily="2" charset="2"/>
              <a:buChar char="§"/>
            </a:pPr>
            <a:r>
              <a:rPr lang="en-US" sz="1800" dirty="0"/>
              <a:t>unnecessarily erodes profits </a:t>
            </a:r>
          </a:p>
          <a:p>
            <a:pPr marL="855218" lvl="1" indent="-285750">
              <a:spcAft>
                <a:spcPts val="600"/>
              </a:spcAft>
              <a:buFont typeface="Wingdings" panose="05000000000000000000" pitchFamily="2" charset="2"/>
              <a:buChar char="§"/>
            </a:pPr>
            <a:r>
              <a:rPr lang="en-US" sz="1800" dirty="0"/>
              <a:t>contributes to damaging price wars and </a:t>
            </a:r>
          </a:p>
          <a:p>
            <a:pPr marL="855218" lvl="1" indent="-285750">
              <a:spcAft>
                <a:spcPts val="600"/>
              </a:spcAft>
              <a:buFont typeface="Wingdings" panose="05000000000000000000" pitchFamily="2" charset="2"/>
              <a:buChar char="§"/>
            </a:pPr>
            <a:r>
              <a:rPr lang="en-US" sz="1800" dirty="0"/>
              <a:t>has the potential to erode brand value.</a:t>
            </a:r>
          </a:p>
          <a:p>
            <a:r>
              <a:rPr lang="en-US" sz="2000" dirty="0"/>
              <a:t>The challenge is to find the right balance between profit and pressure to reduce prices.</a:t>
            </a:r>
          </a:p>
        </p:txBody>
      </p:sp>
    </p:spTree>
    <p:extLst>
      <p:ext uri="{BB962C8B-B14F-4D97-AF65-F5344CB8AC3E}">
        <p14:creationId xmlns:p14="http://schemas.microsoft.com/office/powerpoint/2010/main" val="567031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Other internal and external considerations affecting price decisions</a:t>
            </a:r>
            <a:endParaRPr lang="en-US" sz="28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pPr marL="101600" indent="0">
              <a:buNone/>
            </a:pPr>
            <a:r>
              <a:rPr lang="en-US" sz="2400" b="1" dirty="0">
                <a:solidFill>
                  <a:srgbClr val="007FA3"/>
                </a:solidFill>
              </a:rPr>
              <a:t>Overall marketing strategy, objectives and mix</a:t>
            </a:r>
          </a:p>
          <a:p>
            <a:r>
              <a:rPr lang="en-NZ" sz="2000" b="0" i="0" u="none" strike="noStrike" baseline="0" dirty="0">
                <a:latin typeface="+mj-lt"/>
              </a:rPr>
              <a:t>Marketers </a:t>
            </a:r>
            <a:r>
              <a:rPr lang="en-NZ" sz="2000" dirty="0">
                <a:solidFill>
                  <a:schemeClr val="tx1"/>
                </a:solidFill>
                <a:latin typeface="+mj-lt"/>
              </a:rPr>
              <a:t>must</a:t>
            </a:r>
            <a:r>
              <a:rPr lang="en-NZ" sz="2000" b="0" i="0" u="none" strike="noStrike" baseline="0" dirty="0">
                <a:latin typeface="+mj-lt"/>
              </a:rPr>
              <a:t> consider the total marketing strategy and mix when setting prices. </a:t>
            </a:r>
          </a:p>
          <a:p>
            <a:r>
              <a:rPr lang="en-NZ" sz="2000" b="0" i="0" u="none" strike="noStrike" baseline="0" dirty="0">
                <a:latin typeface="+mj-lt"/>
              </a:rPr>
              <a:t>Pricing </a:t>
            </a:r>
            <a:r>
              <a:rPr lang="en-US" sz="2000" dirty="0">
                <a:solidFill>
                  <a:schemeClr val="tx1"/>
                </a:solidFill>
              </a:rPr>
              <a:t>can be used to:</a:t>
            </a:r>
          </a:p>
          <a:p>
            <a:pPr lvl="1">
              <a:lnSpc>
                <a:spcPct val="90000"/>
              </a:lnSpc>
              <a:buFont typeface="Wingdings" panose="05000000000000000000" pitchFamily="2" charset="2"/>
              <a:buChar char="§"/>
            </a:pPr>
            <a:r>
              <a:rPr lang="en-US" sz="1800" dirty="0">
                <a:solidFill>
                  <a:schemeClr val="tx1"/>
                </a:solidFill>
              </a:rPr>
              <a:t>attract new customers or profitably retain existing ones</a:t>
            </a:r>
          </a:p>
          <a:p>
            <a:pPr lvl="1">
              <a:lnSpc>
                <a:spcPct val="90000"/>
              </a:lnSpc>
              <a:buFont typeface="Wingdings" panose="05000000000000000000" pitchFamily="2" charset="2"/>
              <a:buChar char="§"/>
            </a:pPr>
            <a:r>
              <a:rPr lang="en-US" sz="1800" dirty="0">
                <a:solidFill>
                  <a:schemeClr val="tx1"/>
                </a:solidFill>
              </a:rPr>
              <a:t>deter competitors from entering the market</a:t>
            </a:r>
          </a:p>
          <a:p>
            <a:pPr lvl="1">
              <a:lnSpc>
                <a:spcPct val="90000"/>
              </a:lnSpc>
              <a:buFont typeface="Wingdings" panose="05000000000000000000" pitchFamily="2" charset="2"/>
              <a:buChar char="§"/>
            </a:pPr>
            <a:r>
              <a:rPr lang="en-US" sz="1800" dirty="0" err="1">
                <a:solidFill>
                  <a:schemeClr val="tx1"/>
                </a:solidFill>
              </a:rPr>
              <a:t>stabilise</a:t>
            </a:r>
            <a:r>
              <a:rPr lang="en-US" sz="1800" dirty="0">
                <a:solidFill>
                  <a:schemeClr val="tx1"/>
                </a:solidFill>
              </a:rPr>
              <a:t> the market by matching competitors’ prices</a:t>
            </a:r>
          </a:p>
          <a:p>
            <a:pPr lvl="1">
              <a:lnSpc>
                <a:spcPct val="90000"/>
              </a:lnSpc>
              <a:buFont typeface="Wingdings" panose="05000000000000000000" pitchFamily="2" charset="2"/>
              <a:buChar char="§"/>
            </a:pPr>
            <a:r>
              <a:rPr lang="en-US" sz="1800" dirty="0">
                <a:solidFill>
                  <a:schemeClr val="tx1"/>
                </a:solidFill>
              </a:rPr>
              <a:t>retain the loyalty and support of resellers</a:t>
            </a:r>
          </a:p>
          <a:p>
            <a:pPr lvl="1">
              <a:lnSpc>
                <a:spcPct val="90000"/>
              </a:lnSpc>
              <a:buFont typeface="Wingdings" panose="05000000000000000000" pitchFamily="2" charset="2"/>
              <a:buChar char="§"/>
            </a:pPr>
            <a:r>
              <a:rPr lang="en-US" sz="1800" dirty="0">
                <a:solidFill>
                  <a:schemeClr val="tx1"/>
                </a:solidFill>
              </a:rPr>
              <a:t>avoid government intervention</a:t>
            </a:r>
          </a:p>
          <a:p>
            <a:pPr lvl="1">
              <a:lnSpc>
                <a:spcPct val="90000"/>
              </a:lnSpc>
              <a:buFont typeface="Wingdings" panose="05000000000000000000" pitchFamily="2" charset="2"/>
              <a:buChar char="§"/>
            </a:pPr>
            <a:r>
              <a:rPr lang="en-US" sz="1800" dirty="0">
                <a:solidFill>
                  <a:schemeClr val="tx1"/>
                </a:solidFill>
              </a:rPr>
              <a:t>create excitement for a brand</a:t>
            </a:r>
          </a:p>
          <a:p>
            <a:pPr lvl="1">
              <a:lnSpc>
                <a:spcPct val="90000"/>
              </a:lnSpc>
              <a:buFont typeface="Wingdings" panose="05000000000000000000" pitchFamily="2" charset="2"/>
              <a:buChar char="§"/>
            </a:pPr>
            <a:r>
              <a:rPr lang="en-US" sz="1800" dirty="0">
                <a:solidFill>
                  <a:schemeClr val="tx1"/>
                </a:solidFill>
              </a:rPr>
              <a:t>help the sales of other products in the company’s line.</a:t>
            </a:r>
            <a:endParaRPr lang="en-US" sz="2000" dirty="0">
              <a:solidFill>
                <a:schemeClr val="tx1"/>
              </a:solidFill>
            </a:endParaRPr>
          </a:p>
        </p:txBody>
      </p:sp>
    </p:spTree>
    <p:extLst>
      <p:ext uri="{BB962C8B-B14F-4D97-AF65-F5344CB8AC3E}">
        <p14:creationId xmlns:p14="http://schemas.microsoft.com/office/powerpoint/2010/main" val="2153995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238539" y="100120"/>
            <a:ext cx="8686800" cy="575742"/>
          </a:xfrm>
        </p:spPr>
        <p:txBody>
          <a:bodyPr/>
          <a:lstStyle/>
          <a:p>
            <a:r>
              <a:rPr lang="en-US" sz="3200" dirty="0"/>
              <a:t>New-product pricing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238539" y="675862"/>
            <a:ext cx="8666922" cy="4525963"/>
          </a:xfrm>
        </p:spPr>
        <p:txBody>
          <a:bodyPr/>
          <a:lstStyle/>
          <a:p>
            <a:pPr marL="101600" indent="0">
              <a:spcBef>
                <a:spcPts val="300"/>
              </a:spcBef>
              <a:spcAft>
                <a:spcPts val="300"/>
              </a:spcAft>
              <a:buNone/>
            </a:pPr>
            <a:r>
              <a:rPr lang="en-US" sz="2400" b="1" dirty="0">
                <a:solidFill>
                  <a:srgbClr val="007FA3"/>
                </a:solidFill>
              </a:rPr>
              <a:t>Market-skimming pricing</a:t>
            </a:r>
          </a:p>
          <a:p>
            <a:pPr>
              <a:spcBef>
                <a:spcPts val="300"/>
              </a:spcBef>
              <a:spcAft>
                <a:spcPts val="300"/>
              </a:spcAft>
            </a:pPr>
            <a:r>
              <a:rPr lang="en-US" sz="2000" b="1" dirty="0">
                <a:solidFill>
                  <a:schemeClr val="tx1"/>
                </a:solidFill>
              </a:rPr>
              <a:t>Market-skimming pricing </a:t>
            </a:r>
            <a:r>
              <a:rPr lang="en-US" sz="2000" dirty="0">
                <a:solidFill>
                  <a:schemeClr val="tx1"/>
                </a:solidFill>
              </a:rPr>
              <a:t>(</a:t>
            </a:r>
            <a:r>
              <a:rPr lang="en-US" sz="2000" b="1" dirty="0">
                <a:solidFill>
                  <a:schemeClr val="tx1"/>
                </a:solidFill>
              </a:rPr>
              <a:t>price skimming</a:t>
            </a:r>
            <a:r>
              <a:rPr lang="en-US" sz="2000" dirty="0">
                <a:solidFill>
                  <a:schemeClr val="tx1"/>
                </a:solidFill>
              </a:rPr>
              <a:t>) </a:t>
            </a:r>
            <a:br>
              <a:rPr lang="en-US" sz="2000" dirty="0">
                <a:solidFill>
                  <a:schemeClr val="tx1"/>
                </a:solidFill>
              </a:rPr>
            </a:br>
            <a:r>
              <a:rPr lang="en-US" sz="2000" dirty="0">
                <a:solidFill>
                  <a:schemeClr val="tx1"/>
                </a:solidFill>
              </a:rPr>
              <a:t>refers to the process of setting a high price for a new product to skim maximum revenue from the segments willing to pay the high price; the company makes fewer but more profitable sales.</a:t>
            </a:r>
            <a:r>
              <a:rPr lang="en-AU" sz="2000" dirty="0">
                <a:solidFill>
                  <a:schemeClr val="tx1"/>
                </a:solidFill>
              </a:rPr>
              <a:t> </a:t>
            </a:r>
          </a:p>
          <a:p>
            <a:pPr>
              <a:spcBef>
                <a:spcPts val="300"/>
              </a:spcBef>
              <a:spcAft>
                <a:spcPts val="300"/>
              </a:spcAft>
            </a:pPr>
            <a:r>
              <a:rPr lang="en-AU" sz="2000" dirty="0">
                <a:solidFill>
                  <a:schemeClr val="tx1"/>
                </a:solidFill>
              </a:rPr>
              <a:t>Key features</a:t>
            </a:r>
          </a:p>
          <a:p>
            <a:pPr lvl="1">
              <a:spcBef>
                <a:spcPts val="300"/>
              </a:spcBef>
              <a:spcAft>
                <a:spcPts val="300"/>
              </a:spcAft>
              <a:buFont typeface="Wingdings" panose="05000000000000000000" pitchFamily="2" charset="2"/>
              <a:buChar char="§"/>
            </a:pPr>
            <a:r>
              <a:rPr lang="en-US" sz="1800" dirty="0">
                <a:solidFill>
                  <a:schemeClr val="tx1"/>
                </a:solidFill>
              </a:rPr>
              <a:t>High initial price – captures early adopters who value being first or see high value.</a:t>
            </a:r>
          </a:p>
          <a:p>
            <a:pPr lvl="1">
              <a:spcBef>
                <a:spcPts val="300"/>
              </a:spcBef>
              <a:spcAft>
                <a:spcPts val="300"/>
              </a:spcAft>
              <a:buFont typeface="Wingdings" panose="05000000000000000000" pitchFamily="2" charset="2"/>
              <a:buChar char="§"/>
            </a:pPr>
            <a:r>
              <a:rPr lang="en-US" sz="1800" dirty="0">
                <a:solidFill>
                  <a:schemeClr val="tx1"/>
                </a:solidFill>
              </a:rPr>
              <a:t>Price decreases over time – as competition increases or demand from early buyers is satisfied.</a:t>
            </a:r>
            <a:endParaRPr lang="en-AU" sz="1800" dirty="0">
              <a:solidFill>
                <a:schemeClr val="tx1"/>
              </a:solidFill>
            </a:endParaRPr>
          </a:p>
          <a:p>
            <a:pPr>
              <a:spcBef>
                <a:spcPts val="300"/>
              </a:spcBef>
              <a:spcAft>
                <a:spcPts val="300"/>
              </a:spcAft>
            </a:pPr>
            <a:r>
              <a:rPr lang="en-AU" sz="2000" dirty="0">
                <a:solidFill>
                  <a:schemeClr val="tx1"/>
                </a:solidFill>
              </a:rPr>
              <a:t>Success is often determined by:</a:t>
            </a:r>
            <a:endParaRPr lang="en-US" sz="2000" dirty="0">
              <a:solidFill>
                <a:schemeClr val="tx1"/>
              </a:solidFill>
            </a:endParaRPr>
          </a:p>
          <a:p>
            <a:pPr lvl="1">
              <a:spcBef>
                <a:spcPts val="300"/>
              </a:spcBef>
              <a:spcAft>
                <a:spcPts val="300"/>
              </a:spcAft>
              <a:buFont typeface="Wingdings" panose="05000000000000000000" pitchFamily="2" charset="2"/>
              <a:buChar char="§"/>
            </a:pPr>
            <a:r>
              <a:rPr lang="en-US" sz="1800" dirty="0">
                <a:solidFill>
                  <a:schemeClr val="tx1"/>
                </a:solidFill>
              </a:rPr>
              <a:t>Product is new, unique, or innovative (e.g., new technology, luxury goods).</a:t>
            </a:r>
          </a:p>
          <a:p>
            <a:pPr lvl="1">
              <a:spcBef>
                <a:spcPts val="300"/>
              </a:spcBef>
              <a:spcAft>
                <a:spcPts val="300"/>
              </a:spcAft>
              <a:buFont typeface="Wingdings" panose="05000000000000000000" pitchFamily="2" charset="2"/>
              <a:buChar char="§"/>
            </a:pPr>
            <a:r>
              <a:rPr lang="en-US" sz="1800" dirty="0">
                <a:solidFill>
                  <a:schemeClr val="tx1"/>
                </a:solidFill>
              </a:rPr>
              <a:t>Demand from early adopters is strong.</a:t>
            </a:r>
          </a:p>
          <a:p>
            <a:pPr lvl="1">
              <a:spcBef>
                <a:spcPts val="300"/>
              </a:spcBef>
              <a:spcAft>
                <a:spcPts val="300"/>
              </a:spcAft>
              <a:buFont typeface="Wingdings" panose="05000000000000000000" pitchFamily="2" charset="2"/>
              <a:buChar char="§"/>
            </a:pPr>
            <a:r>
              <a:rPr lang="en-AU" sz="1800" dirty="0">
                <a:solidFill>
                  <a:schemeClr val="tx1"/>
                </a:solidFill>
              </a:rPr>
              <a:t>Superior product and/or brand reputation. </a:t>
            </a:r>
          </a:p>
          <a:p>
            <a:pPr lvl="1">
              <a:spcBef>
                <a:spcPts val="300"/>
              </a:spcBef>
              <a:spcAft>
                <a:spcPts val="300"/>
              </a:spcAft>
              <a:buFont typeface="Wingdings" panose="05000000000000000000" pitchFamily="2" charset="2"/>
              <a:buChar char="§"/>
            </a:pPr>
            <a:r>
              <a:rPr lang="en-AU" sz="1800" dirty="0">
                <a:solidFill>
                  <a:schemeClr val="tx1"/>
                </a:solidFill>
              </a:rPr>
              <a:t>Barriers to competitive entry, </a:t>
            </a:r>
          </a:p>
          <a:p>
            <a:pPr lvl="1">
              <a:spcBef>
                <a:spcPts val="300"/>
              </a:spcBef>
              <a:spcAft>
                <a:spcPts val="300"/>
              </a:spcAft>
              <a:buFont typeface="Wingdings" panose="05000000000000000000" pitchFamily="2" charset="2"/>
              <a:buChar char="§"/>
            </a:pPr>
            <a:r>
              <a:rPr lang="en-AU" sz="1800" dirty="0">
                <a:solidFill>
                  <a:schemeClr val="tx1"/>
                </a:solidFill>
              </a:rPr>
              <a:t>Legal protection of product or technological breakthroughs</a:t>
            </a:r>
          </a:p>
          <a:p>
            <a:pPr lvl="1">
              <a:spcBef>
                <a:spcPts val="300"/>
              </a:spcBef>
              <a:spcAft>
                <a:spcPts val="300"/>
              </a:spcAft>
              <a:buFont typeface="Wingdings" panose="05000000000000000000" pitchFamily="2" charset="2"/>
              <a:buChar char="§"/>
            </a:pPr>
            <a:r>
              <a:rPr lang="en-AU" sz="1800" dirty="0">
                <a:solidFill>
                  <a:schemeClr val="tx1"/>
                </a:solidFill>
              </a:rPr>
              <a:t>Inelasticity of demand</a:t>
            </a:r>
            <a:endParaRPr lang="en-US" sz="1800" dirty="0">
              <a:solidFill>
                <a:schemeClr val="tx1"/>
              </a:solidFill>
            </a:endParaRPr>
          </a:p>
          <a:p>
            <a:pPr marL="101600" indent="0">
              <a:spcBef>
                <a:spcPts val="300"/>
              </a:spcBef>
              <a:spcAft>
                <a:spcPts val="300"/>
              </a:spcAft>
              <a:buNone/>
            </a:pPr>
            <a:endParaRPr lang="en-US" sz="2000" dirty="0">
              <a:solidFill>
                <a:schemeClr val="tx1"/>
              </a:solidFill>
            </a:endParaRPr>
          </a:p>
        </p:txBody>
      </p:sp>
    </p:spTree>
    <p:extLst>
      <p:ext uri="{BB962C8B-B14F-4D97-AF65-F5344CB8AC3E}">
        <p14:creationId xmlns:p14="http://schemas.microsoft.com/office/powerpoint/2010/main" val="1804757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713777"/>
          </a:xfrm>
        </p:spPr>
        <p:txBody>
          <a:bodyPr/>
          <a:lstStyle/>
          <a:p>
            <a:r>
              <a:rPr lang="en-US" sz="3200" dirty="0"/>
              <a:t>New-product pricing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959540"/>
            <a:ext cx="8229599" cy="4525963"/>
          </a:xfrm>
        </p:spPr>
        <p:txBody>
          <a:bodyPr/>
          <a:lstStyle/>
          <a:p>
            <a:pPr marL="101600" indent="0">
              <a:spcBef>
                <a:spcPts val="0"/>
              </a:spcBef>
              <a:buNone/>
            </a:pPr>
            <a:r>
              <a:rPr lang="en-US" sz="2400" b="1" dirty="0">
                <a:solidFill>
                  <a:srgbClr val="007FA3"/>
                </a:solidFill>
              </a:rPr>
              <a:t>Market-penetration pricing</a:t>
            </a:r>
          </a:p>
          <a:p>
            <a:pPr>
              <a:spcBef>
                <a:spcPts val="600"/>
              </a:spcBef>
              <a:spcAft>
                <a:spcPts val="600"/>
              </a:spcAft>
            </a:pPr>
            <a:r>
              <a:rPr lang="en-US" sz="2000" b="1" dirty="0">
                <a:solidFill>
                  <a:schemeClr val="tx1"/>
                </a:solidFill>
              </a:rPr>
              <a:t>Market-penetration pricing </a:t>
            </a:r>
            <a:br>
              <a:rPr lang="en-US" sz="2000" b="1" dirty="0">
                <a:solidFill>
                  <a:schemeClr val="tx1"/>
                </a:solidFill>
              </a:rPr>
            </a:br>
            <a:r>
              <a:rPr lang="en-US" sz="2000" dirty="0">
                <a:solidFill>
                  <a:schemeClr val="tx1"/>
                </a:solidFill>
              </a:rPr>
              <a:t>refers to the process of setting a low price for a new product in order to attract many buyers and a large market share.</a:t>
            </a:r>
          </a:p>
          <a:p>
            <a:pPr>
              <a:spcBef>
                <a:spcPts val="600"/>
              </a:spcBef>
              <a:spcAft>
                <a:spcPts val="600"/>
              </a:spcAft>
            </a:pPr>
            <a:r>
              <a:rPr lang="en-AU" sz="2000" dirty="0">
                <a:solidFill>
                  <a:schemeClr val="tx1"/>
                </a:solidFill>
              </a:rPr>
              <a:t>Designed to capture a large share of a substantial market, resulting in eventual lower production costs after (or if) market is dominated.</a:t>
            </a:r>
          </a:p>
          <a:p>
            <a:pPr>
              <a:spcBef>
                <a:spcPts val="600"/>
              </a:spcBef>
              <a:spcAft>
                <a:spcPts val="600"/>
              </a:spcAft>
            </a:pPr>
            <a:r>
              <a:rPr lang="en-AU" sz="2000" dirty="0">
                <a:solidFill>
                  <a:schemeClr val="tx1"/>
                </a:solidFill>
              </a:rPr>
              <a:t>Successful when:</a:t>
            </a:r>
          </a:p>
          <a:p>
            <a:pPr lvl="1">
              <a:spcBef>
                <a:spcPts val="0"/>
              </a:spcBef>
              <a:buFont typeface="Wingdings" panose="05000000000000000000" pitchFamily="2" charset="2"/>
              <a:buChar char="§"/>
            </a:pPr>
            <a:r>
              <a:rPr lang="en-AU" sz="1800" dirty="0">
                <a:solidFill>
                  <a:schemeClr val="tx1"/>
                </a:solidFill>
              </a:rPr>
              <a:t>Market is price sensitive</a:t>
            </a:r>
          </a:p>
          <a:p>
            <a:pPr lvl="1">
              <a:spcBef>
                <a:spcPts val="0"/>
              </a:spcBef>
              <a:buFont typeface="Wingdings" panose="05000000000000000000" pitchFamily="2" charset="2"/>
              <a:buChar char="§"/>
            </a:pPr>
            <a:r>
              <a:rPr lang="en-AU" sz="1800" dirty="0">
                <a:solidFill>
                  <a:schemeClr val="tx1"/>
                </a:solidFill>
              </a:rPr>
              <a:t>Economies of mass production are feasible</a:t>
            </a:r>
          </a:p>
          <a:p>
            <a:pPr lvl="1">
              <a:spcBef>
                <a:spcPts val="0"/>
              </a:spcBef>
              <a:buFont typeface="Wingdings" panose="05000000000000000000" pitchFamily="2" charset="2"/>
              <a:buChar char="§"/>
            </a:pPr>
            <a:r>
              <a:rPr lang="en-AU" sz="1800" dirty="0">
                <a:solidFill>
                  <a:schemeClr val="tx1"/>
                </a:solidFill>
              </a:rPr>
              <a:t>Firm has substantial resources to sustain short-run losses needed to obtain penetration</a:t>
            </a:r>
          </a:p>
          <a:p>
            <a:pPr>
              <a:spcBef>
                <a:spcPts val="600"/>
              </a:spcBef>
              <a:spcAft>
                <a:spcPts val="600"/>
              </a:spcAft>
            </a:pPr>
            <a:r>
              <a:rPr lang="en-AU" sz="2000" dirty="0">
                <a:solidFill>
                  <a:schemeClr val="tx1"/>
                </a:solidFill>
              </a:rPr>
              <a:t>Disadvantages: </a:t>
            </a:r>
          </a:p>
          <a:p>
            <a:pPr lvl="1">
              <a:spcBef>
                <a:spcPts val="0"/>
              </a:spcBef>
              <a:buFont typeface="Wingdings" panose="05000000000000000000" pitchFamily="2" charset="2"/>
              <a:buChar char="§"/>
            </a:pPr>
            <a:r>
              <a:rPr lang="en-AU" sz="1800" dirty="0">
                <a:solidFill>
                  <a:schemeClr val="tx1"/>
                </a:solidFill>
              </a:rPr>
              <a:t>Lower profits per unit</a:t>
            </a:r>
          </a:p>
          <a:p>
            <a:pPr lvl="1">
              <a:spcBef>
                <a:spcPts val="0"/>
              </a:spcBef>
              <a:buFont typeface="Wingdings" panose="05000000000000000000" pitchFamily="2" charset="2"/>
              <a:buChar char="§"/>
            </a:pPr>
            <a:r>
              <a:rPr lang="en-AU" sz="1800" dirty="0">
                <a:solidFill>
                  <a:schemeClr val="tx1"/>
                </a:solidFill>
              </a:rPr>
              <a:t>Higher volume required to reach the break-even point</a:t>
            </a:r>
          </a:p>
          <a:p>
            <a:pPr lvl="1">
              <a:spcBef>
                <a:spcPts val="0"/>
              </a:spcBef>
              <a:buFont typeface="Wingdings" panose="05000000000000000000" pitchFamily="2" charset="2"/>
              <a:buChar char="§"/>
            </a:pPr>
            <a:r>
              <a:rPr lang="en-AU" sz="1800" dirty="0">
                <a:solidFill>
                  <a:schemeClr val="tx1"/>
                </a:solidFill>
              </a:rPr>
              <a:t>Slow recovery of development costs</a:t>
            </a:r>
          </a:p>
          <a:p>
            <a:pPr lvl="1">
              <a:spcBef>
                <a:spcPts val="0"/>
              </a:spcBef>
              <a:buFont typeface="Wingdings" panose="05000000000000000000" pitchFamily="2" charset="2"/>
              <a:buChar char="§"/>
            </a:pPr>
            <a:r>
              <a:rPr lang="en-AU" sz="1800" dirty="0">
                <a:solidFill>
                  <a:schemeClr val="tx1"/>
                </a:solidFill>
              </a:rPr>
              <a:t>Inability to later raise prices as consumers become used to low prices</a:t>
            </a:r>
          </a:p>
          <a:p>
            <a:pPr marL="101600" indent="0">
              <a:spcBef>
                <a:spcPts val="0"/>
              </a:spcBef>
              <a:buNone/>
            </a:pPr>
            <a:endParaRPr lang="en-US" sz="2000" dirty="0">
              <a:solidFill>
                <a:schemeClr val="tx1"/>
              </a:solidFill>
            </a:endParaRPr>
          </a:p>
        </p:txBody>
      </p:sp>
    </p:spTree>
    <p:extLst>
      <p:ext uri="{BB962C8B-B14F-4D97-AF65-F5344CB8AC3E}">
        <p14:creationId xmlns:p14="http://schemas.microsoft.com/office/powerpoint/2010/main" val="1356772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p:txBody>
          <a:bodyPr/>
          <a:lstStyle/>
          <a:p>
            <a:r>
              <a:rPr lang="en-US" sz="3200" dirty="0"/>
              <a:t>Price-adjustment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1600200"/>
            <a:ext cx="8229599" cy="4525963"/>
          </a:xfrm>
        </p:spPr>
        <p:txBody>
          <a:bodyPr/>
          <a:lstStyle/>
          <a:p>
            <a:r>
              <a:rPr lang="en-US" sz="2000" dirty="0">
                <a:solidFill>
                  <a:schemeClr val="tx1"/>
                </a:solidFill>
              </a:rPr>
              <a:t>Companies usually adjust their basic prices to account for differences in:</a:t>
            </a:r>
          </a:p>
          <a:p>
            <a:pPr lvl="1">
              <a:buFont typeface="Wingdings" panose="05000000000000000000" pitchFamily="2" charset="2"/>
              <a:buChar char="§"/>
            </a:pPr>
            <a:r>
              <a:rPr lang="en-US" sz="2000" dirty="0">
                <a:solidFill>
                  <a:schemeClr val="tx1"/>
                </a:solidFill>
              </a:rPr>
              <a:t>customers</a:t>
            </a:r>
          </a:p>
          <a:p>
            <a:pPr lvl="1">
              <a:buFont typeface="Wingdings" panose="05000000000000000000" pitchFamily="2" charset="2"/>
              <a:buChar char="§"/>
            </a:pPr>
            <a:r>
              <a:rPr lang="en-US" sz="2000" dirty="0">
                <a:solidFill>
                  <a:schemeClr val="tx1"/>
                </a:solidFill>
              </a:rPr>
              <a:t>products</a:t>
            </a:r>
          </a:p>
          <a:p>
            <a:pPr lvl="1">
              <a:buFont typeface="Wingdings" panose="05000000000000000000" pitchFamily="2" charset="2"/>
              <a:buChar char="§"/>
            </a:pPr>
            <a:r>
              <a:rPr lang="en-US" sz="2000" dirty="0">
                <a:solidFill>
                  <a:schemeClr val="tx1"/>
                </a:solidFill>
              </a:rPr>
              <a:t>locations</a:t>
            </a:r>
          </a:p>
          <a:p>
            <a:pPr lvl="1">
              <a:buFont typeface="Wingdings" panose="05000000000000000000" pitchFamily="2" charset="2"/>
              <a:buChar char="§"/>
            </a:pPr>
            <a:r>
              <a:rPr lang="en-US" sz="2000" dirty="0">
                <a:solidFill>
                  <a:schemeClr val="tx1"/>
                </a:solidFill>
              </a:rPr>
              <a:t>changing situations.</a:t>
            </a:r>
          </a:p>
          <a:p>
            <a:pPr marL="101600" indent="0">
              <a:buNone/>
            </a:pPr>
            <a:endParaRPr lang="en-US" sz="2000" dirty="0">
              <a:solidFill>
                <a:schemeClr val="tx1"/>
              </a:solidFill>
            </a:endParaRPr>
          </a:p>
          <a:p>
            <a:pPr lvl="1"/>
            <a:endParaRPr lang="en-US" sz="2000" dirty="0">
              <a:solidFill>
                <a:schemeClr val="tx1"/>
              </a:solidFill>
            </a:endParaRPr>
          </a:p>
          <a:p>
            <a:pPr marL="931418" lvl="1" indent="-342900"/>
            <a:endParaRPr lang="en-US" sz="2000" dirty="0">
              <a:solidFill>
                <a:schemeClr val="tx1"/>
              </a:solidFill>
            </a:endParaRPr>
          </a:p>
          <a:p>
            <a:pPr marL="101600" indent="0">
              <a:buNone/>
            </a:pPr>
            <a:endParaRPr lang="en-US" sz="2400" b="1" dirty="0">
              <a:solidFill>
                <a:srgbClr val="007FA3"/>
              </a:solidFill>
            </a:endParaRPr>
          </a:p>
          <a:p>
            <a:endParaRPr lang="en-US" sz="2000" dirty="0">
              <a:solidFill>
                <a:schemeClr val="tx1"/>
              </a:solidFill>
            </a:endParaRPr>
          </a:p>
        </p:txBody>
      </p:sp>
    </p:spTree>
    <p:extLst>
      <p:ext uri="{BB962C8B-B14F-4D97-AF65-F5344CB8AC3E}">
        <p14:creationId xmlns:p14="http://schemas.microsoft.com/office/powerpoint/2010/main" val="1345835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A734-755A-4FFD-AACA-00579A0A15BD}"/>
              </a:ext>
            </a:extLst>
          </p:cNvPr>
          <p:cNvSpPr>
            <a:spLocks noGrp="1"/>
          </p:cNvSpPr>
          <p:nvPr>
            <p:ph type="title"/>
          </p:nvPr>
        </p:nvSpPr>
        <p:spPr/>
        <p:txBody>
          <a:bodyPr/>
          <a:lstStyle/>
          <a:p>
            <a:r>
              <a:rPr lang="en-NZ" sz="3200" dirty="0"/>
              <a:t>Price adjustments Strategies</a:t>
            </a:r>
          </a:p>
        </p:txBody>
      </p:sp>
      <p:graphicFrame>
        <p:nvGraphicFramePr>
          <p:cNvPr id="6" name="Table 6">
            <a:extLst>
              <a:ext uri="{FF2B5EF4-FFF2-40B4-BE49-F238E27FC236}">
                <a16:creationId xmlns:a16="http://schemas.microsoft.com/office/drawing/2014/main" id="{E6100783-1694-4592-999E-5F8D72DF88E7}"/>
              </a:ext>
            </a:extLst>
          </p:cNvPr>
          <p:cNvGraphicFramePr>
            <a:graphicFrameLocks noGrp="1"/>
          </p:cNvGraphicFramePr>
          <p:nvPr>
            <p:extLst>
              <p:ext uri="{D42A27DB-BD31-4B8C-83A1-F6EECF244321}">
                <p14:modId xmlns:p14="http://schemas.microsoft.com/office/powerpoint/2010/main" val="361203326"/>
              </p:ext>
            </p:extLst>
          </p:nvPr>
        </p:nvGraphicFramePr>
        <p:xfrm>
          <a:off x="454024" y="1127878"/>
          <a:ext cx="8229598" cy="4145280"/>
        </p:xfrm>
        <a:graphic>
          <a:graphicData uri="http://schemas.openxmlformats.org/drawingml/2006/table">
            <a:tbl>
              <a:tblPr firstRow="1" bandRow="1">
                <a:tableStyleId>{1FECB4D8-DB02-4DC6-A0A2-4F2EBAE1DC90}</a:tableStyleId>
              </a:tblPr>
              <a:tblGrid>
                <a:gridCol w="2746376">
                  <a:extLst>
                    <a:ext uri="{9D8B030D-6E8A-4147-A177-3AD203B41FA5}">
                      <a16:colId xmlns:a16="http://schemas.microsoft.com/office/drawing/2014/main" val="2206504052"/>
                    </a:ext>
                  </a:extLst>
                </a:gridCol>
                <a:gridCol w="5483222">
                  <a:extLst>
                    <a:ext uri="{9D8B030D-6E8A-4147-A177-3AD203B41FA5}">
                      <a16:colId xmlns:a16="http://schemas.microsoft.com/office/drawing/2014/main" val="4182582390"/>
                    </a:ext>
                  </a:extLst>
                </a:gridCol>
              </a:tblGrid>
              <a:tr h="518160">
                <a:tc>
                  <a:txBody>
                    <a:bodyPr/>
                    <a:lstStyle/>
                    <a:p>
                      <a:pPr>
                        <a:spcBef>
                          <a:spcPts val="600"/>
                        </a:spcBef>
                        <a:spcAft>
                          <a:spcPts val="600"/>
                        </a:spcAft>
                      </a:pPr>
                      <a:r>
                        <a:rPr lang="en-NZ" dirty="0"/>
                        <a:t>Strategy</a:t>
                      </a:r>
                    </a:p>
                  </a:txBody>
                  <a:tcPr/>
                </a:tc>
                <a:tc>
                  <a:txBody>
                    <a:bodyPr/>
                    <a:lstStyle/>
                    <a:p>
                      <a:pPr>
                        <a:spcBef>
                          <a:spcPts val="600"/>
                        </a:spcBef>
                        <a:spcAft>
                          <a:spcPts val="600"/>
                        </a:spcAft>
                      </a:pPr>
                      <a:r>
                        <a:rPr lang="en-NZ" dirty="0"/>
                        <a:t>Description</a:t>
                      </a:r>
                    </a:p>
                  </a:txBody>
                  <a:tcPr/>
                </a:tc>
                <a:extLst>
                  <a:ext uri="{0D108BD9-81ED-4DB2-BD59-A6C34878D82A}">
                    <a16:rowId xmlns:a16="http://schemas.microsoft.com/office/drawing/2014/main" val="430884369"/>
                  </a:ext>
                </a:extLst>
              </a:tr>
              <a:tr h="518160">
                <a:tc>
                  <a:txBody>
                    <a:bodyPr/>
                    <a:lstStyle/>
                    <a:p>
                      <a:pPr>
                        <a:spcBef>
                          <a:spcPts val="600"/>
                        </a:spcBef>
                        <a:spcAft>
                          <a:spcPts val="600"/>
                        </a:spcAft>
                      </a:pPr>
                      <a:r>
                        <a:rPr lang="en-NZ" b="1" dirty="0"/>
                        <a:t>Discount and allowance pricing</a:t>
                      </a:r>
                    </a:p>
                  </a:txBody>
                  <a:tcPr anchor="ctr"/>
                </a:tc>
                <a:tc>
                  <a:txBody>
                    <a:bodyPr/>
                    <a:lstStyle/>
                    <a:p>
                      <a:pPr algn="l">
                        <a:spcBef>
                          <a:spcPts val="600"/>
                        </a:spcBef>
                        <a:spcAft>
                          <a:spcPts val="600"/>
                        </a:spcAft>
                      </a:pPr>
                      <a:r>
                        <a:rPr lang="en-NZ" sz="1400" b="0" u="none" strike="noStrike" cap="none" baseline="0" dirty="0">
                          <a:solidFill>
                            <a:schemeClr val="dk1"/>
                          </a:solidFill>
                          <a:sym typeface="Arial"/>
                        </a:rPr>
                        <a:t>Reducing prices to reward customer responses such as volume purchases, paying early or promoting the product</a:t>
                      </a:r>
                      <a:endParaRPr lang="en-NZ" dirty="0"/>
                    </a:p>
                  </a:txBody>
                  <a:tcPr anchor="ctr"/>
                </a:tc>
                <a:extLst>
                  <a:ext uri="{0D108BD9-81ED-4DB2-BD59-A6C34878D82A}">
                    <a16:rowId xmlns:a16="http://schemas.microsoft.com/office/drawing/2014/main" val="1183967418"/>
                  </a:ext>
                </a:extLst>
              </a:tr>
              <a:tr h="518160">
                <a:tc>
                  <a:txBody>
                    <a:bodyPr/>
                    <a:lstStyle/>
                    <a:p>
                      <a:pPr>
                        <a:spcBef>
                          <a:spcPts val="600"/>
                        </a:spcBef>
                        <a:spcAft>
                          <a:spcPts val="600"/>
                        </a:spcAft>
                      </a:pPr>
                      <a:r>
                        <a:rPr lang="en-NZ" b="1" dirty="0"/>
                        <a:t>Segmented pricing</a:t>
                      </a:r>
                    </a:p>
                  </a:txBody>
                  <a:tcPr anchor="ctr"/>
                </a:tc>
                <a:tc>
                  <a:txBody>
                    <a:bodyPr/>
                    <a:lstStyle/>
                    <a:p>
                      <a:pPr algn="l">
                        <a:spcBef>
                          <a:spcPts val="600"/>
                        </a:spcBef>
                        <a:spcAft>
                          <a:spcPts val="600"/>
                        </a:spcAft>
                      </a:pPr>
                      <a:r>
                        <a:rPr lang="en-NZ" sz="1400" b="0" u="none" strike="noStrike" cap="none" baseline="0" dirty="0">
                          <a:solidFill>
                            <a:schemeClr val="dk1"/>
                          </a:solidFill>
                          <a:sym typeface="Arial"/>
                        </a:rPr>
                        <a:t>Adjusting prices to allow for differences in customers, products or locations</a:t>
                      </a:r>
                      <a:endParaRPr lang="en-NZ" dirty="0"/>
                    </a:p>
                  </a:txBody>
                  <a:tcPr anchor="ctr"/>
                </a:tc>
                <a:extLst>
                  <a:ext uri="{0D108BD9-81ED-4DB2-BD59-A6C34878D82A}">
                    <a16:rowId xmlns:a16="http://schemas.microsoft.com/office/drawing/2014/main" val="2369468022"/>
                  </a:ext>
                </a:extLst>
              </a:tr>
              <a:tr h="518160">
                <a:tc>
                  <a:txBody>
                    <a:bodyPr/>
                    <a:lstStyle/>
                    <a:p>
                      <a:pPr>
                        <a:spcBef>
                          <a:spcPts val="600"/>
                        </a:spcBef>
                        <a:spcAft>
                          <a:spcPts val="600"/>
                        </a:spcAft>
                      </a:pPr>
                      <a:r>
                        <a:rPr lang="en-NZ" b="1" dirty="0"/>
                        <a:t>Psychological pricing</a:t>
                      </a:r>
                    </a:p>
                  </a:txBody>
                  <a:tcPr anchor="ctr"/>
                </a:tc>
                <a:tc>
                  <a:txBody>
                    <a:bodyPr/>
                    <a:lstStyle/>
                    <a:p>
                      <a:pPr algn="l">
                        <a:spcBef>
                          <a:spcPts val="600"/>
                        </a:spcBef>
                        <a:spcAft>
                          <a:spcPts val="600"/>
                        </a:spcAft>
                      </a:pPr>
                      <a:r>
                        <a:rPr lang="en-NZ" sz="1400" b="0" u="none" strike="noStrike" cap="none" baseline="0" dirty="0">
                          <a:solidFill>
                            <a:schemeClr val="dk1"/>
                          </a:solidFill>
                          <a:sym typeface="Arial"/>
                        </a:rPr>
                        <a:t>Adjusting prices for psychological effect</a:t>
                      </a:r>
                      <a:endParaRPr lang="en-NZ" dirty="0"/>
                    </a:p>
                  </a:txBody>
                  <a:tcPr anchor="ctr"/>
                </a:tc>
                <a:extLst>
                  <a:ext uri="{0D108BD9-81ED-4DB2-BD59-A6C34878D82A}">
                    <a16:rowId xmlns:a16="http://schemas.microsoft.com/office/drawing/2014/main" val="3907053195"/>
                  </a:ext>
                </a:extLst>
              </a:tr>
              <a:tr h="518160">
                <a:tc>
                  <a:txBody>
                    <a:bodyPr/>
                    <a:lstStyle/>
                    <a:p>
                      <a:pPr>
                        <a:spcBef>
                          <a:spcPts val="600"/>
                        </a:spcBef>
                        <a:spcAft>
                          <a:spcPts val="600"/>
                        </a:spcAft>
                      </a:pPr>
                      <a:r>
                        <a:rPr lang="en-NZ" b="1" dirty="0"/>
                        <a:t>Promotional pricing</a:t>
                      </a:r>
                    </a:p>
                  </a:txBody>
                  <a:tcPr anchor="ctr"/>
                </a:tc>
                <a:tc>
                  <a:txBody>
                    <a:bodyPr/>
                    <a:lstStyle/>
                    <a:p>
                      <a:pPr algn="l">
                        <a:spcBef>
                          <a:spcPts val="600"/>
                        </a:spcBef>
                        <a:spcAft>
                          <a:spcPts val="600"/>
                        </a:spcAft>
                      </a:pPr>
                      <a:r>
                        <a:rPr lang="en-NZ" sz="1400" b="0" u="none" strike="noStrike" cap="none" baseline="0" dirty="0">
                          <a:solidFill>
                            <a:schemeClr val="dk1"/>
                          </a:solidFill>
                          <a:sym typeface="Arial"/>
                        </a:rPr>
                        <a:t>Temporarily reducing prices to increase short-term sales</a:t>
                      </a:r>
                      <a:endParaRPr lang="en-NZ" dirty="0"/>
                    </a:p>
                  </a:txBody>
                  <a:tcPr anchor="ctr"/>
                </a:tc>
                <a:extLst>
                  <a:ext uri="{0D108BD9-81ED-4DB2-BD59-A6C34878D82A}">
                    <a16:rowId xmlns:a16="http://schemas.microsoft.com/office/drawing/2014/main" val="3066122933"/>
                  </a:ext>
                </a:extLst>
              </a:tr>
              <a:tr h="518160">
                <a:tc>
                  <a:txBody>
                    <a:bodyPr/>
                    <a:lstStyle/>
                    <a:p>
                      <a:pPr>
                        <a:spcBef>
                          <a:spcPts val="600"/>
                        </a:spcBef>
                        <a:spcAft>
                          <a:spcPts val="600"/>
                        </a:spcAft>
                      </a:pPr>
                      <a:r>
                        <a:rPr lang="en-NZ" b="1" dirty="0"/>
                        <a:t>Geographical pricing</a:t>
                      </a:r>
                    </a:p>
                  </a:txBody>
                  <a:tcPr anchor="ctr"/>
                </a:tc>
                <a:tc>
                  <a:txBody>
                    <a:bodyPr/>
                    <a:lstStyle/>
                    <a:p>
                      <a:pPr algn="l">
                        <a:spcBef>
                          <a:spcPts val="600"/>
                        </a:spcBef>
                        <a:spcAft>
                          <a:spcPts val="600"/>
                        </a:spcAft>
                      </a:pPr>
                      <a:r>
                        <a:rPr lang="en-NZ" sz="1400" b="0" u="none" strike="noStrike" cap="none" baseline="0" dirty="0">
                          <a:solidFill>
                            <a:schemeClr val="dk1"/>
                          </a:solidFill>
                          <a:sym typeface="Arial"/>
                        </a:rPr>
                        <a:t>Adjusting prices to account for the geographic location of customers</a:t>
                      </a:r>
                      <a:endParaRPr lang="en-NZ" dirty="0"/>
                    </a:p>
                  </a:txBody>
                  <a:tcPr anchor="ctr"/>
                </a:tc>
                <a:extLst>
                  <a:ext uri="{0D108BD9-81ED-4DB2-BD59-A6C34878D82A}">
                    <a16:rowId xmlns:a16="http://schemas.microsoft.com/office/drawing/2014/main" val="3834359724"/>
                  </a:ext>
                </a:extLst>
              </a:tr>
              <a:tr h="518160">
                <a:tc>
                  <a:txBody>
                    <a:bodyPr/>
                    <a:lstStyle/>
                    <a:p>
                      <a:pPr>
                        <a:spcBef>
                          <a:spcPts val="600"/>
                        </a:spcBef>
                        <a:spcAft>
                          <a:spcPts val="600"/>
                        </a:spcAft>
                      </a:pPr>
                      <a:r>
                        <a:rPr lang="en-NZ" b="1" dirty="0"/>
                        <a:t>Dynamic pricing</a:t>
                      </a:r>
                    </a:p>
                  </a:txBody>
                  <a:tcPr anchor="ctr"/>
                </a:tc>
                <a:tc>
                  <a:txBody>
                    <a:bodyPr/>
                    <a:lstStyle/>
                    <a:p>
                      <a:pPr algn="l">
                        <a:spcBef>
                          <a:spcPts val="600"/>
                        </a:spcBef>
                        <a:spcAft>
                          <a:spcPts val="600"/>
                        </a:spcAft>
                      </a:pPr>
                      <a:r>
                        <a:rPr lang="en-NZ" sz="1400" b="0" i="0" u="none" strike="noStrike" cap="none" baseline="0" dirty="0">
                          <a:solidFill>
                            <a:schemeClr val="dk1"/>
                          </a:solidFill>
                          <a:latin typeface="+mn-lt"/>
                          <a:ea typeface="+mn-ea"/>
                          <a:cs typeface="+mn-cs"/>
                          <a:sym typeface="Arial"/>
                        </a:rPr>
                        <a:t>Adjusting prices continually to meet the characteristics and needs of individual customers and situations</a:t>
                      </a:r>
                      <a:endParaRPr lang="en-NZ" dirty="0"/>
                    </a:p>
                  </a:txBody>
                  <a:tcPr anchor="ctr"/>
                </a:tc>
                <a:extLst>
                  <a:ext uri="{0D108BD9-81ED-4DB2-BD59-A6C34878D82A}">
                    <a16:rowId xmlns:a16="http://schemas.microsoft.com/office/drawing/2014/main" val="2673875446"/>
                  </a:ext>
                </a:extLst>
              </a:tr>
              <a:tr h="518160">
                <a:tc>
                  <a:txBody>
                    <a:bodyPr/>
                    <a:lstStyle/>
                    <a:p>
                      <a:pPr>
                        <a:spcBef>
                          <a:spcPts val="600"/>
                        </a:spcBef>
                        <a:spcAft>
                          <a:spcPts val="600"/>
                        </a:spcAft>
                      </a:pPr>
                      <a:r>
                        <a:rPr lang="en-NZ" b="1" dirty="0"/>
                        <a:t>International pricing</a:t>
                      </a:r>
                    </a:p>
                  </a:txBody>
                  <a:tcPr anchor="ctr"/>
                </a:tc>
                <a:tc>
                  <a:txBody>
                    <a:bodyPr/>
                    <a:lstStyle/>
                    <a:p>
                      <a:pPr algn="l">
                        <a:spcBef>
                          <a:spcPts val="600"/>
                        </a:spcBef>
                        <a:spcAft>
                          <a:spcPts val="600"/>
                        </a:spcAft>
                      </a:pPr>
                      <a:r>
                        <a:rPr lang="en-NZ" sz="1400" b="0" i="0" u="none" strike="noStrike" cap="none" baseline="0" dirty="0">
                          <a:solidFill>
                            <a:schemeClr val="dk1"/>
                          </a:solidFill>
                          <a:latin typeface="+mn-lt"/>
                          <a:ea typeface="+mn-ea"/>
                          <a:cs typeface="+mn-cs"/>
                          <a:sym typeface="Arial"/>
                        </a:rPr>
                        <a:t>Adjusting prices for international markets</a:t>
                      </a:r>
                      <a:endParaRPr lang="en-NZ" dirty="0"/>
                    </a:p>
                  </a:txBody>
                  <a:tcPr anchor="ctr"/>
                </a:tc>
                <a:extLst>
                  <a:ext uri="{0D108BD9-81ED-4DB2-BD59-A6C34878D82A}">
                    <a16:rowId xmlns:a16="http://schemas.microsoft.com/office/drawing/2014/main" val="1797207320"/>
                  </a:ext>
                </a:extLst>
              </a:tr>
            </a:tbl>
          </a:graphicData>
        </a:graphic>
      </p:graphicFrame>
    </p:spTree>
    <p:extLst>
      <p:ext uri="{BB962C8B-B14F-4D97-AF65-F5344CB8AC3E}">
        <p14:creationId xmlns:p14="http://schemas.microsoft.com/office/powerpoint/2010/main" val="3828039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685966"/>
          </a:xfrm>
        </p:spPr>
        <p:txBody>
          <a:bodyPr/>
          <a:lstStyle/>
          <a:p>
            <a:r>
              <a:rPr lang="en-US" sz="3200" dirty="0"/>
              <a:t>Price-adjustment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849086"/>
            <a:ext cx="8229599" cy="5251434"/>
          </a:xfrm>
        </p:spPr>
        <p:txBody>
          <a:bodyPr/>
          <a:lstStyle/>
          <a:p>
            <a:pPr marL="101600" indent="0">
              <a:buNone/>
            </a:pPr>
            <a:r>
              <a:rPr lang="en-US" sz="2400" b="1" dirty="0">
                <a:solidFill>
                  <a:srgbClr val="007FA3"/>
                </a:solidFill>
                <a:latin typeface="+mn-lt"/>
              </a:rPr>
              <a:t>Discount and allowance pricing</a:t>
            </a:r>
          </a:p>
          <a:p>
            <a:pPr marL="215900" lvl="1" indent="0">
              <a:buClr>
                <a:srgbClr val="00638A"/>
              </a:buClr>
              <a:buNone/>
              <a:tabLst>
                <a:tab pos="1828800" algn="l"/>
              </a:tabLst>
            </a:pPr>
            <a:r>
              <a:rPr lang="en-US" altLang="en-US" sz="2000" b="1" kern="1200" dirty="0">
                <a:solidFill>
                  <a:srgbClr val="F25B33"/>
                </a:solidFill>
                <a:latin typeface="+mn-lt"/>
                <a:ea typeface="Verdana" pitchFamily="34" charset="0"/>
                <a:cs typeface="Verdana" pitchFamily="34" charset="0"/>
              </a:rPr>
              <a:t>Discount </a:t>
            </a:r>
            <a:br>
              <a:rPr lang="en-US" altLang="en-US" sz="2000" b="1" kern="1200" dirty="0">
                <a:solidFill>
                  <a:srgbClr val="F25B33"/>
                </a:solidFill>
                <a:latin typeface="+mn-lt"/>
                <a:ea typeface="Verdana" pitchFamily="34" charset="0"/>
                <a:cs typeface="Verdana" pitchFamily="34" charset="0"/>
              </a:rPr>
            </a:br>
            <a:r>
              <a:rPr lang="en-US" sz="2000" dirty="0">
                <a:latin typeface="+mn-lt"/>
                <a:ea typeface="Verdana" pitchFamily="34" charset="0"/>
                <a:cs typeface="Verdana" pitchFamily="34" charset="0"/>
              </a:rPr>
              <a:t>is a straight reduction in price on purchases during a stated period or when purchasing larger quantities.</a:t>
            </a:r>
          </a:p>
          <a:p>
            <a:pPr marL="558800" lvl="1" indent="-342900">
              <a:buClr>
                <a:srgbClr val="00638A"/>
              </a:buClr>
              <a:buFont typeface="Arial" panose="020B0604020202020204" pitchFamily="34" charset="0"/>
              <a:buChar char="•"/>
              <a:tabLst>
                <a:tab pos="1828800" algn="l"/>
              </a:tabLst>
            </a:pPr>
            <a:r>
              <a:rPr lang="en-US" sz="2000" dirty="0">
                <a:latin typeface="+mn-lt"/>
                <a:ea typeface="Verdana" pitchFamily="34" charset="0"/>
                <a:cs typeface="Verdana" pitchFamily="34" charset="0"/>
              </a:rPr>
              <a:t>The many forms of discounts include:</a:t>
            </a:r>
            <a:endParaRPr lang="en-AU" altLang="en-US" sz="2000" dirty="0">
              <a:latin typeface="+mn-lt"/>
              <a:ea typeface="Verdana" pitchFamily="34" charset="0"/>
              <a:cs typeface="Verdana" pitchFamily="34" charset="0"/>
            </a:endParaRPr>
          </a:p>
          <a:p>
            <a:pPr marL="828675" lvl="2" indent="-257175">
              <a:buClr>
                <a:srgbClr val="00638A"/>
              </a:buClr>
              <a:buFont typeface="Wingdings" pitchFamily="2" charset="2"/>
              <a:buChar char="§"/>
              <a:tabLst>
                <a:tab pos="1828800" algn="l"/>
              </a:tabLst>
              <a:defRPr/>
            </a:pPr>
            <a:r>
              <a:rPr lang="en-US" b="1" dirty="0">
                <a:latin typeface="+mn-lt"/>
                <a:ea typeface="Verdana" pitchFamily="34" charset="0"/>
                <a:cs typeface="Verdana" pitchFamily="34" charset="0"/>
              </a:rPr>
              <a:t>Cash discount </a:t>
            </a:r>
            <a:r>
              <a:rPr lang="en-US" dirty="0">
                <a:latin typeface="+mn-lt"/>
                <a:ea typeface="Verdana" pitchFamily="34" charset="0"/>
                <a:cs typeface="Verdana" pitchFamily="34" charset="0"/>
              </a:rPr>
              <a:t>– </a:t>
            </a:r>
            <a:br>
              <a:rPr lang="en-US" dirty="0">
                <a:latin typeface="+mn-lt"/>
                <a:ea typeface="Verdana" pitchFamily="34" charset="0"/>
                <a:cs typeface="Verdana" pitchFamily="34" charset="0"/>
              </a:rPr>
            </a:br>
            <a:r>
              <a:rPr lang="en-US" dirty="0">
                <a:latin typeface="+mn-lt"/>
                <a:ea typeface="Verdana" pitchFamily="34" charset="0"/>
                <a:cs typeface="Verdana" pitchFamily="34" charset="0"/>
              </a:rPr>
              <a:t>a price reduction to buyers who pay their bills promptly</a:t>
            </a:r>
          </a:p>
          <a:p>
            <a:pPr marL="828675" lvl="2" indent="-257175">
              <a:buClr>
                <a:srgbClr val="00638A"/>
              </a:buClr>
              <a:buFont typeface="Wingdings" pitchFamily="2" charset="2"/>
              <a:buChar char="§"/>
              <a:tabLst>
                <a:tab pos="1828800" algn="l"/>
              </a:tabLst>
              <a:defRPr/>
            </a:pPr>
            <a:r>
              <a:rPr lang="en-US" b="1" dirty="0">
                <a:latin typeface="+mn-lt"/>
                <a:ea typeface="Verdana" pitchFamily="34" charset="0"/>
                <a:cs typeface="Verdana" pitchFamily="34" charset="0"/>
              </a:rPr>
              <a:t>Quantity discount </a:t>
            </a:r>
            <a:r>
              <a:rPr lang="en-US" dirty="0">
                <a:latin typeface="+mn-lt"/>
                <a:ea typeface="Verdana" pitchFamily="34" charset="0"/>
                <a:cs typeface="Verdana" pitchFamily="34" charset="0"/>
              </a:rPr>
              <a:t>– </a:t>
            </a:r>
            <a:br>
              <a:rPr lang="en-US" dirty="0">
                <a:latin typeface="+mn-lt"/>
                <a:ea typeface="Verdana" pitchFamily="34" charset="0"/>
                <a:cs typeface="Verdana" pitchFamily="34" charset="0"/>
              </a:rPr>
            </a:br>
            <a:r>
              <a:rPr lang="en-US" dirty="0">
                <a:latin typeface="+mn-lt"/>
                <a:ea typeface="Verdana" pitchFamily="34" charset="0"/>
                <a:cs typeface="Verdana" pitchFamily="34" charset="0"/>
              </a:rPr>
              <a:t>a price reduction to buyers who buy large volumes</a:t>
            </a:r>
          </a:p>
          <a:p>
            <a:pPr marL="828675" lvl="2" indent="-257175">
              <a:buClr>
                <a:srgbClr val="00638A"/>
              </a:buClr>
              <a:buFont typeface="Wingdings" pitchFamily="2" charset="2"/>
              <a:buChar char="§"/>
              <a:tabLst>
                <a:tab pos="1828800" algn="l"/>
              </a:tabLst>
              <a:defRPr/>
            </a:pPr>
            <a:r>
              <a:rPr lang="en-US" b="1" dirty="0">
                <a:latin typeface="+mn-lt"/>
                <a:ea typeface="Verdana" pitchFamily="34" charset="0"/>
                <a:cs typeface="Verdana" pitchFamily="34" charset="0"/>
              </a:rPr>
              <a:t>Functional discount (trade discount) </a:t>
            </a:r>
            <a:r>
              <a:rPr lang="en-US" dirty="0">
                <a:latin typeface="+mn-lt"/>
                <a:ea typeface="Verdana" pitchFamily="34" charset="0"/>
                <a:cs typeface="Verdana" pitchFamily="34" charset="0"/>
              </a:rPr>
              <a:t>– </a:t>
            </a:r>
            <a:br>
              <a:rPr lang="en-US" dirty="0">
                <a:latin typeface="+mn-lt"/>
                <a:ea typeface="Verdana" pitchFamily="34" charset="0"/>
                <a:cs typeface="Verdana" pitchFamily="34" charset="0"/>
              </a:rPr>
            </a:br>
            <a:r>
              <a:rPr lang="en-US" dirty="0">
                <a:latin typeface="+mn-lt"/>
                <a:ea typeface="Verdana" pitchFamily="34" charset="0"/>
                <a:cs typeface="Verdana" pitchFamily="34" charset="0"/>
              </a:rPr>
              <a:t>is offered by the seller to trade-channel members who perform certain functions, such as selling, storing and record keeping</a:t>
            </a:r>
          </a:p>
          <a:p>
            <a:pPr marL="828675" lvl="2" indent="-257175">
              <a:buClr>
                <a:srgbClr val="00638A"/>
              </a:buClr>
              <a:buFont typeface="Wingdings" pitchFamily="2" charset="2"/>
              <a:buChar char="§"/>
              <a:tabLst>
                <a:tab pos="1828800" algn="l"/>
              </a:tabLst>
              <a:defRPr/>
            </a:pPr>
            <a:r>
              <a:rPr lang="en-US" b="1" dirty="0">
                <a:latin typeface="+mn-lt"/>
                <a:ea typeface="Verdana" pitchFamily="34" charset="0"/>
                <a:cs typeface="Verdana" pitchFamily="34" charset="0"/>
              </a:rPr>
              <a:t>Seasonal discount </a:t>
            </a:r>
            <a:r>
              <a:rPr lang="en-US" dirty="0">
                <a:latin typeface="+mn-lt"/>
                <a:ea typeface="Verdana" pitchFamily="34" charset="0"/>
                <a:cs typeface="Verdana" pitchFamily="34" charset="0"/>
              </a:rPr>
              <a:t>– </a:t>
            </a:r>
            <a:br>
              <a:rPr lang="en-US" dirty="0">
                <a:latin typeface="+mn-lt"/>
                <a:ea typeface="Verdana" pitchFamily="34" charset="0"/>
                <a:cs typeface="Verdana" pitchFamily="34" charset="0"/>
              </a:rPr>
            </a:br>
            <a:r>
              <a:rPr lang="en-US" dirty="0">
                <a:latin typeface="+mn-lt"/>
                <a:ea typeface="Verdana" pitchFamily="34" charset="0"/>
                <a:cs typeface="Verdana" pitchFamily="34" charset="0"/>
              </a:rPr>
              <a:t>a price reduction to buyers who buy merchandise or services out of season</a:t>
            </a:r>
          </a:p>
          <a:p>
            <a:pPr marL="101600" indent="0">
              <a:buNone/>
            </a:pPr>
            <a:endParaRPr lang="en-US" sz="1800" dirty="0">
              <a:solidFill>
                <a:schemeClr val="tx1"/>
              </a:solidFill>
              <a:latin typeface="+mn-lt"/>
            </a:endParaRPr>
          </a:p>
        </p:txBody>
      </p:sp>
    </p:spTree>
    <p:extLst>
      <p:ext uri="{BB962C8B-B14F-4D97-AF65-F5344CB8AC3E}">
        <p14:creationId xmlns:p14="http://schemas.microsoft.com/office/powerpoint/2010/main" val="1360547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2"/>
            <a:ext cx="8229600" cy="685966"/>
          </a:xfrm>
        </p:spPr>
        <p:txBody>
          <a:bodyPr/>
          <a:lstStyle/>
          <a:p>
            <a:r>
              <a:rPr lang="en-US" sz="3200" dirty="0"/>
              <a:t>Price-adjustment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849086"/>
            <a:ext cx="8229599" cy="5251434"/>
          </a:xfrm>
        </p:spPr>
        <p:txBody>
          <a:bodyPr/>
          <a:lstStyle/>
          <a:p>
            <a:pPr marL="101600" indent="0">
              <a:buNone/>
            </a:pPr>
            <a:r>
              <a:rPr lang="en-US" sz="2400" b="1" dirty="0">
                <a:solidFill>
                  <a:srgbClr val="007FA3"/>
                </a:solidFill>
                <a:latin typeface="+mn-lt"/>
              </a:rPr>
              <a:t>Discount and allowance pricing</a:t>
            </a:r>
          </a:p>
          <a:p>
            <a:pPr marL="215900" lvl="1" indent="0">
              <a:buClr>
                <a:srgbClr val="00638A"/>
              </a:buClr>
              <a:buNone/>
              <a:tabLst>
                <a:tab pos="1828800" algn="l"/>
              </a:tabLst>
            </a:pPr>
            <a:r>
              <a:rPr lang="en-US" altLang="en-US" sz="2000" b="1" kern="1200" dirty="0">
                <a:solidFill>
                  <a:srgbClr val="F25B33"/>
                </a:solidFill>
                <a:latin typeface="+mn-lt"/>
                <a:ea typeface="Verdana" pitchFamily="34" charset="0"/>
                <a:cs typeface="Verdana" pitchFamily="34" charset="0"/>
              </a:rPr>
              <a:t>Allowance</a:t>
            </a:r>
            <a:r>
              <a:rPr lang="en-US" sz="2000" dirty="0">
                <a:latin typeface="+mn-lt"/>
                <a:ea typeface="Verdana" pitchFamily="34" charset="0"/>
                <a:cs typeface="Verdana" pitchFamily="34" charset="0"/>
              </a:rPr>
              <a:t> </a:t>
            </a:r>
            <a:br>
              <a:rPr lang="en-US" sz="2000" dirty="0">
                <a:latin typeface="+mn-lt"/>
                <a:ea typeface="Verdana" pitchFamily="34" charset="0"/>
                <a:cs typeface="Verdana" pitchFamily="34" charset="0"/>
              </a:rPr>
            </a:br>
            <a:r>
              <a:rPr lang="en-US" sz="2000" dirty="0">
                <a:latin typeface="+mn-lt"/>
                <a:ea typeface="Verdana" pitchFamily="34" charset="0"/>
                <a:cs typeface="Verdana" pitchFamily="34" charset="0"/>
              </a:rPr>
              <a:t>is promotional money paid by suppliers to retailers in return for an agreement to feature the suppliers’ products in some way. </a:t>
            </a:r>
          </a:p>
          <a:p>
            <a:pPr marL="558800" lvl="1" indent="-342900">
              <a:buClr>
                <a:srgbClr val="00638A"/>
              </a:buClr>
              <a:buFont typeface="Arial" panose="020B0604020202020204" pitchFamily="34" charset="0"/>
              <a:buChar char="•"/>
              <a:tabLst>
                <a:tab pos="1828800" algn="l"/>
              </a:tabLst>
            </a:pPr>
            <a:r>
              <a:rPr lang="en-US" sz="2000" dirty="0">
                <a:latin typeface="+mn-lt"/>
                <a:ea typeface="Verdana" pitchFamily="34" charset="0"/>
                <a:cs typeface="Verdana" pitchFamily="34" charset="0"/>
              </a:rPr>
              <a:t>The many forms of allowances include:</a:t>
            </a:r>
            <a:endParaRPr lang="en-AU" altLang="en-US" sz="2000" dirty="0">
              <a:latin typeface="+mn-lt"/>
              <a:ea typeface="Verdana" pitchFamily="34" charset="0"/>
              <a:cs typeface="Verdana" pitchFamily="34" charset="0"/>
            </a:endParaRPr>
          </a:p>
          <a:p>
            <a:pPr marL="828675" lvl="2" indent="-257175">
              <a:buClr>
                <a:srgbClr val="00638A"/>
              </a:buClr>
              <a:buFont typeface="Wingdings" pitchFamily="2" charset="2"/>
              <a:buChar char="§"/>
              <a:tabLst>
                <a:tab pos="1828800" algn="l"/>
              </a:tabLst>
              <a:defRPr/>
            </a:pPr>
            <a:r>
              <a:rPr lang="en-US" b="1" dirty="0">
                <a:latin typeface="+mn-lt"/>
                <a:ea typeface="Verdana" pitchFamily="34" charset="0"/>
                <a:cs typeface="Verdana" pitchFamily="34" charset="0"/>
              </a:rPr>
              <a:t>Trade-in allowances </a:t>
            </a:r>
            <a:r>
              <a:rPr lang="en-US" dirty="0">
                <a:latin typeface="+mn-lt"/>
                <a:ea typeface="Verdana" pitchFamily="34" charset="0"/>
                <a:cs typeface="Verdana" pitchFamily="34" charset="0"/>
              </a:rPr>
              <a:t>– </a:t>
            </a:r>
            <a:br>
              <a:rPr lang="en-US" dirty="0">
                <a:latin typeface="+mn-lt"/>
                <a:ea typeface="Verdana" pitchFamily="34" charset="0"/>
                <a:cs typeface="Verdana" pitchFamily="34" charset="0"/>
              </a:rPr>
            </a:br>
            <a:r>
              <a:rPr lang="en-US" dirty="0">
                <a:latin typeface="+mn-lt"/>
                <a:ea typeface="Verdana" pitchFamily="34" charset="0"/>
                <a:cs typeface="Verdana" pitchFamily="34" charset="0"/>
              </a:rPr>
              <a:t>price reductions given for turning in an old item when buying a new one</a:t>
            </a:r>
          </a:p>
          <a:p>
            <a:pPr marL="828675" lvl="2" indent="-257175">
              <a:buClr>
                <a:srgbClr val="00638A"/>
              </a:buClr>
              <a:buFont typeface="Wingdings" pitchFamily="2" charset="2"/>
              <a:buChar char="§"/>
              <a:tabLst>
                <a:tab pos="1828800" algn="l"/>
              </a:tabLst>
              <a:defRPr/>
            </a:pPr>
            <a:r>
              <a:rPr lang="en-US" b="1" dirty="0">
                <a:latin typeface="+mn-lt"/>
                <a:ea typeface="Verdana" pitchFamily="34" charset="0"/>
                <a:cs typeface="Verdana" pitchFamily="34" charset="0"/>
              </a:rPr>
              <a:t>Promotional allowances </a:t>
            </a:r>
            <a:r>
              <a:rPr lang="en-US" dirty="0">
                <a:latin typeface="+mn-lt"/>
                <a:ea typeface="Verdana" pitchFamily="34" charset="0"/>
                <a:cs typeface="Verdana" pitchFamily="34" charset="0"/>
              </a:rPr>
              <a:t>– </a:t>
            </a:r>
            <a:br>
              <a:rPr lang="en-US" dirty="0">
                <a:latin typeface="+mn-lt"/>
                <a:ea typeface="Verdana" pitchFamily="34" charset="0"/>
                <a:cs typeface="Verdana" pitchFamily="34" charset="0"/>
              </a:rPr>
            </a:br>
            <a:r>
              <a:rPr lang="en-US" dirty="0">
                <a:latin typeface="+mn-lt"/>
                <a:ea typeface="Verdana" pitchFamily="34" charset="0"/>
                <a:cs typeface="Verdana" pitchFamily="34" charset="0"/>
              </a:rPr>
              <a:t>payments or price reductions to reward dealers for participating in advertising and sales support programs.</a:t>
            </a:r>
          </a:p>
          <a:p>
            <a:endParaRPr lang="en-US" sz="1800" dirty="0">
              <a:solidFill>
                <a:schemeClr val="tx1"/>
              </a:solidFill>
              <a:latin typeface="+mn-lt"/>
            </a:endParaRPr>
          </a:p>
        </p:txBody>
      </p:sp>
    </p:spTree>
    <p:extLst>
      <p:ext uri="{BB962C8B-B14F-4D97-AF65-F5344CB8AC3E}">
        <p14:creationId xmlns:p14="http://schemas.microsoft.com/office/powerpoint/2010/main" val="3237776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659273"/>
          </a:xfrm>
        </p:spPr>
        <p:txBody>
          <a:bodyPr/>
          <a:lstStyle/>
          <a:p>
            <a:r>
              <a:rPr lang="en-US" sz="3200" dirty="0"/>
              <a:t>Price-adjustment strategies</a:t>
            </a:r>
            <a:endParaRPr lang="en-US" sz="2000" dirty="0"/>
          </a:p>
        </p:txBody>
      </p:sp>
      <p:sp>
        <p:nvSpPr>
          <p:cNvPr id="5" name="Isosceles Triangle 4">
            <a:extLst>
              <a:ext uri="{FF2B5EF4-FFF2-40B4-BE49-F238E27FC236}">
                <a16:creationId xmlns:a16="http://schemas.microsoft.com/office/drawing/2014/main" id="{4529D729-CD8A-4B61-9597-56C1F08E14C1}"/>
              </a:ext>
            </a:extLst>
          </p:cNvPr>
          <p:cNvSpPr/>
          <p:nvPr/>
        </p:nvSpPr>
        <p:spPr bwMode="auto">
          <a:xfrm>
            <a:off x="498510" y="874644"/>
            <a:ext cx="7864486" cy="5552197"/>
          </a:xfrm>
          <a:prstGeom prst="triangle">
            <a:avLst/>
          </a:prstGeom>
          <a:gradFill flip="none" rotWithShape="1">
            <a:gsLst>
              <a:gs pos="60720">
                <a:srgbClr val="92D050"/>
              </a:gs>
              <a:gs pos="71420">
                <a:srgbClr val="E3F3D1"/>
              </a:gs>
              <a:gs pos="18000">
                <a:srgbClr val="D2FCFE"/>
              </a:gs>
              <a:gs pos="79000">
                <a:srgbClr val="D2FCFE"/>
              </a:gs>
              <a:gs pos="100000">
                <a:srgbClr val="E3F3D1"/>
              </a:gs>
            </a:gsLst>
            <a:path path="shape">
              <a:fillToRect l="50000" t="50000" r="50000" b="50000"/>
            </a:path>
            <a:tileRect/>
          </a:gradFill>
          <a:ln>
            <a:noFill/>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buClrTx/>
              <a:buSzTx/>
              <a:buFontTx/>
              <a:buNone/>
              <a:tabLst/>
            </a:pPr>
            <a:endParaRPr kumimoji="0" lang="en-US" sz="2000" b="0" i="0" u="none" strike="noStrike" cap="none" normalizeH="0" baseline="0">
              <a:ln>
                <a:noFill/>
              </a:ln>
              <a:solidFill>
                <a:schemeClr val="tx1"/>
              </a:solidFill>
              <a:effectLst/>
              <a:latin typeface="+mn-lt"/>
              <a:ea typeface="Verdana" panose="020B0604030504040204" pitchFamily="34" charset="0"/>
            </a:endParaRPr>
          </a:p>
        </p:txBody>
      </p:sp>
      <p:sp>
        <p:nvSpPr>
          <p:cNvPr id="6" name="Content Placeholder 7">
            <a:extLst>
              <a:ext uri="{FF2B5EF4-FFF2-40B4-BE49-F238E27FC236}">
                <a16:creationId xmlns:a16="http://schemas.microsoft.com/office/drawing/2014/main" id="{D5AF487B-48F7-4902-ADEE-F77DBCCBC2D8}"/>
              </a:ext>
            </a:extLst>
          </p:cNvPr>
          <p:cNvSpPr txBox="1">
            <a:spLocks/>
          </p:cNvSpPr>
          <p:nvPr/>
        </p:nvSpPr>
        <p:spPr bwMode="auto">
          <a:xfrm>
            <a:off x="270164" y="907435"/>
            <a:ext cx="8520545" cy="1272674"/>
          </a:xfrm>
          <a:prstGeom prst="flowChartAlternateProcess">
            <a:avLst/>
          </a:prstGeom>
          <a:solidFill>
            <a:srgbClr val="00B0F0"/>
          </a:solidFill>
          <a:ln w="15875">
            <a:solidFill>
              <a:schemeClr val="tx1"/>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71450" indent="0">
              <a:spcAft>
                <a:spcPts val="0"/>
              </a:spcAft>
            </a:pPr>
            <a:r>
              <a:rPr lang="en-US" sz="2400" b="1" dirty="0">
                <a:solidFill>
                  <a:schemeClr val="bg1"/>
                </a:solidFill>
                <a:ea typeface="Verdana" panose="020B0604030504040204" pitchFamily="34" charset="0"/>
              </a:rPr>
              <a:t>Segmented pricing</a:t>
            </a:r>
          </a:p>
          <a:p>
            <a:pPr marL="171450" indent="0">
              <a:spcAft>
                <a:spcPts val="0"/>
              </a:spcAft>
            </a:pPr>
            <a:r>
              <a:rPr lang="en-US" b="1" dirty="0">
                <a:solidFill>
                  <a:schemeClr val="bg1"/>
                </a:solidFill>
                <a:ea typeface="Verdana" panose="020B0604030504040204" pitchFamily="34" charset="0"/>
              </a:rPr>
              <a:t>The company sells a product or service at two or more prices, even though the difference in price is not based on differences in costs. </a:t>
            </a:r>
          </a:p>
        </p:txBody>
      </p:sp>
      <p:sp>
        <p:nvSpPr>
          <p:cNvPr id="7" name="Content Placeholder 7">
            <a:extLst>
              <a:ext uri="{FF2B5EF4-FFF2-40B4-BE49-F238E27FC236}">
                <a16:creationId xmlns:a16="http://schemas.microsoft.com/office/drawing/2014/main" id="{C6D00200-2C31-47B6-A190-B13E7C9716BC}"/>
              </a:ext>
            </a:extLst>
          </p:cNvPr>
          <p:cNvSpPr txBox="1">
            <a:spLocks/>
          </p:cNvSpPr>
          <p:nvPr/>
        </p:nvSpPr>
        <p:spPr bwMode="auto">
          <a:xfrm>
            <a:off x="270164" y="2234865"/>
            <a:ext cx="8520545" cy="996707"/>
          </a:xfrm>
          <a:prstGeom prst="flowChartAlternateProcess">
            <a:avLst/>
          </a:prstGeom>
          <a:solidFill>
            <a:srgbClr val="E1F7FF"/>
          </a:solidFill>
          <a:ln w="15875">
            <a:solidFill>
              <a:schemeClr val="tx1"/>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28600" indent="0">
              <a:spcAft>
                <a:spcPts val="0"/>
              </a:spcAft>
            </a:pPr>
            <a:r>
              <a:rPr lang="en-US" b="1" dirty="0">
                <a:ea typeface="Verdana" panose="020B0604030504040204" pitchFamily="34" charset="0"/>
              </a:rPr>
              <a:t>Customer-segment pricing: </a:t>
            </a:r>
          </a:p>
          <a:p>
            <a:pPr marL="571500">
              <a:spcAft>
                <a:spcPts val="0"/>
              </a:spcAft>
              <a:buFont typeface="Arial" panose="020B0604020202020204" pitchFamily="34" charset="0"/>
              <a:buChar char="•"/>
            </a:pPr>
            <a:r>
              <a:rPr lang="en-US" sz="1800" dirty="0">
                <a:ea typeface="Verdana" panose="020B0604030504040204" pitchFamily="34" charset="0"/>
              </a:rPr>
              <a:t>customers pay different prices for the same product – Museums/train rides/cinema</a:t>
            </a:r>
          </a:p>
        </p:txBody>
      </p:sp>
      <p:sp>
        <p:nvSpPr>
          <p:cNvPr id="8" name="Content Placeholder 7">
            <a:extLst>
              <a:ext uri="{FF2B5EF4-FFF2-40B4-BE49-F238E27FC236}">
                <a16:creationId xmlns:a16="http://schemas.microsoft.com/office/drawing/2014/main" id="{BA34D834-26D7-44EC-9847-33BF3A3E8894}"/>
              </a:ext>
            </a:extLst>
          </p:cNvPr>
          <p:cNvSpPr txBox="1">
            <a:spLocks/>
          </p:cNvSpPr>
          <p:nvPr/>
        </p:nvSpPr>
        <p:spPr bwMode="auto">
          <a:xfrm>
            <a:off x="270164" y="4397194"/>
            <a:ext cx="8520545" cy="944380"/>
          </a:xfrm>
          <a:prstGeom prst="flowChartAlternateProcess">
            <a:avLst/>
          </a:prstGeom>
          <a:solidFill>
            <a:srgbClr val="E1F7FF"/>
          </a:solidFill>
          <a:ln w="15875">
            <a:solidFill>
              <a:schemeClr val="tx1"/>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28600" indent="0">
              <a:spcAft>
                <a:spcPts val="0"/>
              </a:spcAft>
            </a:pPr>
            <a:r>
              <a:rPr lang="en-US" b="1" dirty="0">
                <a:ea typeface="Verdana" panose="020B0604030504040204" pitchFamily="34" charset="0"/>
              </a:rPr>
              <a:t>Location-based pricing:</a:t>
            </a:r>
            <a:r>
              <a:rPr lang="en-US" dirty="0">
                <a:ea typeface="Verdana" panose="020B0604030504040204" pitchFamily="34" charset="0"/>
              </a:rPr>
              <a:t> </a:t>
            </a:r>
          </a:p>
          <a:p>
            <a:pPr marL="571500">
              <a:spcAft>
                <a:spcPts val="0"/>
              </a:spcAft>
              <a:buFont typeface="Arial" panose="020B0604020202020204" pitchFamily="34" charset="0"/>
              <a:buChar char="•"/>
            </a:pPr>
            <a:r>
              <a:rPr lang="en-US" sz="1800" dirty="0">
                <a:ea typeface="Verdana" panose="020B0604030504040204" pitchFamily="34" charset="0"/>
              </a:rPr>
              <a:t>different prices for specific locations,  not based on costs  (e.g., price of different theatre seats)</a:t>
            </a:r>
            <a:endParaRPr lang="en-US" sz="1800" i="1" dirty="0">
              <a:ea typeface="Verdana" panose="020B0604030504040204" pitchFamily="34" charset="0"/>
            </a:endParaRPr>
          </a:p>
        </p:txBody>
      </p:sp>
      <p:sp>
        <p:nvSpPr>
          <p:cNvPr id="9" name="Content Placeholder 7">
            <a:extLst>
              <a:ext uri="{FF2B5EF4-FFF2-40B4-BE49-F238E27FC236}">
                <a16:creationId xmlns:a16="http://schemas.microsoft.com/office/drawing/2014/main" id="{074B5B62-7209-41B4-8625-96C3FFCFA655}"/>
              </a:ext>
            </a:extLst>
          </p:cNvPr>
          <p:cNvSpPr txBox="1">
            <a:spLocks/>
          </p:cNvSpPr>
          <p:nvPr/>
        </p:nvSpPr>
        <p:spPr bwMode="auto">
          <a:xfrm>
            <a:off x="270164" y="3278920"/>
            <a:ext cx="8520545" cy="1074871"/>
          </a:xfrm>
          <a:prstGeom prst="flowChartAlternateProcess">
            <a:avLst/>
          </a:prstGeom>
          <a:solidFill>
            <a:srgbClr val="E1F7FF"/>
          </a:solidFill>
          <a:ln w="15875">
            <a:solidFill>
              <a:schemeClr val="tx1"/>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28600" indent="0">
              <a:spcAft>
                <a:spcPts val="0"/>
              </a:spcAft>
            </a:pPr>
            <a:r>
              <a:rPr lang="en-US" b="1" dirty="0">
                <a:ea typeface="Verdana" panose="020B0604030504040204" pitchFamily="34" charset="0"/>
              </a:rPr>
              <a:t>Product-form pricing: </a:t>
            </a:r>
          </a:p>
          <a:p>
            <a:pPr marL="571500">
              <a:spcAft>
                <a:spcPts val="0"/>
              </a:spcAft>
              <a:buFont typeface="Arial" panose="020B0604020202020204" pitchFamily="34" charset="0"/>
              <a:buChar char="•"/>
            </a:pPr>
            <a:r>
              <a:rPr lang="en-US" sz="1800" dirty="0">
                <a:ea typeface="Verdana" panose="020B0604030504040204" pitchFamily="34" charset="0"/>
              </a:rPr>
              <a:t>different forms of the product are priced differently, but not based on costs - a retailer’s house-brand product and manufacturer’s brand</a:t>
            </a:r>
          </a:p>
        </p:txBody>
      </p:sp>
      <p:sp>
        <p:nvSpPr>
          <p:cNvPr id="10" name="Content Placeholder 7">
            <a:extLst>
              <a:ext uri="{FF2B5EF4-FFF2-40B4-BE49-F238E27FC236}">
                <a16:creationId xmlns:a16="http://schemas.microsoft.com/office/drawing/2014/main" id="{A2B7915E-9B25-48B4-8B9B-5DF156966779}"/>
              </a:ext>
            </a:extLst>
          </p:cNvPr>
          <p:cNvSpPr txBox="1">
            <a:spLocks/>
          </p:cNvSpPr>
          <p:nvPr/>
        </p:nvSpPr>
        <p:spPr bwMode="auto">
          <a:xfrm>
            <a:off x="270164" y="5389132"/>
            <a:ext cx="8520545" cy="985754"/>
          </a:xfrm>
          <a:prstGeom prst="flowChartAlternateProcess">
            <a:avLst/>
          </a:prstGeom>
          <a:solidFill>
            <a:srgbClr val="E1F7FF"/>
          </a:solidFill>
          <a:ln w="15875">
            <a:solidFill>
              <a:schemeClr val="tx1"/>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28600" indent="0">
              <a:spcAft>
                <a:spcPts val="0"/>
              </a:spcAft>
            </a:pPr>
            <a:r>
              <a:rPr lang="en-US" b="1" dirty="0">
                <a:ea typeface="Verdana" panose="020B0604030504040204" pitchFamily="34" charset="0"/>
              </a:rPr>
              <a:t>Time-based pricing: </a:t>
            </a:r>
          </a:p>
          <a:p>
            <a:pPr marL="571500">
              <a:spcAft>
                <a:spcPts val="0"/>
              </a:spcAft>
              <a:buFont typeface="Arial" panose="020B0604020202020204" pitchFamily="34" charset="0"/>
              <a:buChar char="•"/>
            </a:pPr>
            <a:r>
              <a:rPr lang="en-US" sz="1800" dirty="0">
                <a:ea typeface="Verdana" panose="020B0604030504040204" pitchFamily="34" charset="0"/>
              </a:rPr>
              <a:t>different prices for time of day, time of year etc.  (e.g., off-peak prices) </a:t>
            </a:r>
            <a:r>
              <a:rPr lang="en-US" dirty="0">
                <a:solidFill>
                  <a:schemeClr val="tx2">
                    <a:lumMod val="20000"/>
                    <a:lumOff val="80000"/>
                  </a:schemeClr>
                </a:solidFill>
                <a:ea typeface="Verdana" panose="020B0604030504040204" pitchFamily="34" charset="0"/>
              </a:rPr>
              <a:t>c</a:t>
            </a:r>
            <a:endParaRPr lang="en-US" i="1" dirty="0">
              <a:solidFill>
                <a:schemeClr val="tx2">
                  <a:lumMod val="20000"/>
                  <a:lumOff val="80000"/>
                </a:schemeClr>
              </a:solidFill>
              <a:ea typeface="Verdana" panose="020B0604030504040204" pitchFamily="34" charset="0"/>
            </a:endParaRPr>
          </a:p>
        </p:txBody>
      </p:sp>
    </p:spTree>
    <p:extLst>
      <p:ext uri="{BB962C8B-B14F-4D97-AF65-F5344CB8AC3E}">
        <p14:creationId xmlns:p14="http://schemas.microsoft.com/office/powerpoint/2010/main" val="188298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813329"/>
          </a:xfrm>
        </p:spPr>
        <p:txBody>
          <a:bodyPr/>
          <a:lstStyle/>
          <a:p>
            <a:r>
              <a:rPr lang="en-US" sz="3200" dirty="0"/>
              <a:t>Price-adjustment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1166018"/>
            <a:ext cx="8229599" cy="4525963"/>
          </a:xfrm>
        </p:spPr>
        <p:txBody>
          <a:bodyPr/>
          <a:lstStyle/>
          <a:p>
            <a:pPr marL="101600" indent="0">
              <a:buNone/>
            </a:pPr>
            <a:r>
              <a:rPr lang="en-US" sz="2400" b="1" dirty="0">
                <a:solidFill>
                  <a:srgbClr val="007FA3"/>
                </a:solidFill>
              </a:rPr>
              <a:t>Psychological pricing</a:t>
            </a:r>
          </a:p>
          <a:p>
            <a:r>
              <a:rPr lang="en-US" sz="2000" b="1" dirty="0">
                <a:solidFill>
                  <a:schemeClr val="tx1"/>
                </a:solidFill>
              </a:rPr>
              <a:t>Psychological pricing</a:t>
            </a:r>
            <a:r>
              <a:rPr lang="en-US" sz="2000" dirty="0">
                <a:solidFill>
                  <a:schemeClr val="tx1"/>
                </a:solidFill>
              </a:rPr>
              <a:t> </a:t>
            </a:r>
            <a:br>
              <a:rPr lang="en-US" sz="2000" dirty="0">
                <a:solidFill>
                  <a:schemeClr val="tx1"/>
                </a:solidFill>
              </a:rPr>
            </a:br>
            <a:r>
              <a:rPr lang="en-US" sz="2000" dirty="0">
                <a:solidFill>
                  <a:schemeClr val="tx1"/>
                </a:solidFill>
              </a:rPr>
              <a:t>is where sellers consider the psychology of prices and not simply the economics.</a:t>
            </a:r>
          </a:p>
          <a:p>
            <a:pPr lvl="1">
              <a:buFont typeface="Wingdings" panose="05000000000000000000" pitchFamily="2" charset="2"/>
              <a:buChar char="§"/>
            </a:pPr>
            <a:r>
              <a:rPr lang="en-US" sz="1800" dirty="0">
                <a:solidFill>
                  <a:schemeClr val="tx1"/>
                </a:solidFill>
              </a:rPr>
              <a:t>consumers usually perceive higher-priced products as having higher quality</a:t>
            </a:r>
          </a:p>
          <a:p>
            <a:r>
              <a:rPr lang="en-US" sz="2000" b="1" dirty="0">
                <a:solidFill>
                  <a:schemeClr val="tx1"/>
                </a:solidFill>
              </a:rPr>
              <a:t>Reference prices </a:t>
            </a:r>
            <a:br>
              <a:rPr lang="en-US" sz="2000" b="1" dirty="0">
                <a:solidFill>
                  <a:schemeClr val="tx1"/>
                </a:solidFill>
              </a:rPr>
            </a:br>
            <a:r>
              <a:rPr lang="en-US" sz="2000" dirty="0">
                <a:solidFill>
                  <a:schemeClr val="tx1"/>
                </a:solidFill>
              </a:rPr>
              <a:t>are prices that buyers carry in their minds and refer to when looking at a given product.</a:t>
            </a:r>
          </a:p>
          <a:p>
            <a:endParaRPr lang="en-US" sz="2000" dirty="0">
              <a:solidFill>
                <a:schemeClr val="tx1"/>
              </a:solidFill>
            </a:endParaRPr>
          </a:p>
          <a:p>
            <a:pPr marL="101600" indent="0">
              <a:buNone/>
            </a:pPr>
            <a:endParaRPr lang="en-US" sz="2000" dirty="0">
              <a:solidFill>
                <a:schemeClr val="tx1"/>
              </a:solidFill>
            </a:endParaRPr>
          </a:p>
          <a:p>
            <a:pPr marL="101600" indent="0">
              <a:buNone/>
            </a:pPr>
            <a:endParaRPr lang="en-US" sz="2000" dirty="0">
              <a:solidFill>
                <a:schemeClr val="tx1"/>
              </a:solidFill>
            </a:endParaRPr>
          </a:p>
          <a:p>
            <a:pPr marL="101600" indent="0">
              <a:buNone/>
            </a:pPr>
            <a:endParaRPr lang="en-US" sz="2000" dirty="0">
              <a:solidFill>
                <a:schemeClr val="tx1"/>
              </a:solidFill>
            </a:endParaRPr>
          </a:p>
        </p:txBody>
      </p:sp>
    </p:spTree>
    <p:extLst>
      <p:ext uri="{BB962C8B-B14F-4D97-AF65-F5344CB8AC3E}">
        <p14:creationId xmlns:p14="http://schemas.microsoft.com/office/powerpoint/2010/main" val="1162830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764343"/>
          </a:xfrm>
        </p:spPr>
        <p:txBody>
          <a:bodyPr/>
          <a:lstStyle/>
          <a:p>
            <a:r>
              <a:rPr lang="en-US" sz="3200" dirty="0"/>
              <a:t>Price-adjustment</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9" y="960120"/>
            <a:ext cx="8229599" cy="4525963"/>
          </a:xfrm>
        </p:spPr>
        <p:txBody>
          <a:bodyPr/>
          <a:lstStyle/>
          <a:p>
            <a:pPr marL="101600" indent="0">
              <a:buNone/>
            </a:pPr>
            <a:r>
              <a:rPr lang="en-US" sz="2400" b="1" dirty="0">
                <a:solidFill>
                  <a:srgbClr val="007FA3"/>
                </a:solidFill>
              </a:rPr>
              <a:t>Promotional pricing</a:t>
            </a:r>
          </a:p>
          <a:p>
            <a:r>
              <a:rPr lang="en-US" sz="2000" b="1" dirty="0">
                <a:solidFill>
                  <a:schemeClr val="tx1"/>
                </a:solidFill>
              </a:rPr>
              <a:t>Promotional pricing</a:t>
            </a:r>
            <a:r>
              <a:rPr lang="en-US" sz="2000" dirty="0">
                <a:solidFill>
                  <a:schemeClr val="tx1"/>
                </a:solidFill>
              </a:rPr>
              <a:t> is where a company temporarily prices its product below list price, and sometimes even below cost, to create buying excitement and urgency.</a:t>
            </a:r>
          </a:p>
          <a:p>
            <a:pPr marL="256032" lvl="1" indent="-154432">
              <a:spcBef>
                <a:spcPts val="1500"/>
              </a:spcBef>
              <a:buFont typeface="Arial"/>
              <a:buChar char="•"/>
              <a:tabLst>
                <a:tab pos="1828800" algn="l"/>
              </a:tabLst>
            </a:pPr>
            <a:r>
              <a:rPr lang="en-US" sz="2000" dirty="0">
                <a:solidFill>
                  <a:schemeClr val="tx1"/>
                </a:solidFill>
              </a:rPr>
              <a:t>Promotional pricing can take many forms, including:</a:t>
            </a:r>
            <a:endParaRPr lang="en-AU" altLang="en-US" sz="2000" dirty="0">
              <a:solidFill>
                <a:schemeClr val="tx1"/>
              </a:solidFill>
            </a:endParaRPr>
          </a:p>
          <a:p>
            <a:pPr marL="828675" lvl="2" indent="-257175">
              <a:buClr>
                <a:srgbClr val="00638A"/>
              </a:buClr>
              <a:buFont typeface="Wingdings" pitchFamily="2" charset="2"/>
              <a:buChar char="§"/>
              <a:tabLst>
                <a:tab pos="1828800" algn="l"/>
              </a:tabLst>
              <a:defRPr/>
            </a:pPr>
            <a:r>
              <a:rPr lang="en-US" sz="2000" dirty="0">
                <a:solidFill>
                  <a:schemeClr val="tx1"/>
                </a:solidFill>
              </a:rPr>
              <a:t>Discounts</a:t>
            </a:r>
          </a:p>
          <a:p>
            <a:pPr marL="828675" lvl="2" indent="-257175">
              <a:buClr>
                <a:srgbClr val="00638A"/>
              </a:buClr>
              <a:buFont typeface="Wingdings" pitchFamily="2" charset="2"/>
              <a:buChar char="§"/>
              <a:tabLst>
                <a:tab pos="1828800" algn="l"/>
              </a:tabLst>
              <a:defRPr/>
            </a:pPr>
            <a:r>
              <a:rPr lang="en-US" sz="2000" dirty="0">
                <a:solidFill>
                  <a:schemeClr val="tx1"/>
                </a:solidFill>
              </a:rPr>
              <a:t>Rebates</a:t>
            </a:r>
          </a:p>
          <a:p>
            <a:pPr marL="828675" lvl="2" indent="-257175">
              <a:buClr>
                <a:srgbClr val="00638A"/>
              </a:buClr>
              <a:buFont typeface="Wingdings" pitchFamily="2" charset="2"/>
              <a:buChar char="§"/>
              <a:tabLst>
                <a:tab pos="1828800" algn="l"/>
              </a:tabLst>
              <a:defRPr/>
            </a:pPr>
            <a:r>
              <a:rPr lang="en-US" sz="2000" dirty="0">
                <a:solidFill>
                  <a:schemeClr val="tx1"/>
                </a:solidFill>
              </a:rPr>
              <a:t>Functional (trade) discounts</a:t>
            </a:r>
          </a:p>
          <a:p>
            <a:pPr marL="828675" lvl="2" indent="-257175">
              <a:buClr>
                <a:srgbClr val="00638A"/>
              </a:buClr>
              <a:buFont typeface="Wingdings" pitchFamily="2" charset="2"/>
              <a:buChar char="§"/>
              <a:tabLst>
                <a:tab pos="1828800" algn="l"/>
              </a:tabLst>
              <a:defRPr/>
            </a:pPr>
            <a:r>
              <a:rPr lang="en-US" sz="2000" dirty="0">
                <a:solidFill>
                  <a:schemeClr val="tx1"/>
                </a:solidFill>
              </a:rPr>
              <a:t>Special-event pricing</a:t>
            </a:r>
          </a:p>
          <a:p>
            <a:pPr marL="828675" lvl="2" indent="-257175">
              <a:buClr>
                <a:srgbClr val="00638A"/>
              </a:buClr>
              <a:buFont typeface="Wingdings" pitchFamily="2" charset="2"/>
              <a:buChar char="§"/>
              <a:tabLst>
                <a:tab pos="1828800" algn="l"/>
              </a:tabLst>
              <a:defRPr/>
            </a:pPr>
            <a:r>
              <a:rPr lang="en-US" sz="2000" dirty="0">
                <a:solidFill>
                  <a:schemeClr val="tx1"/>
                </a:solidFill>
              </a:rPr>
              <a:t>Low-interest finance</a:t>
            </a:r>
          </a:p>
          <a:p>
            <a:pPr marL="828675" lvl="2" indent="-257175">
              <a:buClr>
                <a:srgbClr val="00638A"/>
              </a:buClr>
              <a:buFont typeface="Wingdings" pitchFamily="2" charset="2"/>
              <a:buChar char="§"/>
              <a:tabLst>
                <a:tab pos="1828800" algn="l"/>
              </a:tabLst>
              <a:defRPr/>
            </a:pPr>
            <a:r>
              <a:rPr lang="en-US" sz="2000" dirty="0">
                <a:solidFill>
                  <a:schemeClr val="tx1"/>
                </a:solidFill>
              </a:rPr>
              <a:t>Free maintenance</a:t>
            </a:r>
          </a:p>
          <a:p>
            <a:pPr marL="101600" indent="0">
              <a:buNone/>
            </a:pPr>
            <a:endParaRPr lang="en-US" sz="2000" dirty="0">
              <a:solidFill>
                <a:schemeClr val="tx1"/>
              </a:solidFill>
            </a:endParaRPr>
          </a:p>
        </p:txBody>
      </p:sp>
    </p:spTree>
    <p:extLst>
      <p:ext uri="{BB962C8B-B14F-4D97-AF65-F5344CB8AC3E}">
        <p14:creationId xmlns:p14="http://schemas.microsoft.com/office/powerpoint/2010/main" val="1735169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725155"/>
          </a:xfrm>
        </p:spPr>
        <p:txBody>
          <a:bodyPr/>
          <a:lstStyle/>
          <a:p>
            <a:r>
              <a:rPr lang="en-US" sz="3200" dirty="0"/>
              <a:t>Price-adjustment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198" y="1166018"/>
            <a:ext cx="8229599" cy="4525963"/>
          </a:xfrm>
        </p:spPr>
        <p:txBody>
          <a:bodyPr/>
          <a:lstStyle/>
          <a:p>
            <a:pPr marL="101600" indent="0">
              <a:buNone/>
            </a:pPr>
            <a:r>
              <a:rPr lang="en-US" sz="2400" b="1" dirty="0">
                <a:solidFill>
                  <a:srgbClr val="007FA3"/>
                </a:solidFill>
              </a:rPr>
              <a:t>Dynamic and </a:t>
            </a:r>
            <a:r>
              <a:rPr lang="en-US" sz="2400" b="1" dirty="0" err="1">
                <a:solidFill>
                  <a:srgbClr val="007FA3"/>
                </a:solidFill>
              </a:rPr>
              <a:t>personalised</a:t>
            </a:r>
            <a:r>
              <a:rPr lang="en-US" sz="2400" b="1" dirty="0">
                <a:solidFill>
                  <a:srgbClr val="007FA3"/>
                </a:solidFill>
              </a:rPr>
              <a:t> pricing</a:t>
            </a:r>
          </a:p>
          <a:p>
            <a:r>
              <a:rPr lang="en-US" sz="2000" dirty="0">
                <a:solidFill>
                  <a:schemeClr val="tx1"/>
                </a:solidFill>
              </a:rPr>
              <a:t>Refers to the process where prices are adjusted continually to meet the characteristics and needs of individual customers and situations.</a:t>
            </a:r>
          </a:p>
          <a:p>
            <a:r>
              <a:rPr lang="en-US" sz="2000" dirty="0">
                <a:solidFill>
                  <a:schemeClr val="tx1"/>
                </a:solidFill>
              </a:rPr>
              <a:t>The flexibility of the internet allows online sellers to instantly and constantly adjust prices on a wide range of goods based on demand dynamics. </a:t>
            </a:r>
          </a:p>
          <a:p>
            <a:r>
              <a:rPr lang="en-US" sz="2000" dirty="0">
                <a:solidFill>
                  <a:schemeClr val="tx1"/>
                </a:solidFill>
              </a:rPr>
              <a:t>This type of dynamic online pricing is sometimes called real-time pricing.</a:t>
            </a:r>
          </a:p>
          <a:p>
            <a:r>
              <a:rPr lang="en-US" sz="2000" dirty="0">
                <a:solidFill>
                  <a:schemeClr val="tx1"/>
                </a:solidFill>
              </a:rPr>
              <a:t>Dynamic pricing offers both advantages for marketers and benefits for consumers.</a:t>
            </a:r>
          </a:p>
          <a:p>
            <a:r>
              <a:rPr lang="en-US" sz="2000" dirty="0">
                <a:solidFill>
                  <a:schemeClr val="tx1"/>
                </a:solidFill>
              </a:rPr>
              <a:t>It can also be controversial.</a:t>
            </a:r>
          </a:p>
          <a:p>
            <a:endParaRPr lang="en-US" sz="2000" dirty="0">
              <a:solidFill>
                <a:schemeClr val="tx1"/>
              </a:solidFill>
            </a:endParaRPr>
          </a:p>
        </p:txBody>
      </p:sp>
      <p:sp>
        <p:nvSpPr>
          <p:cNvPr id="5" name="Content Placeholder 7">
            <a:extLst>
              <a:ext uri="{FF2B5EF4-FFF2-40B4-BE49-F238E27FC236}">
                <a16:creationId xmlns:a16="http://schemas.microsoft.com/office/drawing/2014/main" id="{D32180E9-341F-4F18-98F4-0EB796D5B8CB}"/>
              </a:ext>
            </a:extLst>
          </p:cNvPr>
          <p:cNvSpPr txBox="1">
            <a:spLocks/>
          </p:cNvSpPr>
          <p:nvPr/>
        </p:nvSpPr>
        <p:spPr bwMode="auto">
          <a:xfrm>
            <a:off x="36512" y="5917473"/>
            <a:ext cx="9070975" cy="837575"/>
          </a:xfrm>
          <a:prstGeom prst="flowChartAlternateProcess">
            <a:avLst/>
          </a:prstGeom>
          <a:solidFill>
            <a:srgbClr val="E1F7FF"/>
          </a:solidFill>
          <a:ln w="15875">
            <a:solidFill>
              <a:schemeClr val="tx1"/>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28600" indent="0"/>
            <a:r>
              <a:rPr lang="en-US" dirty="0">
                <a:latin typeface="Verdana" panose="020B0604030504040204" pitchFamily="34" charset="0"/>
                <a:ea typeface="Verdana" panose="020B0604030504040204" pitchFamily="34" charset="0"/>
              </a:rPr>
              <a:t>Prices routinely set hour by hour depending on availability, demand and competitor price changes (e.g., airlines)</a:t>
            </a:r>
            <a:endParaRPr lang="en-US" i="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1638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2" name="Title 1">
            <a:extLst>
              <a:ext uri="{FF2B5EF4-FFF2-40B4-BE49-F238E27FC236}">
                <a16:creationId xmlns:a16="http://schemas.microsoft.com/office/drawing/2014/main" id="{F5E30427-4547-4715-9C31-D129FE43C7C1}"/>
              </a:ext>
            </a:extLst>
          </p:cNvPr>
          <p:cNvSpPr>
            <a:spLocks noGrp="1"/>
          </p:cNvSpPr>
          <p:nvPr>
            <p:ph type="title"/>
          </p:nvPr>
        </p:nvSpPr>
        <p:spPr>
          <a:xfrm>
            <a:off x="457200" y="215371"/>
            <a:ext cx="8229600" cy="813329"/>
          </a:xfrm>
        </p:spPr>
        <p:txBody>
          <a:bodyPr/>
          <a:lstStyle/>
          <a:p>
            <a:r>
              <a:rPr lang="en-US" sz="3200" dirty="0"/>
              <a:t>Non-Price competition strategies</a:t>
            </a:r>
            <a:endParaRPr lang="en-US" sz="2000" dirty="0"/>
          </a:p>
        </p:txBody>
      </p:sp>
      <p:sp>
        <p:nvSpPr>
          <p:cNvPr id="3" name="Text Placeholder 2">
            <a:extLst>
              <a:ext uri="{FF2B5EF4-FFF2-40B4-BE49-F238E27FC236}">
                <a16:creationId xmlns:a16="http://schemas.microsoft.com/office/drawing/2014/main" id="{C7697BCC-A93B-4430-8CDA-E7B6FF3D13DA}"/>
              </a:ext>
            </a:extLst>
          </p:cNvPr>
          <p:cNvSpPr>
            <a:spLocks noGrp="1"/>
          </p:cNvSpPr>
          <p:nvPr>
            <p:ph type="body" idx="4294967295"/>
          </p:nvPr>
        </p:nvSpPr>
        <p:spPr>
          <a:xfrm>
            <a:off x="457201" y="1166018"/>
            <a:ext cx="8229599" cy="4525963"/>
          </a:xfrm>
        </p:spPr>
        <p:txBody>
          <a:bodyPr/>
          <a:lstStyle/>
          <a:p>
            <a:pPr algn="l"/>
            <a:r>
              <a:rPr lang="en-US" sz="2000" dirty="0">
                <a:solidFill>
                  <a:srgbClr val="000000"/>
                </a:solidFill>
                <a:latin typeface="+mn-lt"/>
              </a:rPr>
              <a:t>P</a:t>
            </a:r>
            <a:r>
              <a:rPr lang="en-US" sz="2000" b="0" i="0" dirty="0">
                <a:solidFill>
                  <a:srgbClr val="000000"/>
                </a:solidFill>
                <a:effectLst/>
                <a:latin typeface="+mn-lt"/>
              </a:rPr>
              <a:t>rice competition can only go so far, firms often engage in non-price competition.</a:t>
            </a:r>
          </a:p>
          <a:p>
            <a:pPr algn="l"/>
            <a:r>
              <a:rPr lang="en-US" sz="2000" b="0" i="0" dirty="0">
                <a:solidFill>
                  <a:srgbClr val="000000"/>
                </a:solidFill>
                <a:effectLst/>
                <a:latin typeface="+mn-lt"/>
              </a:rPr>
              <a:t>Non-price competition typically involves promotional expenditures (such as advertising, selling staff, the location's convenience, sales promotions, coupons, special orders, or free gifts), marketing research, new product development, and brand management costs.</a:t>
            </a:r>
          </a:p>
          <a:p>
            <a:pPr algn="l"/>
            <a:r>
              <a:rPr lang="en-US" sz="2000" b="0" i="0" dirty="0">
                <a:solidFill>
                  <a:srgbClr val="000000"/>
                </a:solidFill>
                <a:effectLst/>
                <a:latin typeface="+mn-lt"/>
              </a:rPr>
              <a:t>Firms will engage in non-price competition, in spite of the additional costs involved, because it is usually more profitable than selling for a lower price and avoids the risk of a price war. </a:t>
            </a:r>
          </a:p>
          <a:p>
            <a:r>
              <a:rPr lang="en-US" sz="2000" b="0" i="0" dirty="0">
                <a:solidFill>
                  <a:srgbClr val="000000"/>
                </a:solidFill>
                <a:effectLst/>
                <a:latin typeface="+mn-lt"/>
              </a:rPr>
              <a:t>Non-price competition may also promote innovation as firms try to distinguish their product.</a:t>
            </a:r>
            <a:endParaRPr lang="en-US" sz="2000" dirty="0">
              <a:solidFill>
                <a:schemeClr val="tx1"/>
              </a:solidFill>
              <a:latin typeface="+mn-lt"/>
            </a:endParaRPr>
          </a:p>
          <a:p>
            <a:pPr marL="101600" indent="0">
              <a:buNone/>
            </a:pPr>
            <a:endParaRPr lang="en-US" sz="2000" dirty="0">
              <a:solidFill>
                <a:schemeClr val="tx1"/>
              </a:solidFill>
              <a:latin typeface="+mn-lt"/>
            </a:endParaRPr>
          </a:p>
          <a:p>
            <a:pPr marL="101600" indent="0">
              <a:buNone/>
            </a:pPr>
            <a:endParaRPr lang="en-US" sz="2000" dirty="0">
              <a:solidFill>
                <a:schemeClr val="tx1"/>
              </a:solidFill>
              <a:latin typeface="+mn-lt"/>
            </a:endParaRPr>
          </a:p>
          <a:p>
            <a:pPr marL="101600" indent="0">
              <a:buNone/>
            </a:pPr>
            <a:endParaRPr lang="en-US" sz="2000" dirty="0">
              <a:solidFill>
                <a:schemeClr val="tx1"/>
              </a:solidFill>
              <a:latin typeface="+mn-lt"/>
            </a:endParaRPr>
          </a:p>
        </p:txBody>
      </p:sp>
    </p:spTree>
    <p:extLst>
      <p:ext uri="{BB962C8B-B14F-4D97-AF65-F5344CB8AC3E}">
        <p14:creationId xmlns:p14="http://schemas.microsoft.com/office/powerpoint/2010/main" val="1858048455"/>
      </p:ext>
    </p:extLst>
  </p:cSld>
  <p:clrMapOvr>
    <a:masterClrMapping/>
  </p:clrMapOvr>
</p:sld>
</file>

<file path=ppt/theme/theme1.xml><?xml version="1.0" encoding="utf-8"?>
<a:theme xmlns:a="http://schemas.openxmlformats.org/drawingml/2006/main" name="2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df7f7579-3e9c-4a7e-b844-420280f53859}" enabled="0" method="" siteId="{df7f7579-3e9c-4a7e-b844-420280f53859}" removed="1"/>
</clbl:labelList>
</file>

<file path=docProps/app.xml><?xml version="1.0" encoding="utf-8"?>
<Properties xmlns="http://schemas.openxmlformats.org/officeDocument/2006/extended-properties" xmlns:vt="http://schemas.openxmlformats.org/officeDocument/2006/docPropsVTypes">
  <TotalTime>2677</TotalTime>
  <Words>2571</Words>
  <Application>Microsoft Office PowerPoint</Application>
  <PresentationFormat>On-screen Show (4:3)</PresentationFormat>
  <Paragraphs>261</Paragraphs>
  <Slides>27</Slides>
  <Notes>26</Notes>
  <HiddenSlides>0</HiddenSlides>
  <MMClips>1</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ＭＳ Ｐゴシック</vt:lpstr>
      <vt:lpstr>Arial</vt:lpstr>
      <vt:lpstr>Calibri</vt:lpstr>
      <vt:lpstr>Noto Sans Symbols</vt:lpstr>
      <vt:lpstr>Open Sans</vt:lpstr>
      <vt:lpstr>Symbol</vt:lpstr>
      <vt:lpstr>Times New Roman</vt:lpstr>
      <vt:lpstr>Verdana</vt:lpstr>
      <vt:lpstr>Wingdings</vt:lpstr>
      <vt:lpstr>2_508 Lecture</vt:lpstr>
      <vt:lpstr>508 Lecture</vt:lpstr>
      <vt:lpstr>Principles of Marketing</vt:lpstr>
      <vt:lpstr>What is a price?</vt:lpstr>
      <vt:lpstr>The importance of price</vt:lpstr>
      <vt:lpstr>Marketing objective of pricing</vt:lpstr>
      <vt:lpstr>Considerations in setting price</vt:lpstr>
      <vt:lpstr>Concepts of price &amp; value</vt:lpstr>
      <vt:lpstr>Major “ongoing” pricing strategies</vt:lpstr>
      <vt:lpstr>Major “ongoing” pricing strategies</vt:lpstr>
      <vt:lpstr>Major “ongoing” pricing strategies</vt:lpstr>
      <vt:lpstr>Major “ongoing” pricing strategies</vt:lpstr>
      <vt:lpstr>Major “ongoing” pricing strategies</vt:lpstr>
      <vt:lpstr>Major “ongoing” pricing strategies</vt:lpstr>
      <vt:lpstr>Breakeven chart for determining target-return price and breakeven volume</vt:lpstr>
      <vt:lpstr>Value-based pricing versus cost-based pricing</vt:lpstr>
      <vt:lpstr>Major “ongoing” pricing strategies</vt:lpstr>
      <vt:lpstr>Other internal and external considerations affecting price decisions</vt:lpstr>
      <vt:lpstr>New-product pricing strategies</vt:lpstr>
      <vt:lpstr>New-product pricing strategies</vt:lpstr>
      <vt:lpstr>Price-adjustment strategies</vt:lpstr>
      <vt:lpstr>Price adjustments Strategies</vt:lpstr>
      <vt:lpstr>Price-adjustment strategies</vt:lpstr>
      <vt:lpstr>Price-adjustment strategies</vt:lpstr>
      <vt:lpstr>Price-adjustment strategies</vt:lpstr>
      <vt:lpstr>Price-adjustment strategies</vt:lpstr>
      <vt:lpstr>Price-adjustment</vt:lpstr>
      <vt:lpstr>Price-adjustment strategies</vt:lpstr>
      <vt:lpstr>Non-Price competition 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Marketing</dc:title>
  <dc:creator>Helen Eastwood</dc:creator>
  <cp:lastModifiedBy>Sean Doherty</cp:lastModifiedBy>
  <cp:revision>59</cp:revision>
  <dcterms:created xsi:type="dcterms:W3CDTF">2020-09-10T23:50:22Z</dcterms:created>
  <dcterms:modified xsi:type="dcterms:W3CDTF">2025-12-10T22:43:06Z</dcterms:modified>
</cp:coreProperties>
</file>