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omments/comment1.xml" ContentType="application/vnd.openxmlformats-officedocument.presentationml.comments+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6" r:id="rId1"/>
    <p:sldMasterId id="2147483659" r:id="rId2"/>
  </p:sldMasterIdLst>
  <p:notesMasterIdLst>
    <p:notesMasterId r:id="rId46"/>
  </p:notesMasterIdLst>
  <p:handoutMasterIdLst>
    <p:handoutMasterId r:id="rId47"/>
  </p:handoutMasterIdLst>
  <p:sldIdLst>
    <p:sldId id="317" r:id="rId3"/>
    <p:sldId id="297" r:id="rId4"/>
    <p:sldId id="393" r:id="rId5"/>
    <p:sldId id="456" r:id="rId6"/>
    <p:sldId id="292" r:id="rId7"/>
    <p:sldId id="410" r:id="rId8"/>
    <p:sldId id="543" r:id="rId9"/>
    <p:sldId id="300" r:id="rId10"/>
    <p:sldId id="274" r:id="rId11"/>
    <p:sldId id="270" r:id="rId12"/>
    <p:sldId id="301" r:id="rId13"/>
    <p:sldId id="302" r:id="rId14"/>
    <p:sldId id="532" r:id="rId15"/>
    <p:sldId id="512" r:id="rId16"/>
    <p:sldId id="530" r:id="rId17"/>
    <p:sldId id="283" r:id="rId18"/>
    <p:sldId id="541" r:id="rId19"/>
    <p:sldId id="542" r:id="rId20"/>
    <p:sldId id="538" r:id="rId21"/>
    <p:sldId id="539" r:id="rId22"/>
    <p:sldId id="328" r:id="rId23"/>
    <p:sldId id="544" r:id="rId24"/>
    <p:sldId id="545" r:id="rId25"/>
    <p:sldId id="408" r:id="rId26"/>
    <p:sldId id="546" r:id="rId27"/>
    <p:sldId id="375" r:id="rId28"/>
    <p:sldId id="376" r:id="rId29"/>
    <p:sldId id="540" r:id="rId30"/>
    <p:sldId id="524" r:id="rId31"/>
    <p:sldId id="307" r:id="rId32"/>
    <p:sldId id="480" r:id="rId33"/>
    <p:sldId id="525" r:id="rId34"/>
    <p:sldId id="308" r:id="rId35"/>
    <p:sldId id="419" r:id="rId36"/>
    <p:sldId id="411" r:id="rId37"/>
    <p:sldId id="412" r:id="rId38"/>
    <p:sldId id="536" r:id="rId39"/>
    <p:sldId id="537" r:id="rId40"/>
    <p:sldId id="534" r:id="rId41"/>
    <p:sldId id="547" r:id="rId42"/>
    <p:sldId id="533" r:id="rId43"/>
    <p:sldId id="459" r:id="rId44"/>
    <p:sldId id="528" r:id="rId4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7" name="Leah Cooper" initials="LC" lastIdx="8" clrIdx="7"/>
  <p:cmAuthor id="1" name="Ruchi Sachdev" initials="" lastIdx="8" clrIdx="1"/>
  <p:cmAuthor id="8" name="rebepedl" initials="r" lastIdx="2" clrIdx="8">
    <p:extLst>
      <p:ext uri="{19B8F6BF-5375-455C-9EA6-DF929625EA0E}">
        <p15:presenceInfo xmlns:p15="http://schemas.microsoft.com/office/powerpoint/2012/main" userId="rebepedl" providerId="None"/>
      </p:ext>
    </p:extLst>
  </p:cmAuthor>
  <p:cmAuthor id="2" name="Sarah Reusché" initials="" lastIdx="13" clrIdx="2"/>
  <p:cmAuthor id="9" name="Julie" initials="J" lastIdx="1" clrIdx="9"/>
  <p:cmAuthor id="3" name="Nitin Shankar" initials="" lastIdx="6" clrIdx="3"/>
  <p:cmAuthor id="4" name="Kristen Flathman" initials="" lastIdx="1" clrIdx="4"/>
  <p:cmAuthor id="5" name="Ben Schroeter" initials="" lastIdx="0" clrIdx="5"/>
  <p:cmAuthor id="6" name="Leah Cooper" initials="" lastIdx="17"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002A7E"/>
    <a:srgbClr val="0044CC"/>
    <a:srgbClr val="0040C0"/>
    <a:srgbClr val="0036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15" autoAdjust="0"/>
    <p:restoredTop sz="86722" autoAdjust="0"/>
  </p:normalViewPr>
  <p:slideViewPr>
    <p:cSldViewPr snapToGrid="0" snapToObjects="1">
      <p:cViewPr varScale="1">
        <p:scale>
          <a:sx n="92" d="100"/>
          <a:sy n="92" d="100"/>
        </p:scale>
        <p:origin x="2178" y="9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65" d="100"/>
          <a:sy n="65" d="100"/>
        </p:scale>
        <p:origin x="874" y="3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omments/comment1.xml><?xml version="1.0" encoding="utf-8"?>
<p:cmLst xmlns:a="http://schemas.openxmlformats.org/drawingml/2006/main" xmlns:r="http://schemas.openxmlformats.org/officeDocument/2006/relationships" xmlns:p="http://schemas.openxmlformats.org/presentationml/2006/main">
  <p:cm authorId="9" dt="2014-09-09T16:19:40.087" idx="1">
    <p:pos x="154" y="1216"/>
    <p:text>Arrows running through words in diagram at the bottom ok?
Also, the ALDI image labels are very small</p:text>
  </p:cm>
</p:cmLst>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3F1FB1-8A33-4AB3-8668-815B83377ADC}" type="doc">
      <dgm:prSet loTypeId="urn:microsoft.com/office/officeart/2005/8/layout/process3#1" loCatId="process" qsTypeId="urn:microsoft.com/office/officeart/2005/8/quickstyle/simple1#1" qsCatId="simple" csTypeId="urn:microsoft.com/office/officeart/2005/8/colors/colorful2#1" csCatId="colorful" phldr="1"/>
      <dgm:spPr/>
      <dgm:t>
        <a:bodyPr/>
        <a:lstStyle/>
        <a:p>
          <a:endParaRPr lang="en-AU"/>
        </a:p>
      </dgm:t>
    </dgm:pt>
    <dgm:pt modelId="{475696AD-237A-4EC2-903B-B3E18E23CD56}">
      <dgm:prSet phldrT="[Text]" custT="1"/>
      <dgm:spPr/>
      <dgm:t>
        <a:bodyPr/>
        <a:lstStyle/>
        <a:p>
          <a:r>
            <a:rPr lang="en-AU" sz="1400" b="1" dirty="0"/>
            <a:t>Step 1</a:t>
          </a:r>
        </a:p>
      </dgm:t>
    </dgm:pt>
    <dgm:pt modelId="{3C88F042-AACF-4F51-BF01-C808FC4A908B}" type="parTrans" cxnId="{FBEAC05B-4AC1-4227-BB52-5D3B4CF3E6F0}">
      <dgm:prSet/>
      <dgm:spPr/>
      <dgm:t>
        <a:bodyPr/>
        <a:lstStyle/>
        <a:p>
          <a:endParaRPr lang="en-AU" sz="1400"/>
        </a:p>
      </dgm:t>
    </dgm:pt>
    <dgm:pt modelId="{FBACC58F-B695-49E1-9014-F288E3A47991}" type="sibTrans" cxnId="{FBEAC05B-4AC1-4227-BB52-5D3B4CF3E6F0}">
      <dgm:prSet custT="1"/>
      <dgm:spPr/>
      <dgm:t>
        <a:bodyPr/>
        <a:lstStyle/>
        <a:p>
          <a:endParaRPr lang="en-AU" sz="1400"/>
        </a:p>
      </dgm:t>
    </dgm:pt>
    <dgm:pt modelId="{A44A748F-C883-47B6-AC4E-D1DC917FC76A}">
      <dgm:prSet phldrT="[Text]" custT="1"/>
      <dgm:spPr/>
      <dgm:t>
        <a:bodyPr/>
        <a:lstStyle/>
        <a:p>
          <a:pPr marL="0" indent="0">
            <a:buNone/>
          </a:pPr>
          <a:r>
            <a:rPr lang="en-AU" sz="1600" dirty="0"/>
            <a:t>Select a market or product category</a:t>
          </a:r>
        </a:p>
      </dgm:t>
    </dgm:pt>
    <dgm:pt modelId="{59340858-EEC6-4920-BD01-A45ED8555F83}" type="parTrans" cxnId="{7F52E39B-5F8C-43EC-B349-EF02042B9FA5}">
      <dgm:prSet/>
      <dgm:spPr/>
      <dgm:t>
        <a:bodyPr/>
        <a:lstStyle/>
        <a:p>
          <a:endParaRPr lang="en-AU" sz="1400"/>
        </a:p>
      </dgm:t>
    </dgm:pt>
    <dgm:pt modelId="{0E7F4086-6C62-47AC-BEA5-356C357A1C9C}" type="sibTrans" cxnId="{7F52E39B-5F8C-43EC-B349-EF02042B9FA5}">
      <dgm:prSet/>
      <dgm:spPr/>
      <dgm:t>
        <a:bodyPr/>
        <a:lstStyle/>
        <a:p>
          <a:endParaRPr lang="en-AU" sz="1400"/>
        </a:p>
      </dgm:t>
    </dgm:pt>
    <dgm:pt modelId="{2A5D45F9-9D3F-4AEC-ABC6-A26F95573768}">
      <dgm:prSet phldrT="[Text]" custT="1"/>
      <dgm:spPr/>
      <dgm:t>
        <a:bodyPr/>
        <a:lstStyle/>
        <a:p>
          <a:r>
            <a:rPr lang="en-AU" sz="1400" b="1" dirty="0"/>
            <a:t>Step 2</a:t>
          </a:r>
        </a:p>
      </dgm:t>
    </dgm:pt>
    <dgm:pt modelId="{FF05C2D6-02B8-42EC-804F-1B70B52CD8D5}" type="parTrans" cxnId="{7E98214E-C7B6-4143-8FEC-74F2AFE54827}">
      <dgm:prSet/>
      <dgm:spPr/>
      <dgm:t>
        <a:bodyPr/>
        <a:lstStyle/>
        <a:p>
          <a:endParaRPr lang="en-AU" sz="1400"/>
        </a:p>
      </dgm:t>
    </dgm:pt>
    <dgm:pt modelId="{7B80423C-C7F7-47D3-8296-2952AED1E13D}" type="sibTrans" cxnId="{7E98214E-C7B6-4143-8FEC-74F2AFE54827}">
      <dgm:prSet custT="1"/>
      <dgm:spPr/>
      <dgm:t>
        <a:bodyPr/>
        <a:lstStyle/>
        <a:p>
          <a:endParaRPr lang="en-AU" sz="1400"/>
        </a:p>
      </dgm:t>
    </dgm:pt>
    <dgm:pt modelId="{B59A012F-8E60-4256-9C2A-2B40639473D5}">
      <dgm:prSet phldrT="[Text]" custT="1"/>
      <dgm:spPr/>
      <dgm:t>
        <a:bodyPr/>
        <a:lstStyle/>
        <a:p>
          <a:pPr marL="0" lvl="1" indent="0" algn="l" defTabSz="622300">
            <a:lnSpc>
              <a:spcPct val="90000"/>
            </a:lnSpc>
            <a:spcBef>
              <a:spcPct val="0"/>
            </a:spcBef>
            <a:spcAft>
              <a:spcPct val="15000"/>
            </a:spcAft>
            <a:buNone/>
          </a:pPr>
          <a:r>
            <a:rPr lang="en-AU" sz="1600" kern="1200" dirty="0">
              <a:solidFill>
                <a:srgbClr val="000000">
                  <a:hueOff val="0"/>
                  <a:satOff val="0"/>
                  <a:lumOff val="0"/>
                  <a:alphaOff val="0"/>
                </a:srgbClr>
              </a:solidFill>
              <a:latin typeface="Arial"/>
              <a:ea typeface="+mn-ea"/>
              <a:cs typeface="+mn-cs"/>
            </a:rPr>
            <a:t>Select bases for segmentation and segment descriptors</a:t>
          </a:r>
        </a:p>
      </dgm:t>
    </dgm:pt>
    <dgm:pt modelId="{5C88A227-248B-4334-BE88-3D63F28CD7C2}" type="parTrans" cxnId="{DB68AE54-0031-4B3D-AF1C-077710CB575A}">
      <dgm:prSet/>
      <dgm:spPr/>
      <dgm:t>
        <a:bodyPr/>
        <a:lstStyle/>
        <a:p>
          <a:endParaRPr lang="en-AU" sz="1400"/>
        </a:p>
      </dgm:t>
    </dgm:pt>
    <dgm:pt modelId="{C354188F-4915-4EF9-9597-FC4A203A92B5}" type="sibTrans" cxnId="{DB68AE54-0031-4B3D-AF1C-077710CB575A}">
      <dgm:prSet/>
      <dgm:spPr/>
      <dgm:t>
        <a:bodyPr/>
        <a:lstStyle/>
        <a:p>
          <a:endParaRPr lang="en-AU" sz="1400"/>
        </a:p>
      </dgm:t>
    </dgm:pt>
    <dgm:pt modelId="{38D2EB62-11A6-464C-88A7-632A6C52F11C}">
      <dgm:prSet phldrT="[Text]" custT="1"/>
      <dgm:spPr/>
      <dgm:t>
        <a:bodyPr/>
        <a:lstStyle/>
        <a:p>
          <a:r>
            <a:rPr lang="en-AU" sz="1400" b="1" dirty="0"/>
            <a:t>Step 3</a:t>
          </a:r>
        </a:p>
      </dgm:t>
    </dgm:pt>
    <dgm:pt modelId="{35821653-8430-43E6-A42B-03D278E488D6}" type="parTrans" cxnId="{922F62E8-E5A5-4083-B724-D251B49FC9BE}">
      <dgm:prSet/>
      <dgm:spPr/>
      <dgm:t>
        <a:bodyPr/>
        <a:lstStyle/>
        <a:p>
          <a:endParaRPr lang="en-AU" sz="1400"/>
        </a:p>
      </dgm:t>
    </dgm:pt>
    <dgm:pt modelId="{1CFC3FE8-E445-454D-AB74-AD6FBAC7D208}" type="sibTrans" cxnId="{922F62E8-E5A5-4083-B724-D251B49FC9BE}">
      <dgm:prSet custT="1"/>
      <dgm:spPr/>
      <dgm:t>
        <a:bodyPr/>
        <a:lstStyle/>
        <a:p>
          <a:endParaRPr lang="en-AU" sz="1400"/>
        </a:p>
      </dgm:t>
    </dgm:pt>
    <dgm:pt modelId="{BE6A144A-E616-4820-B3A8-6233C8FC4C1A}">
      <dgm:prSet phldrT="[Text]" custT="1"/>
      <dgm:spPr/>
      <dgm:t>
        <a:bodyPr/>
        <a:lstStyle/>
        <a:p>
          <a:pPr marL="0" lvl="1" indent="0" algn="l" defTabSz="622300">
            <a:lnSpc>
              <a:spcPct val="90000"/>
            </a:lnSpc>
            <a:spcBef>
              <a:spcPct val="0"/>
            </a:spcBef>
            <a:spcAft>
              <a:spcPct val="15000"/>
            </a:spcAft>
            <a:buNone/>
          </a:pPr>
          <a:r>
            <a:rPr lang="en-AU" sz="1600" kern="1200" dirty="0">
              <a:solidFill>
                <a:srgbClr val="000000">
                  <a:hueOff val="0"/>
                  <a:satOff val="0"/>
                  <a:lumOff val="0"/>
                  <a:alphaOff val="0"/>
                </a:srgbClr>
              </a:solidFill>
              <a:latin typeface="Arial"/>
              <a:ea typeface="+mn-ea"/>
              <a:cs typeface="+mn-cs"/>
            </a:rPr>
            <a:t>Profile segments and identify target markets</a:t>
          </a:r>
        </a:p>
      </dgm:t>
    </dgm:pt>
    <dgm:pt modelId="{FBCD3357-D0D1-4EE2-9FFF-2C49EAED2B6A}" type="parTrans" cxnId="{916B7EBB-7C34-4A17-9D36-2451B8902473}">
      <dgm:prSet/>
      <dgm:spPr/>
      <dgm:t>
        <a:bodyPr/>
        <a:lstStyle/>
        <a:p>
          <a:endParaRPr lang="en-AU" sz="1400"/>
        </a:p>
      </dgm:t>
    </dgm:pt>
    <dgm:pt modelId="{2E9D191F-7D83-41C0-95BA-3BFFF6C2E519}" type="sibTrans" cxnId="{916B7EBB-7C34-4A17-9D36-2451B8902473}">
      <dgm:prSet/>
      <dgm:spPr/>
      <dgm:t>
        <a:bodyPr/>
        <a:lstStyle/>
        <a:p>
          <a:endParaRPr lang="en-AU" sz="1400"/>
        </a:p>
      </dgm:t>
    </dgm:pt>
    <dgm:pt modelId="{DD5D1D10-A9FA-4BAF-AED6-2F81D5B9865E}">
      <dgm:prSet custT="1"/>
      <dgm:spPr/>
      <dgm:t>
        <a:bodyPr/>
        <a:lstStyle/>
        <a:p>
          <a:r>
            <a:rPr lang="en-AU" sz="1400" b="1" dirty="0"/>
            <a:t>Step 4</a:t>
          </a:r>
        </a:p>
      </dgm:t>
    </dgm:pt>
    <dgm:pt modelId="{A1222AC8-2EBB-4B13-953A-1FDE6EEDF632}" type="parTrans" cxnId="{A6AD4434-9670-4287-9A30-B9070F1EB608}">
      <dgm:prSet/>
      <dgm:spPr/>
      <dgm:t>
        <a:bodyPr/>
        <a:lstStyle/>
        <a:p>
          <a:endParaRPr lang="en-AU" sz="1400"/>
        </a:p>
      </dgm:t>
    </dgm:pt>
    <dgm:pt modelId="{02B83ABC-ADCF-48F5-807E-355832CD0BB2}" type="sibTrans" cxnId="{A6AD4434-9670-4287-9A30-B9070F1EB608}">
      <dgm:prSet custT="1"/>
      <dgm:spPr/>
      <dgm:t>
        <a:bodyPr/>
        <a:lstStyle/>
        <a:p>
          <a:endParaRPr lang="en-AU" sz="1400"/>
        </a:p>
      </dgm:t>
    </dgm:pt>
    <dgm:pt modelId="{B7C5924A-A4AC-4104-B8EE-B7655B43D580}">
      <dgm:prSet custT="1"/>
      <dgm:spPr/>
      <dgm:t>
        <a:bodyPr/>
        <a:lstStyle/>
        <a:p>
          <a:pPr marL="0" lvl="1" indent="0" algn="l" defTabSz="622300">
            <a:lnSpc>
              <a:spcPct val="90000"/>
            </a:lnSpc>
            <a:spcBef>
              <a:spcPct val="0"/>
            </a:spcBef>
            <a:spcAft>
              <a:spcPct val="15000"/>
            </a:spcAft>
            <a:buNone/>
          </a:pPr>
          <a:r>
            <a:rPr lang="en-AU" sz="1600" kern="1200" dirty="0">
              <a:solidFill>
                <a:srgbClr val="000000">
                  <a:hueOff val="0"/>
                  <a:satOff val="0"/>
                  <a:lumOff val="0"/>
                  <a:alphaOff val="0"/>
                </a:srgbClr>
              </a:solidFill>
              <a:latin typeface="Arial"/>
              <a:ea typeface="+mn-ea"/>
              <a:cs typeface="+mn-cs"/>
            </a:rPr>
            <a:t>Select and develop targeting strategies</a:t>
          </a:r>
        </a:p>
      </dgm:t>
    </dgm:pt>
    <dgm:pt modelId="{55F3164B-FA9E-455A-85C6-DF77A4FBCB4E}" type="parTrans" cxnId="{00ED31FD-E964-4F86-A958-5DDFB71D9A4B}">
      <dgm:prSet/>
      <dgm:spPr/>
      <dgm:t>
        <a:bodyPr/>
        <a:lstStyle/>
        <a:p>
          <a:endParaRPr lang="en-AU" sz="1400"/>
        </a:p>
      </dgm:t>
    </dgm:pt>
    <dgm:pt modelId="{95E19D4E-AC6B-492E-ABD3-4D3DF035171E}" type="sibTrans" cxnId="{00ED31FD-E964-4F86-A958-5DDFB71D9A4B}">
      <dgm:prSet/>
      <dgm:spPr/>
      <dgm:t>
        <a:bodyPr/>
        <a:lstStyle/>
        <a:p>
          <a:endParaRPr lang="en-AU" sz="1400"/>
        </a:p>
      </dgm:t>
    </dgm:pt>
    <dgm:pt modelId="{F437FE22-2A4E-4DA8-8E44-ADDC13525F62}">
      <dgm:prSet custT="1"/>
      <dgm:spPr/>
      <dgm:t>
        <a:bodyPr/>
        <a:lstStyle/>
        <a:p>
          <a:r>
            <a:rPr lang="en-AU" sz="1400" b="1" dirty="0"/>
            <a:t>Step 5</a:t>
          </a:r>
        </a:p>
      </dgm:t>
    </dgm:pt>
    <dgm:pt modelId="{1543486E-F4F4-4919-AA09-760DB286D6E1}" type="parTrans" cxnId="{832D4A47-0D27-4E30-8D8C-B247D692392F}">
      <dgm:prSet/>
      <dgm:spPr/>
      <dgm:t>
        <a:bodyPr/>
        <a:lstStyle/>
        <a:p>
          <a:endParaRPr lang="en-AU" sz="1400"/>
        </a:p>
      </dgm:t>
    </dgm:pt>
    <dgm:pt modelId="{4F1590A9-CD30-4F1C-8362-D9B115FFE36B}" type="sibTrans" cxnId="{832D4A47-0D27-4E30-8D8C-B247D692392F}">
      <dgm:prSet/>
      <dgm:spPr/>
      <dgm:t>
        <a:bodyPr/>
        <a:lstStyle/>
        <a:p>
          <a:endParaRPr lang="en-AU" sz="1400"/>
        </a:p>
      </dgm:t>
    </dgm:pt>
    <dgm:pt modelId="{8DD9DBF4-59F6-4444-850D-EE30A75FD029}">
      <dgm:prSet custT="1"/>
      <dgm:spPr/>
      <dgm:t>
        <a:bodyPr/>
        <a:lstStyle/>
        <a:p>
          <a:pPr marL="0" lvl="1" indent="0" algn="l" defTabSz="622300">
            <a:lnSpc>
              <a:spcPct val="90000"/>
            </a:lnSpc>
            <a:spcBef>
              <a:spcPct val="0"/>
            </a:spcBef>
            <a:spcAft>
              <a:spcPct val="15000"/>
            </a:spcAft>
            <a:buNone/>
          </a:pPr>
          <a:r>
            <a:rPr lang="en-AU" sz="1600" kern="1200" dirty="0">
              <a:solidFill>
                <a:srgbClr val="000000">
                  <a:hueOff val="0"/>
                  <a:satOff val="0"/>
                  <a:lumOff val="0"/>
                  <a:alphaOff val="0"/>
                </a:srgbClr>
              </a:solidFill>
              <a:latin typeface="Arial"/>
              <a:ea typeface="+mn-ea"/>
              <a:cs typeface="+mn-cs"/>
            </a:rPr>
            <a:t>Develop a positioning strategy</a:t>
          </a:r>
        </a:p>
      </dgm:t>
    </dgm:pt>
    <dgm:pt modelId="{BF2E92DA-22C4-405A-9EC7-E6ED8DFE9460}" type="parTrans" cxnId="{E6B6B3A4-A2DD-4D9F-B8AD-E243145B87B0}">
      <dgm:prSet/>
      <dgm:spPr/>
      <dgm:t>
        <a:bodyPr/>
        <a:lstStyle/>
        <a:p>
          <a:endParaRPr lang="en-AU" sz="1400"/>
        </a:p>
      </dgm:t>
    </dgm:pt>
    <dgm:pt modelId="{FB136015-C5F6-426B-BE06-FBE3C669F4FC}" type="sibTrans" cxnId="{E6B6B3A4-A2DD-4D9F-B8AD-E243145B87B0}">
      <dgm:prSet/>
      <dgm:spPr/>
      <dgm:t>
        <a:bodyPr/>
        <a:lstStyle/>
        <a:p>
          <a:endParaRPr lang="en-AU" sz="1400"/>
        </a:p>
      </dgm:t>
    </dgm:pt>
    <dgm:pt modelId="{FD854F1E-4B16-4AD8-926C-35B26F908C22}" type="pres">
      <dgm:prSet presAssocID="{353F1FB1-8A33-4AB3-8668-815B83377ADC}" presName="linearFlow" presStyleCnt="0">
        <dgm:presLayoutVars>
          <dgm:dir/>
          <dgm:animLvl val="lvl"/>
          <dgm:resizeHandles val="exact"/>
        </dgm:presLayoutVars>
      </dgm:prSet>
      <dgm:spPr/>
    </dgm:pt>
    <dgm:pt modelId="{AB225018-7D0A-44D9-96AD-FD8B5A2D1755}" type="pres">
      <dgm:prSet presAssocID="{475696AD-237A-4EC2-903B-B3E18E23CD56}" presName="composite" presStyleCnt="0"/>
      <dgm:spPr/>
    </dgm:pt>
    <dgm:pt modelId="{936EBF0F-773F-4FB2-8988-12CCB1A7951B}" type="pres">
      <dgm:prSet presAssocID="{475696AD-237A-4EC2-903B-B3E18E23CD56}" presName="parTx" presStyleLbl="node1" presStyleIdx="0" presStyleCnt="5">
        <dgm:presLayoutVars>
          <dgm:chMax val="0"/>
          <dgm:chPref val="0"/>
          <dgm:bulletEnabled val="1"/>
        </dgm:presLayoutVars>
      </dgm:prSet>
      <dgm:spPr/>
    </dgm:pt>
    <dgm:pt modelId="{1C233999-7482-4BF2-812C-DBBC3B3F7CB2}" type="pres">
      <dgm:prSet presAssocID="{475696AD-237A-4EC2-903B-B3E18E23CD56}" presName="parSh" presStyleLbl="node1" presStyleIdx="0" presStyleCnt="5" custScaleX="90838" custScaleY="102980"/>
      <dgm:spPr/>
    </dgm:pt>
    <dgm:pt modelId="{19D8279C-EE1F-453D-B259-62D9D7798ACC}" type="pres">
      <dgm:prSet presAssocID="{475696AD-237A-4EC2-903B-B3E18E23CD56}" presName="desTx" presStyleLbl="fgAcc1" presStyleIdx="0" presStyleCnt="5" custScaleX="121978" custScaleY="59953">
        <dgm:presLayoutVars>
          <dgm:bulletEnabled val="1"/>
        </dgm:presLayoutVars>
      </dgm:prSet>
      <dgm:spPr/>
    </dgm:pt>
    <dgm:pt modelId="{4C63B620-5EFA-4FE9-BD64-BF94647A1046}" type="pres">
      <dgm:prSet presAssocID="{FBACC58F-B695-49E1-9014-F288E3A47991}" presName="sibTrans" presStyleLbl="sibTrans2D1" presStyleIdx="0" presStyleCnt="4"/>
      <dgm:spPr/>
    </dgm:pt>
    <dgm:pt modelId="{36E202FF-4A08-4084-851A-523E35D687F5}" type="pres">
      <dgm:prSet presAssocID="{FBACC58F-B695-49E1-9014-F288E3A47991}" presName="connTx" presStyleLbl="sibTrans2D1" presStyleIdx="0" presStyleCnt="4"/>
      <dgm:spPr/>
    </dgm:pt>
    <dgm:pt modelId="{29090C18-823E-469A-A834-6CFBB89D8C87}" type="pres">
      <dgm:prSet presAssocID="{2A5D45F9-9D3F-4AEC-ABC6-A26F95573768}" presName="composite" presStyleCnt="0"/>
      <dgm:spPr/>
    </dgm:pt>
    <dgm:pt modelId="{13E5ED1F-CAE4-43F1-B86C-8C69FFB6E918}" type="pres">
      <dgm:prSet presAssocID="{2A5D45F9-9D3F-4AEC-ABC6-A26F95573768}" presName="parTx" presStyleLbl="node1" presStyleIdx="0" presStyleCnt="5">
        <dgm:presLayoutVars>
          <dgm:chMax val="0"/>
          <dgm:chPref val="0"/>
          <dgm:bulletEnabled val="1"/>
        </dgm:presLayoutVars>
      </dgm:prSet>
      <dgm:spPr/>
    </dgm:pt>
    <dgm:pt modelId="{31CB403C-2E43-4035-A226-74DB58BD377F}" type="pres">
      <dgm:prSet presAssocID="{2A5D45F9-9D3F-4AEC-ABC6-A26F95573768}" presName="parSh" presStyleLbl="node1" presStyleIdx="1" presStyleCnt="5"/>
      <dgm:spPr/>
    </dgm:pt>
    <dgm:pt modelId="{87EA0BB2-B5B9-4D82-99C1-1C1E32895067}" type="pres">
      <dgm:prSet presAssocID="{2A5D45F9-9D3F-4AEC-ABC6-A26F95573768}" presName="desTx" presStyleLbl="fgAcc1" presStyleIdx="1" presStyleCnt="5" custScaleX="130296" custScaleY="60748">
        <dgm:presLayoutVars>
          <dgm:bulletEnabled val="1"/>
        </dgm:presLayoutVars>
      </dgm:prSet>
      <dgm:spPr/>
    </dgm:pt>
    <dgm:pt modelId="{5CDE7DFD-0715-454A-BAEB-9B79921D0805}" type="pres">
      <dgm:prSet presAssocID="{7B80423C-C7F7-47D3-8296-2952AED1E13D}" presName="sibTrans" presStyleLbl="sibTrans2D1" presStyleIdx="1" presStyleCnt="4"/>
      <dgm:spPr/>
    </dgm:pt>
    <dgm:pt modelId="{C70F623C-91F6-440F-A518-621423F8FA3D}" type="pres">
      <dgm:prSet presAssocID="{7B80423C-C7F7-47D3-8296-2952AED1E13D}" presName="connTx" presStyleLbl="sibTrans2D1" presStyleIdx="1" presStyleCnt="4"/>
      <dgm:spPr/>
    </dgm:pt>
    <dgm:pt modelId="{C4315F12-78F8-4EB0-9EC0-4050617D2B7A}" type="pres">
      <dgm:prSet presAssocID="{38D2EB62-11A6-464C-88A7-632A6C52F11C}" presName="composite" presStyleCnt="0"/>
      <dgm:spPr/>
    </dgm:pt>
    <dgm:pt modelId="{27A4E6E7-1118-4B88-BD65-D3E90A75DE39}" type="pres">
      <dgm:prSet presAssocID="{38D2EB62-11A6-464C-88A7-632A6C52F11C}" presName="parTx" presStyleLbl="node1" presStyleIdx="1" presStyleCnt="5">
        <dgm:presLayoutVars>
          <dgm:chMax val="0"/>
          <dgm:chPref val="0"/>
          <dgm:bulletEnabled val="1"/>
        </dgm:presLayoutVars>
      </dgm:prSet>
      <dgm:spPr/>
    </dgm:pt>
    <dgm:pt modelId="{CC131274-C4F2-4B58-973D-78DD06321B8C}" type="pres">
      <dgm:prSet presAssocID="{38D2EB62-11A6-464C-88A7-632A6C52F11C}" presName="parSh" presStyleLbl="node1" presStyleIdx="2" presStyleCnt="5"/>
      <dgm:spPr/>
    </dgm:pt>
    <dgm:pt modelId="{F90D12A2-03EC-44BA-89F0-B3AF89AB8763}" type="pres">
      <dgm:prSet presAssocID="{38D2EB62-11A6-464C-88A7-632A6C52F11C}" presName="desTx" presStyleLbl="fgAcc1" presStyleIdx="2" presStyleCnt="5" custScaleX="127151" custScaleY="63067">
        <dgm:presLayoutVars>
          <dgm:bulletEnabled val="1"/>
        </dgm:presLayoutVars>
      </dgm:prSet>
      <dgm:spPr/>
    </dgm:pt>
    <dgm:pt modelId="{8861C09C-A274-43C2-A0BB-092CCACFD99E}" type="pres">
      <dgm:prSet presAssocID="{1CFC3FE8-E445-454D-AB74-AD6FBAC7D208}" presName="sibTrans" presStyleLbl="sibTrans2D1" presStyleIdx="2" presStyleCnt="4"/>
      <dgm:spPr/>
    </dgm:pt>
    <dgm:pt modelId="{DD437AA8-82CB-4FAF-9E59-FD59D75B1F4D}" type="pres">
      <dgm:prSet presAssocID="{1CFC3FE8-E445-454D-AB74-AD6FBAC7D208}" presName="connTx" presStyleLbl="sibTrans2D1" presStyleIdx="2" presStyleCnt="4"/>
      <dgm:spPr/>
    </dgm:pt>
    <dgm:pt modelId="{7EA1B89B-D592-43D3-B96C-1AA49FD4C96E}" type="pres">
      <dgm:prSet presAssocID="{DD5D1D10-A9FA-4BAF-AED6-2F81D5B9865E}" presName="composite" presStyleCnt="0"/>
      <dgm:spPr/>
    </dgm:pt>
    <dgm:pt modelId="{3D43F8C6-D9F0-4541-9C6C-63FBD3BEF702}" type="pres">
      <dgm:prSet presAssocID="{DD5D1D10-A9FA-4BAF-AED6-2F81D5B9865E}" presName="parTx" presStyleLbl="node1" presStyleIdx="2" presStyleCnt="5">
        <dgm:presLayoutVars>
          <dgm:chMax val="0"/>
          <dgm:chPref val="0"/>
          <dgm:bulletEnabled val="1"/>
        </dgm:presLayoutVars>
      </dgm:prSet>
      <dgm:spPr/>
    </dgm:pt>
    <dgm:pt modelId="{BACEB6A8-F6FC-445B-971C-0D03A0E5481E}" type="pres">
      <dgm:prSet presAssocID="{DD5D1D10-A9FA-4BAF-AED6-2F81D5B9865E}" presName="parSh" presStyleLbl="node1" presStyleIdx="3" presStyleCnt="5"/>
      <dgm:spPr/>
    </dgm:pt>
    <dgm:pt modelId="{808C9B1A-3EBD-4BFB-9053-EE4205657929}" type="pres">
      <dgm:prSet presAssocID="{DD5D1D10-A9FA-4BAF-AED6-2F81D5B9865E}" presName="desTx" presStyleLbl="fgAcc1" presStyleIdx="3" presStyleCnt="5" custScaleX="125750" custScaleY="62405">
        <dgm:presLayoutVars>
          <dgm:bulletEnabled val="1"/>
        </dgm:presLayoutVars>
      </dgm:prSet>
      <dgm:spPr/>
    </dgm:pt>
    <dgm:pt modelId="{D9D724C4-ED0E-49D8-9571-2D4D9549E739}" type="pres">
      <dgm:prSet presAssocID="{02B83ABC-ADCF-48F5-807E-355832CD0BB2}" presName="sibTrans" presStyleLbl="sibTrans2D1" presStyleIdx="3" presStyleCnt="4"/>
      <dgm:spPr/>
    </dgm:pt>
    <dgm:pt modelId="{1BE99290-3F3E-4F0E-8DA9-1C9FF9DB212E}" type="pres">
      <dgm:prSet presAssocID="{02B83ABC-ADCF-48F5-807E-355832CD0BB2}" presName="connTx" presStyleLbl="sibTrans2D1" presStyleIdx="3" presStyleCnt="4"/>
      <dgm:spPr/>
    </dgm:pt>
    <dgm:pt modelId="{32CB957D-673A-4A5F-9C1F-7A1E1B06DF44}" type="pres">
      <dgm:prSet presAssocID="{F437FE22-2A4E-4DA8-8E44-ADDC13525F62}" presName="composite" presStyleCnt="0"/>
      <dgm:spPr/>
    </dgm:pt>
    <dgm:pt modelId="{384C34C0-A7E6-4C42-9FBE-168C5811E971}" type="pres">
      <dgm:prSet presAssocID="{F437FE22-2A4E-4DA8-8E44-ADDC13525F62}" presName="parTx" presStyleLbl="node1" presStyleIdx="3" presStyleCnt="5">
        <dgm:presLayoutVars>
          <dgm:chMax val="0"/>
          <dgm:chPref val="0"/>
          <dgm:bulletEnabled val="1"/>
        </dgm:presLayoutVars>
      </dgm:prSet>
      <dgm:spPr/>
    </dgm:pt>
    <dgm:pt modelId="{D7E852D1-E609-4EA9-8242-928C132E8067}" type="pres">
      <dgm:prSet presAssocID="{F437FE22-2A4E-4DA8-8E44-ADDC13525F62}" presName="parSh" presStyleLbl="node1" presStyleIdx="4" presStyleCnt="5"/>
      <dgm:spPr/>
    </dgm:pt>
    <dgm:pt modelId="{896CB01B-7FE8-4CFB-A6EE-242EEAA4D67C}" type="pres">
      <dgm:prSet presAssocID="{F437FE22-2A4E-4DA8-8E44-ADDC13525F62}" presName="desTx" presStyleLbl="fgAcc1" presStyleIdx="4" presStyleCnt="5" custScaleX="132865" custScaleY="62611">
        <dgm:presLayoutVars>
          <dgm:bulletEnabled val="1"/>
        </dgm:presLayoutVars>
      </dgm:prSet>
      <dgm:spPr/>
    </dgm:pt>
  </dgm:ptLst>
  <dgm:cxnLst>
    <dgm:cxn modelId="{89A1B617-D477-438D-B32A-BE6F3FF3987F}" type="presOf" srcId="{475696AD-237A-4EC2-903B-B3E18E23CD56}" destId="{1C233999-7482-4BF2-812C-DBBC3B3F7CB2}" srcOrd="1" destOrd="0" presId="urn:microsoft.com/office/officeart/2005/8/layout/process3#1"/>
    <dgm:cxn modelId="{5008CB1E-0909-4918-9168-90C7A45D7068}" type="presOf" srcId="{F437FE22-2A4E-4DA8-8E44-ADDC13525F62}" destId="{D7E852D1-E609-4EA9-8242-928C132E8067}" srcOrd="1" destOrd="0" presId="urn:microsoft.com/office/officeart/2005/8/layout/process3#1"/>
    <dgm:cxn modelId="{CBCF8C21-CBE6-4173-85F4-D524924902DC}" type="presOf" srcId="{38D2EB62-11A6-464C-88A7-632A6C52F11C}" destId="{CC131274-C4F2-4B58-973D-78DD06321B8C}" srcOrd="1" destOrd="0" presId="urn:microsoft.com/office/officeart/2005/8/layout/process3#1"/>
    <dgm:cxn modelId="{A6AD4434-9670-4287-9A30-B9070F1EB608}" srcId="{353F1FB1-8A33-4AB3-8668-815B83377ADC}" destId="{DD5D1D10-A9FA-4BAF-AED6-2F81D5B9865E}" srcOrd="3" destOrd="0" parTransId="{A1222AC8-2EBB-4B13-953A-1FDE6EEDF632}" sibTransId="{02B83ABC-ADCF-48F5-807E-355832CD0BB2}"/>
    <dgm:cxn modelId="{FBEAC05B-4AC1-4227-BB52-5D3B4CF3E6F0}" srcId="{353F1FB1-8A33-4AB3-8668-815B83377ADC}" destId="{475696AD-237A-4EC2-903B-B3E18E23CD56}" srcOrd="0" destOrd="0" parTransId="{3C88F042-AACF-4F51-BF01-C808FC4A908B}" sibTransId="{FBACC58F-B695-49E1-9014-F288E3A47991}"/>
    <dgm:cxn modelId="{118D225E-9193-4649-BC48-858141661113}" type="presOf" srcId="{B59A012F-8E60-4256-9C2A-2B40639473D5}" destId="{87EA0BB2-B5B9-4D82-99C1-1C1E32895067}" srcOrd="0" destOrd="0" presId="urn:microsoft.com/office/officeart/2005/8/layout/process3#1"/>
    <dgm:cxn modelId="{13D13762-26C0-4B62-893D-832CF1CC0F15}" type="presOf" srcId="{1CFC3FE8-E445-454D-AB74-AD6FBAC7D208}" destId="{8861C09C-A274-43C2-A0BB-092CCACFD99E}" srcOrd="0" destOrd="0" presId="urn:microsoft.com/office/officeart/2005/8/layout/process3#1"/>
    <dgm:cxn modelId="{6B56BE62-4EE8-432F-B5EC-43F8E0F2082E}" type="presOf" srcId="{DD5D1D10-A9FA-4BAF-AED6-2F81D5B9865E}" destId="{BACEB6A8-F6FC-445B-971C-0D03A0E5481E}" srcOrd="1" destOrd="0" presId="urn:microsoft.com/office/officeart/2005/8/layout/process3#1"/>
    <dgm:cxn modelId="{832D4A47-0D27-4E30-8D8C-B247D692392F}" srcId="{353F1FB1-8A33-4AB3-8668-815B83377ADC}" destId="{F437FE22-2A4E-4DA8-8E44-ADDC13525F62}" srcOrd="4" destOrd="0" parTransId="{1543486E-F4F4-4919-AA09-760DB286D6E1}" sibTransId="{4F1590A9-CD30-4F1C-8362-D9B115FFE36B}"/>
    <dgm:cxn modelId="{7E98214E-C7B6-4143-8FEC-74F2AFE54827}" srcId="{353F1FB1-8A33-4AB3-8668-815B83377ADC}" destId="{2A5D45F9-9D3F-4AEC-ABC6-A26F95573768}" srcOrd="1" destOrd="0" parTransId="{FF05C2D6-02B8-42EC-804F-1B70B52CD8D5}" sibTransId="{7B80423C-C7F7-47D3-8296-2952AED1E13D}"/>
    <dgm:cxn modelId="{BD86246F-2B35-48DE-B3D8-CA4DB8C42710}" type="presOf" srcId="{A44A748F-C883-47B6-AC4E-D1DC917FC76A}" destId="{19D8279C-EE1F-453D-B259-62D9D7798ACC}" srcOrd="0" destOrd="0" presId="urn:microsoft.com/office/officeart/2005/8/layout/process3#1"/>
    <dgm:cxn modelId="{3D098150-F2E7-4544-A919-0ACA93C209FD}" type="presOf" srcId="{7B80423C-C7F7-47D3-8296-2952AED1E13D}" destId="{5CDE7DFD-0715-454A-BAEB-9B79921D0805}" srcOrd="0" destOrd="0" presId="urn:microsoft.com/office/officeart/2005/8/layout/process3#1"/>
    <dgm:cxn modelId="{DB68AE54-0031-4B3D-AF1C-077710CB575A}" srcId="{2A5D45F9-9D3F-4AEC-ABC6-A26F95573768}" destId="{B59A012F-8E60-4256-9C2A-2B40639473D5}" srcOrd="0" destOrd="0" parTransId="{5C88A227-248B-4334-BE88-3D63F28CD7C2}" sibTransId="{C354188F-4915-4EF9-9597-FC4A203A92B5}"/>
    <dgm:cxn modelId="{2A341F56-842F-44A0-B3F7-C7683E46CCAC}" type="presOf" srcId="{02B83ABC-ADCF-48F5-807E-355832CD0BB2}" destId="{1BE99290-3F3E-4F0E-8DA9-1C9FF9DB212E}" srcOrd="1" destOrd="0" presId="urn:microsoft.com/office/officeart/2005/8/layout/process3#1"/>
    <dgm:cxn modelId="{31E85656-D3C5-49E6-ADC7-7D5D942C2863}" type="presOf" srcId="{02B83ABC-ADCF-48F5-807E-355832CD0BB2}" destId="{D9D724C4-ED0E-49D8-9571-2D4D9549E739}" srcOrd="0" destOrd="0" presId="urn:microsoft.com/office/officeart/2005/8/layout/process3#1"/>
    <dgm:cxn modelId="{DB34E779-73CC-4977-9F43-2F11664FD9EA}" type="presOf" srcId="{2A5D45F9-9D3F-4AEC-ABC6-A26F95573768}" destId="{31CB403C-2E43-4035-A226-74DB58BD377F}" srcOrd="1" destOrd="0" presId="urn:microsoft.com/office/officeart/2005/8/layout/process3#1"/>
    <dgm:cxn modelId="{CA26F07B-F42A-4BF2-A192-516EE75A3835}" type="presOf" srcId="{DD5D1D10-A9FA-4BAF-AED6-2F81D5B9865E}" destId="{3D43F8C6-D9F0-4541-9C6C-63FBD3BEF702}" srcOrd="0" destOrd="0" presId="urn:microsoft.com/office/officeart/2005/8/layout/process3#1"/>
    <dgm:cxn modelId="{ADCAC685-64C8-43C9-9F3F-268B8491CDD6}" type="presOf" srcId="{B7C5924A-A4AC-4104-B8EE-B7655B43D580}" destId="{808C9B1A-3EBD-4BFB-9053-EE4205657929}" srcOrd="0" destOrd="0" presId="urn:microsoft.com/office/officeart/2005/8/layout/process3#1"/>
    <dgm:cxn modelId="{801C0994-54C9-4087-889A-CEBF48A9FAF1}" type="presOf" srcId="{475696AD-237A-4EC2-903B-B3E18E23CD56}" destId="{936EBF0F-773F-4FB2-8988-12CCB1A7951B}" srcOrd="0" destOrd="0" presId="urn:microsoft.com/office/officeart/2005/8/layout/process3#1"/>
    <dgm:cxn modelId="{0FC2D69A-C368-44F6-BC9A-12E579BEA005}" type="presOf" srcId="{1CFC3FE8-E445-454D-AB74-AD6FBAC7D208}" destId="{DD437AA8-82CB-4FAF-9E59-FD59D75B1F4D}" srcOrd="1" destOrd="0" presId="urn:microsoft.com/office/officeart/2005/8/layout/process3#1"/>
    <dgm:cxn modelId="{7F52E39B-5F8C-43EC-B349-EF02042B9FA5}" srcId="{475696AD-237A-4EC2-903B-B3E18E23CD56}" destId="{A44A748F-C883-47B6-AC4E-D1DC917FC76A}" srcOrd="0" destOrd="0" parTransId="{59340858-EEC6-4920-BD01-A45ED8555F83}" sibTransId="{0E7F4086-6C62-47AC-BEA5-356C357A1C9C}"/>
    <dgm:cxn modelId="{E6B6B3A4-A2DD-4D9F-B8AD-E243145B87B0}" srcId="{F437FE22-2A4E-4DA8-8E44-ADDC13525F62}" destId="{8DD9DBF4-59F6-4444-850D-EE30A75FD029}" srcOrd="0" destOrd="0" parTransId="{BF2E92DA-22C4-405A-9EC7-E6ED8DFE9460}" sibTransId="{FB136015-C5F6-426B-BE06-FBE3C669F4FC}"/>
    <dgm:cxn modelId="{0BCDF3AC-C559-4520-8DC6-FCFFB45AD636}" type="presOf" srcId="{FBACC58F-B695-49E1-9014-F288E3A47991}" destId="{4C63B620-5EFA-4FE9-BD64-BF94647A1046}" srcOrd="0" destOrd="0" presId="urn:microsoft.com/office/officeart/2005/8/layout/process3#1"/>
    <dgm:cxn modelId="{B88A51B1-A52B-46FF-A6F2-17F8186B1A42}" type="presOf" srcId="{38D2EB62-11A6-464C-88A7-632A6C52F11C}" destId="{27A4E6E7-1118-4B88-BD65-D3E90A75DE39}" srcOrd="0" destOrd="0" presId="urn:microsoft.com/office/officeart/2005/8/layout/process3#1"/>
    <dgm:cxn modelId="{916B7EBB-7C34-4A17-9D36-2451B8902473}" srcId="{38D2EB62-11A6-464C-88A7-632A6C52F11C}" destId="{BE6A144A-E616-4820-B3A8-6233C8FC4C1A}" srcOrd="0" destOrd="0" parTransId="{FBCD3357-D0D1-4EE2-9FFF-2C49EAED2B6A}" sibTransId="{2E9D191F-7D83-41C0-95BA-3BFFF6C2E519}"/>
    <dgm:cxn modelId="{0C58ABCF-E90E-45BE-97C6-8CD70EE1C489}" type="presOf" srcId="{353F1FB1-8A33-4AB3-8668-815B83377ADC}" destId="{FD854F1E-4B16-4AD8-926C-35B26F908C22}" srcOrd="0" destOrd="0" presId="urn:microsoft.com/office/officeart/2005/8/layout/process3#1"/>
    <dgm:cxn modelId="{28FEE7E2-F620-4468-8B3F-981E88B610B9}" type="presOf" srcId="{2A5D45F9-9D3F-4AEC-ABC6-A26F95573768}" destId="{13E5ED1F-CAE4-43F1-B86C-8C69FFB6E918}" srcOrd="0" destOrd="0" presId="urn:microsoft.com/office/officeart/2005/8/layout/process3#1"/>
    <dgm:cxn modelId="{97A4B0E4-FD32-462A-844B-33FCE87B646A}" type="presOf" srcId="{FBACC58F-B695-49E1-9014-F288E3A47991}" destId="{36E202FF-4A08-4084-851A-523E35D687F5}" srcOrd="1" destOrd="0" presId="urn:microsoft.com/office/officeart/2005/8/layout/process3#1"/>
    <dgm:cxn modelId="{B17C20E7-811D-4E84-BBDD-8E40F9CAEEE5}" type="presOf" srcId="{F437FE22-2A4E-4DA8-8E44-ADDC13525F62}" destId="{384C34C0-A7E6-4C42-9FBE-168C5811E971}" srcOrd="0" destOrd="0" presId="urn:microsoft.com/office/officeart/2005/8/layout/process3#1"/>
    <dgm:cxn modelId="{922F62E8-E5A5-4083-B724-D251B49FC9BE}" srcId="{353F1FB1-8A33-4AB3-8668-815B83377ADC}" destId="{38D2EB62-11A6-464C-88A7-632A6C52F11C}" srcOrd="2" destOrd="0" parTransId="{35821653-8430-43E6-A42B-03D278E488D6}" sibTransId="{1CFC3FE8-E445-454D-AB74-AD6FBAC7D208}"/>
    <dgm:cxn modelId="{B47151EB-55B2-4B1D-91EF-5F1B503533C3}" type="presOf" srcId="{8DD9DBF4-59F6-4444-850D-EE30A75FD029}" destId="{896CB01B-7FE8-4CFB-A6EE-242EEAA4D67C}" srcOrd="0" destOrd="0" presId="urn:microsoft.com/office/officeart/2005/8/layout/process3#1"/>
    <dgm:cxn modelId="{512EFBF3-4E29-4EA8-B7F1-DBCCFB7E4245}" type="presOf" srcId="{7B80423C-C7F7-47D3-8296-2952AED1E13D}" destId="{C70F623C-91F6-440F-A518-621423F8FA3D}" srcOrd="1" destOrd="0" presId="urn:microsoft.com/office/officeart/2005/8/layout/process3#1"/>
    <dgm:cxn modelId="{1F2D70F7-FE21-4CBB-AECD-D4EB70980273}" type="presOf" srcId="{BE6A144A-E616-4820-B3A8-6233C8FC4C1A}" destId="{F90D12A2-03EC-44BA-89F0-B3AF89AB8763}" srcOrd="0" destOrd="0" presId="urn:microsoft.com/office/officeart/2005/8/layout/process3#1"/>
    <dgm:cxn modelId="{00ED31FD-E964-4F86-A958-5DDFB71D9A4B}" srcId="{DD5D1D10-A9FA-4BAF-AED6-2F81D5B9865E}" destId="{B7C5924A-A4AC-4104-B8EE-B7655B43D580}" srcOrd="0" destOrd="0" parTransId="{55F3164B-FA9E-455A-85C6-DF77A4FBCB4E}" sibTransId="{95E19D4E-AC6B-492E-ABD3-4D3DF035171E}"/>
    <dgm:cxn modelId="{F6891C9C-D1A5-4116-8594-EBAA03D46EB1}" type="presParOf" srcId="{FD854F1E-4B16-4AD8-926C-35B26F908C22}" destId="{AB225018-7D0A-44D9-96AD-FD8B5A2D1755}" srcOrd="0" destOrd="0" presId="urn:microsoft.com/office/officeart/2005/8/layout/process3#1"/>
    <dgm:cxn modelId="{9C83D794-0FA2-4BE1-9F9E-3D24D247F76E}" type="presParOf" srcId="{AB225018-7D0A-44D9-96AD-FD8B5A2D1755}" destId="{936EBF0F-773F-4FB2-8988-12CCB1A7951B}" srcOrd="0" destOrd="0" presId="urn:microsoft.com/office/officeart/2005/8/layout/process3#1"/>
    <dgm:cxn modelId="{4BC7B1E6-8A99-41E1-820A-8502A93EFA94}" type="presParOf" srcId="{AB225018-7D0A-44D9-96AD-FD8B5A2D1755}" destId="{1C233999-7482-4BF2-812C-DBBC3B3F7CB2}" srcOrd="1" destOrd="0" presId="urn:microsoft.com/office/officeart/2005/8/layout/process3#1"/>
    <dgm:cxn modelId="{8678014B-8B3B-48D8-AD12-36CE98956BA1}" type="presParOf" srcId="{AB225018-7D0A-44D9-96AD-FD8B5A2D1755}" destId="{19D8279C-EE1F-453D-B259-62D9D7798ACC}" srcOrd="2" destOrd="0" presId="urn:microsoft.com/office/officeart/2005/8/layout/process3#1"/>
    <dgm:cxn modelId="{4B0D7B60-B6F5-44A1-9F33-615F8E0C62E5}" type="presParOf" srcId="{FD854F1E-4B16-4AD8-926C-35B26F908C22}" destId="{4C63B620-5EFA-4FE9-BD64-BF94647A1046}" srcOrd="1" destOrd="0" presId="urn:microsoft.com/office/officeart/2005/8/layout/process3#1"/>
    <dgm:cxn modelId="{3727A8DA-23C6-4990-A2EE-8BD92B2546C0}" type="presParOf" srcId="{4C63B620-5EFA-4FE9-BD64-BF94647A1046}" destId="{36E202FF-4A08-4084-851A-523E35D687F5}" srcOrd="0" destOrd="0" presId="urn:microsoft.com/office/officeart/2005/8/layout/process3#1"/>
    <dgm:cxn modelId="{742EEF12-0A89-4CE3-9CCA-348E1AFD2045}" type="presParOf" srcId="{FD854F1E-4B16-4AD8-926C-35B26F908C22}" destId="{29090C18-823E-469A-A834-6CFBB89D8C87}" srcOrd="2" destOrd="0" presId="urn:microsoft.com/office/officeart/2005/8/layout/process3#1"/>
    <dgm:cxn modelId="{AEB162E7-D34A-4BAA-9F2C-3C49BB08EA30}" type="presParOf" srcId="{29090C18-823E-469A-A834-6CFBB89D8C87}" destId="{13E5ED1F-CAE4-43F1-B86C-8C69FFB6E918}" srcOrd="0" destOrd="0" presId="urn:microsoft.com/office/officeart/2005/8/layout/process3#1"/>
    <dgm:cxn modelId="{CE6C914A-CB28-4678-8D8E-5A36C6AE98EA}" type="presParOf" srcId="{29090C18-823E-469A-A834-6CFBB89D8C87}" destId="{31CB403C-2E43-4035-A226-74DB58BD377F}" srcOrd="1" destOrd="0" presId="urn:microsoft.com/office/officeart/2005/8/layout/process3#1"/>
    <dgm:cxn modelId="{5987C727-CB18-4D62-A70C-C965EEE97978}" type="presParOf" srcId="{29090C18-823E-469A-A834-6CFBB89D8C87}" destId="{87EA0BB2-B5B9-4D82-99C1-1C1E32895067}" srcOrd="2" destOrd="0" presId="urn:microsoft.com/office/officeart/2005/8/layout/process3#1"/>
    <dgm:cxn modelId="{731C90A1-CA46-49AB-AC39-B8B9BFA95FC0}" type="presParOf" srcId="{FD854F1E-4B16-4AD8-926C-35B26F908C22}" destId="{5CDE7DFD-0715-454A-BAEB-9B79921D0805}" srcOrd="3" destOrd="0" presId="urn:microsoft.com/office/officeart/2005/8/layout/process3#1"/>
    <dgm:cxn modelId="{9EF932EE-0CAD-4C17-B3B7-5B87ECB189C2}" type="presParOf" srcId="{5CDE7DFD-0715-454A-BAEB-9B79921D0805}" destId="{C70F623C-91F6-440F-A518-621423F8FA3D}" srcOrd="0" destOrd="0" presId="urn:microsoft.com/office/officeart/2005/8/layout/process3#1"/>
    <dgm:cxn modelId="{2A8A43B4-41DA-42AC-9ACC-B228470B1290}" type="presParOf" srcId="{FD854F1E-4B16-4AD8-926C-35B26F908C22}" destId="{C4315F12-78F8-4EB0-9EC0-4050617D2B7A}" srcOrd="4" destOrd="0" presId="urn:microsoft.com/office/officeart/2005/8/layout/process3#1"/>
    <dgm:cxn modelId="{3C1493F8-9AAC-4999-AF46-719AA5D9B167}" type="presParOf" srcId="{C4315F12-78F8-4EB0-9EC0-4050617D2B7A}" destId="{27A4E6E7-1118-4B88-BD65-D3E90A75DE39}" srcOrd="0" destOrd="0" presId="urn:microsoft.com/office/officeart/2005/8/layout/process3#1"/>
    <dgm:cxn modelId="{B8BBF054-75A5-4174-A565-3121094BB136}" type="presParOf" srcId="{C4315F12-78F8-4EB0-9EC0-4050617D2B7A}" destId="{CC131274-C4F2-4B58-973D-78DD06321B8C}" srcOrd="1" destOrd="0" presId="urn:microsoft.com/office/officeart/2005/8/layout/process3#1"/>
    <dgm:cxn modelId="{249BE37B-59F5-4F75-899B-2EDA4DB91A07}" type="presParOf" srcId="{C4315F12-78F8-4EB0-9EC0-4050617D2B7A}" destId="{F90D12A2-03EC-44BA-89F0-B3AF89AB8763}" srcOrd="2" destOrd="0" presId="urn:microsoft.com/office/officeart/2005/8/layout/process3#1"/>
    <dgm:cxn modelId="{E18FAEAB-19D8-4AF3-9E5A-7051BAE5A01B}" type="presParOf" srcId="{FD854F1E-4B16-4AD8-926C-35B26F908C22}" destId="{8861C09C-A274-43C2-A0BB-092CCACFD99E}" srcOrd="5" destOrd="0" presId="urn:microsoft.com/office/officeart/2005/8/layout/process3#1"/>
    <dgm:cxn modelId="{55EB2792-8371-4A11-BEBD-B9CB07830C55}" type="presParOf" srcId="{8861C09C-A274-43C2-A0BB-092CCACFD99E}" destId="{DD437AA8-82CB-4FAF-9E59-FD59D75B1F4D}" srcOrd="0" destOrd="0" presId="urn:microsoft.com/office/officeart/2005/8/layout/process3#1"/>
    <dgm:cxn modelId="{34988921-8CC0-4BFC-8F0B-DE95F2D9F68C}" type="presParOf" srcId="{FD854F1E-4B16-4AD8-926C-35B26F908C22}" destId="{7EA1B89B-D592-43D3-B96C-1AA49FD4C96E}" srcOrd="6" destOrd="0" presId="urn:microsoft.com/office/officeart/2005/8/layout/process3#1"/>
    <dgm:cxn modelId="{8B92A378-E3F7-4B33-AEBB-23F8530B75A6}" type="presParOf" srcId="{7EA1B89B-D592-43D3-B96C-1AA49FD4C96E}" destId="{3D43F8C6-D9F0-4541-9C6C-63FBD3BEF702}" srcOrd="0" destOrd="0" presId="urn:microsoft.com/office/officeart/2005/8/layout/process3#1"/>
    <dgm:cxn modelId="{212B2AF8-0E66-4694-9443-50573F71B4E3}" type="presParOf" srcId="{7EA1B89B-D592-43D3-B96C-1AA49FD4C96E}" destId="{BACEB6A8-F6FC-445B-971C-0D03A0E5481E}" srcOrd="1" destOrd="0" presId="urn:microsoft.com/office/officeart/2005/8/layout/process3#1"/>
    <dgm:cxn modelId="{361242E5-1301-4B52-BB33-88E9412F1105}" type="presParOf" srcId="{7EA1B89B-D592-43D3-B96C-1AA49FD4C96E}" destId="{808C9B1A-3EBD-4BFB-9053-EE4205657929}" srcOrd="2" destOrd="0" presId="urn:microsoft.com/office/officeart/2005/8/layout/process3#1"/>
    <dgm:cxn modelId="{67354230-C3CB-49CF-9EB0-9DDE92EC1C80}" type="presParOf" srcId="{FD854F1E-4B16-4AD8-926C-35B26F908C22}" destId="{D9D724C4-ED0E-49D8-9571-2D4D9549E739}" srcOrd="7" destOrd="0" presId="urn:microsoft.com/office/officeart/2005/8/layout/process3#1"/>
    <dgm:cxn modelId="{16AFB8B3-9177-4B1E-9AFF-2275949615FE}" type="presParOf" srcId="{D9D724C4-ED0E-49D8-9571-2D4D9549E739}" destId="{1BE99290-3F3E-4F0E-8DA9-1C9FF9DB212E}" srcOrd="0" destOrd="0" presId="urn:microsoft.com/office/officeart/2005/8/layout/process3#1"/>
    <dgm:cxn modelId="{AB6D467C-B85F-45B8-8780-881B645148DD}" type="presParOf" srcId="{FD854F1E-4B16-4AD8-926C-35B26F908C22}" destId="{32CB957D-673A-4A5F-9C1F-7A1E1B06DF44}" srcOrd="8" destOrd="0" presId="urn:microsoft.com/office/officeart/2005/8/layout/process3#1"/>
    <dgm:cxn modelId="{DB4C830E-2F7B-4EDF-948B-2FE464EBA6BC}" type="presParOf" srcId="{32CB957D-673A-4A5F-9C1F-7A1E1B06DF44}" destId="{384C34C0-A7E6-4C42-9FBE-168C5811E971}" srcOrd="0" destOrd="0" presId="urn:microsoft.com/office/officeart/2005/8/layout/process3#1"/>
    <dgm:cxn modelId="{AA82F742-D584-4EFC-B4F0-2CCF4AAAE8FD}" type="presParOf" srcId="{32CB957D-673A-4A5F-9C1F-7A1E1B06DF44}" destId="{D7E852D1-E609-4EA9-8242-928C132E8067}" srcOrd="1" destOrd="0" presId="urn:microsoft.com/office/officeart/2005/8/layout/process3#1"/>
    <dgm:cxn modelId="{0243B951-379E-42E9-B992-7CC3248706B0}" type="presParOf" srcId="{32CB957D-673A-4A5F-9C1F-7A1E1B06DF44}" destId="{896CB01B-7FE8-4CFB-A6EE-242EEAA4D67C}" srcOrd="2" destOrd="0" presId="urn:microsoft.com/office/officeart/2005/8/layout/process3#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1E25BF-690E-4E75-A080-56F5E9FE0029}" type="doc">
      <dgm:prSet loTypeId="urn:microsoft.com/office/officeart/2005/8/layout/default#1" loCatId="list" qsTypeId="urn:microsoft.com/office/officeart/2005/8/quickstyle/simple2#1" qsCatId="simple" csTypeId="urn:microsoft.com/office/officeart/2005/8/colors/colorful2#2" csCatId="colorful" phldr="1"/>
      <dgm:spPr/>
      <dgm:t>
        <a:bodyPr/>
        <a:lstStyle/>
        <a:p>
          <a:endParaRPr lang="en-AU"/>
        </a:p>
      </dgm:t>
    </dgm:pt>
    <dgm:pt modelId="{B00443F0-9084-4A66-8DEC-E34B9F60A344}">
      <dgm:prSet phldrT="[Text]"/>
      <dgm:spPr/>
      <dgm:t>
        <a:bodyPr/>
        <a:lstStyle/>
        <a:p>
          <a:r>
            <a:rPr lang="en-AU" dirty="0"/>
            <a:t>An existing market</a:t>
          </a:r>
        </a:p>
      </dgm:t>
    </dgm:pt>
    <dgm:pt modelId="{09DC89D0-242B-4848-8DA4-2A5B30CC00C1}" type="parTrans" cxnId="{69B1080C-B4E4-474D-84B2-6B3EEC22F3C1}">
      <dgm:prSet/>
      <dgm:spPr/>
      <dgm:t>
        <a:bodyPr/>
        <a:lstStyle/>
        <a:p>
          <a:endParaRPr lang="en-AU"/>
        </a:p>
      </dgm:t>
    </dgm:pt>
    <dgm:pt modelId="{B95AA72C-8F20-488A-8C14-15620015DDAD}" type="sibTrans" cxnId="{69B1080C-B4E4-474D-84B2-6B3EEC22F3C1}">
      <dgm:prSet/>
      <dgm:spPr/>
      <dgm:t>
        <a:bodyPr/>
        <a:lstStyle/>
        <a:p>
          <a:endParaRPr lang="en-AU"/>
        </a:p>
      </dgm:t>
    </dgm:pt>
    <dgm:pt modelId="{31C492BC-8799-4C79-A60D-888DB3A05ABF}">
      <dgm:prSet phldrT="[Text]"/>
      <dgm:spPr/>
      <dgm:t>
        <a:bodyPr/>
        <a:lstStyle/>
        <a:p>
          <a:r>
            <a:rPr lang="en-AU" dirty="0"/>
            <a:t>A related market</a:t>
          </a:r>
        </a:p>
      </dgm:t>
    </dgm:pt>
    <dgm:pt modelId="{60D99B14-40EA-4194-9755-A930FE51E4AB}" type="parTrans" cxnId="{6E7C4B7F-D5BB-47A9-9E50-01F46B25963E}">
      <dgm:prSet/>
      <dgm:spPr/>
      <dgm:t>
        <a:bodyPr/>
        <a:lstStyle/>
        <a:p>
          <a:endParaRPr lang="en-AU"/>
        </a:p>
      </dgm:t>
    </dgm:pt>
    <dgm:pt modelId="{5EEAE4DF-0BC5-459B-B071-33BA733F2C2D}" type="sibTrans" cxnId="{6E7C4B7F-D5BB-47A9-9E50-01F46B25963E}">
      <dgm:prSet/>
      <dgm:spPr/>
      <dgm:t>
        <a:bodyPr/>
        <a:lstStyle/>
        <a:p>
          <a:endParaRPr lang="en-AU"/>
        </a:p>
      </dgm:t>
    </dgm:pt>
    <dgm:pt modelId="{58EED314-76E8-4D8A-AC67-824257FBA720}">
      <dgm:prSet phldrT="[Text]"/>
      <dgm:spPr/>
      <dgm:t>
        <a:bodyPr/>
        <a:lstStyle/>
        <a:p>
          <a:r>
            <a:rPr lang="en-AU" dirty="0"/>
            <a:t>A new market</a:t>
          </a:r>
        </a:p>
      </dgm:t>
    </dgm:pt>
    <dgm:pt modelId="{24F18C81-DC6C-47E4-A258-2EEC8847B1BF}" type="parTrans" cxnId="{3E26C1F6-A81A-4119-BFC1-35699574555F}">
      <dgm:prSet/>
      <dgm:spPr/>
      <dgm:t>
        <a:bodyPr/>
        <a:lstStyle/>
        <a:p>
          <a:endParaRPr lang="en-AU"/>
        </a:p>
      </dgm:t>
    </dgm:pt>
    <dgm:pt modelId="{B2A59A41-2D97-4595-8769-1051284871B1}" type="sibTrans" cxnId="{3E26C1F6-A81A-4119-BFC1-35699574555F}">
      <dgm:prSet/>
      <dgm:spPr/>
      <dgm:t>
        <a:bodyPr/>
        <a:lstStyle/>
        <a:p>
          <a:endParaRPr lang="en-AU"/>
        </a:p>
      </dgm:t>
    </dgm:pt>
    <dgm:pt modelId="{1D48F638-EC36-4BE1-A932-B23FB6B1D273}" type="pres">
      <dgm:prSet presAssocID="{701E25BF-690E-4E75-A080-56F5E9FE0029}" presName="diagram" presStyleCnt="0">
        <dgm:presLayoutVars>
          <dgm:dir/>
          <dgm:resizeHandles val="exact"/>
        </dgm:presLayoutVars>
      </dgm:prSet>
      <dgm:spPr/>
    </dgm:pt>
    <dgm:pt modelId="{AD8CA095-8A57-47AC-8B0C-FAE3B96EF853}" type="pres">
      <dgm:prSet presAssocID="{B00443F0-9084-4A66-8DEC-E34B9F60A344}" presName="node" presStyleLbl="node1" presStyleIdx="0" presStyleCnt="3">
        <dgm:presLayoutVars>
          <dgm:bulletEnabled val="1"/>
        </dgm:presLayoutVars>
      </dgm:prSet>
      <dgm:spPr/>
    </dgm:pt>
    <dgm:pt modelId="{CB5F5811-7C9A-4DAB-8649-F020B2F69F48}" type="pres">
      <dgm:prSet presAssocID="{B95AA72C-8F20-488A-8C14-15620015DDAD}" presName="sibTrans" presStyleCnt="0"/>
      <dgm:spPr/>
    </dgm:pt>
    <dgm:pt modelId="{94ACB885-866D-40B0-8D90-509321F056EA}" type="pres">
      <dgm:prSet presAssocID="{31C492BC-8799-4C79-A60D-888DB3A05ABF}" presName="node" presStyleLbl="node1" presStyleIdx="1" presStyleCnt="3">
        <dgm:presLayoutVars>
          <dgm:bulletEnabled val="1"/>
        </dgm:presLayoutVars>
      </dgm:prSet>
      <dgm:spPr/>
    </dgm:pt>
    <dgm:pt modelId="{4A4268C3-2112-45D0-8D7A-37C757A15E89}" type="pres">
      <dgm:prSet presAssocID="{5EEAE4DF-0BC5-459B-B071-33BA733F2C2D}" presName="sibTrans" presStyleCnt="0"/>
      <dgm:spPr/>
    </dgm:pt>
    <dgm:pt modelId="{E984D409-02A9-4355-B555-457F05CEC009}" type="pres">
      <dgm:prSet presAssocID="{58EED314-76E8-4D8A-AC67-824257FBA720}" presName="node" presStyleLbl="node1" presStyleIdx="2" presStyleCnt="3">
        <dgm:presLayoutVars>
          <dgm:bulletEnabled val="1"/>
        </dgm:presLayoutVars>
      </dgm:prSet>
      <dgm:spPr/>
    </dgm:pt>
  </dgm:ptLst>
  <dgm:cxnLst>
    <dgm:cxn modelId="{69B1080C-B4E4-474D-84B2-6B3EEC22F3C1}" srcId="{701E25BF-690E-4E75-A080-56F5E9FE0029}" destId="{B00443F0-9084-4A66-8DEC-E34B9F60A344}" srcOrd="0" destOrd="0" parTransId="{09DC89D0-242B-4848-8DA4-2A5B30CC00C1}" sibTransId="{B95AA72C-8F20-488A-8C14-15620015DDAD}"/>
    <dgm:cxn modelId="{0E343153-9318-40DD-95D6-2E5B0F64DA61}" type="presOf" srcId="{B00443F0-9084-4A66-8DEC-E34B9F60A344}" destId="{AD8CA095-8A57-47AC-8B0C-FAE3B96EF853}" srcOrd="0" destOrd="0" presId="urn:microsoft.com/office/officeart/2005/8/layout/default#1"/>
    <dgm:cxn modelId="{6E7C4B7F-D5BB-47A9-9E50-01F46B25963E}" srcId="{701E25BF-690E-4E75-A080-56F5E9FE0029}" destId="{31C492BC-8799-4C79-A60D-888DB3A05ABF}" srcOrd="1" destOrd="0" parTransId="{60D99B14-40EA-4194-9755-A930FE51E4AB}" sibTransId="{5EEAE4DF-0BC5-459B-B071-33BA733F2C2D}"/>
    <dgm:cxn modelId="{21C9199A-957B-4BB6-9CFC-4FDB94A0A9D6}" type="presOf" srcId="{701E25BF-690E-4E75-A080-56F5E9FE0029}" destId="{1D48F638-EC36-4BE1-A932-B23FB6B1D273}" srcOrd="0" destOrd="0" presId="urn:microsoft.com/office/officeart/2005/8/layout/default#1"/>
    <dgm:cxn modelId="{01FC18B6-2244-4FDB-845C-D566F76F2559}" type="presOf" srcId="{58EED314-76E8-4D8A-AC67-824257FBA720}" destId="{E984D409-02A9-4355-B555-457F05CEC009}" srcOrd="0" destOrd="0" presId="urn:microsoft.com/office/officeart/2005/8/layout/default#1"/>
    <dgm:cxn modelId="{28DAABEA-AF18-4464-B143-0B82248B32E8}" type="presOf" srcId="{31C492BC-8799-4C79-A60D-888DB3A05ABF}" destId="{94ACB885-866D-40B0-8D90-509321F056EA}" srcOrd="0" destOrd="0" presId="urn:microsoft.com/office/officeart/2005/8/layout/default#1"/>
    <dgm:cxn modelId="{3E26C1F6-A81A-4119-BFC1-35699574555F}" srcId="{701E25BF-690E-4E75-A080-56F5E9FE0029}" destId="{58EED314-76E8-4D8A-AC67-824257FBA720}" srcOrd="2" destOrd="0" parTransId="{24F18C81-DC6C-47E4-A258-2EEC8847B1BF}" sibTransId="{B2A59A41-2D97-4595-8769-1051284871B1}"/>
    <dgm:cxn modelId="{6F540D15-9753-46E1-9643-1AE1D84EFBF3}" type="presParOf" srcId="{1D48F638-EC36-4BE1-A932-B23FB6B1D273}" destId="{AD8CA095-8A57-47AC-8B0C-FAE3B96EF853}" srcOrd="0" destOrd="0" presId="urn:microsoft.com/office/officeart/2005/8/layout/default#1"/>
    <dgm:cxn modelId="{49524AB8-6691-45D1-8C0C-E68F63B6B822}" type="presParOf" srcId="{1D48F638-EC36-4BE1-A932-B23FB6B1D273}" destId="{CB5F5811-7C9A-4DAB-8649-F020B2F69F48}" srcOrd="1" destOrd="0" presId="urn:microsoft.com/office/officeart/2005/8/layout/default#1"/>
    <dgm:cxn modelId="{0716BE40-D362-475D-8E77-9CB018FAF72D}" type="presParOf" srcId="{1D48F638-EC36-4BE1-A932-B23FB6B1D273}" destId="{94ACB885-866D-40B0-8D90-509321F056EA}" srcOrd="2" destOrd="0" presId="urn:microsoft.com/office/officeart/2005/8/layout/default#1"/>
    <dgm:cxn modelId="{D405631E-2F38-415E-8827-63B37AB9D722}" type="presParOf" srcId="{1D48F638-EC36-4BE1-A932-B23FB6B1D273}" destId="{4A4268C3-2112-45D0-8D7A-37C757A15E89}" srcOrd="3" destOrd="0" presId="urn:microsoft.com/office/officeart/2005/8/layout/default#1"/>
    <dgm:cxn modelId="{9AD28217-C956-4DAB-B43E-E9ACBB435777}" type="presParOf" srcId="{1D48F638-EC36-4BE1-A932-B23FB6B1D273}" destId="{E984D409-02A9-4355-B555-457F05CEC009}" srcOrd="4"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EC4D796-6EB6-4209-B481-98CCCE53C354}"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1694524C-D600-445F-B663-BB9F4DB896DD}">
      <dgm:prSet phldrT="[Text]"/>
      <dgm:spPr>
        <a:solidFill>
          <a:srgbClr val="00B0F0"/>
        </a:solidFill>
      </dgm:spPr>
      <dgm:t>
        <a:bodyPr/>
        <a:lstStyle/>
        <a:p>
          <a:r>
            <a:rPr lang="en-US" dirty="0"/>
            <a:t>Identifying a set of differentiating competitive advantages</a:t>
          </a:r>
        </a:p>
      </dgm:t>
    </dgm:pt>
    <dgm:pt modelId="{4BC2EBB5-C0EE-4507-AF03-D4D473F0A9E1}" type="parTrans" cxnId="{0395D90A-6A9A-4E1F-B334-180C687CBA07}">
      <dgm:prSet/>
      <dgm:spPr/>
      <dgm:t>
        <a:bodyPr/>
        <a:lstStyle/>
        <a:p>
          <a:endParaRPr lang="en-US"/>
        </a:p>
      </dgm:t>
    </dgm:pt>
    <dgm:pt modelId="{F16810CD-EA43-496A-B50F-156F7187FDC7}" type="sibTrans" cxnId="{0395D90A-6A9A-4E1F-B334-180C687CBA07}">
      <dgm:prSet/>
      <dgm:spPr>
        <a:ln>
          <a:solidFill>
            <a:srgbClr val="002060">
              <a:alpha val="90000"/>
            </a:srgbClr>
          </a:solidFill>
        </a:ln>
      </dgm:spPr>
      <dgm:t>
        <a:bodyPr/>
        <a:lstStyle/>
        <a:p>
          <a:endParaRPr lang="en-US"/>
        </a:p>
      </dgm:t>
    </dgm:pt>
    <dgm:pt modelId="{C8271097-7C7A-4E3F-8432-1EEB44C1CE80}">
      <dgm:prSet phldrT="[Text]"/>
      <dgm:spPr>
        <a:solidFill>
          <a:srgbClr val="00B050"/>
        </a:solidFill>
      </dgm:spPr>
      <dgm:t>
        <a:bodyPr/>
        <a:lstStyle/>
        <a:p>
          <a:r>
            <a:rPr lang="en-US" dirty="0"/>
            <a:t>Choosing the right competitive advantages</a:t>
          </a:r>
        </a:p>
      </dgm:t>
    </dgm:pt>
    <dgm:pt modelId="{22B08996-C1AA-4016-8F29-86BCB3181377}" type="parTrans" cxnId="{4E80A113-FC70-45EF-A858-62E076816E37}">
      <dgm:prSet/>
      <dgm:spPr/>
      <dgm:t>
        <a:bodyPr/>
        <a:lstStyle/>
        <a:p>
          <a:endParaRPr lang="en-US"/>
        </a:p>
      </dgm:t>
    </dgm:pt>
    <dgm:pt modelId="{DD4D139B-C0C3-45DB-BF1A-A25DB2D0A0F3}" type="sibTrans" cxnId="{4E80A113-FC70-45EF-A858-62E076816E37}">
      <dgm:prSet/>
      <dgm:spPr>
        <a:ln>
          <a:solidFill>
            <a:srgbClr val="002060">
              <a:alpha val="90000"/>
            </a:srgbClr>
          </a:solidFill>
        </a:ln>
      </dgm:spPr>
      <dgm:t>
        <a:bodyPr/>
        <a:lstStyle/>
        <a:p>
          <a:endParaRPr lang="en-US"/>
        </a:p>
      </dgm:t>
    </dgm:pt>
    <dgm:pt modelId="{B0CA767E-363E-4DA0-A7D2-7F8DFF447734}">
      <dgm:prSet phldrT="[Text]"/>
      <dgm:spPr>
        <a:solidFill>
          <a:srgbClr val="F030BE"/>
        </a:solidFill>
      </dgm:spPr>
      <dgm:t>
        <a:bodyPr/>
        <a:lstStyle/>
        <a:p>
          <a:r>
            <a:rPr lang="en-US" dirty="0"/>
            <a:t>Developing a positioning statement</a:t>
          </a:r>
        </a:p>
      </dgm:t>
    </dgm:pt>
    <dgm:pt modelId="{1AF72C8F-DFAE-45F0-A9D3-4A8989BB8E8E}" type="parTrans" cxnId="{DBBB3B4C-1CA0-40B2-9B1E-CD0CBCA6210C}">
      <dgm:prSet/>
      <dgm:spPr/>
      <dgm:t>
        <a:bodyPr/>
        <a:lstStyle/>
        <a:p>
          <a:endParaRPr lang="en-US"/>
        </a:p>
      </dgm:t>
    </dgm:pt>
    <dgm:pt modelId="{094BE826-518A-44D1-8DA6-EB7650661414}" type="sibTrans" cxnId="{DBBB3B4C-1CA0-40B2-9B1E-CD0CBCA6210C}">
      <dgm:prSet/>
      <dgm:spPr>
        <a:ln>
          <a:solidFill>
            <a:srgbClr val="002060">
              <a:alpha val="90000"/>
            </a:srgbClr>
          </a:solidFill>
        </a:ln>
      </dgm:spPr>
      <dgm:t>
        <a:bodyPr/>
        <a:lstStyle/>
        <a:p>
          <a:endParaRPr lang="en-US"/>
        </a:p>
      </dgm:t>
    </dgm:pt>
    <dgm:pt modelId="{F67EDC8E-5B05-40D4-BFB6-04548125C639}">
      <dgm:prSet phldrT="[Text]"/>
      <dgm:spPr>
        <a:solidFill>
          <a:srgbClr val="002060"/>
        </a:solidFill>
      </dgm:spPr>
      <dgm:t>
        <a:bodyPr/>
        <a:lstStyle/>
        <a:p>
          <a:r>
            <a:rPr lang="en-US" dirty="0"/>
            <a:t>Selecting an overall positioning strategy</a:t>
          </a:r>
        </a:p>
      </dgm:t>
    </dgm:pt>
    <dgm:pt modelId="{C1D67B3A-0A0A-4933-86E5-4FDFF328B15B}" type="parTrans" cxnId="{318306E0-5247-4FDA-BADF-5D115D343A98}">
      <dgm:prSet/>
      <dgm:spPr/>
      <dgm:t>
        <a:bodyPr/>
        <a:lstStyle/>
        <a:p>
          <a:endParaRPr lang="en-AU"/>
        </a:p>
      </dgm:t>
    </dgm:pt>
    <dgm:pt modelId="{24842947-33CF-4CFB-9FE1-74EE6F81F980}" type="sibTrans" cxnId="{318306E0-5247-4FDA-BADF-5D115D343A98}">
      <dgm:prSet/>
      <dgm:spPr/>
      <dgm:t>
        <a:bodyPr/>
        <a:lstStyle/>
        <a:p>
          <a:endParaRPr lang="en-AU"/>
        </a:p>
      </dgm:t>
    </dgm:pt>
    <dgm:pt modelId="{019A3D9E-C2DD-491F-B695-C7F65C75F913}" type="pres">
      <dgm:prSet presAssocID="{FEC4D796-6EB6-4209-B481-98CCCE53C354}" presName="outerComposite" presStyleCnt="0">
        <dgm:presLayoutVars>
          <dgm:chMax val="5"/>
          <dgm:dir/>
          <dgm:resizeHandles val="exact"/>
        </dgm:presLayoutVars>
      </dgm:prSet>
      <dgm:spPr/>
    </dgm:pt>
    <dgm:pt modelId="{8CB4AAAE-2BEB-4E36-A189-AC964AF7DF71}" type="pres">
      <dgm:prSet presAssocID="{FEC4D796-6EB6-4209-B481-98CCCE53C354}" presName="dummyMaxCanvas" presStyleCnt="0">
        <dgm:presLayoutVars/>
      </dgm:prSet>
      <dgm:spPr/>
    </dgm:pt>
    <dgm:pt modelId="{A0FC8338-52F1-492E-BAAC-E7A77134535D}" type="pres">
      <dgm:prSet presAssocID="{FEC4D796-6EB6-4209-B481-98CCCE53C354}" presName="FourNodes_1" presStyleLbl="node1" presStyleIdx="0" presStyleCnt="4">
        <dgm:presLayoutVars>
          <dgm:bulletEnabled val="1"/>
        </dgm:presLayoutVars>
      </dgm:prSet>
      <dgm:spPr/>
    </dgm:pt>
    <dgm:pt modelId="{5072312A-8D29-4EF0-86BD-97B608D7AB4E}" type="pres">
      <dgm:prSet presAssocID="{FEC4D796-6EB6-4209-B481-98CCCE53C354}" presName="FourNodes_2" presStyleLbl="node1" presStyleIdx="1" presStyleCnt="4">
        <dgm:presLayoutVars>
          <dgm:bulletEnabled val="1"/>
        </dgm:presLayoutVars>
      </dgm:prSet>
      <dgm:spPr/>
    </dgm:pt>
    <dgm:pt modelId="{F6072388-0917-4206-971E-6C4376733011}" type="pres">
      <dgm:prSet presAssocID="{FEC4D796-6EB6-4209-B481-98CCCE53C354}" presName="FourNodes_3" presStyleLbl="node1" presStyleIdx="2" presStyleCnt="4">
        <dgm:presLayoutVars>
          <dgm:bulletEnabled val="1"/>
        </dgm:presLayoutVars>
      </dgm:prSet>
      <dgm:spPr/>
    </dgm:pt>
    <dgm:pt modelId="{162A9407-020D-4442-8D7A-A8C63615EB87}" type="pres">
      <dgm:prSet presAssocID="{FEC4D796-6EB6-4209-B481-98CCCE53C354}" presName="FourNodes_4" presStyleLbl="node1" presStyleIdx="3" presStyleCnt="4">
        <dgm:presLayoutVars>
          <dgm:bulletEnabled val="1"/>
        </dgm:presLayoutVars>
      </dgm:prSet>
      <dgm:spPr/>
    </dgm:pt>
    <dgm:pt modelId="{A7B8954D-93B3-40B3-B0D4-BAAF3F1703E9}" type="pres">
      <dgm:prSet presAssocID="{FEC4D796-6EB6-4209-B481-98CCCE53C354}" presName="FourConn_1-2" presStyleLbl="fgAccFollowNode1" presStyleIdx="0" presStyleCnt="3">
        <dgm:presLayoutVars>
          <dgm:bulletEnabled val="1"/>
        </dgm:presLayoutVars>
      </dgm:prSet>
      <dgm:spPr/>
    </dgm:pt>
    <dgm:pt modelId="{43336C27-F611-408F-AEBE-FDF35617B2D9}" type="pres">
      <dgm:prSet presAssocID="{FEC4D796-6EB6-4209-B481-98CCCE53C354}" presName="FourConn_2-3" presStyleLbl="fgAccFollowNode1" presStyleIdx="1" presStyleCnt="3">
        <dgm:presLayoutVars>
          <dgm:bulletEnabled val="1"/>
        </dgm:presLayoutVars>
      </dgm:prSet>
      <dgm:spPr/>
    </dgm:pt>
    <dgm:pt modelId="{4D9E599C-CC15-4BF3-BA13-9DBDC7B900F2}" type="pres">
      <dgm:prSet presAssocID="{FEC4D796-6EB6-4209-B481-98CCCE53C354}" presName="FourConn_3-4" presStyleLbl="fgAccFollowNode1" presStyleIdx="2" presStyleCnt="3">
        <dgm:presLayoutVars>
          <dgm:bulletEnabled val="1"/>
        </dgm:presLayoutVars>
      </dgm:prSet>
      <dgm:spPr/>
    </dgm:pt>
    <dgm:pt modelId="{B5E6266C-C183-4C3C-AEA1-F3CE8D514C4F}" type="pres">
      <dgm:prSet presAssocID="{FEC4D796-6EB6-4209-B481-98CCCE53C354}" presName="FourNodes_1_text" presStyleLbl="node1" presStyleIdx="3" presStyleCnt="4">
        <dgm:presLayoutVars>
          <dgm:bulletEnabled val="1"/>
        </dgm:presLayoutVars>
      </dgm:prSet>
      <dgm:spPr/>
    </dgm:pt>
    <dgm:pt modelId="{05BBD1EF-B8DA-45EC-8B48-3074EF82DF07}" type="pres">
      <dgm:prSet presAssocID="{FEC4D796-6EB6-4209-B481-98CCCE53C354}" presName="FourNodes_2_text" presStyleLbl="node1" presStyleIdx="3" presStyleCnt="4">
        <dgm:presLayoutVars>
          <dgm:bulletEnabled val="1"/>
        </dgm:presLayoutVars>
      </dgm:prSet>
      <dgm:spPr/>
    </dgm:pt>
    <dgm:pt modelId="{2640CB99-4ED0-42B7-B103-033234DCBA01}" type="pres">
      <dgm:prSet presAssocID="{FEC4D796-6EB6-4209-B481-98CCCE53C354}" presName="FourNodes_3_text" presStyleLbl="node1" presStyleIdx="3" presStyleCnt="4">
        <dgm:presLayoutVars>
          <dgm:bulletEnabled val="1"/>
        </dgm:presLayoutVars>
      </dgm:prSet>
      <dgm:spPr/>
    </dgm:pt>
    <dgm:pt modelId="{79C66E14-B0B1-434A-8F62-6B684605D39F}" type="pres">
      <dgm:prSet presAssocID="{FEC4D796-6EB6-4209-B481-98CCCE53C354}" presName="FourNodes_4_text" presStyleLbl="node1" presStyleIdx="3" presStyleCnt="4">
        <dgm:presLayoutVars>
          <dgm:bulletEnabled val="1"/>
        </dgm:presLayoutVars>
      </dgm:prSet>
      <dgm:spPr/>
    </dgm:pt>
  </dgm:ptLst>
  <dgm:cxnLst>
    <dgm:cxn modelId="{0395D90A-6A9A-4E1F-B334-180C687CBA07}" srcId="{FEC4D796-6EB6-4209-B481-98CCCE53C354}" destId="{1694524C-D600-445F-B663-BB9F4DB896DD}" srcOrd="0" destOrd="0" parTransId="{4BC2EBB5-C0EE-4507-AF03-D4D473F0A9E1}" sibTransId="{F16810CD-EA43-496A-B50F-156F7187FDC7}"/>
    <dgm:cxn modelId="{4E80A113-FC70-45EF-A858-62E076816E37}" srcId="{FEC4D796-6EB6-4209-B481-98CCCE53C354}" destId="{C8271097-7C7A-4E3F-8432-1EEB44C1CE80}" srcOrd="1" destOrd="0" parTransId="{22B08996-C1AA-4016-8F29-86BCB3181377}" sibTransId="{DD4D139B-C0C3-45DB-BF1A-A25DB2D0A0F3}"/>
    <dgm:cxn modelId="{B3E50F14-0C57-4E94-98EB-CCBE2C276D28}" type="presOf" srcId="{C8271097-7C7A-4E3F-8432-1EEB44C1CE80}" destId="{5072312A-8D29-4EF0-86BD-97B608D7AB4E}" srcOrd="0" destOrd="0" presId="urn:microsoft.com/office/officeart/2005/8/layout/vProcess5"/>
    <dgm:cxn modelId="{28C0C023-6F9D-48DC-B2FE-5DFEC919B0B6}" type="presOf" srcId="{C8271097-7C7A-4E3F-8432-1EEB44C1CE80}" destId="{05BBD1EF-B8DA-45EC-8B48-3074EF82DF07}" srcOrd="1" destOrd="0" presId="urn:microsoft.com/office/officeart/2005/8/layout/vProcess5"/>
    <dgm:cxn modelId="{359F4B39-CD26-476B-880D-00ED35B1C5FB}" type="presOf" srcId="{1694524C-D600-445F-B663-BB9F4DB896DD}" destId="{A0FC8338-52F1-492E-BAAC-E7A77134535D}" srcOrd="0" destOrd="0" presId="urn:microsoft.com/office/officeart/2005/8/layout/vProcess5"/>
    <dgm:cxn modelId="{D5F96662-FB76-4CE3-A4A0-7D5BBF3A48DF}" type="presOf" srcId="{1694524C-D600-445F-B663-BB9F4DB896DD}" destId="{B5E6266C-C183-4C3C-AEA1-F3CE8D514C4F}" srcOrd="1" destOrd="0" presId="urn:microsoft.com/office/officeart/2005/8/layout/vProcess5"/>
    <dgm:cxn modelId="{95DC1344-E8AA-41CA-8F07-F5EEDA913B0A}" type="presOf" srcId="{DD4D139B-C0C3-45DB-BF1A-A25DB2D0A0F3}" destId="{43336C27-F611-408F-AEBE-FDF35617B2D9}" srcOrd="0" destOrd="0" presId="urn:microsoft.com/office/officeart/2005/8/layout/vProcess5"/>
    <dgm:cxn modelId="{DBBB3B4C-1CA0-40B2-9B1E-CD0CBCA6210C}" srcId="{FEC4D796-6EB6-4209-B481-98CCCE53C354}" destId="{B0CA767E-363E-4DA0-A7D2-7F8DFF447734}" srcOrd="2" destOrd="0" parTransId="{1AF72C8F-DFAE-45F0-A9D3-4A8989BB8E8E}" sibTransId="{094BE826-518A-44D1-8DA6-EB7650661414}"/>
    <dgm:cxn modelId="{A4967E72-2E0D-42A2-8931-1BF5DF572B6D}" type="presOf" srcId="{094BE826-518A-44D1-8DA6-EB7650661414}" destId="{4D9E599C-CC15-4BF3-BA13-9DBDC7B900F2}" srcOrd="0" destOrd="0" presId="urn:microsoft.com/office/officeart/2005/8/layout/vProcess5"/>
    <dgm:cxn modelId="{EB6A1C93-D6A4-42E8-974E-4859CE92CC8C}" type="presOf" srcId="{B0CA767E-363E-4DA0-A7D2-7F8DFF447734}" destId="{2640CB99-4ED0-42B7-B103-033234DCBA01}" srcOrd="1" destOrd="0" presId="urn:microsoft.com/office/officeart/2005/8/layout/vProcess5"/>
    <dgm:cxn modelId="{460B99BA-AEA0-4F35-B7A5-4FE2263DB6D2}" type="presOf" srcId="{F67EDC8E-5B05-40D4-BFB6-04548125C639}" destId="{162A9407-020D-4442-8D7A-A8C63615EB87}" srcOrd="0" destOrd="0" presId="urn:microsoft.com/office/officeart/2005/8/layout/vProcess5"/>
    <dgm:cxn modelId="{C6FCB2C8-4089-4987-A0FE-21877A58923D}" type="presOf" srcId="{F16810CD-EA43-496A-B50F-156F7187FDC7}" destId="{A7B8954D-93B3-40B3-B0D4-BAAF3F1703E9}" srcOrd="0" destOrd="0" presId="urn:microsoft.com/office/officeart/2005/8/layout/vProcess5"/>
    <dgm:cxn modelId="{4FE20CCD-E079-46E9-9C75-43E87B6D7CEF}" type="presOf" srcId="{B0CA767E-363E-4DA0-A7D2-7F8DFF447734}" destId="{F6072388-0917-4206-971E-6C4376733011}" srcOrd="0" destOrd="0" presId="urn:microsoft.com/office/officeart/2005/8/layout/vProcess5"/>
    <dgm:cxn modelId="{A44801D3-04FC-41E4-9963-025E421EC290}" type="presOf" srcId="{FEC4D796-6EB6-4209-B481-98CCCE53C354}" destId="{019A3D9E-C2DD-491F-B695-C7F65C75F913}" srcOrd="0" destOrd="0" presId="urn:microsoft.com/office/officeart/2005/8/layout/vProcess5"/>
    <dgm:cxn modelId="{CD682FDA-1C11-42C3-B14B-DD94F19FBADA}" type="presOf" srcId="{F67EDC8E-5B05-40D4-BFB6-04548125C639}" destId="{79C66E14-B0B1-434A-8F62-6B684605D39F}" srcOrd="1" destOrd="0" presId="urn:microsoft.com/office/officeart/2005/8/layout/vProcess5"/>
    <dgm:cxn modelId="{318306E0-5247-4FDA-BADF-5D115D343A98}" srcId="{FEC4D796-6EB6-4209-B481-98CCCE53C354}" destId="{F67EDC8E-5B05-40D4-BFB6-04548125C639}" srcOrd="3" destOrd="0" parTransId="{C1D67B3A-0A0A-4933-86E5-4FDFF328B15B}" sibTransId="{24842947-33CF-4CFB-9FE1-74EE6F81F980}"/>
    <dgm:cxn modelId="{223C8C7F-6D9A-4B87-B3A4-68C85E0E9CD9}" type="presParOf" srcId="{019A3D9E-C2DD-491F-B695-C7F65C75F913}" destId="{8CB4AAAE-2BEB-4E36-A189-AC964AF7DF71}" srcOrd="0" destOrd="0" presId="urn:microsoft.com/office/officeart/2005/8/layout/vProcess5"/>
    <dgm:cxn modelId="{B532F319-2241-4A46-9FA9-62F95670C3C3}" type="presParOf" srcId="{019A3D9E-C2DD-491F-B695-C7F65C75F913}" destId="{A0FC8338-52F1-492E-BAAC-E7A77134535D}" srcOrd="1" destOrd="0" presId="urn:microsoft.com/office/officeart/2005/8/layout/vProcess5"/>
    <dgm:cxn modelId="{1C6D57CC-A2B6-4B46-8CDF-BFC207545D4C}" type="presParOf" srcId="{019A3D9E-C2DD-491F-B695-C7F65C75F913}" destId="{5072312A-8D29-4EF0-86BD-97B608D7AB4E}" srcOrd="2" destOrd="0" presId="urn:microsoft.com/office/officeart/2005/8/layout/vProcess5"/>
    <dgm:cxn modelId="{CDAE8A73-AC8C-4FB0-8EF4-16405ADFF8AD}" type="presParOf" srcId="{019A3D9E-C2DD-491F-B695-C7F65C75F913}" destId="{F6072388-0917-4206-971E-6C4376733011}" srcOrd="3" destOrd="0" presId="urn:microsoft.com/office/officeart/2005/8/layout/vProcess5"/>
    <dgm:cxn modelId="{9DC2A1D4-9B88-4D69-A9C0-B462145CA068}" type="presParOf" srcId="{019A3D9E-C2DD-491F-B695-C7F65C75F913}" destId="{162A9407-020D-4442-8D7A-A8C63615EB87}" srcOrd="4" destOrd="0" presId="urn:microsoft.com/office/officeart/2005/8/layout/vProcess5"/>
    <dgm:cxn modelId="{F3967F46-1424-4FA7-A037-26B45FFE3CCF}" type="presParOf" srcId="{019A3D9E-C2DD-491F-B695-C7F65C75F913}" destId="{A7B8954D-93B3-40B3-B0D4-BAAF3F1703E9}" srcOrd="5" destOrd="0" presId="urn:microsoft.com/office/officeart/2005/8/layout/vProcess5"/>
    <dgm:cxn modelId="{757E1474-A132-45E2-805A-D81A77515FE9}" type="presParOf" srcId="{019A3D9E-C2DD-491F-B695-C7F65C75F913}" destId="{43336C27-F611-408F-AEBE-FDF35617B2D9}" srcOrd="6" destOrd="0" presId="urn:microsoft.com/office/officeart/2005/8/layout/vProcess5"/>
    <dgm:cxn modelId="{55B4B912-DA90-4A54-A5E9-2646CEC98B4F}" type="presParOf" srcId="{019A3D9E-C2DD-491F-B695-C7F65C75F913}" destId="{4D9E599C-CC15-4BF3-BA13-9DBDC7B900F2}" srcOrd="7" destOrd="0" presId="urn:microsoft.com/office/officeart/2005/8/layout/vProcess5"/>
    <dgm:cxn modelId="{D4DB5677-2E7F-4072-B2B4-B42071F4F919}" type="presParOf" srcId="{019A3D9E-C2DD-491F-B695-C7F65C75F913}" destId="{B5E6266C-C183-4C3C-AEA1-F3CE8D514C4F}" srcOrd="8" destOrd="0" presId="urn:microsoft.com/office/officeart/2005/8/layout/vProcess5"/>
    <dgm:cxn modelId="{3F97B8D6-CDD3-47F7-8572-8BE2CF76B172}" type="presParOf" srcId="{019A3D9E-C2DD-491F-B695-C7F65C75F913}" destId="{05BBD1EF-B8DA-45EC-8B48-3074EF82DF07}" srcOrd="9" destOrd="0" presId="urn:microsoft.com/office/officeart/2005/8/layout/vProcess5"/>
    <dgm:cxn modelId="{32FFF196-1622-4269-BACE-284444E92024}" type="presParOf" srcId="{019A3D9E-C2DD-491F-B695-C7F65C75F913}" destId="{2640CB99-4ED0-42B7-B103-033234DCBA01}" srcOrd="10" destOrd="0" presId="urn:microsoft.com/office/officeart/2005/8/layout/vProcess5"/>
    <dgm:cxn modelId="{BF5A987E-9432-4344-B888-8B6D641593B4}" type="presParOf" srcId="{019A3D9E-C2DD-491F-B695-C7F65C75F913}" destId="{79C66E14-B0B1-434A-8F62-6B684605D39F}"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233999-7482-4BF2-812C-DBBC3B3F7CB2}">
      <dsp:nvSpPr>
        <dsp:cNvPr id="0" name=""/>
        <dsp:cNvSpPr/>
      </dsp:nvSpPr>
      <dsp:spPr>
        <a:xfrm>
          <a:off x="2825" y="417245"/>
          <a:ext cx="959789" cy="2847191"/>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AU" sz="1400" b="1" kern="1200" dirty="0"/>
            <a:t>Step 1</a:t>
          </a:r>
        </a:p>
      </dsp:txBody>
      <dsp:txXfrm>
        <a:off x="2825" y="417245"/>
        <a:ext cx="959789" cy="435232"/>
      </dsp:txXfrm>
    </dsp:sp>
    <dsp:sp modelId="{19D8279C-EE1F-453D-B259-62D9D7798ACC}">
      <dsp:nvSpPr>
        <dsp:cNvPr id="0" name=""/>
        <dsp:cNvSpPr/>
      </dsp:nvSpPr>
      <dsp:spPr>
        <a:xfrm>
          <a:off x="54724" y="1619225"/>
          <a:ext cx="1288813" cy="2210107"/>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1" indent="0" algn="l" defTabSz="711200">
            <a:lnSpc>
              <a:spcPct val="90000"/>
            </a:lnSpc>
            <a:spcBef>
              <a:spcPct val="0"/>
            </a:spcBef>
            <a:spcAft>
              <a:spcPct val="15000"/>
            </a:spcAft>
            <a:buNone/>
          </a:pPr>
          <a:r>
            <a:rPr lang="en-AU" sz="1600" kern="1200" dirty="0"/>
            <a:t>Select a market or product category</a:t>
          </a:r>
        </a:p>
      </dsp:txBody>
      <dsp:txXfrm>
        <a:off x="92472" y="1656973"/>
        <a:ext cx="1213317" cy="2134611"/>
      </dsp:txXfrm>
    </dsp:sp>
    <dsp:sp modelId="{4C63B620-5EFA-4FE9-BD64-BF94647A1046}">
      <dsp:nvSpPr>
        <dsp:cNvPr id="0" name=""/>
        <dsp:cNvSpPr/>
      </dsp:nvSpPr>
      <dsp:spPr>
        <a:xfrm rot="13220">
          <a:off x="1163917" y="506771"/>
          <a:ext cx="426767" cy="263061"/>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AU" sz="1400" kern="1200"/>
        </a:p>
      </dsp:txBody>
      <dsp:txXfrm>
        <a:off x="1163917" y="559231"/>
        <a:ext cx="347849" cy="157837"/>
      </dsp:txXfrm>
    </dsp:sp>
    <dsp:sp modelId="{31CB403C-2E43-4035-A226-74DB58BD377F}">
      <dsp:nvSpPr>
        <dsp:cNvPr id="0" name=""/>
        <dsp:cNvSpPr/>
      </dsp:nvSpPr>
      <dsp:spPr>
        <a:xfrm>
          <a:off x="1767831" y="430516"/>
          <a:ext cx="1056594" cy="2764800"/>
        </a:xfrm>
        <a:prstGeom prst="roundRect">
          <a:avLst>
            <a:gd name="adj" fmla="val 10000"/>
          </a:avLst>
        </a:prstGeom>
        <a:solidFill>
          <a:schemeClr val="accent2">
            <a:hueOff val="-2366292"/>
            <a:satOff val="5674"/>
            <a:lumOff val="32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AU" sz="1400" b="1" kern="1200" dirty="0"/>
            <a:t>Step 2</a:t>
          </a:r>
        </a:p>
      </dsp:txBody>
      <dsp:txXfrm>
        <a:off x="1767831" y="430516"/>
        <a:ext cx="1056594" cy="422637"/>
      </dsp:txXfrm>
    </dsp:sp>
    <dsp:sp modelId="{87EA0BB2-B5B9-4D82-99C1-1C1E32895067}">
      <dsp:nvSpPr>
        <dsp:cNvPr id="0" name=""/>
        <dsp:cNvSpPr/>
      </dsp:nvSpPr>
      <dsp:spPr>
        <a:xfrm>
          <a:off x="1824189" y="1576647"/>
          <a:ext cx="1376700" cy="2239414"/>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2366292"/>
              <a:satOff val="5674"/>
              <a:lumOff val="328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1" indent="0" algn="l" defTabSz="622300">
            <a:lnSpc>
              <a:spcPct val="90000"/>
            </a:lnSpc>
            <a:spcBef>
              <a:spcPct val="0"/>
            </a:spcBef>
            <a:spcAft>
              <a:spcPct val="15000"/>
            </a:spcAft>
            <a:buNone/>
          </a:pPr>
          <a:r>
            <a:rPr lang="en-AU" sz="1600" kern="1200" dirty="0">
              <a:solidFill>
                <a:srgbClr val="000000">
                  <a:hueOff val="0"/>
                  <a:satOff val="0"/>
                  <a:lumOff val="0"/>
                  <a:alphaOff val="0"/>
                </a:srgbClr>
              </a:solidFill>
              <a:latin typeface="Arial"/>
              <a:ea typeface="+mn-ea"/>
              <a:cs typeface="+mn-cs"/>
            </a:rPr>
            <a:t>Select bases for segmentation and segment descriptors</a:t>
          </a:r>
        </a:p>
      </dsp:txBody>
      <dsp:txXfrm>
        <a:off x="1864511" y="1616969"/>
        <a:ext cx="1296056" cy="2158770"/>
      </dsp:txXfrm>
    </dsp:sp>
    <dsp:sp modelId="{5CDE7DFD-0715-454A-BAEB-9B79921D0805}">
      <dsp:nvSpPr>
        <dsp:cNvPr id="0" name=""/>
        <dsp:cNvSpPr/>
      </dsp:nvSpPr>
      <dsp:spPr>
        <a:xfrm rot="21560445">
          <a:off x="3024601" y="499480"/>
          <a:ext cx="424429" cy="263061"/>
        </a:xfrm>
        <a:prstGeom prst="rightArrow">
          <a:avLst>
            <a:gd name="adj1" fmla="val 60000"/>
            <a:gd name="adj2" fmla="val 50000"/>
          </a:avLst>
        </a:prstGeom>
        <a:solidFill>
          <a:schemeClr val="accent2">
            <a:hueOff val="-3155056"/>
            <a:satOff val="7566"/>
            <a:lumOff val="437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AU" sz="1400" kern="1200"/>
        </a:p>
      </dsp:txBody>
      <dsp:txXfrm>
        <a:off x="3024604" y="552546"/>
        <a:ext cx="345511" cy="157837"/>
      </dsp:txXfrm>
    </dsp:sp>
    <dsp:sp modelId="{CC131274-C4F2-4B58-973D-78DD06321B8C}">
      <dsp:nvSpPr>
        <dsp:cNvPr id="0" name=""/>
        <dsp:cNvSpPr/>
      </dsp:nvSpPr>
      <dsp:spPr>
        <a:xfrm>
          <a:off x="3625183" y="409144"/>
          <a:ext cx="1056594" cy="2764800"/>
        </a:xfrm>
        <a:prstGeom prst="roundRect">
          <a:avLst>
            <a:gd name="adj" fmla="val 10000"/>
          </a:avLst>
        </a:prstGeom>
        <a:solidFill>
          <a:schemeClr val="accent2">
            <a:hueOff val="-4732584"/>
            <a:satOff val="11348"/>
            <a:lumOff val="656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AU" sz="1400" b="1" kern="1200" dirty="0"/>
            <a:t>Step 3</a:t>
          </a:r>
        </a:p>
      </dsp:txBody>
      <dsp:txXfrm>
        <a:off x="3625183" y="409144"/>
        <a:ext cx="1056594" cy="422637"/>
      </dsp:txXfrm>
    </dsp:sp>
    <dsp:sp modelId="{F90D12A2-03EC-44BA-89F0-B3AF89AB8763}">
      <dsp:nvSpPr>
        <dsp:cNvPr id="0" name=""/>
        <dsp:cNvSpPr/>
      </dsp:nvSpPr>
      <dsp:spPr>
        <a:xfrm>
          <a:off x="3698155" y="1512531"/>
          <a:ext cx="1343471" cy="2324901"/>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4732584"/>
              <a:satOff val="11348"/>
              <a:lumOff val="656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1" indent="0" algn="l" defTabSz="622300">
            <a:lnSpc>
              <a:spcPct val="90000"/>
            </a:lnSpc>
            <a:spcBef>
              <a:spcPct val="0"/>
            </a:spcBef>
            <a:spcAft>
              <a:spcPct val="15000"/>
            </a:spcAft>
            <a:buNone/>
          </a:pPr>
          <a:r>
            <a:rPr lang="en-AU" sz="1600" kern="1200" dirty="0">
              <a:solidFill>
                <a:srgbClr val="000000">
                  <a:hueOff val="0"/>
                  <a:satOff val="0"/>
                  <a:lumOff val="0"/>
                  <a:alphaOff val="0"/>
                </a:srgbClr>
              </a:solidFill>
              <a:latin typeface="Arial"/>
              <a:ea typeface="+mn-ea"/>
              <a:cs typeface="+mn-cs"/>
            </a:rPr>
            <a:t>Profile segments and identify target markets</a:t>
          </a:r>
        </a:p>
      </dsp:txBody>
      <dsp:txXfrm>
        <a:off x="3737504" y="1551880"/>
        <a:ext cx="1264773" cy="2246203"/>
      </dsp:txXfrm>
    </dsp:sp>
    <dsp:sp modelId="{8861C09C-A274-43C2-A0BB-092CCACFD99E}">
      <dsp:nvSpPr>
        <dsp:cNvPr id="0" name=""/>
        <dsp:cNvSpPr/>
      </dsp:nvSpPr>
      <dsp:spPr>
        <a:xfrm rot="11394">
          <a:off x="4877812" y="492022"/>
          <a:ext cx="415597" cy="263061"/>
        </a:xfrm>
        <a:prstGeom prst="rightArrow">
          <a:avLst>
            <a:gd name="adj1" fmla="val 60000"/>
            <a:gd name="adj2" fmla="val 50000"/>
          </a:avLst>
        </a:prstGeom>
        <a:solidFill>
          <a:schemeClr val="accent2">
            <a:hueOff val="-6310112"/>
            <a:satOff val="15131"/>
            <a:lumOff val="875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AU" sz="1400" kern="1200"/>
        </a:p>
      </dsp:txBody>
      <dsp:txXfrm>
        <a:off x="4877812" y="544503"/>
        <a:ext cx="336679" cy="157837"/>
      </dsp:txXfrm>
    </dsp:sp>
    <dsp:sp modelId="{BACEB6A8-F6FC-445B-971C-0D03A0E5481E}">
      <dsp:nvSpPr>
        <dsp:cNvPr id="0" name=""/>
        <dsp:cNvSpPr/>
      </dsp:nvSpPr>
      <dsp:spPr>
        <a:xfrm>
          <a:off x="5465919" y="415245"/>
          <a:ext cx="1056594" cy="2764800"/>
        </a:xfrm>
        <a:prstGeom prst="roundRect">
          <a:avLst>
            <a:gd name="adj" fmla="val 10000"/>
          </a:avLst>
        </a:prstGeom>
        <a:solidFill>
          <a:schemeClr val="accent2">
            <a:hueOff val="-7098876"/>
            <a:satOff val="17023"/>
            <a:lumOff val="98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AU" sz="1400" b="1" kern="1200" dirty="0"/>
            <a:t>Step 4</a:t>
          </a:r>
        </a:p>
      </dsp:txBody>
      <dsp:txXfrm>
        <a:off x="5465919" y="415245"/>
        <a:ext cx="1056594" cy="422637"/>
      </dsp:txXfrm>
    </dsp:sp>
    <dsp:sp modelId="{808C9B1A-3EBD-4BFB-9053-EE4205657929}">
      <dsp:nvSpPr>
        <dsp:cNvPr id="0" name=""/>
        <dsp:cNvSpPr/>
      </dsp:nvSpPr>
      <dsp:spPr>
        <a:xfrm>
          <a:off x="5546294" y="1530834"/>
          <a:ext cx="1328668" cy="2300497"/>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7098876"/>
              <a:satOff val="17023"/>
              <a:lumOff val="985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1" indent="0" algn="l" defTabSz="622300">
            <a:lnSpc>
              <a:spcPct val="90000"/>
            </a:lnSpc>
            <a:spcBef>
              <a:spcPct val="0"/>
            </a:spcBef>
            <a:spcAft>
              <a:spcPct val="15000"/>
            </a:spcAft>
            <a:buNone/>
          </a:pPr>
          <a:r>
            <a:rPr lang="en-AU" sz="1600" kern="1200" dirty="0">
              <a:solidFill>
                <a:srgbClr val="000000">
                  <a:hueOff val="0"/>
                  <a:satOff val="0"/>
                  <a:lumOff val="0"/>
                  <a:alphaOff val="0"/>
                </a:srgbClr>
              </a:solidFill>
              <a:latin typeface="Arial"/>
              <a:ea typeface="+mn-ea"/>
              <a:cs typeface="+mn-cs"/>
            </a:rPr>
            <a:t>Select and develop targeting strategies</a:t>
          </a:r>
        </a:p>
      </dsp:txBody>
      <dsp:txXfrm>
        <a:off x="5585209" y="1569749"/>
        <a:ext cx="1250838" cy="2222667"/>
      </dsp:txXfrm>
    </dsp:sp>
    <dsp:sp modelId="{D9D724C4-ED0E-49D8-9571-2D4D9549E739}">
      <dsp:nvSpPr>
        <dsp:cNvPr id="0" name=""/>
        <dsp:cNvSpPr/>
      </dsp:nvSpPr>
      <dsp:spPr>
        <a:xfrm rot="21596440">
          <a:off x="6716699" y="494072"/>
          <a:ext cx="411672" cy="263061"/>
        </a:xfrm>
        <a:prstGeom prst="rightArrow">
          <a:avLst>
            <a:gd name="adj1" fmla="val 60000"/>
            <a:gd name="adj2" fmla="val 50000"/>
          </a:avLst>
        </a:prstGeom>
        <a:solidFill>
          <a:schemeClr val="accent2">
            <a:hueOff val="-9465168"/>
            <a:satOff val="22697"/>
            <a:lumOff val="1313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AU" sz="1400" kern="1200"/>
        </a:p>
      </dsp:txBody>
      <dsp:txXfrm>
        <a:off x="6716699" y="546725"/>
        <a:ext cx="332754" cy="157837"/>
      </dsp:txXfrm>
    </dsp:sp>
    <dsp:sp modelId="{D7E852D1-E609-4EA9-8242-928C132E8067}">
      <dsp:nvSpPr>
        <dsp:cNvPr id="0" name=""/>
        <dsp:cNvSpPr/>
      </dsp:nvSpPr>
      <dsp:spPr>
        <a:xfrm>
          <a:off x="7299255" y="413347"/>
          <a:ext cx="1056594" cy="2764800"/>
        </a:xfrm>
        <a:prstGeom prst="roundRect">
          <a:avLst>
            <a:gd name="adj" fmla="val 10000"/>
          </a:avLst>
        </a:prstGeom>
        <a:solidFill>
          <a:schemeClr val="accent2">
            <a:hueOff val="-9465168"/>
            <a:satOff val="22697"/>
            <a:lumOff val="131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AU" sz="1400" b="1" kern="1200" dirty="0"/>
            <a:t>Step 5</a:t>
          </a:r>
        </a:p>
      </dsp:txBody>
      <dsp:txXfrm>
        <a:off x="7299255" y="413347"/>
        <a:ext cx="1056594" cy="422637"/>
      </dsp:txXfrm>
    </dsp:sp>
    <dsp:sp modelId="{896CB01B-7FE8-4CFB-A6EE-242EEAA4D67C}">
      <dsp:nvSpPr>
        <dsp:cNvPr id="0" name=""/>
        <dsp:cNvSpPr/>
      </dsp:nvSpPr>
      <dsp:spPr>
        <a:xfrm>
          <a:off x="7342041" y="1525139"/>
          <a:ext cx="1403844" cy="2308091"/>
        </a:xfrm>
        <a:prstGeom prst="roundRect">
          <a:avLst>
            <a:gd name="adj" fmla="val 10000"/>
          </a:avLst>
        </a:prstGeom>
        <a:solidFill>
          <a:schemeClr val="lt1">
            <a:alpha val="90000"/>
            <a:hueOff val="0"/>
            <a:satOff val="0"/>
            <a:lumOff val="0"/>
            <a:alphaOff val="0"/>
          </a:schemeClr>
        </a:solidFill>
        <a:ln w="25400" cap="flat" cmpd="sng" algn="ctr">
          <a:solidFill>
            <a:schemeClr val="accent2">
              <a:hueOff val="-9465168"/>
              <a:satOff val="22697"/>
              <a:lumOff val="131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1" indent="0" algn="l" defTabSz="622300">
            <a:lnSpc>
              <a:spcPct val="90000"/>
            </a:lnSpc>
            <a:spcBef>
              <a:spcPct val="0"/>
            </a:spcBef>
            <a:spcAft>
              <a:spcPct val="15000"/>
            </a:spcAft>
            <a:buNone/>
          </a:pPr>
          <a:r>
            <a:rPr lang="en-AU" sz="1600" kern="1200" dirty="0">
              <a:solidFill>
                <a:srgbClr val="000000">
                  <a:hueOff val="0"/>
                  <a:satOff val="0"/>
                  <a:lumOff val="0"/>
                  <a:alphaOff val="0"/>
                </a:srgbClr>
              </a:solidFill>
              <a:latin typeface="Arial"/>
              <a:ea typeface="+mn-ea"/>
              <a:cs typeface="+mn-cs"/>
            </a:rPr>
            <a:t>Develop a positioning strategy</a:t>
          </a:r>
        </a:p>
      </dsp:txBody>
      <dsp:txXfrm>
        <a:off x="7383158" y="1566256"/>
        <a:ext cx="1321610" cy="22258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8CA095-8A57-47AC-8B0C-FAE3B96EF853}">
      <dsp:nvSpPr>
        <dsp:cNvPr id="0" name=""/>
        <dsp:cNvSpPr/>
      </dsp:nvSpPr>
      <dsp:spPr>
        <a:xfrm>
          <a:off x="0" y="533701"/>
          <a:ext cx="2388211" cy="1432926"/>
        </a:xfrm>
        <a:prstGeom prst="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AU" sz="3400" kern="1200" dirty="0"/>
            <a:t>An existing market</a:t>
          </a:r>
        </a:p>
      </dsp:txBody>
      <dsp:txXfrm>
        <a:off x="0" y="533701"/>
        <a:ext cx="2388211" cy="1432926"/>
      </dsp:txXfrm>
    </dsp:sp>
    <dsp:sp modelId="{94ACB885-866D-40B0-8D90-509321F056EA}">
      <dsp:nvSpPr>
        <dsp:cNvPr id="0" name=""/>
        <dsp:cNvSpPr/>
      </dsp:nvSpPr>
      <dsp:spPr>
        <a:xfrm>
          <a:off x="2627032" y="533701"/>
          <a:ext cx="2388211" cy="1432926"/>
        </a:xfrm>
        <a:prstGeom prst="rect">
          <a:avLst/>
        </a:prstGeom>
        <a:solidFill>
          <a:schemeClr val="accent2">
            <a:hueOff val="-4732584"/>
            <a:satOff val="11348"/>
            <a:lumOff val="656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AU" sz="3400" kern="1200" dirty="0"/>
            <a:t>A related market</a:t>
          </a:r>
        </a:p>
      </dsp:txBody>
      <dsp:txXfrm>
        <a:off x="2627032" y="533701"/>
        <a:ext cx="2388211" cy="1432926"/>
      </dsp:txXfrm>
    </dsp:sp>
    <dsp:sp modelId="{E984D409-02A9-4355-B555-457F05CEC009}">
      <dsp:nvSpPr>
        <dsp:cNvPr id="0" name=""/>
        <dsp:cNvSpPr/>
      </dsp:nvSpPr>
      <dsp:spPr>
        <a:xfrm>
          <a:off x="5254064" y="533701"/>
          <a:ext cx="2388211" cy="1432926"/>
        </a:xfrm>
        <a:prstGeom prst="rect">
          <a:avLst/>
        </a:prstGeom>
        <a:solidFill>
          <a:schemeClr val="accent2">
            <a:hueOff val="-9465168"/>
            <a:satOff val="22697"/>
            <a:lumOff val="13135"/>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AU" sz="3400" kern="1200" dirty="0"/>
            <a:t>A new market</a:t>
          </a:r>
        </a:p>
      </dsp:txBody>
      <dsp:txXfrm>
        <a:off x="5254064" y="533701"/>
        <a:ext cx="2388211" cy="14329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FC8338-52F1-492E-BAAC-E7A77134535D}">
      <dsp:nvSpPr>
        <dsp:cNvPr id="0" name=""/>
        <dsp:cNvSpPr/>
      </dsp:nvSpPr>
      <dsp:spPr>
        <a:xfrm>
          <a:off x="0" y="0"/>
          <a:ext cx="6583680" cy="972107"/>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Identifying a set of differentiating competitive advantages</a:t>
          </a:r>
        </a:p>
      </dsp:txBody>
      <dsp:txXfrm>
        <a:off x="28472" y="28472"/>
        <a:ext cx="5452557" cy="915163"/>
      </dsp:txXfrm>
    </dsp:sp>
    <dsp:sp modelId="{5072312A-8D29-4EF0-86BD-97B608D7AB4E}">
      <dsp:nvSpPr>
        <dsp:cNvPr id="0" name=""/>
        <dsp:cNvSpPr/>
      </dsp:nvSpPr>
      <dsp:spPr>
        <a:xfrm>
          <a:off x="551383" y="1148853"/>
          <a:ext cx="6583680" cy="972107"/>
        </a:xfrm>
        <a:prstGeom prst="roundRect">
          <a:avLst>
            <a:gd name="adj" fmla="val 100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Choosing the right competitive advantages</a:t>
          </a:r>
        </a:p>
      </dsp:txBody>
      <dsp:txXfrm>
        <a:off x="579855" y="1177325"/>
        <a:ext cx="5343483" cy="915163"/>
      </dsp:txXfrm>
    </dsp:sp>
    <dsp:sp modelId="{F6072388-0917-4206-971E-6C4376733011}">
      <dsp:nvSpPr>
        <dsp:cNvPr id="0" name=""/>
        <dsp:cNvSpPr/>
      </dsp:nvSpPr>
      <dsp:spPr>
        <a:xfrm>
          <a:off x="1094536" y="2297707"/>
          <a:ext cx="6583680" cy="972107"/>
        </a:xfrm>
        <a:prstGeom prst="roundRect">
          <a:avLst>
            <a:gd name="adj" fmla="val 10000"/>
          </a:avLst>
        </a:prstGeom>
        <a:solidFill>
          <a:srgbClr val="F030BE"/>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Developing a positioning statement</a:t>
          </a:r>
        </a:p>
      </dsp:txBody>
      <dsp:txXfrm>
        <a:off x="1123008" y="2326179"/>
        <a:ext cx="5351712" cy="915163"/>
      </dsp:txXfrm>
    </dsp:sp>
    <dsp:sp modelId="{162A9407-020D-4442-8D7A-A8C63615EB87}">
      <dsp:nvSpPr>
        <dsp:cNvPr id="0" name=""/>
        <dsp:cNvSpPr/>
      </dsp:nvSpPr>
      <dsp:spPr>
        <a:xfrm>
          <a:off x="1645920" y="3446561"/>
          <a:ext cx="6583680" cy="972107"/>
        </a:xfrm>
        <a:prstGeom prst="roundRect">
          <a:avLst>
            <a:gd name="adj" fmla="val 10000"/>
          </a:avLst>
        </a:prstGeom>
        <a:solidFill>
          <a:srgbClr val="00206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Selecting an overall positioning strategy</a:t>
          </a:r>
        </a:p>
      </dsp:txBody>
      <dsp:txXfrm>
        <a:off x="1674392" y="3475033"/>
        <a:ext cx="5343483" cy="915163"/>
      </dsp:txXfrm>
    </dsp:sp>
    <dsp:sp modelId="{A7B8954D-93B3-40B3-B0D4-BAAF3F1703E9}">
      <dsp:nvSpPr>
        <dsp:cNvPr id="0" name=""/>
        <dsp:cNvSpPr/>
      </dsp:nvSpPr>
      <dsp:spPr>
        <a:xfrm>
          <a:off x="5951810" y="744545"/>
          <a:ext cx="631869" cy="631869"/>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rgbClr val="00206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6093981" y="744545"/>
        <a:ext cx="347527" cy="475481"/>
      </dsp:txXfrm>
    </dsp:sp>
    <dsp:sp modelId="{43336C27-F611-408F-AEBE-FDF35617B2D9}">
      <dsp:nvSpPr>
        <dsp:cNvPr id="0" name=""/>
        <dsp:cNvSpPr/>
      </dsp:nvSpPr>
      <dsp:spPr>
        <a:xfrm>
          <a:off x="6503193" y="1893399"/>
          <a:ext cx="631869" cy="631869"/>
        </a:xfrm>
        <a:prstGeom prst="downArrow">
          <a:avLst>
            <a:gd name="adj1" fmla="val 55000"/>
            <a:gd name="adj2" fmla="val 45000"/>
          </a:avLst>
        </a:prstGeom>
        <a:solidFill>
          <a:schemeClr val="accent2">
            <a:tint val="40000"/>
            <a:alpha val="90000"/>
            <a:hueOff val="-5334366"/>
            <a:satOff val="17224"/>
            <a:lumOff val="2040"/>
            <a:alphaOff val="0"/>
          </a:schemeClr>
        </a:solidFill>
        <a:ln w="25400" cap="flat" cmpd="sng" algn="ctr">
          <a:solidFill>
            <a:srgbClr val="00206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6645364" y="1893399"/>
        <a:ext cx="347527" cy="475481"/>
      </dsp:txXfrm>
    </dsp:sp>
    <dsp:sp modelId="{4D9E599C-CC15-4BF3-BA13-9DBDC7B900F2}">
      <dsp:nvSpPr>
        <dsp:cNvPr id="0" name=""/>
        <dsp:cNvSpPr/>
      </dsp:nvSpPr>
      <dsp:spPr>
        <a:xfrm>
          <a:off x="7046347" y="3042253"/>
          <a:ext cx="631869" cy="631869"/>
        </a:xfrm>
        <a:prstGeom prst="downArrow">
          <a:avLst>
            <a:gd name="adj1" fmla="val 55000"/>
            <a:gd name="adj2" fmla="val 45000"/>
          </a:avLst>
        </a:prstGeom>
        <a:solidFill>
          <a:schemeClr val="accent2">
            <a:tint val="40000"/>
            <a:alpha val="90000"/>
            <a:hueOff val="-10668732"/>
            <a:satOff val="34448"/>
            <a:lumOff val="4080"/>
            <a:alphaOff val="0"/>
          </a:schemeClr>
        </a:solidFill>
        <a:ln w="25400" cap="flat" cmpd="sng" algn="ctr">
          <a:solidFill>
            <a:srgbClr val="002060">
              <a:alpha val="90000"/>
            </a:srgb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p>
      </dsp:txBody>
      <dsp:txXfrm>
        <a:off x="7188518" y="3042253"/>
        <a:ext cx="347527" cy="475481"/>
      </dsp:txXfrm>
    </dsp:sp>
  </dsp:spTree>
</dsp:drawing>
</file>

<file path=ppt/diagrams/layout1.xml><?xml version="1.0" encoding="utf-8"?>
<dgm:layoutDef xmlns:dgm="http://schemas.openxmlformats.org/drawingml/2006/diagram" xmlns:a="http://schemas.openxmlformats.org/drawingml/2006/main" uniqueId="urn:microsoft.com/office/officeart/2005/8/layout/process3#1">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srcNode" val="parTx"/>
            <dgm:param type="dstNode" val="parTx"/>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12/1/2025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4T05:46:15.231"/>
    </inkml:context>
    <inkml:brush xml:id="br0">
      <inkml:brushProperty name="width" value="0.05" units="cm"/>
      <inkml:brushProperty name="height" value="0.05" units="cm"/>
    </inkml:brush>
  </inkml:definitions>
  <inkml:trace contextRef="#ctx0" brushRef="#br0">483 450 16400,'32'0'0,"0"0"0,-30 0 0,0 0 0,0 0 0,-1 0 0,1 0 0,0 0 0,0 0 0,0-1 0,-1 1 0,1-1 0,0 1 0,-1-1 0,1 0 0,2-1 0,7-19 0,-10 20 0,1 1 0,-1-1 0,1 0 0,0 1 0,-1-1 0,1 1 0,0-1 0,-1 1 0,1 0 0,0 0 0,0 0 0,-1 0 0,4 0 0,-3 0 0,0 0 0,0 0 0,0 0 0,-1 0 0,1 0 0,0 0 0,0 0 0,-1-1 0,1 1 0,0-1 0,-1 1 0,1-1 0,2-1 0,-3 1 0,0 0 0,-1 0 0,1 0 0,-1 0 0,1 0 0,-1 0 0,0 0 0,1 0 0,-1 0 0,0 0 0,0-1 0,1 1 0,-1-1 0,0 3 0,0 0 0,0 0 0,0 0 0,0 0 0,1 1 0,-1-1 0,0 0 0,1 0 0,-1 0 0,1 0 0,-1 0 0,2 2 0,-1-2 0,1-1 0,0 1 0,-1 0 0,1-1 0,-1 1 0,1-1 0,0 1 0,0-1 0,-1 0 0,1 0 0,0 0 0,-1 0 0,4 0 0,92 0 0,-258 0 0,103 0 0,-233 0 0,289 0 0,-1 0 0,0 1 0,1-2 0,-1 1 0,0 0 0,0 0 0,1-1 0,-1 0 0,1 1 0,-1-1 0,0 0 0,1 0 0,0 0 0,-1-1 0,1 1 0,-4-3 0,4 2 0,0 1 0,0-1 0,-1 1 0,1-1 0,-1 1 0,1 0 0,-6-2 0,-2 1 0,0 1 0,0-1 0,0 2 0,-12-1 0,20 2 0,1-1 0,-1 0 0,0 0 0,1 0 0,-1 0 0,0-1 0,1 1 0,-1 0 0,0-1 0,1 1 0,-1-1 0,0 0 0,1 1 0,-2-2 0,2 0 0,0 1 0,0-1 0,1 0 0,-1 1 0,0-1 0,1 0 0,0 0 0,-1 1 0,1-1 0,0 0 0,0 0 0,0 1 0,0-4 0,0-27 0,0 29 0,1 0 0,-2 0 0,1 0 0,0 0 0,-1 0 0,1 0 0,-1 1 0,0-1 0,-1-3 0,-20-27 0,21 31 0,0-1 0,0 0 0,1 0 0,-1 0 0,0 0 0,1 0 0,0 0 0,0 0 0,0-3 0,0 6 0,0-32 0,0 30 0,0 1 0,0-1 0,0 0 0,0 0 0,0 1 0,0-1 0,0 0 0,-1 0 0,1 1 0,-1-1 0,0 0 0,1 1 0,-2-4 0,-19-5 0,20 8 0,0 0 0,0 1 0,0-1 0,1 0 0,-1 1 0,1-1 0,0 0 0,-1 0 0,1 1 0,0-1 0,0 0 0,0 0 0,0-2 0,0-28 0,0 0 0,0 10 0,2 30 0,-2-9 0,0 0 0,0 1 0,-1-1 0,1 0 0,0 0 0,-1 0 0,1 0 0,0 0 0,-1 1 0,1-1 0,-1 0 0,1 0 0,-1 1 0,0-1 0,0 0 0,-21-10 0,22 10 0,-1 0 0,0 0 0,1 0 0,-1 0 0,1 0 0,-1 0 0,1 0 0,0 0 0,0 0 0,-1 0 0,1 0 0,0 0 0,0-2 0,0 14 0,0-22 0,0 22 0,0-22 0,0 22 0,0-33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4T05:46:41.240"/>
    </inkml:context>
    <inkml:brush xml:id="br0">
      <inkml:brushProperty name="width" value="0.035" units="cm"/>
      <inkml:brushProperty name="height" value="0.035" units="cm"/>
    </inkml:brush>
  </inkml:definitions>
  <inkml:trace contextRef="#ctx0" brushRef="#br0">1 14 24575,'0'0'0,"11"0"0,9 0 0,6 0 0,5-6 0,-4-1-8175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8-14T05:47:05.357"/>
    </inkml:context>
    <inkml:brush xml:id="br0">
      <inkml:brushProperty name="width" value="0.035" units="cm"/>
      <inkml:brushProperty name="height" value="0.035" units="cm"/>
    </inkml:brush>
  </inkml:definitions>
  <inkml:trace contextRef="#ctx0" brushRef="#br0">1 0 24575,'0'0'0,"0"0"0,0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37563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four steps are grouped under two categories. All four steps point to a rectangle shown between the two categories. The rectangle is labelled as ‘Create value for targeted customers’. </a:t>
            </a:r>
            <a:endParaRPr lang="en-NZ" sz="1800" dirty="0">
              <a:effectLst/>
              <a:latin typeface="Calibri" panose="020F0502020204030204" pitchFamily="34" charset="0"/>
              <a:ea typeface="Calibri" panose="020F0502020204030204" pitchFamily="34" charset="0"/>
            </a:endParaRPr>
          </a:p>
          <a:p>
            <a:pPr>
              <a:lnSpc>
                <a:spcPct val="115000"/>
              </a:lnSpc>
              <a:spcBef>
                <a:spcPts val="18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four steps along with their respective categories are as follows. </a:t>
            </a: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Under Select customers to serve are the following:</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Segmentation: Divide the total market into smaller segments</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spcAft>
                <a:spcPts val="1000"/>
              </a:spcAft>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Targeting: Select the segment or segments to enter.</a:t>
            </a:r>
            <a:endParaRPr lang="en-NZ" sz="1800" dirty="0">
              <a:effectLst/>
              <a:latin typeface="Calibri" panose="020F0502020204030204" pitchFamily="34" charset="0"/>
              <a:ea typeface="Calibri" panose="020F0502020204030204" pitchFamily="34" charset="0"/>
            </a:endParaRPr>
          </a:p>
          <a:p>
            <a:pPr>
              <a:lnSpc>
                <a:spcPct val="115000"/>
              </a:lnSpc>
              <a:spcBef>
                <a:spcPts val="18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Under Decide on a value proposition are the following:</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Differentiation: Differentiate the market offering to create superior customer value</a:t>
            </a:r>
            <a:endParaRPr lang="en-NZ" sz="1800" dirty="0">
              <a:effectLst/>
              <a:latin typeface="Calibri" panose="020F0502020204030204" pitchFamily="34" charset="0"/>
              <a:ea typeface="Calibri" panose="020F0502020204030204" pitchFamily="34" charset="0"/>
            </a:endParaRPr>
          </a:p>
          <a:p>
            <a:pPr marL="342900" lvl="0" indent="-342900">
              <a:lnSpc>
                <a:spcPct val="115000"/>
              </a:lnSpc>
              <a:spcBef>
                <a:spcPts val="1800"/>
              </a:spcBef>
              <a:spcAft>
                <a:spcPts val="1000"/>
              </a:spcAft>
              <a:buFont typeface="Symbol" panose="05050102010706020507" pitchFamily="18" charset="2"/>
              <a:buChar char=""/>
            </a:pPr>
            <a:r>
              <a:rPr lang="en-AU" sz="1800" dirty="0">
                <a:effectLst/>
                <a:latin typeface="Calibri" panose="020F0502020204030204" pitchFamily="34" charset="0"/>
                <a:ea typeface="Times New Roman" panose="02020603050405020304" pitchFamily="18" charset="0"/>
                <a:cs typeface="Calibri" panose="020F0502020204030204" pitchFamily="34" charset="0"/>
              </a:rPr>
              <a:t>Positioning: Position the market offering in the minds of target customers.</a:t>
            </a:r>
            <a:endParaRPr lang="en-NZ" sz="18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7660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3872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7636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AEF78B0-85ED-4B9D-A245-7533F5121541}" type="slidenum">
              <a:rPr lang="en-AU" altLang="en-US"/>
              <a:t>8</a:t>
            </a:fld>
            <a:endParaRPr lang="en-AU" altLang="en-US"/>
          </a:p>
        </p:txBody>
      </p:sp>
      <p:sp>
        <p:nvSpPr>
          <p:cNvPr id="47107"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71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Tree>
    <p:extLst>
      <p:ext uri="{BB962C8B-B14F-4D97-AF65-F5344CB8AC3E}">
        <p14:creationId xmlns:p14="http://schemas.microsoft.com/office/powerpoint/2010/main" val="23509092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500" baseline="-25000">
                <a:solidFill>
                  <a:schemeClr val="tx1"/>
                </a:solidFill>
                <a:latin typeface="Times" panose="02020603050405020304" pitchFamily="18" charset="0"/>
              </a:defRPr>
            </a:lvl1pPr>
            <a:lvl2pPr marL="785372" indent="-302066">
              <a:defRPr sz="2500" baseline="-25000">
                <a:solidFill>
                  <a:schemeClr val="tx1"/>
                </a:solidFill>
                <a:latin typeface="Times" panose="02020603050405020304" pitchFamily="18" charset="0"/>
              </a:defRPr>
            </a:lvl2pPr>
            <a:lvl3pPr marL="1208265" indent="-241653">
              <a:defRPr sz="2500" baseline="-25000">
                <a:solidFill>
                  <a:schemeClr val="tx1"/>
                </a:solidFill>
                <a:latin typeface="Times" panose="02020603050405020304" pitchFamily="18" charset="0"/>
              </a:defRPr>
            </a:lvl3pPr>
            <a:lvl4pPr marL="1691571" indent="-241653">
              <a:defRPr sz="2500" baseline="-25000">
                <a:solidFill>
                  <a:schemeClr val="tx1"/>
                </a:solidFill>
                <a:latin typeface="Times" panose="02020603050405020304" pitchFamily="18" charset="0"/>
              </a:defRPr>
            </a:lvl4pPr>
            <a:lvl5pPr marL="2174878" indent="-241653">
              <a:defRPr sz="2500" baseline="-25000">
                <a:solidFill>
                  <a:schemeClr val="tx1"/>
                </a:solidFill>
                <a:latin typeface="Times" panose="02020603050405020304" pitchFamily="18" charset="0"/>
              </a:defRPr>
            </a:lvl5pPr>
            <a:lvl6pPr marL="2658184" indent="-241653" eaLnBrk="0" fontAlgn="base" hangingPunct="0">
              <a:spcBef>
                <a:spcPct val="0"/>
              </a:spcBef>
              <a:spcAft>
                <a:spcPct val="0"/>
              </a:spcAft>
              <a:defRPr sz="2500" baseline="-25000">
                <a:solidFill>
                  <a:schemeClr val="tx1"/>
                </a:solidFill>
                <a:latin typeface="Times" panose="02020603050405020304" pitchFamily="18" charset="0"/>
              </a:defRPr>
            </a:lvl6pPr>
            <a:lvl7pPr marL="3141490" indent="-241653" eaLnBrk="0" fontAlgn="base" hangingPunct="0">
              <a:spcBef>
                <a:spcPct val="0"/>
              </a:spcBef>
              <a:spcAft>
                <a:spcPct val="0"/>
              </a:spcAft>
              <a:defRPr sz="2500" baseline="-25000">
                <a:solidFill>
                  <a:schemeClr val="tx1"/>
                </a:solidFill>
                <a:latin typeface="Times" panose="02020603050405020304" pitchFamily="18" charset="0"/>
              </a:defRPr>
            </a:lvl7pPr>
            <a:lvl8pPr marL="3624796" indent="-241653" eaLnBrk="0" fontAlgn="base" hangingPunct="0">
              <a:spcBef>
                <a:spcPct val="0"/>
              </a:spcBef>
              <a:spcAft>
                <a:spcPct val="0"/>
              </a:spcAft>
              <a:defRPr sz="2500" baseline="-25000">
                <a:solidFill>
                  <a:schemeClr val="tx1"/>
                </a:solidFill>
                <a:latin typeface="Times" panose="02020603050405020304" pitchFamily="18" charset="0"/>
              </a:defRPr>
            </a:lvl8pPr>
            <a:lvl9pPr marL="4108102" indent="-241653" eaLnBrk="0" fontAlgn="base" hangingPunct="0">
              <a:spcBef>
                <a:spcPct val="0"/>
              </a:spcBef>
              <a:spcAft>
                <a:spcPct val="0"/>
              </a:spcAft>
              <a:defRPr sz="2500" baseline="-25000">
                <a:solidFill>
                  <a:schemeClr val="tx1"/>
                </a:solidFill>
                <a:latin typeface="Times" panose="02020603050405020304" pitchFamily="18" charset="0"/>
              </a:defRPr>
            </a:lvl9pPr>
          </a:lstStyle>
          <a:p>
            <a:fld id="{F4BFE617-31F3-4A96-A3FB-B3423D1B8D2D}" type="slidenum">
              <a:rPr lang="en-AU" sz="1300" baseline="0">
                <a:solidFill>
                  <a:srgbClr val="000000"/>
                </a:solidFill>
              </a:rPr>
              <a:pPr/>
              <a:t>10</a:t>
            </a:fld>
            <a:endParaRPr lang="en-AU" sz="1300" baseline="0">
              <a:solidFill>
                <a:srgbClr val="000000"/>
              </a:solidFill>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Times" panose="02020603050405020304" pitchFamily="18" charset="0"/>
              </a:rPr>
              <a:t>Market requirement;</a:t>
            </a:r>
          </a:p>
          <a:p>
            <a:r>
              <a:rPr lang="en-US" dirty="0"/>
              <a:t>Must need or desire a particular product</a:t>
            </a:r>
          </a:p>
          <a:p>
            <a:r>
              <a:rPr lang="en-US" dirty="0"/>
              <a:t>Must have the ability to purchase the product</a:t>
            </a:r>
          </a:p>
          <a:p>
            <a:r>
              <a:rPr lang="en-US" dirty="0"/>
              <a:t>Must be willing to use their buying power to purchase the product</a:t>
            </a:r>
          </a:p>
          <a:p>
            <a:r>
              <a:rPr lang="en-US" dirty="0"/>
              <a:t>Must have the authority to buy the product</a:t>
            </a:r>
          </a:p>
          <a:p>
            <a:pPr eaLnBrk="1" hangingPunct="1"/>
            <a:endParaRPr lang="en-US" dirty="0">
              <a:latin typeface="Times" panose="02020603050405020304" pitchFamily="18" charset="0"/>
            </a:endParaRPr>
          </a:p>
        </p:txBody>
      </p:sp>
    </p:spTree>
    <p:extLst>
      <p:ext uri="{BB962C8B-B14F-4D97-AF65-F5344CB8AC3E}">
        <p14:creationId xmlns:p14="http://schemas.microsoft.com/office/powerpoint/2010/main" val="2123052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BB7696E-F20F-4690-97DB-AE6552EA4692}" type="slidenum">
              <a:rPr lang="en-AU" altLang="en-US"/>
              <a:t>11</a:t>
            </a:fld>
            <a:endParaRPr lang="en-AU" altLang="en-US"/>
          </a:p>
        </p:txBody>
      </p:sp>
      <p:sp>
        <p:nvSpPr>
          <p:cNvPr id="48131"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81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dirty="0"/>
          </a:p>
        </p:txBody>
      </p:sp>
    </p:spTree>
    <p:extLst>
      <p:ext uri="{BB962C8B-B14F-4D97-AF65-F5344CB8AC3E}">
        <p14:creationId xmlns:p14="http://schemas.microsoft.com/office/powerpoint/2010/main" val="4252451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36C677-79EB-449A-A2CA-4629EF5B2A69}" type="slidenum">
              <a:rPr lang="en-AU" altLang="en-US"/>
              <a:t>12</a:t>
            </a:fld>
            <a:endParaRPr lang="en-AU" altLang="en-US"/>
          </a:p>
        </p:txBody>
      </p:sp>
      <p:sp>
        <p:nvSpPr>
          <p:cNvPr id="49155"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Tree>
    <p:extLst>
      <p:ext uri="{BB962C8B-B14F-4D97-AF65-F5344CB8AC3E}">
        <p14:creationId xmlns:p14="http://schemas.microsoft.com/office/powerpoint/2010/main" val="1539698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Arial" panose="020B0604020202020204" pitchFamily="34" charset="0"/>
              </a:defRPr>
            </a:lvl1pPr>
            <a:lvl2pPr marL="687116" indent="-264275">
              <a:spcBef>
                <a:spcPct val="30000"/>
              </a:spcBef>
              <a:defRPr sz="1100">
                <a:solidFill>
                  <a:schemeClr val="tx1"/>
                </a:solidFill>
                <a:latin typeface="Arial" panose="020B0604020202020204" pitchFamily="34" charset="0"/>
              </a:defRPr>
            </a:lvl2pPr>
            <a:lvl3pPr marL="1057102" indent="-211421">
              <a:spcBef>
                <a:spcPct val="30000"/>
              </a:spcBef>
              <a:defRPr sz="1100">
                <a:solidFill>
                  <a:schemeClr val="tx1"/>
                </a:solidFill>
                <a:latin typeface="Arial" panose="020B0604020202020204" pitchFamily="34" charset="0"/>
              </a:defRPr>
            </a:lvl3pPr>
            <a:lvl4pPr marL="1479942" indent="-211421">
              <a:spcBef>
                <a:spcPct val="30000"/>
              </a:spcBef>
              <a:defRPr sz="1100">
                <a:solidFill>
                  <a:schemeClr val="tx1"/>
                </a:solidFill>
                <a:latin typeface="Arial" panose="020B0604020202020204" pitchFamily="34" charset="0"/>
              </a:defRPr>
            </a:lvl4pPr>
            <a:lvl5pPr marL="1902783" indent="-211421">
              <a:spcBef>
                <a:spcPct val="30000"/>
              </a:spcBef>
              <a:defRPr sz="1100">
                <a:solidFill>
                  <a:schemeClr val="tx1"/>
                </a:solidFill>
                <a:latin typeface="Arial" panose="020B0604020202020204" pitchFamily="34" charset="0"/>
              </a:defRPr>
            </a:lvl5pPr>
            <a:lvl6pPr marL="2325624" indent="-211421" eaLnBrk="0" fontAlgn="base" hangingPunct="0">
              <a:spcBef>
                <a:spcPct val="30000"/>
              </a:spcBef>
              <a:spcAft>
                <a:spcPct val="0"/>
              </a:spcAft>
              <a:defRPr sz="1100">
                <a:solidFill>
                  <a:schemeClr val="tx1"/>
                </a:solidFill>
                <a:latin typeface="Arial" panose="020B0604020202020204" pitchFamily="34" charset="0"/>
              </a:defRPr>
            </a:lvl6pPr>
            <a:lvl7pPr marL="2748464" indent="-211421" eaLnBrk="0" fontAlgn="base" hangingPunct="0">
              <a:spcBef>
                <a:spcPct val="30000"/>
              </a:spcBef>
              <a:spcAft>
                <a:spcPct val="0"/>
              </a:spcAft>
              <a:defRPr sz="1100">
                <a:solidFill>
                  <a:schemeClr val="tx1"/>
                </a:solidFill>
                <a:latin typeface="Arial" panose="020B0604020202020204" pitchFamily="34" charset="0"/>
              </a:defRPr>
            </a:lvl7pPr>
            <a:lvl8pPr marL="3171306" indent="-211421" eaLnBrk="0" fontAlgn="base" hangingPunct="0">
              <a:spcBef>
                <a:spcPct val="30000"/>
              </a:spcBef>
              <a:spcAft>
                <a:spcPct val="0"/>
              </a:spcAft>
              <a:defRPr sz="1100">
                <a:solidFill>
                  <a:schemeClr val="tx1"/>
                </a:solidFill>
                <a:latin typeface="Arial" panose="020B0604020202020204" pitchFamily="34" charset="0"/>
              </a:defRPr>
            </a:lvl8pPr>
            <a:lvl9pPr marL="3594146" indent="-211421" eaLnBrk="0" fontAlgn="base" hangingPunct="0">
              <a:spcBef>
                <a:spcPct val="30000"/>
              </a:spcBef>
              <a:spcAft>
                <a:spcPct val="0"/>
              </a:spcAft>
              <a:defRPr sz="1100">
                <a:solidFill>
                  <a:schemeClr val="tx1"/>
                </a:solidFill>
                <a:latin typeface="Arial" panose="020B0604020202020204" pitchFamily="34" charset="0"/>
              </a:defRPr>
            </a:lvl9pPr>
          </a:lstStyle>
          <a:p>
            <a:pPr>
              <a:spcBef>
                <a:spcPct val="0"/>
              </a:spcBef>
            </a:pPr>
            <a:fld id="{780AB5B0-0031-42B5-B8E7-A643FF9958E7}" type="slidenum">
              <a:rPr lang="en-AU" altLang="en-US" smtClean="0"/>
              <a:pPr>
                <a:spcBef>
                  <a:spcPct val="0"/>
                </a:spcBef>
              </a:pPr>
              <a:t>20</a:t>
            </a:fld>
            <a:endParaRPr lang="en-AU" altLang="en-US"/>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latin typeface="Arial" panose="020B0604020202020204" pitchFamily="34" charset="0"/>
              </a:rPr>
              <a:t>Relates to objective 3</a:t>
            </a:r>
          </a:p>
        </p:txBody>
      </p:sp>
    </p:spTree>
    <p:extLst>
      <p:ext uri="{BB962C8B-B14F-4D97-AF65-F5344CB8AC3E}">
        <p14:creationId xmlns:p14="http://schemas.microsoft.com/office/powerpoint/2010/main" val="870078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four strategies are shown on a horizontal scale between 'Targeting broadly' on left extreme and 'Targeting narrowly' on right extreme. </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Times New Roman" panose="02020603050405020304" pitchFamily="18" charset="0"/>
                <a:cs typeface="Calibri" panose="020F0502020204030204" pitchFamily="34" charset="0"/>
              </a:rPr>
              <a:t>Strategies listed from left to right are in the following order: Undifferentiated (mass) marketing; Differentiated (segmented) marketing; Concentrated (niche) marketing; Micromarketing (local or individual marketing).</a:t>
            </a:r>
            <a:endParaRPr lang="en-NZ" sz="18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96187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4733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45450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40721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7229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35BF24F-2883-4E30-97CA-BF40CC1F3A70}" type="slidenum">
              <a:rPr lang="en-AU" altLang="en-US"/>
              <a:t>26</a:t>
            </a:fld>
            <a:endParaRPr lang="en-AU" altLang="en-US"/>
          </a:p>
        </p:txBody>
      </p:sp>
      <p:sp>
        <p:nvSpPr>
          <p:cNvPr id="60419"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04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Tree>
    <p:extLst>
      <p:ext uri="{BB962C8B-B14F-4D97-AF65-F5344CB8AC3E}">
        <p14:creationId xmlns:p14="http://schemas.microsoft.com/office/powerpoint/2010/main" val="20622947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818184F-9043-4A28-B447-43ADEA929668}" type="slidenum">
              <a:rPr lang="en-AU" altLang="en-US"/>
              <a:t>27</a:t>
            </a:fld>
            <a:endParaRPr lang="en-AU" altLang="en-US"/>
          </a:p>
        </p:txBody>
      </p:sp>
      <p:sp>
        <p:nvSpPr>
          <p:cNvPr id="61443" name="Rectangle 2"/>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Tree>
    <p:extLst>
      <p:ext uri="{BB962C8B-B14F-4D97-AF65-F5344CB8AC3E}">
        <p14:creationId xmlns:p14="http://schemas.microsoft.com/office/powerpoint/2010/main" val="19368322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dirty="0">
              <a:cs typeface="Arial" panose="020B0604020202020204" pitchFamily="34" charset="0"/>
            </a:endParaRPr>
          </a:p>
        </p:txBody>
      </p:sp>
    </p:spTree>
    <p:extLst>
      <p:ext uri="{BB962C8B-B14F-4D97-AF65-F5344CB8AC3E}">
        <p14:creationId xmlns:p14="http://schemas.microsoft.com/office/powerpoint/2010/main" val="3231994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ea typeface="ＭＳ Ｐゴシック" panose="020B0600070205080204" pitchFamily="34" charset="-128"/>
              <a:cs typeface="Arial" panose="020B0604020202020204" pitchFamily="34" charset="0"/>
            </a:endParaRPr>
          </a:p>
        </p:txBody>
      </p:sp>
      <p:sp>
        <p:nvSpPr>
          <p:cNvPr id="614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6514">
              <a:spcBef>
                <a:spcPct val="30000"/>
              </a:spcBef>
              <a:defRPr sz="1100">
                <a:solidFill>
                  <a:schemeClr val="tx1"/>
                </a:solidFill>
                <a:latin typeface="Verdana" panose="020B0604030504040204" pitchFamily="34" charset="0"/>
                <a:cs typeface="Arial" panose="020B0604020202020204" pitchFamily="34" charset="0"/>
              </a:defRPr>
            </a:lvl1pPr>
            <a:lvl2pPr marL="687116" indent="-264275" defTabSz="876514">
              <a:spcBef>
                <a:spcPct val="30000"/>
              </a:spcBef>
              <a:defRPr sz="1100">
                <a:solidFill>
                  <a:schemeClr val="tx1"/>
                </a:solidFill>
                <a:latin typeface="Verdana" panose="020B0604030504040204" pitchFamily="34" charset="0"/>
                <a:cs typeface="Arial" panose="020B0604020202020204" pitchFamily="34" charset="0"/>
              </a:defRPr>
            </a:lvl2pPr>
            <a:lvl3pPr marL="1057102" indent="-211421" defTabSz="876514">
              <a:spcBef>
                <a:spcPct val="30000"/>
              </a:spcBef>
              <a:defRPr sz="1100">
                <a:solidFill>
                  <a:schemeClr val="tx1"/>
                </a:solidFill>
                <a:latin typeface="Verdana" panose="020B0604030504040204" pitchFamily="34" charset="0"/>
                <a:cs typeface="Arial" panose="020B0604020202020204" pitchFamily="34" charset="0"/>
              </a:defRPr>
            </a:lvl3pPr>
            <a:lvl4pPr marL="1479942" indent="-211421" defTabSz="876514">
              <a:spcBef>
                <a:spcPct val="30000"/>
              </a:spcBef>
              <a:defRPr sz="1100">
                <a:solidFill>
                  <a:schemeClr val="tx1"/>
                </a:solidFill>
                <a:latin typeface="Verdana" panose="020B0604030504040204" pitchFamily="34" charset="0"/>
                <a:cs typeface="Arial" panose="020B0604020202020204" pitchFamily="34" charset="0"/>
              </a:defRPr>
            </a:lvl4pPr>
            <a:lvl5pPr marL="1902783" indent="-211421" defTabSz="876514">
              <a:spcBef>
                <a:spcPct val="30000"/>
              </a:spcBef>
              <a:defRPr sz="1100">
                <a:solidFill>
                  <a:schemeClr val="tx1"/>
                </a:solidFill>
                <a:latin typeface="Verdana" panose="020B0604030504040204" pitchFamily="34" charset="0"/>
                <a:cs typeface="Arial" panose="020B0604020202020204" pitchFamily="34" charset="0"/>
              </a:defRPr>
            </a:lvl5pPr>
            <a:lvl6pPr marL="2325624" indent="-211421" defTabSz="876514" eaLnBrk="0" fontAlgn="base" hangingPunct="0">
              <a:spcBef>
                <a:spcPct val="30000"/>
              </a:spcBef>
              <a:spcAft>
                <a:spcPct val="0"/>
              </a:spcAft>
              <a:defRPr sz="1100">
                <a:solidFill>
                  <a:schemeClr val="tx1"/>
                </a:solidFill>
                <a:latin typeface="Verdana" panose="020B0604030504040204" pitchFamily="34" charset="0"/>
                <a:cs typeface="Arial" panose="020B0604020202020204" pitchFamily="34" charset="0"/>
              </a:defRPr>
            </a:lvl6pPr>
            <a:lvl7pPr marL="2748464" indent="-211421" defTabSz="876514" eaLnBrk="0" fontAlgn="base" hangingPunct="0">
              <a:spcBef>
                <a:spcPct val="30000"/>
              </a:spcBef>
              <a:spcAft>
                <a:spcPct val="0"/>
              </a:spcAft>
              <a:defRPr sz="1100">
                <a:solidFill>
                  <a:schemeClr val="tx1"/>
                </a:solidFill>
                <a:latin typeface="Verdana" panose="020B0604030504040204" pitchFamily="34" charset="0"/>
                <a:cs typeface="Arial" panose="020B0604020202020204" pitchFamily="34" charset="0"/>
              </a:defRPr>
            </a:lvl7pPr>
            <a:lvl8pPr marL="3171306" indent="-211421" defTabSz="876514" eaLnBrk="0" fontAlgn="base" hangingPunct="0">
              <a:spcBef>
                <a:spcPct val="30000"/>
              </a:spcBef>
              <a:spcAft>
                <a:spcPct val="0"/>
              </a:spcAft>
              <a:defRPr sz="1100">
                <a:solidFill>
                  <a:schemeClr val="tx1"/>
                </a:solidFill>
                <a:latin typeface="Verdana" panose="020B0604030504040204" pitchFamily="34" charset="0"/>
                <a:cs typeface="Arial" panose="020B0604020202020204" pitchFamily="34" charset="0"/>
              </a:defRPr>
            </a:lvl8pPr>
            <a:lvl9pPr marL="3594146" indent="-211421" defTabSz="876514" eaLnBrk="0" fontAlgn="base" hangingPunct="0">
              <a:spcBef>
                <a:spcPct val="30000"/>
              </a:spcBef>
              <a:spcAft>
                <a:spcPct val="0"/>
              </a:spcAft>
              <a:defRPr sz="1100">
                <a:solidFill>
                  <a:schemeClr val="tx1"/>
                </a:solidFill>
                <a:latin typeface="Verdana" panose="020B0604030504040204" pitchFamily="34" charset="0"/>
                <a:cs typeface="Arial" panose="020B0604020202020204" pitchFamily="34" charset="0"/>
              </a:defRPr>
            </a:lvl9pPr>
          </a:lstStyle>
          <a:p>
            <a:pPr>
              <a:spcBef>
                <a:spcPct val="0"/>
              </a:spcBef>
            </a:pPr>
            <a:fld id="{9F9EB562-B39E-45C3-8F16-EDFCE908941B}" type="slidenum">
              <a:rPr lang="en-US" altLang="en-US">
                <a:latin typeface="Arial" panose="020B0604020202020204" pitchFamily="34" charset="0"/>
              </a:rPr>
              <a:pPr>
                <a:spcBef>
                  <a:spcPct val="0"/>
                </a:spcBef>
              </a:pPr>
              <a:t>31</a:t>
            </a:fld>
            <a:endParaRPr lang="en-US" altLang="en-US">
              <a:latin typeface="Arial" panose="020B0604020202020204" pitchFamily="34" charset="0"/>
            </a:endParaRPr>
          </a:p>
        </p:txBody>
      </p:sp>
    </p:spTree>
    <p:extLst>
      <p:ext uri="{BB962C8B-B14F-4D97-AF65-F5344CB8AC3E}">
        <p14:creationId xmlns:p14="http://schemas.microsoft.com/office/powerpoint/2010/main" val="1622488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cs typeface="Arial" panose="020B0604020202020204" pitchFamily="34" charset="0"/>
            </a:endParaRPr>
          </a:p>
        </p:txBody>
      </p:sp>
    </p:spTree>
    <p:extLst>
      <p:ext uri="{BB962C8B-B14F-4D97-AF65-F5344CB8AC3E}">
        <p14:creationId xmlns:p14="http://schemas.microsoft.com/office/powerpoint/2010/main" val="32319944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09648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Shape 12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dirty="0"/>
          </a:p>
        </p:txBody>
      </p:sp>
      <p:sp>
        <p:nvSpPr>
          <p:cNvPr id="127" name="Shape 12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76049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ts val="15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graph plots Sweetness on the horizontal axis and Social acceptability on the vertical axis, both ranging from low to high. </a:t>
            </a:r>
            <a:endParaRPr lang="en-NZ" sz="1800" dirty="0">
              <a:effectLst/>
              <a:latin typeface="Calibri" panose="020F0502020204030204" pitchFamily="34" charset="0"/>
              <a:ea typeface="Calibri" panose="020F0502020204030204" pitchFamily="34" charset="0"/>
            </a:endParaRPr>
          </a:p>
          <a:p>
            <a:pPr>
              <a:lnSpc>
                <a:spcPct val="115000"/>
              </a:lnSpc>
              <a:spcBef>
                <a:spcPts val="15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5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Three circles representing three carbonated beverage brands are depicted on the graph at different positions. </a:t>
            </a:r>
            <a:endParaRPr lang="en-NZ" sz="1800" dirty="0">
              <a:effectLst/>
              <a:latin typeface="Calibri" panose="020F0502020204030204" pitchFamily="34" charset="0"/>
              <a:ea typeface="Calibri" panose="020F0502020204030204" pitchFamily="34" charset="0"/>
            </a:endParaRPr>
          </a:p>
          <a:p>
            <a:pPr>
              <a:lnSpc>
                <a:spcPct val="115000"/>
              </a:lnSpc>
              <a:spcBef>
                <a:spcPts val="15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5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largest circle is labelled Coca-Cola which is high on social acceptability and medium on sweetness. </a:t>
            </a:r>
          </a:p>
          <a:p>
            <a:pPr>
              <a:lnSpc>
                <a:spcPct val="115000"/>
              </a:lnSpc>
              <a:spcBef>
                <a:spcPts val="15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5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medium-size circle is labelled Pepsi. It is shown below and to the right of the circle depicting Coca-Cola, indicating less social acceptability, but more sweetness in comparison. </a:t>
            </a:r>
            <a:endParaRPr lang="en-NZ" sz="1800" dirty="0">
              <a:effectLst/>
              <a:latin typeface="Calibri" panose="020F0502020204030204" pitchFamily="34" charset="0"/>
              <a:ea typeface="Calibri" panose="020F0502020204030204" pitchFamily="34" charset="0"/>
            </a:endParaRPr>
          </a:p>
          <a:p>
            <a:pPr>
              <a:lnSpc>
                <a:spcPct val="115000"/>
              </a:lnSpc>
              <a:spcBef>
                <a:spcPts val="1500"/>
              </a:spcBef>
              <a:spcAft>
                <a:spcPts val="1000"/>
              </a:spcAft>
            </a:pPr>
            <a:endParaRPr lang="en-AU" sz="1800" dirty="0">
              <a:effectLst/>
              <a:latin typeface="Calibri" panose="020F0502020204030204" pitchFamily="34" charset="0"/>
              <a:ea typeface="Times New Roman" panose="02020603050405020304" pitchFamily="18" charset="0"/>
              <a:cs typeface="Calibri" panose="020F0502020204030204" pitchFamily="34" charset="0"/>
            </a:endParaRPr>
          </a:p>
          <a:p>
            <a:pPr>
              <a:lnSpc>
                <a:spcPct val="115000"/>
              </a:lnSpc>
              <a:spcBef>
                <a:spcPts val="1500"/>
              </a:spcBef>
              <a:spcAft>
                <a:spcPts val="1000"/>
              </a:spcAft>
            </a:pPr>
            <a:r>
              <a:rPr lang="en-AU" sz="1800" dirty="0">
                <a:effectLst/>
                <a:latin typeface="Calibri" panose="020F0502020204030204" pitchFamily="34" charset="0"/>
                <a:ea typeface="Times New Roman" panose="02020603050405020304" pitchFamily="18" charset="0"/>
                <a:cs typeface="Calibri" panose="020F0502020204030204" pitchFamily="34" charset="0"/>
              </a:rPr>
              <a:t>The smallest circle labelled Solo is closer to the origin, indicating less sweetness and less social acceptability compared to the other two brands of beverages.</a:t>
            </a:r>
            <a:endParaRPr lang="en-NZ" sz="1800" dirty="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22018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Arial" panose="020B0604020202020204" pitchFamily="34" charset="0"/>
              </a:defRPr>
            </a:lvl1pPr>
            <a:lvl2pPr marL="687116" indent="-264275">
              <a:spcBef>
                <a:spcPct val="30000"/>
              </a:spcBef>
              <a:defRPr sz="1100">
                <a:solidFill>
                  <a:schemeClr val="tx1"/>
                </a:solidFill>
                <a:latin typeface="Arial" panose="020B0604020202020204" pitchFamily="34" charset="0"/>
              </a:defRPr>
            </a:lvl2pPr>
            <a:lvl3pPr marL="1057102" indent="-211421">
              <a:spcBef>
                <a:spcPct val="30000"/>
              </a:spcBef>
              <a:defRPr sz="1100">
                <a:solidFill>
                  <a:schemeClr val="tx1"/>
                </a:solidFill>
                <a:latin typeface="Arial" panose="020B0604020202020204" pitchFamily="34" charset="0"/>
              </a:defRPr>
            </a:lvl3pPr>
            <a:lvl4pPr marL="1479942" indent="-211421">
              <a:spcBef>
                <a:spcPct val="30000"/>
              </a:spcBef>
              <a:defRPr sz="1100">
                <a:solidFill>
                  <a:schemeClr val="tx1"/>
                </a:solidFill>
                <a:latin typeface="Arial" panose="020B0604020202020204" pitchFamily="34" charset="0"/>
              </a:defRPr>
            </a:lvl4pPr>
            <a:lvl5pPr marL="1902783" indent="-211421">
              <a:spcBef>
                <a:spcPct val="30000"/>
              </a:spcBef>
              <a:defRPr sz="1100">
                <a:solidFill>
                  <a:schemeClr val="tx1"/>
                </a:solidFill>
                <a:latin typeface="Arial" panose="020B0604020202020204" pitchFamily="34" charset="0"/>
              </a:defRPr>
            </a:lvl5pPr>
            <a:lvl6pPr marL="2325624" indent="-211421" eaLnBrk="0" fontAlgn="base" hangingPunct="0">
              <a:spcBef>
                <a:spcPct val="30000"/>
              </a:spcBef>
              <a:spcAft>
                <a:spcPct val="0"/>
              </a:spcAft>
              <a:defRPr sz="1100">
                <a:solidFill>
                  <a:schemeClr val="tx1"/>
                </a:solidFill>
                <a:latin typeface="Arial" panose="020B0604020202020204" pitchFamily="34" charset="0"/>
              </a:defRPr>
            </a:lvl6pPr>
            <a:lvl7pPr marL="2748464" indent="-211421" eaLnBrk="0" fontAlgn="base" hangingPunct="0">
              <a:spcBef>
                <a:spcPct val="30000"/>
              </a:spcBef>
              <a:spcAft>
                <a:spcPct val="0"/>
              </a:spcAft>
              <a:defRPr sz="1100">
                <a:solidFill>
                  <a:schemeClr val="tx1"/>
                </a:solidFill>
                <a:latin typeface="Arial" panose="020B0604020202020204" pitchFamily="34" charset="0"/>
              </a:defRPr>
            </a:lvl7pPr>
            <a:lvl8pPr marL="3171306" indent="-211421" eaLnBrk="0" fontAlgn="base" hangingPunct="0">
              <a:spcBef>
                <a:spcPct val="30000"/>
              </a:spcBef>
              <a:spcAft>
                <a:spcPct val="0"/>
              </a:spcAft>
              <a:defRPr sz="1100">
                <a:solidFill>
                  <a:schemeClr val="tx1"/>
                </a:solidFill>
                <a:latin typeface="Arial" panose="020B0604020202020204" pitchFamily="34" charset="0"/>
              </a:defRPr>
            </a:lvl8pPr>
            <a:lvl9pPr marL="3594146" indent="-211421" eaLnBrk="0" fontAlgn="base" hangingPunct="0">
              <a:spcBef>
                <a:spcPct val="30000"/>
              </a:spcBef>
              <a:spcAft>
                <a:spcPct val="0"/>
              </a:spcAft>
              <a:defRPr sz="1100">
                <a:solidFill>
                  <a:schemeClr val="tx1"/>
                </a:solidFill>
                <a:latin typeface="Arial" panose="020B0604020202020204" pitchFamily="34" charset="0"/>
              </a:defRPr>
            </a:lvl9pPr>
          </a:lstStyle>
          <a:p>
            <a:pPr>
              <a:spcBef>
                <a:spcPct val="0"/>
              </a:spcBef>
            </a:pPr>
            <a:fld id="{87296C0E-022B-4E3D-B43E-3E6BB53F1374}" type="slidenum">
              <a:rPr lang="en-AU" altLang="en-US" smtClean="0"/>
              <a:pPr>
                <a:spcBef>
                  <a:spcPct val="0"/>
                </a:spcBef>
              </a:pPr>
              <a:t>37</a:t>
            </a:fld>
            <a:endParaRPr lang="en-AU" altLang="en-US"/>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latin typeface="Arial" panose="020B0604020202020204" pitchFamily="34" charset="0"/>
              </a:rPr>
              <a:t>Relates to objective 4 &amp; 5</a:t>
            </a:r>
          </a:p>
        </p:txBody>
      </p:sp>
    </p:spTree>
    <p:extLst>
      <p:ext uri="{BB962C8B-B14F-4D97-AF65-F5344CB8AC3E}">
        <p14:creationId xmlns:p14="http://schemas.microsoft.com/office/powerpoint/2010/main" val="3295099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Arial" panose="020B0604020202020204" pitchFamily="34" charset="0"/>
              </a:defRPr>
            </a:lvl1pPr>
            <a:lvl2pPr marL="687116" indent="-264275">
              <a:spcBef>
                <a:spcPct val="30000"/>
              </a:spcBef>
              <a:defRPr sz="1100">
                <a:solidFill>
                  <a:schemeClr val="tx1"/>
                </a:solidFill>
                <a:latin typeface="Arial" panose="020B0604020202020204" pitchFamily="34" charset="0"/>
              </a:defRPr>
            </a:lvl2pPr>
            <a:lvl3pPr marL="1057102" indent="-211421">
              <a:spcBef>
                <a:spcPct val="30000"/>
              </a:spcBef>
              <a:defRPr sz="1100">
                <a:solidFill>
                  <a:schemeClr val="tx1"/>
                </a:solidFill>
                <a:latin typeface="Arial" panose="020B0604020202020204" pitchFamily="34" charset="0"/>
              </a:defRPr>
            </a:lvl3pPr>
            <a:lvl4pPr marL="1479942" indent="-211421">
              <a:spcBef>
                <a:spcPct val="30000"/>
              </a:spcBef>
              <a:defRPr sz="1100">
                <a:solidFill>
                  <a:schemeClr val="tx1"/>
                </a:solidFill>
                <a:latin typeface="Arial" panose="020B0604020202020204" pitchFamily="34" charset="0"/>
              </a:defRPr>
            </a:lvl4pPr>
            <a:lvl5pPr marL="1902783" indent="-211421">
              <a:spcBef>
                <a:spcPct val="30000"/>
              </a:spcBef>
              <a:defRPr sz="1100">
                <a:solidFill>
                  <a:schemeClr val="tx1"/>
                </a:solidFill>
                <a:latin typeface="Arial" panose="020B0604020202020204" pitchFamily="34" charset="0"/>
              </a:defRPr>
            </a:lvl5pPr>
            <a:lvl6pPr marL="2325624" indent="-211421" eaLnBrk="0" fontAlgn="base" hangingPunct="0">
              <a:spcBef>
                <a:spcPct val="30000"/>
              </a:spcBef>
              <a:spcAft>
                <a:spcPct val="0"/>
              </a:spcAft>
              <a:defRPr sz="1100">
                <a:solidFill>
                  <a:schemeClr val="tx1"/>
                </a:solidFill>
                <a:latin typeface="Arial" panose="020B0604020202020204" pitchFamily="34" charset="0"/>
              </a:defRPr>
            </a:lvl6pPr>
            <a:lvl7pPr marL="2748464" indent="-211421" eaLnBrk="0" fontAlgn="base" hangingPunct="0">
              <a:spcBef>
                <a:spcPct val="30000"/>
              </a:spcBef>
              <a:spcAft>
                <a:spcPct val="0"/>
              </a:spcAft>
              <a:defRPr sz="1100">
                <a:solidFill>
                  <a:schemeClr val="tx1"/>
                </a:solidFill>
                <a:latin typeface="Arial" panose="020B0604020202020204" pitchFamily="34" charset="0"/>
              </a:defRPr>
            </a:lvl7pPr>
            <a:lvl8pPr marL="3171306" indent="-211421" eaLnBrk="0" fontAlgn="base" hangingPunct="0">
              <a:spcBef>
                <a:spcPct val="30000"/>
              </a:spcBef>
              <a:spcAft>
                <a:spcPct val="0"/>
              </a:spcAft>
              <a:defRPr sz="1100">
                <a:solidFill>
                  <a:schemeClr val="tx1"/>
                </a:solidFill>
                <a:latin typeface="Arial" panose="020B0604020202020204" pitchFamily="34" charset="0"/>
              </a:defRPr>
            </a:lvl8pPr>
            <a:lvl9pPr marL="3594146" indent="-211421" eaLnBrk="0" fontAlgn="base" hangingPunct="0">
              <a:spcBef>
                <a:spcPct val="30000"/>
              </a:spcBef>
              <a:spcAft>
                <a:spcPct val="0"/>
              </a:spcAft>
              <a:defRPr sz="1100">
                <a:solidFill>
                  <a:schemeClr val="tx1"/>
                </a:solidFill>
                <a:latin typeface="Arial" panose="020B0604020202020204" pitchFamily="34" charset="0"/>
              </a:defRPr>
            </a:lvl9pPr>
          </a:lstStyle>
          <a:p>
            <a:pPr>
              <a:spcBef>
                <a:spcPct val="0"/>
              </a:spcBef>
            </a:pPr>
            <a:fld id="{EB799780-7CD6-44E7-B971-E9B291684302}" type="slidenum">
              <a:rPr lang="en-AU" altLang="en-US" smtClean="0"/>
              <a:pPr>
                <a:spcBef>
                  <a:spcPct val="0"/>
                </a:spcBef>
              </a:pPr>
              <a:t>38</a:t>
            </a:fld>
            <a:endParaRPr lang="en-AU" alt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AU" altLang="en-US">
                <a:latin typeface="Arial" panose="020B0604020202020204" pitchFamily="34" charset="0"/>
              </a:rPr>
              <a:t>Relates to objective 4</a:t>
            </a:r>
          </a:p>
        </p:txBody>
      </p:sp>
    </p:spTree>
    <p:extLst>
      <p:ext uri="{BB962C8B-B14F-4D97-AF65-F5344CB8AC3E}">
        <p14:creationId xmlns:p14="http://schemas.microsoft.com/office/powerpoint/2010/main" val="30750516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100">
                <a:solidFill>
                  <a:schemeClr val="tx1"/>
                </a:solidFill>
                <a:latin typeface="Arial" panose="020B0604020202020204" pitchFamily="34" charset="0"/>
              </a:defRPr>
            </a:lvl1pPr>
            <a:lvl2pPr marL="687116" indent="-264275">
              <a:spcBef>
                <a:spcPct val="30000"/>
              </a:spcBef>
              <a:defRPr sz="1100">
                <a:solidFill>
                  <a:schemeClr val="tx1"/>
                </a:solidFill>
                <a:latin typeface="Arial" panose="020B0604020202020204" pitchFamily="34" charset="0"/>
              </a:defRPr>
            </a:lvl2pPr>
            <a:lvl3pPr marL="1057102" indent="-211421">
              <a:spcBef>
                <a:spcPct val="30000"/>
              </a:spcBef>
              <a:defRPr sz="1100">
                <a:solidFill>
                  <a:schemeClr val="tx1"/>
                </a:solidFill>
                <a:latin typeface="Arial" panose="020B0604020202020204" pitchFamily="34" charset="0"/>
              </a:defRPr>
            </a:lvl3pPr>
            <a:lvl4pPr marL="1479942" indent="-211421">
              <a:spcBef>
                <a:spcPct val="30000"/>
              </a:spcBef>
              <a:defRPr sz="1100">
                <a:solidFill>
                  <a:schemeClr val="tx1"/>
                </a:solidFill>
                <a:latin typeface="Arial" panose="020B0604020202020204" pitchFamily="34" charset="0"/>
              </a:defRPr>
            </a:lvl4pPr>
            <a:lvl5pPr marL="1902783" indent="-211421">
              <a:spcBef>
                <a:spcPct val="30000"/>
              </a:spcBef>
              <a:defRPr sz="1100">
                <a:solidFill>
                  <a:schemeClr val="tx1"/>
                </a:solidFill>
                <a:latin typeface="Arial" panose="020B0604020202020204" pitchFamily="34" charset="0"/>
              </a:defRPr>
            </a:lvl5pPr>
            <a:lvl6pPr marL="2325624" indent="-211421" eaLnBrk="0" fontAlgn="base" hangingPunct="0">
              <a:spcBef>
                <a:spcPct val="30000"/>
              </a:spcBef>
              <a:spcAft>
                <a:spcPct val="0"/>
              </a:spcAft>
              <a:defRPr sz="1100">
                <a:solidFill>
                  <a:schemeClr val="tx1"/>
                </a:solidFill>
                <a:latin typeface="Arial" panose="020B0604020202020204" pitchFamily="34" charset="0"/>
              </a:defRPr>
            </a:lvl6pPr>
            <a:lvl7pPr marL="2748464" indent="-211421" eaLnBrk="0" fontAlgn="base" hangingPunct="0">
              <a:spcBef>
                <a:spcPct val="30000"/>
              </a:spcBef>
              <a:spcAft>
                <a:spcPct val="0"/>
              </a:spcAft>
              <a:defRPr sz="1100">
                <a:solidFill>
                  <a:schemeClr val="tx1"/>
                </a:solidFill>
                <a:latin typeface="Arial" panose="020B0604020202020204" pitchFamily="34" charset="0"/>
              </a:defRPr>
            </a:lvl7pPr>
            <a:lvl8pPr marL="3171306" indent="-211421" eaLnBrk="0" fontAlgn="base" hangingPunct="0">
              <a:spcBef>
                <a:spcPct val="30000"/>
              </a:spcBef>
              <a:spcAft>
                <a:spcPct val="0"/>
              </a:spcAft>
              <a:defRPr sz="1100">
                <a:solidFill>
                  <a:schemeClr val="tx1"/>
                </a:solidFill>
                <a:latin typeface="Arial" panose="020B0604020202020204" pitchFamily="34" charset="0"/>
              </a:defRPr>
            </a:lvl8pPr>
            <a:lvl9pPr marL="3594146" indent="-211421" eaLnBrk="0" fontAlgn="base" hangingPunct="0">
              <a:spcBef>
                <a:spcPct val="30000"/>
              </a:spcBef>
              <a:spcAft>
                <a:spcPct val="0"/>
              </a:spcAft>
              <a:defRPr sz="1100">
                <a:solidFill>
                  <a:schemeClr val="tx1"/>
                </a:solidFill>
                <a:latin typeface="Arial" panose="020B0604020202020204" pitchFamily="34" charset="0"/>
              </a:defRPr>
            </a:lvl9pPr>
          </a:lstStyle>
          <a:p>
            <a:pPr>
              <a:spcBef>
                <a:spcPct val="0"/>
              </a:spcBef>
            </a:pPr>
            <a:fld id="{B8891F19-BF32-4C0D-B970-6793FC6AEB67}" type="slidenum">
              <a:rPr lang="en-US" altLang="en-US" smtClean="0"/>
              <a:pPr>
                <a:spcBef>
                  <a:spcPct val="0"/>
                </a:spcBef>
              </a:pPr>
              <a:t>41</a:t>
            </a:fld>
            <a:endParaRPr lang="en-US" altLang="en-US"/>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583265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en-US">
              <a:cs typeface="Arial" panose="020B0604020202020204" pitchFamily="34" charset="0"/>
            </a:endParaRPr>
          </a:p>
        </p:txBody>
      </p:sp>
    </p:spTree>
    <p:extLst>
      <p:ext uri="{BB962C8B-B14F-4D97-AF65-F5344CB8AC3E}">
        <p14:creationId xmlns:p14="http://schemas.microsoft.com/office/powerpoint/2010/main" val="3231994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editable copyright line">
    <p:spTree>
      <p:nvGrpSpPr>
        <p:cNvPr id="1" name="Shape 17"/>
        <p:cNvGrpSpPr/>
        <p:nvPr/>
      </p:nvGrpSpPr>
      <p:grpSpPr>
        <a:xfrm>
          <a:off x="0" y="0"/>
          <a:ext cx="0" cy="0"/>
          <a:chOff x="0" y="0"/>
          <a:chExt cx="0" cy="0"/>
        </a:xfrm>
      </p:grpSpPr>
      <p:sp>
        <p:nvSpPr>
          <p:cNvPr id="18" name="Background"/>
          <p:cNvSpPr/>
          <p:nvPr/>
        </p:nvSpPr>
        <p:spPr>
          <a:xfrm>
            <a:off x="0" y="-9525"/>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1"/>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ubtitle"/>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Copyright line">
            <a:extLst>
              <a:ext uri="{FF2B5EF4-FFF2-40B4-BE49-F238E27FC236}">
                <a16:creationId xmlns:a16="http://schemas.microsoft.com/office/drawing/2014/main" id="{0291B9DA-1DAD-4AB4-94B2-688DFC8B093A}"/>
              </a:ext>
            </a:extLst>
          </p:cNvPr>
          <p:cNvSpPr>
            <a:spLocks noGrp="1"/>
          </p:cNvSpPr>
          <p:nvPr>
            <p:ph type="body" sz="quarter" idx="13"/>
          </p:nvPr>
        </p:nvSpPr>
        <p:spPr>
          <a:xfrm>
            <a:off x="1494693" y="6407662"/>
            <a:ext cx="7194635" cy="334534"/>
          </a:xfrm>
        </p:spPr>
        <p:txBody>
          <a:bodyPr/>
          <a:lstStyle>
            <a:lvl1pPr marL="101600" indent="0" algn="r">
              <a:buNone/>
              <a:defRPr sz="1200">
                <a:latin typeface="Verdana" panose="020B0604030504040204" pitchFamily="34" charset="0"/>
                <a:ea typeface="Verdana" panose="020B0604030504040204" pitchFamily="34" charset="0"/>
                <a:cs typeface="Verdana" panose="020B0604030504040204" pitchFamily="34" charset="0"/>
              </a:defRPr>
            </a:lvl1pPr>
            <a:lvl2pPr>
              <a:defRPr sz="1200">
                <a:latin typeface="Verdana" panose="020B0604030504040204" pitchFamily="34" charset="0"/>
                <a:ea typeface="Verdana" panose="020B0604030504040204" pitchFamily="34" charset="0"/>
                <a:cs typeface="Verdana" panose="020B0604030504040204" pitchFamily="34" charset="0"/>
              </a:defRPr>
            </a:lvl2pPr>
            <a:lvl3pPr>
              <a:defRPr sz="1200">
                <a:latin typeface="Verdana" panose="020B0604030504040204" pitchFamily="34" charset="0"/>
                <a:ea typeface="Verdana" panose="020B0604030504040204" pitchFamily="34" charset="0"/>
                <a:cs typeface="Verdana" panose="020B0604030504040204" pitchFamily="34" charset="0"/>
              </a:defRPr>
            </a:lvl3pPr>
            <a:lvl4pPr>
              <a:defRPr sz="1200">
                <a:latin typeface="Verdana" panose="020B0604030504040204" pitchFamily="34" charset="0"/>
                <a:ea typeface="Verdana" panose="020B0604030504040204" pitchFamily="34" charset="0"/>
                <a:cs typeface="Verdana" panose="020B0604030504040204" pitchFamily="34" charset="0"/>
              </a:defRPr>
            </a:lvl4pPr>
            <a:lvl5pPr>
              <a:defRPr sz="1200">
                <a:latin typeface="Verdana" panose="020B0604030504040204" pitchFamily="34" charset="0"/>
                <a:ea typeface="Verdana" panose="020B0604030504040204" pitchFamily="34" charset="0"/>
                <a:cs typeface="Verdana" panose="020B0604030504040204" pitchFamily="34" charset="0"/>
              </a:defRPr>
            </a:lvl5pPr>
          </a:lstStyle>
          <a:p>
            <a:pPr lvl="0"/>
            <a:endParaRPr lang="en-US" dirty="0"/>
          </a:p>
        </p:txBody>
      </p:sp>
      <p:sp>
        <p:nvSpPr>
          <p:cNvPr id="2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lide #"/>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3401267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hapter Opener editable copyright line">
    <p:spTree>
      <p:nvGrpSpPr>
        <p:cNvPr id="1" name="Shape 37"/>
        <p:cNvGrpSpPr/>
        <p:nvPr/>
      </p:nvGrpSpPr>
      <p:grpSpPr>
        <a:xfrm>
          <a:off x="0" y="0"/>
          <a:ext cx="0" cy="0"/>
          <a:chOff x="0" y="0"/>
          <a:chExt cx="0" cy="0"/>
        </a:xfrm>
      </p:grpSpPr>
      <p:sp>
        <p:nvSpPr>
          <p:cNvPr id="38" name="Title"/>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Subtitle"/>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0" name="Chapter Number"/>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dirty="0"/>
          </a:p>
        </p:txBody>
      </p:sp>
      <p:sp>
        <p:nvSpPr>
          <p:cNvPr id="41" name="Chapter title"/>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3" name="Book cover">
            <a:extLst>
              <a:ext uri="{FF2B5EF4-FFF2-40B4-BE49-F238E27FC236}">
                <a16:creationId xmlns:a16="http://schemas.microsoft.com/office/drawing/2014/main" id="{0321E090-1CF7-424F-AB1C-A74C4C5178D1}"/>
              </a:ext>
            </a:extLst>
          </p:cNvPr>
          <p:cNvSpPr>
            <a:spLocks noGrp="1"/>
          </p:cNvSpPr>
          <p:nvPr>
            <p:ph type="pic" sz="quarter" idx="13"/>
          </p:nvPr>
        </p:nvSpPr>
        <p:spPr>
          <a:xfrm>
            <a:off x="457200" y="1600200"/>
            <a:ext cx="4360863" cy="4565650"/>
          </a:xfrm>
        </p:spPr>
        <p:txBody>
          <a:bodyPr/>
          <a:lstStyle/>
          <a:p>
            <a:endParaRPr lang="en-US" dirty="0"/>
          </a:p>
        </p:txBody>
      </p:sp>
      <p:sp>
        <p:nvSpPr>
          <p:cNvPr id="9" name="Copyright line"/>
          <p:cNvSpPr>
            <a:spLocks noGrp="1"/>
          </p:cNvSpPr>
          <p:nvPr>
            <p:ph type="body" sz="quarter" idx="17" hasCustomPrompt="1"/>
          </p:nvPr>
        </p:nvSpPr>
        <p:spPr>
          <a:xfrm>
            <a:off x="1452563" y="6165850"/>
            <a:ext cx="7234237" cy="509704"/>
          </a:xfrm>
        </p:spPr>
        <p:txBody>
          <a:bodyPr vert="horz"/>
          <a:lstStyle>
            <a:lvl1pPr marL="101600" indent="0" algn="r">
              <a:buNone/>
              <a:defRPr sz="1200">
                <a:latin typeface="Verdana"/>
                <a:cs typeface="Verdana"/>
              </a:defRPr>
            </a:lvl1pPr>
          </a:lstStyle>
          <a:p>
            <a:pPr marL="0" lvl="0">
              <a:spcBef>
                <a:spcPts val="0"/>
              </a:spcBef>
              <a:buClr>
                <a:schemeClr val="lt2"/>
              </a:buClr>
            </a:pPr>
            <a:r>
              <a:rPr lang="en-AU" dirty="0">
                <a:solidFill>
                  <a:schemeClr val="tx1"/>
                </a:solidFill>
                <a:ea typeface="Open Sans"/>
                <a:sym typeface="Open Sans"/>
              </a:rPr>
              <a:t>Copyright © 2021 Pearson Australia (a division of Pearson Australia Group Pty Ltd)</a:t>
            </a:r>
          </a:p>
          <a:p>
            <a:pPr marL="0" lvl="0">
              <a:spcBef>
                <a:spcPts val="0"/>
              </a:spcBef>
              <a:buClr>
                <a:schemeClr val="lt2"/>
              </a:buClr>
            </a:pPr>
            <a:r>
              <a:rPr lang="en-AU" dirty="0">
                <a:solidFill>
                  <a:schemeClr val="tx1"/>
                </a:solidFill>
                <a:ea typeface="Open Sans"/>
                <a:sym typeface="Open Sans"/>
              </a:rPr>
              <a:t>9781488626203/Armstrong/Principles of Marketing, 8e</a:t>
            </a:r>
            <a:endParaRPr lang="en-AU" dirty="0">
              <a:solidFill>
                <a:schemeClr val="tx1"/>
              </a:solidFill>
            </a:endParaRPr>
          </a:p>
          <a:p>
            <a:pPr lvl="0"/>
            <a:endParaRPr lang="en-US" dirty="0"/>
          </a:p>
        </p:txBody>
      </p:sp>
      <p:sp>
        <p:nvSpPr>
          <p:cNvPr id="4" name="Date"/>
          <p:cNvSpPr>
            <a:spLocks noGrp="1"/>
          </p:cNvSpPr>
          <p:nvPr>
            <p:ph type="dt" idx="14"/>
          </p:nvPr>
        </p:nvSpPr>
        <p:spPr/>
        <p:txBody>
          <a:bodyPr/>
          <a:lstStyle/>
          <a:p>
            <a:endParaRPr lang="en-US" dirty="0"/>
          </a:p>
        </p:txBody>
      </p:sp>
      <p:sp>
        <p:nvSpPr>
          <p:cNvPr id="6" name="Slide Number"/>
          <p:cNvSpPr>
            <a:spLocks noGrp="1"/>
          </p:cNvSpPr>
          <p:nvPr>
            <p:ph type="sldNum" idx="16"/>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95558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Shape 24"/>
        <p:cNvGrpSpPr/>
        <p:nvPr/>
      </p:nvGrpSpPr>
      <p:grpSpPr>
        <a:xfrm>
          <a:off x="0" y="0"/>
          <a:ext cx="0" cy="0"/>
          <a:chOff x="0" y="0"/>
          <a:chExt cx="0" cy="0"/>
        </a:xfrm>
      </p:grpSpPr>
      <p:sp>
        <p:nvSpPr>
          <p:cNvPr id="2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a:extLst>
              <a:ext uri="{FF2B5EF4-FFF2-40B4-BE49-F238E27FC236}">
                <a16:creationId xmlns:a16="http://schemas.microsoft.com/office/drawing/2014/main" id="{00F45AE3-EB76-41DE-97B2-CFE79B73D3C6}"/>
              </a:ext>
            </a:extLst>
          </p:cNvPr>
          <p:cNvSpPr>
            <a:spLocks noGrp="1"/>
          </p:cNvSpPr>
          <p:nvPr>
            <p:ph sz="quarter" idx="13" hasCustomPrompt="1"/>
          </p:nvPr>
        </p:nvSpPr>
        <p:spPr>
          <a:xfrm>
            <a:off x="457200" y="1441450"/>
            <a:ext cx="8232775" cy="4598988"/>
          </a:xfrm>
        </p:spPr>
        <p:txBody>
          <a:bodyPr/>
          <a:lstStyle>
            <a:lvl1pPr marL="1588" indent="0">
              <a:buNone/>
              <a:defRPr sz="2400"/>
            </a:lvl1pPr>
          </a:lstStyle>
          <a:p>
            <a:pPr lvl="0"/>
            <a:r>
              <a:rPr lang="en-US" dirty="0"/>
              <a:t>Edit Master text styles</a:t>
            </a:r>
          </a:p>
        </p:txBody>
      </p:sp>
      <p:sp>
        <p:nvSpPr>
          <p:cNvPr id="27"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8"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945034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598988"/>
          </a:xfrm>
        </p:spPr>
        <p:txBody>
          <a:bodyPr/>
          <a:lstStyle>
            <a:lvl1pPr marL="360363" indent="-258763">
              <a:defRPr sz="2400"/>
            </a:lvl1pPr>
            <a:lvl2pPr marL="809625" indent="-250825">
              <a:defRPr sz="2400"/>
            </a:lvl2pPr>
            <a:lvl3pPr marL="1260475" indent="-244475">
              <a:defRPr sz="2000"/>
            </a:lvl3pPr>
            <a:lvl4pPr marL="1700213" indent="-227013">
              <a:defRPr sz="2000"/>
            </a:lvl4pPr>
            <a:lvl5pPr marL="2149475" indent="-219075">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Shape 17"/>
        <p:cNvGrpSpPr/>
        <p:nvPr/>
      </p:nvGrpSpPr>
      <p:grpSpPr>
        <a:xfrm>
          <a:off x="0" y="0"/>
          <a:ext cx="0" cy="0"/>
          <a:chOff x="0" y="0"/>
          <a:chExt cx="0" cy="0"/>
        </a:xfrm>
      </p:grpSpPr>
      <p:sp>
        <p:nvSpPr>
          <p:cNvPr id="18" name="Background"/>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Subtitle"/>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Arial"/>
              <a:cs typeface="Arial"/>
              <a:sym typeface="Arial"/>
            </a:endParaRPr>
          </a:p>
        </p:txBody>
      </p:sp>
      <p:sp>
        <p:nvSpPr>
          <p:cNvPr id="2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Figure number"/>
          <p:cNvSpPr txBox="1">
            <a:spLocks noGrp="1"/>
          </p:cNvSpPr>
          <p:nvPr>
            <p:ph type="title" hasCustomPrompt="1"/>
          </p:nvPr>
        </p:nvSpPr>
        <p:spPr>
          <a:xfrm>
            <a:off x="457200" y="228600"/>
            <a:ext cx="8229600" cy="672657"/>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a:t>
            </a:r>
            <a:endParaRPr dirty="0"/>
          </a:p>
        </p:txBody>
      </p:sp>
      <p:sp>
        <p:nvSpPr>
          <p:cNvPr id="4" name="Figure title"/>
          <p:cNvSpPr>
            <a:spLocks noGrp="1"/>
          </p:cNvSpPr>
          <p:nvPr>
            <p:ph type="body" sz="quarter" idx="14" hasCustomPrompt="1"/>
          </p:nvPr>
        </p:nvSpPr>
        <p:spPr>
          <a:xfrm>
            <a:off x="457200" y="901257"/>
            <a:ext cx="8232775" cy="611631"/>
          </a:xfrm>
        </p:spPr>
        <p:txBody>
          <a:bodyPr vert="horz"/>
          <a:lstStyle>
            <a:lvl1pPr marL="0" indent="0">
              <a:buNone/>
              <a:defRPr sz="2400" b="1">
                <a:solidFill>
                  <a:srgbClr val="007FA3"/>
                </a:solidFill>
              </a:defRPr>
            </a:lvl1pPr>
          </a:lstStyle>
          <a:p>
            <a:pPr lvl="0"/>
            <a:r>
              <a:rPr lang="en-AU" dirty="0"/>
              <a:t>Click to add figure title</a:t>
            </a:r>
          </a:p>
        </p:txBody>
      </p:sp>
      <p:sp>
        <p:nvSpPr>
          <p:cNvPr id="3" name="Picture placeholder">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720546"/>
          </a:xfrm>
        </p:spPr>
        <p:txBody>
          <a:bodyPr/>
          <a:lstStyle/>
          <a:p>
            <a:endParaRPr lang="en-US" dirty="0"/>
          </a:p>
        </p:txBody>
      </p:sp>
      <p:sp>
        <p:nvSpPr>
          <p:cNvPr id="55" name="Figure caption"/>
          <p:cNvSpPr txBox="1">
            <a:spLocks noGrp="1"/>
          </p:cNvSpPr>
          <p:nvPr>
            <p:ph type="body" idx="1" hasCustomPrompt="1"/>
          </p:nvPr>
        </p:nvSpPr>
        <p:spPr>
          <a:xfrm>
            <a:off x="457200" y="5233434"/>
            <a:ext cx="8229600" cy="835904"/>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6"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7"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Figure number and title">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dirty="0"/>
          </a:p>
        </p:txBody>
      </p:sp>
      <p:sp>
        <p:nvSpPr>
          <p:cNvPr id="11" name="Caption">
            <a:extLst>
              <a:ext uri="{FF2B5EF4-FFF2-40B4-BE49-F238E27FC236}">
                <a16:creationId xmlns:a16="http://schemas.microsoft.com/office/drawing/2014/main" id="{F059F1CC-D06F-4B10-B166-6D6F2C786A37}"/>
              </a:ext>
            </a:extLst>
          </p:cNvPr>
          <p:cNvSpPr>
            <a:spLocks noGrp="1"/>
          </p:cNvSpPr>
          <p:nvPr>
            <p:ph type="body" sz="quarter" idx="15" hasCustomPrompt="1"/>
          </p:nvPr>
        </p:nvSpPr>
        <p:spPr>
          <a:xfrm>
            <a:off x="5192713" y="5399088"/>
            <a:ext cx="3592512" cy="490537"/>
          </a:xfrm>
        </p:spPr>
        <p:txBody>
          <a:bodyPr/>
          <a:lstStyle>
            <a:lvl1pPr marL="101600" indent="0">
              <a:buNone/>
              <a:defRPr sz="1200"/>
            </a:lvl1pPr>
          </a:lstStyle>
          <a:p>
            <a:pPr lvl="0"/>
            <a:r>
              <a:rPr lang="en-US" dirty="0"/>
              <a:t>Caption</a:t>
            </a:r>
          </a:p>
        </p:txBody>
      </p:sp>
      <p:sp>
        <p:nvSpPr>
          <p:cNvPr id="5" name="Footer">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ection title"/>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Tex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2"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76"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7"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8"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065091D3-E16C-46AB-9A90-0F52CA812534}"/>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957388"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22325" y="2643044"/>
            <a:ext cx="1957388"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22325" y="3613151"/>
            <a:ext cx="1957388"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6729412" y="1681163"/>
            <a:ext cx="1957388"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6729413" y="2651910"/>
            <a:ext cx="1957387"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6729413" y="3613151"/>
            <a:ext cx="1957387" cy="627063"/>
          </a:xfrm>
        </p:spPr>
        <p:txBody>
          <a:bodyPr/>
          <a:lstStyle>
            <a:lvl1pPr marL="101600" indent="0">
              <a:buNone/>
              <a:defRPr/>
            </a:lvl1pPr>
          </a:lstStyle>
          <a:p>
            <a:pPr lvl="0"/>
            <a:r>
              <a:rPr lang="en-US" dirty="0"/>
              <a:t>Label 6</a:t>
            </a:r>
          </a:p>
        </p:txBody>
      </p:sp>
      <p:sp>
        <p:nvSpPr>
          <p:cNvPr id="5" name="Footer">
            <a:extLst>
              <a:ext uri="{FF2B5EF4-FFF2-40B4-BE49-F238E27FC236}">
                <a16:creationId xmlns:a16="http://schemas.microsoft.com/office/drawing/2014/main" id="{237B7866-709E-4B26-BCD7-5CF284C134CA}"/>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5" name="Footer">
            <a:extLst>
              <a:ext uri="{FF2B5EF4-FFF2-40B4-BE49-F238E27FC236}">
                <a16:creationId xmlns:a16="http://schemas.microsoft.com/office/drawing/2014/main" id="{E2476705-5AD3-4E05-9DCF-CA01EBF96B12}"/>
              </a:ext>
            </a:extLst>
          </p:cNvPr>
          <p:cNvSpPr>
            <a:spLocks noGrp="1"/>
          </p:cNvSpPr>
          <p:nvPr>
            <p:ph type="ftr" sz="quarter" idx="12"/>
          </p:nvPr>
        </p:nvSpPr>
        <p:spPr/>
        <p:txBody>
          <a:bodyPr/>
          <a:lstStyle/>
          <a:p>
            <a:endParaRPr lang="en-US" dirty="0"/>
          </a:p>
        </p:txBody>
      </p:sp>
      <p:sp>
        <p:nvSpPr>
          <p:cNvPr id="3" name="Date">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Footer"/>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1"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2"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91890" y="0"/>
            <a:ext cx="8373208" cy="552892"/>
          </a:xfrm>
        </p:spPr>
        <p:txBody>
          <a:bodyPr/>
          <a:lstStyle>
            <a:lvl1pPr>
              <a:defRPr baseline="0">
                <a:solidFill>
                  <a:srgbClr val="C00000"/>
                </a:solidFill>
              </a:defRPr>
            </a:lvl1pPr>
          </a:lstStyle>
          <a:p>
            <a:r>
              <a:rPr lang="en-US" dirty="0"/>
              <a:t> Click to edit Master title style</a:t>
            </a:r>
            <a:endParaRPr lang="en-GB"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98004199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4">
            <a:alphaModFix/>
          </a:blip>
          <a:srcRect/>
          <a:stretch/>
        </p:blipFill>
        <p:spPr>
          <a:xfrm>
            <a:off x="443972" y="6429709"/>
            <a:ext cx="917999" cy="279914"/>
          </a:xfrm>
          <a:prstGeom prst="rect">
            <a:avLst/>
          </a:prstGeom>
          <a:noFill/>
          <a:ln>
            <a:noFill/>
          </a:ln>
        </p:spPr>
      </p:pic>
      <p:sp>
        <p:nvSpPr>
          <p:cNvPr id="16" name="Shape 16"/>
          <p:cNvSpPr txBox="1"/>
          <p:nvPr/>
        </p:nvSpPr>
        <p:spPr>
          <a:xfrm>
            <a:off x="1524001" y="6229160"/>
            <a:ext cx="7162799" cy="428656"/>
          </a:xfrm>
          <a:prstGeom prst="rect">
            <a:avLst/>
          </a:prstGeom>
          <a:noFill/>
          <a:ln>
            <a:noFill/>
          </a:ln>
        </p:spPr>
        <p:txBody>
          <a:bodyPr lIns="91425" tIns="45700" rIns="91425" bIns="45700" anchor="t" anchorCtr="0">
            <a:noAutofit/>
          </a:bodyPr>
          <a:lstStyle/>
          <a:p>
            <a:pPr marL="0" lvl="0" algn="r">
              <a:spcBef>
                <a:spcPts val="0"/>
              </a:spcBef>
              <a:buClr>
                <a:schemeClr val="lt2"/>
              </a:buClr>
            </a:pPr>
            <a:endParaRPr lang="en-AU" sz="1200" b="0" i="0" u="none" strike="noStrike" cap="none" dirty="0">
              <a:solidFill>
                <a:schemeClr val="tx1"/>
              </a:solidFill>
              <a:latin typeface="Verdana"/>
              <a:ea typeface="Arial"/>
              <a:cs typeface="Verdana"/>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524916008"/>
      </p:ext>
    </p:extLst>
  </p:cSld>
  <p:clrMap bg1="lt1" tx1="dk1" bg2="dk2" tx2="lt2" accent1="accent1" accent2="accent2" accent3="accent3" accent4="accent4" accent5="accent5" accent6="accent6" hlink="hlink" folHlink="folHlink"/>
  <p:sldLayoutIdLst>
    <p:sldLayoutId id="2147483688" r:id="rId1"/>
    <p:sldLayoutId id="214748368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Text box"/>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Date"/>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lide numbe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15" name="Pearson logo" descr="Pearson Logo"/>
          <p:cNvPicPr preferRelativeResize="0"/>
          <p:nvPr/>
        </p:nvPicPr>
        <p:blipFill rotWithShape="1">
          <a:blip r:embed="rId13">
            <a:alphaModFix/>
          </a:blip>
          <a:srcRect/>
          <a:stretch/>
        </p:blipFill>
        <p:spPr>
          <a:xfrm>
            <a:off x="443972" y="6429709"/>
            <a:ext cx="917999" cy="279914"/>
          </a:xfrm>
          <a:prstGeom prst="rect">
            <a:avLst/>
          </a:prstGeom>
          <a:noFill/>
          <a:ln>
            <a:noFill/>
          </a:ln>
        </p:spPr>
      </p:pic>
      <p:sp>
        <p:nvSpPr>
          <p:cNvPr id="16" name="Copyright line"/>
          <p:cNvSpPr txBox="1"/>
          <p:nvPr/>
        </p:nvSpPr>
        <p:spPr>
          <a:xfrm>
            <a:off x="1524001" y="6280967"/>
            <a:ext cx="7162799" cy="428656"/>
          </a:xfrm>
          <a:prstGeom prst="rect">
            <a:avLst/>
          </a:prstGeom>
          <a:noFill/>
          <a:ln>
            <a:noFill/>
          </a:ln>
        </p:spPr>
        <p:txBody>
          <a:bodyPr lIns="91425" tIns="45700" rIns="91425" bIns="45700" anchor="t" anchorCtr="0">
            <a:noAutofit/>
          </a:bodyPr>
          <a:lstStyle/>
          <a:p>
            <a:pPr marL="0" lvl="0" algn="r">
              <a:spcBef>
                <a:spcPts val="0"/>
              </a:spcBef>
              <a:buClr>
                <a:schemeClr val="lt2"/>
              </a:buClr>
            </a:pPr>
            <a:r>
              <a:rPr lang="en-AU" sz="1200" dirty="0">
                <a:solidFill>
                  <a:schemeClr val="tx1"/>
                </a:solidFill>
                <a:ea typeface="Open Sans"/>
                <a:sym typeface="Open Sans"/>
              </a:rPr>
              <a:t>Copyright © 2021 Pearson Australia (a division of Pearson Australia Group Pty Ltd)</a:t>
            </a:r>
          </a:p>
          <a:p>
            <a:pPr marL="0" lvl="0" algn="r">
              <a:spcBef>
                <a:spcPts val="0"/>
              </a:spcBef>
              <a:buClr>
                <a:schemeClr val="lt2"/>
              </a:buClr>
            </a:pPr>
            <a:r>
              <a:rPr lang="en-AU" sz="1200" dirty="0">
                <a:solidFill>
                  <a:schemeClr val="tx1"/>
                </a:solidFill>
                <a:ea typeface="Open Sans"/>
                <a:sym typeface="Open Sans"/>
              </a:rPr>
              <a:t>9781488626203/Armstrong/Principles of Marketing, 8e</a:t>
            </a:r>
            <a:endParaRPr lang="en-AU" sz="1200" dirty="0">
              <a:solidFill>
                <a:schemeClr val="tx1"/>
              </a:solidFill>
            </a:endParaRPr>
          </a:p>
        </p:txBody>
      </p:sp>
      <p:sp>
        <p:nvSpPr>
          <p:cNvPr id="2" name="Footer">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cSld>
  <p:clrMap bg1="lt1" tx1="dk1" bg2="dk2" tx2="lt2" accent1="accent1" accent2="accent2" accent3="accent3" accent4="accent4" accent5="accent5" accent6="accent6" hlink="hlink" folHlink="folHlink"/>
  <p:sldLayoutIdLst>
    <p:sldLayoutId id="2147483689" r:id="rId1"/>
    <p:sldLayoutId id="2147483649" r:id="rId2"/>
    <p:sldLayoutId id="2147483664" r:id="rId3"/>
    <p:sldLayoutId id="2147483671" r:id="rId4"/>
    <p:sldLayoutId id="2147483673" r:id="rId5"/>
    <p:sldLayoutId id="2147483655" r:id="rId6"/>
    <p:sldLayoutId id="2147483656" r:id="rId7"/>
    <p:sldLayoutId id="2147483670" r:id="rId8"/>
    <p:sldLayoutId id="2147483669" r:id="rId9"/>
    <p:sldLayoutId id="2147483657" r:id="rId10"/>
    <p:sldLayoutId id="214748369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6.jpeg"/><Relationship Id="rId4" Type="http://schemas.openxmlformats.org/officeDocument/2006/relationships/diagramLayout" Target="../diagrams/layout2.xml"/><Relationship Id="rId9"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www.strategicbusinessinsights.com/vals/ustypes/strivers.shtml" TargetMode="External"/><Relationship Id="rId2" Type="http://schemas.openxmlformats.org/officeDocument/2006/relationships/hyperlink" Target="http://www.roymorgan.com/products/values-segments" TargetMode="External"/><Relationship Id="rId1" Type="http://schemas.openxmlformats.org/officeDocument/2006/relationships/slideLayout" Target="../slideLayouts/slideLayout13.xml"/><Relationship Id="rId5" Type="http://schemas.openxmlformats.org/officeDocument/2006/relationships/hyperlink" Target="https://www.youtube.com/watch?v=iM6hnYb2oiw&amp;feature=youtu.be" TargetMode="External"/><Relationship Id="rId4" Type="http://schemas.openxmlformats.org/officeDocument/2006/relationships/hyperlink" Target="https://www.experian.co.uk/blogs/latest-thinking/marketing/customer-segments/"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hyperlink" Target="http://www.google.com.au/url?sa=i&amp;rct=j&amp;q=&amp;esrc=s&amp;frm=1&amp;source=images&amp;cd=&amp;cad=rja&amp;docid=Tkt1wvzLJ2nhKM&amp;tbnid=TfhZINiW8Gg9JM:&amp;ved=0CAUQjRw&amp;url=http://sorethumbmarketing.com/2013/02/11/the-dangers-of-over-segmenting/&amp;ei=O08lUsl2gf6SBcCagOAE&amp;bvm=bv.51495398,d.dGI&amp;psig=AFQjCNFvoRVpc48K0Ivczw0i2Gy6gPLgKA&amp;ust=1378263181920253"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9.jpe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customXml" Target="../ink/ink2.xml"/><Relationship Id="rId4" Type="http://schemas.openxmlformats.org/officeDocument/2006/relationships/image" Target="../media/image12.png"/></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Marketing</a:t>
            </a:r>
          </a:p>
        </p:txBody>
      </p:sp>
      <p:sp>
        <p:nvSpPr>
          <p:cNvPr id="3" name="Sub heading"/>
          <p:cNvSpPr>
            <a:spLocks noGrp="1"/>
          </p:cNvSpPr>
          <p:nvPr>
            <p:ph type="body" idx="1"/>
          </p:nvPr>
        </p:nvSpPr>
        <p:spPr/>
        <p:txBody>
          <a:bodyPr/>
          <a:lstStyle/>
          <a:p>
            <a:r>
              <a:rPr lang="en-US" sz="2400" dirty="0"/>
              <a:t>8</a:t>
            </a:r>
            <a:r>
              <a:rPr lang="en-US" sz="2400" baseline="30000" dirty="0"/>
              <a:t>th</a:t>
            </a:r>
            <a:r>
              <a:rPr lang="en-US" sz="2400" dirty="0"/>
              <a:t> edition</a:t>
            </a:r>
          </a:p>
        </p:txBody>
      </p:sp>
      <p:sp>
        <p:nvSpPr>
          <p:cNvPr id="5" name="Chapter #"/>
          <p:cNvSpPr>
            <a:spLocks noGrp="1"/>
          </p:cNvSpPr>
          <p:nvPr>
            <p:ph type="body" idx="2"/>
          </p:nvPr>
        </p:nvSpPr>
        <p:spPr>
          <a:xfrm>
            <a:off x="4572000" y="1600200"/>
            <a:ext cx="4114800" cy="1600198"/>
          </a:xfrm>
        </p:spPr>
        <p:txBody>
          <a:bodyPr/>
          <a:lstStyle/>
          <a:p>
            <a:r>
              <a:rPr lang="en-US" dirty="0"/>
              <a:t>Chapter 6</a:t>
            </a:r>
          </a:p>
        </p:txBody>
      </p:sp>
      <p:sp>
        <p:nvSpPr>
          <p:cNvPr id="6" name="Chapter title"/>
          <p:cNvSpPr>
            <a:spLocks noGrp="1"/>
          </p:cNvSpPr>
          <p:nvPr>
            <p:ph type="body" idx="3"/>
          </p:nvPr>
        </p:nvSpPr>
        <p:spPr>
          <a:xfrm>
            <a:off x="4572000" y="3200400"/>
            <a:ext cx="4114800" cy="2925763"/>
          </a:xfrm>
        </p:spPr>
        <p:txBody>
          <a:bodyPr/>
          <a:lstStyle/>
          <a:p>
            <a:r>
              <a:rPr lang="en-US" sz="2400" dirty="0"/>
              <a:t>Customer-driven market strategy: Creating value for target customers</a:t>
            </a:r>
          </a:p>
        </p:txBody>
      </p:sp>
      <p:sp>
        <p:nvSpPr>
          <p:cNvPr id="7" name="Copyright line"/>
          <p:cNvSpPr>
            <a:spLocks noGrp="1"/>
          </p:cNvSpPr>
          <p:nvPr>
            <p:ph type="body" sz="quarter" idx="17"/>
          </p:nvPr>
        </p:nvSpPr>
        <p:spPr/>
        <p:txBody>
          <a:bodyPr/>
          <a:lstStyle/>
          <a:p>
            <a:pPr marL="0" lvl="0">
              <a:spcBef>
                <a:spcPts val="0"/>
              </a:spcBef>
              <a:buClr>
                <a:schemeClr val="lt2"/>
              </a:buClr>
            </a:pPr>
            <a:r>
              <a:rPr lang="en-AU" dirty="0">
                <a:solidFill>
                  <a:schemeClr val="tx1"/>
                </a:solidFill>
                <a:ea typeface="Open Sans"/>
                <a:sym typeface="Open Sans"/>
              </a:rPr>
              <a:t>Copyright © 2021 Pearson Australia (a division of Pearson Australia Group Pty Ltd)</a:t>
            </a:r>
          </a:p>
          <a:p>
            <a:pPr marL="0" lvl="0">
              <a:spcBef>
                <a:spcPts val="0"/>
              </a:spcBef>
              <a:buClr>
                <a:schemeClr val="lt2"/>
              </a:buClr>
            </a:pPr>
            <a:r>
              <a:rPr lang="en-AU" dirty="0">
                <a:solidFill>
                  <a:schemeClr val="tx1"/>
                </a:solidFill>
                <a:ea typeface="Open Sans"/>
                <a:sym typeface="Open Sans"/>
              </a:rPr>
              <a:t>9781488626203/Armstrong/Principles of Marketing, 8e</a:t>
            </a:r>
            <a:endParaRPr lang="en-AU" dirty="0">
              <a:solidFill>
                <a:schemeClr val="tx1"/>
              </a:solidFill>
            </a:endParaRPr>
          </a:p>
        </p:txBody>
      </p:sp>
      <p:pic>
        <p:nvPicPr>
          <p:cNvPr id="18" name="Picture 17" descr="Front cover: Principles of marketing 8th edition by Armstrong, Denize, Volkov, Adam, Kotler, Ang, Love, Doherty and van Esch">
            <a:extLst>
              <a:ext uri="{FF2B5EF4-FFF2-40B4-BE49-F238E27FC236}">
                <a16:creationId xmlns:a16="http://schemas.microsoft.com/office/drawing/2014/main" id="{6CA55C66-AF2C-40EA-9858-A7FB2499B473}"/>
              </a:ext>
            </a:extLst>
          </p:cNvPr>
          <p:cNvPicPr>
            <a:picLocks noChangeAspect="1"/>
          </p:cNvPicPr>
          <p:nvPr/>
        </p:nvPicPr>
        <p:blipFill>
          <a:blip r:embed="rId3"/>
          <a:stretch>
            <a:fillRect/>
          </a:stretch>
        </p:blipFill>
        <p:spPr>
          <a:xfrm>
            <a:off x="565665" y="1439257"/>
            <a:ext cx="3692010" cy="4639959"/>
          </a:xfrm>
          <a:prstGeom prst="rect">
            <a:avLst/>
          </a:prstGeom>
        </p:spPr>
      </p:pic>
    </p:spTree>
    <p:extLst>
      <p:ext uri="{BB962C8B-B14F-4D97-AF65-F5344CB8AC3E}">
        <p14:creationId xmlns:p14="http://schemas.microsoft.com/office/powerpoint/2010/main" val="2404558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629705" y="195247"/>
            <a:ext cx="8373208" cy="830874"/>
          </a:xfrm>
        </p:spPr>
        <p:txBody>
          <a:bodyPr anchor="t"/>
          <a:lstStyle/>
          <a:p>
            <a:pPr eaLnBrk="1" hangingPunct="1"/>
            <a:r>
              <a:rPr lang="en-GB" altLang="en-US" sz="3200" dirty="0">
                <a:solidFill>
                  <a:srgbClr val="007FA3"/>
                </a:solidFill>
                <a:latin typeface="+mj-lt"/>
              </a:rPr>
              <a:t>Customer-driven marketing strategy</a:t>
            </a:r>
          </a:p>
        </p:txBody>
      </p:sp>
      <p:sp>
        <p:nvSpPr>
          <p:cNvPr id="3" name="Wave 2"/>
          <p:cNvSpPr/>
          <p:nvPr/>
        </p:nvSpPr>
        <p:spPr bwMode="auto">
          <a:xfrm>
            <a:off x="3040344" y="2210278"/>
            <a:ext cx="844062" cy="844062"/>
          </a:xfrm>
          <a:prstGeom prst="wav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dirty="0">
              <a:solidFill>
                <a:schemeClr val="tx1"/>
              </a:solidFill>
              <a:latin typeface="Verdana" pitchFamily="34" charset="0"/>
              <a:cs typeface="Arial" charset="0"/>
            </a:endParaRPr>
          </a:p>
        </p:txBody>
      </p:sp>
      <p:sp>
        <p:nvSpPr>
          <p:cNvPr id="7" name="Wave 6"/>
          <p:cNvSpPr/>
          <p:nvPr/>
        </p:nvSpPr>
        <p:spPr bwMode="auto">
          <a:xfrm>
            <a:off x="2781958" y="1926054"/>
            <a:ext cx="2868087" cy="1446963"/>
          </a:xfrm>
          <a:prstGeom prst="wave">
            <a:avLst>
              <a:gd name="adj1" fmla="val 11905"/>
              <a:gd name="adj2" fmla="val 2402"/>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dirty="0">
              <a:solidFill>
                <a:schemeClr val="tx1"/>
              </a:solidFill>
              <a:latin typeface="Verdana" pitchFamily="34" charset="0"/>
              <a:cs typeface="Arial" charset="0"/>
            </a:endParaRPr>
          </a:p>
        </p:txBody>
      </p:sp>
      <p:sp>
        <p:nvSpPr>
          <p:cNvPr id="13316" name="Rectangle 3"/>
          <p:cNvSpPr>
            <a:spLocks noGrp="1" noChangeArrowheads="1"/>
          </p:cNvSpPr>
          <p:nvPr>
            <p:ph type="body" idx="1"/>
          </p:nvPr>
        </p:nvSpPr>
        <p:spPr>
          <a:xfrm>
            <a:off x="629705" y="1674221"/>
            <a:ext cx="8026381" cy="3846684"/>
          </a:xfrm>
          <a:solidFill>
            <a:srgbClr val="E1F2CE"/>
          </a:solidFill>
          <a:ln>
            <a:solidFill>
              <a:srgbClr val="00B050"/>
            </a:solidFill>
          </a:ln>
          <a:effectLst>
            <a:outerShdw blurRad="50800" dist="38100" dir="2700000" algn="tl" rotWithShape="0">
              <a:prstClr val="black">
                <a:alpha val="40000"/>
              </a:prstClr>
            </a:outerShdw>
          </a:effectLst>
        </p:spPr>
        <p:txBody>
          <a:bodyPr/>
          <a:lstStyle/>
          <a:p>
            <a:pPr marL="173038" indent="0" defTabSz="750296">
              <a:spcBef>
                <a:spcPts val="1108"/>
              </a:spcBef>
              <a:spcAft>
                <a:spcPts val="1108"/>
              </a:spcAft>
              <a:buNone/>
            </a:pPr>
            <a:r>
              <a:rPr lang="en-US" sz="2000" dirty="0"/>
              <a:t>Companies must design customer-driven marketing strategies that build the </a:t>
            </a:r>
            <a:r>
              <a:rPr lang="en-US" sz="2000" b="1" i="1" dirty="0">
                <a:solidFill>
                  <a:srgbClr val="008080"/>
                </a:solidFill>
              </a:rPr>
              <a:t>right</a:t>
            </a:r>
            <a:r>
              <a:rPr lang="en-US" sz="2000" i="1" dirty="0"/>
              <a:t> </a:t>
            </a:r>
            <a:r>
              <a:rPr lang="en-US" sz="2000" dirty="0"/>
              <a:t>relationships with the </a:t>
            </a:r>
            <a:r>
              <a:rPr lang="en-US" sz="2000" b="1" i="1" dirty="0">
                <a:solidFill>
                  <a:srgbClr val="008080"/>
                </a:solidFill>
              </a:rPr>
              <a:t>right </a:t>
            </a:r>
            <a:r>
              <a:rPr lang="en-US" sz="2000" dirty="0"/>
              <a:t>customers.</a:t>
            </a:r>
            <a:endParaRPr lang="en-GB" altLang="en-US" sz="2000" dirty="0">
              <a:solidFill>
                <a:srgbClr val="005400"/>
              </a:solidFill>
            </a:endParaRPr>
          </a:p>
          <a:p>
            <a:pPr marL="173038" indent="0" defTabSz="750296">
              <a:spcBef>
                <a:spcPts val="1108"/>
              </a:spcBef>
              <a:spcAft>
                <a:spcPts val="1108"/>
              </a:spcAft>
              <a:buNone/>
            </a:pPr>
            <a:r>
              <a:rPr lang="en-US" sz="2000" dirty="0"/>
              <a:t>To do this, most companies have moved away from </a:t>
            </a:r>
          </a:p>
          <a:p>
            <a:pPr marL="515938" indent="-342900" defTabSz="750296">
              <a:spcBef>
                <a:spcPts val="1108"/>
              </a:spcBef>
              <a:spcAft>
                <a:spcPts val="1108"/>
              </a:spcAft>
              <a:buFont typeface="Arial" panose="020B0604020202020204" pitchFamily="34" charset="0"/>
              <a:buChar char="•"/>
            </a:pPr>
            <a:r>
              <a:rPr lang="en-US" sz="2000" b="1" dirty="0"/>
              <a:t>mass marketing</a:t>
            </a:r>
            <a:r>
              <a:rPr lang="en-US" sz="2000" dirty="0"/>
              <a:t> (</a:t>
            </a:r>
            <a:r>
              <a:rPr lang="en-US" sz="2000" i="1" dirty="0"/>
              <a:t>the shotgun approach</a:t>
            </a:r>
            <a:r>
              <a:rPr lang="en-US" sz="2000" dirty="0"/>
              <a:t>) and </a:t>
            </a:r>
          </a:p>
          <a:p>
            <a:pPr marL="515938" indent="-342900" defTabSz="750296">
              <a:spcBef>
                <a:spcPts val="1108"/>
              </a:spcBef>
              <a:spcAft>
                <a:spcPts val="1108"/>
              </a:spcAft>
              <a:buFont typeface="Arial" panose="020B0604020202020204" pitchFamily="34" charset="0"/>
              <a:buChar char="•"/>
            </a:pPr>
            <a:r>
              <a:rPr lang="en-US" sz="2000" dirty="0"/>
              <a:t>towards </a:t>
            </a:r>
            <a:r>
              <a:rPr lang="en-US" sz="2000" b="1" dirty="0"/>
              <a:t>target marketing</a:t>
            </a:r>
            <a:r>
              <a:rPr lang="en-US" sz="2000" dirty="0"/>
              <a:t> </a:t>
            </a:r>
            <a:r>
              <a:rPr lang="en-US" sz="2000" i="1" dirty="0"/>
              <a:t>(the rifle approach). </a:t>
            </a:r>
          </a:p>
          <a:p>
            <a:pPr marL="173038" indent="0" defTabSz="750296">
              <a:spcBef>
                <a:spcPts val="1108"/>
              </a:spcBef>
              <a:spcAft>
                <a:spcPts val="1108"/>
              </a:spcAft>
              <a:buNone/>
            </a:pPr>
            <a:r>
              <a:rPr lang="en-US" sz="2000" dirty="0"/>
              <a:t>This means identifying market segments, selecting one or more of them, and developing products and marketing programs tailored to each.</a:t>
            </a:r>
          </a:p>
          <a:p>
            <a:pPr indent="0" defTabSz="750296"/>
            <a:endParaRPr lang="en-US" altLang="en-US" sz="2000" dirty="0">
              <a:solidFill>
                <a:srgbClr val="005400"/>
              </a:solidFill>
            </a:endParaRPr>
          </a:p>
        </p:txBody>
      </p:sp>
    </p:spTree>
    <p:extLst>
      <p:ext uri="{BB962C8B-B14F-4D97-AF65-F5344CB8AC3E}">
        <p14:creationId xmlns:p14="http://schemas.microsoft.com/office/powerpoint/2010/main" val="2956307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868A73-944E-42DD-A6E8-477493524078}"/>
              </a:ext>
            </a:extLst>
          </p:cNvPr>
          <p:cNvSpPr>
            <a:spLocks noGrp="1"/>
          </p:cNvSpPr>
          <p:nvPr>
            <p:ph type="body" sz="quarter" idx="14"/>
          </p:nvPr>
        </p:nvSpPr>
        <p:spPr>
          <a:xfrm>
            <a:off x="322118" y="194676"/>
            <a:ext cx="8232775" cy="1312006"/>
          </a:xfrm>
        </p:spPr>
        <p:txBody>
          <a:bodyPr anchor="t">
            <a:normAutofit/>
          </a:bodyPr>
          <a:lstStyle/>
          <a:p>
            <a:r>
              <a:rPr lang="en-NZ" sz="3600" dirty="0"/>
              <a:t>Designing a customer-driven marketing strategy</a:t>
            </a:r>
          </a:p>
        </p:txBody>
      </p:sp>
      <p:pic>
        <p:nvPicPr>
          <p:cNvPr id="4" name="Picture 3" descr="An illustration depicts the four main steps in designing a customer-driven marketing strategy. Full alt text description in Notes.">
            <a:extLst>
              <a:ext uri="{FF2B5EF4-FFF2-40B4-BE49-F238E27FC236}">
                <a16:creationId xmlns:a16="http://schemas.microsoft.com/office/drawing/2014/main" id="{2E0D87DF-1CD9-40A5-B91A-7DC78EE6ADBD}"/>
              </a:ext>
            </a:extLst>
          </p:cNvPr>
          <p:cNvPicPr>
            <a:picLocks noChangeAspect="1"/>
          </p:cNvPicPr>
          <p:nvPr/>
        </p:nvPicPr>
        <p:blipFill>
          <a:blip r:embed="rId3"/>
          <a:stretch>
            <a:fillRect/>
          </a:stretch>
        </p:blipFill>
        <p:spPr>
          <a:xfrm>
            <a:off x="0" y="1895475"/>
            <a:ext cx="9143999" cy="3694442"/>
          </a:xfrm>
          <a:prstGeom prst="rect">
            <a:avLst/>
          </a:prstGeom>
        </p:spPr>
      </p:pic>
    </p:spTree>
    <p:extLst>
      <p:ext uri="{BB962C8B-B14F-4D97-AF65-F5344CB8AC3E}">
        <p14:creationId xmlns:p14="http://schemas.microsoft.com/office/powerpoint/2010/main" val="737280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391886" y="374304"/>
            <a:ext cx="8444753" cy="645832"/>
          </a:xfrm>
          <a:prstGeom prst="rect">
            <a:avLst/>
          </a:prstGeom>
          <a:noFill/>
          <a:ln>
            <a:noFill/>
          </a:ln>
        </p:spPr>
        <p:txBody>
          <a:bodyPr lIns="84392" tIns="84392" rIns="84392" bIns="84392" anchor="t" anchorCtr="0"/>
          <a:lstStyle/>
          <a:p>
            <a:pPr>
              <a:spcBef>
                <a:spcPts val="886"/>
              </a:spcBef>
            </a:pPr>
            <a:r>
              <a:rPr lang="en-GB" altLang="en-US" sz="3200" b="1" dirty="0">
                <a:solidFill>
                  <a:srgbClr val="007FA3"/>
                </a:solidFill>
                <a:latin typeface="+mj-lt"/>
                <a:cs typeface="Times New Roman"/>
                <a:sym typeface="Times New Roman"/>
              </a:rPr>
              <a:t>Market segmentation</a:t>
            </a:r>
          </a:p>
        </p:txBody>
      </p:sp>
      <p:sp>
        <p:nvSpPr>
          <p:cNvPr id="7" name="Content Placeholder 10"/>
          <p:cNvSpPr>
            <a:spLocks noGrp="1"/>
          </p:cNvSpPr>
          <p:nvPr>
            <p:ph idx="1"/>
          </p:nvPr>
        </p:nvSpPr>
        <p:spPr>
          <a:xfrm>
            <a:off x="364881" y="1218799"/>
            <a:ext cx="8373322" cy="4406399"/>
          </a:xfrm>
        </p:spPr>
        <p:txBody>
          <a:bodyPr/>
          <a:lstStyle/>
          <a:p>
            <a:pPr marL="542198" lvl="1" indent="-342900">
              <a:buClr>
                <a:srgbClr val="00638A"/>
              </a:buClr>
              <a:buFont typeface="Arial" panose="020B0604020202020204" pitchFamily="34" charset="0"/>
              <a:buChar char="•"/>
              <a:tabLst>
                <a:tab pos="1688165" algn="l"/>
              </a:tabLst>
            </a:pPr>
            <a:r>
              <a:rPr lang="en-US" sz="2000" dirty="0">
                <a:latin typeface="+mn-lt"/>
                <a:ea typeface="Verdana" pitchFamily="34" charset="0"/>
                <a:cs typeface="Verdana" pitchFamily="34" charset="0"/>
              </a:rPr>
              <a:t>Buyers in any market differ in their wants, resources, locations, buying attitudes and buying practices. </a:t>
            </a:r>
          </a:p>
          <a:p>
            <a:pPr marL="542198" lvl="1" indent="-342900">
              <a:buClr>
                <a:srgbClr val="00638A"/>
              </a:buClr>
              <a:buFont typeface="Arial" panose="020B0604020202020204" pitchFamily="34" charset="0"/>
              <a:buChar char="•"/>
              <a:tabLst>
                <a:tab pos="1688165" algn="l"/>
              </a:tabLst>
            </a:pPr>
            <a:r>
              <a:rPr lang="en-US" sz="2000" dirty="0">
                <a:latin typeface="+mn-lt"/>
                <a:ea typeface="Verdana" pitchFamily="34" charset="0"/>
                <a:cs typeface="Verdana" pitchFamily="34" charset="0"/>
              </a:rPr>
              <a:t>Segmentation allows companies to divide large, heterogeneous markets into smaller segments that can be reached more efficiently and effectively. </a:t>
            </a:r>
            <a:endParaRPr lang="en-AU" altLang="en-US" sz="2000" dirty="0">
              <a:latin typeface="+mn-lt"/>
              <a:ea typeface="Verdana" pitchFamily="34" charset="0"/>
              <a:cs typeface="Verdana" pitchFamily="34" charset="0"/>
            </a:endParaRPr>
          </a:p>
          <a:p>
            <a:pPr marL="436696" lvl="1" indent="-237398">
              <a:buClr>
                <a:srgbClr val="00638A"/>
              </a:buClr>
              <a:buNone/>
              <a:tabLst>
                <a:tab pos="1688165" algn="l"/>
              </a:tabLst>
            </a:pPr>
            <a:endParaRPr lang="en-AU" altLang="en-US" sz="2000" dirty="0">
              <a:latin typeface="+mn-lt"/>
              <a:ea typeface="Verdana" pitchFamily="34" charset="0"/>
              <a:cs typeface="Verdana" pitchFamily="34" charset="0"/>
            </a:endParaRPr>
          </a:p>
          <a:p>
            <a:pPr marL="101600" indent="0" algn="l">
              <a:buNone/>
            </a:pPr>
            <a:r>
              <a:rPr lang="en-NZ" sz="2000" b="1" dirty="0">
                <a:solidFill>
                  <a:srgbClr val="00B0F0"/>
                </a:solidFill>
                <a:latin typeface="+mn-lt"/>
              </a:rPr>
              <a:t>Using multiple segmentation bases</a:t>
            </a:r>
          </a:p>
          <a:p>
            <a:pPr marL="542198" lvl="1" indent="-342900">
              <a:buClr>
                <a:srgbClr val="00638A"/>
              </a:buClr>
              <a:buFont typeface="Arial" panose="020B0604020202020204" pitchFamily="34" charset="0"/>
              <a:buChar char="•"/>
              <a:tabLst>
                <a:tab pos="1688165" algn="l"/>
              </a:tabLst>
            </a:pPr>
            <a:r>
              <a:rPr lang="en-US" sz="2000" dirty="0">
                <a:latin typeface="+mn-lt"/>
                <a:ea typeface="Verdana" pitchFamily="34" charset="0"/>
              </a:rPr>
              <a:t>There is no single way to segment a market. </a:t>
            </a:r>
          </a:p>
          <a:p>
            <a:pPr marL="542198" lvl="1" indent="-342900">
              <a:buClr>
                <a:srgbClr val="00638A"/>
              </a:buClr>
              <a:buFont typeface="Arial" panose="020B0604020202020204" pitchFamily="34" charset="0"/>
              <a:buChar char="•"/>
              <a:tabLst>
                <a:tab pos="1688165" algn="l"/>
              </a:tabLst>
            </a:pPr>
            <a:r>
              <a:rPr lang="en-NZ" sz="2000" dirty="0">
                <a:latin typeface="+mn-lt"/>
                <a:ea typeface="Verdana" pitchFamily="34" charset="0"/>
              </a:rPr>
              <a:t>Marketers rarely limit their segmentation analysis to only one or a few variables.</a:t>
            </a:r>
            <a:endParaRPr lang="en-US" sz="2000" dirty="0">
              <a:latin typeface="+mn-lt"/>
              <a:ea typeface="Verdana" pitchFamily="34" charset="0"/>
            </a:endParaRPr>
          </a:p>
          <a:p>
            <a:pPr marL="542198" lvl="1" indent="-342900">
              <a:buClr>
                <a:srgbClr val="00638A"/>
              </a:buClr>
              <a:buFont typeface="Arial" panose="020B0604020202020204" pitchFamily="34" charset="0"/>
              <a:buChar char="•"/>
              <a:tabLst>
                <a:tab pos="1688165" algn="l"/>
              </a:tabLst>
            </a:pPr>
            <a:r>
              <a:rPr lang="en-US" sz="2000" dirty="0">
                <a:latin typeface="+mn-lt"/>
                <a:ea typeface="Verdana" pitchFamily="34" charset="0"/>
              </a:rPr>
              <a:t>A marketer must try different segmentation variables, alone and in combination, to find the best way to view the market structure.</a:t>
            </a:r>
            <a:endParaRPr lang="en-AU" altLang="en-US" sz="2000" dirty="0">
              <a:latin typeface="+mn-lt"/>
              <a:ea typeface="Verdana" pitchFamily="34" charset="0"/>
            </a:endParaRPr>
          </a:p>
          <a:p>
            <a:pPr marL="436696" lvl="1" indent="-237398">
              <a:buClr>
                <a:srgbClr val="00638A"/>
              </a:buClr>
              <a:buNone/>
              <a:tabLst>
                <a:tab pos="1688165" algn="l"/>
              </a:tabLst>
            </a:pPr>
            <a:endParaRPr lang="en-AU" altLang="en-US" sz="2000" dirty="0">
              <a:latin typeface="+mn-lt"/>
              <a:ea typeface="Verdana" pitchFamily="34" charset="0"/>
              <a:cs typeface="Verdana" pitchFamily="34" charset="0"/>
            </a:endParaRPr>
          </a:p>
        </p:txBody>
      </p:sp>
    </p:spTree>
    <p:extLst>
      <p:ext uri="{BB962C8B-B14F-4D97-AF65-F5344CB8AC3E}">
        <p14:creationId xmlns:p14="http://schemas.microsoft.com/office/powerpoint/2010/main" val="3077846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90" y="291506"/>
            <a:ext cx="8373208" cy="676681"/>
          </a:xfrm>
        </p:spPr>
        <p:txBody>
          <a:bodyPr/>
          <a:lstStyle/>
          <a:p>
            <a:pPr>
              <a:spcBef>
                <a:spcPts val="886"/>
              </a:spcBef>
            </a:pPr>
            <a:r>
              <a:rPr lang="en-AU" sz="3200" dirty="0">
                <a:solidFill>
                  <a:srgbClr val="007FA3"/>
                </a:solidFill>
                <a:latin typeface="+mj-lt"/>
                <a:sym typeface="Arial"/>
              </a:rPr>
              <a:t>The marketing “logic”</a:t>
            </a:r>
          </a:p>
        </p:txBody>
      </p:sp>
      <p:sp>
        <p:nvSpPr>
          <p:cNvPr id="3" name="Content Placeholder 2"/>
          <p:cNvSpPr>
            <a:spLocks noGrp="1"/>
          </p:cNvSpPr>
          <p:nvPr>
            <p:ph idx="1"/>
          </p:nvPr>
        </p:nvSpPr>
        <p:spPr>
          <a:xfrm>
            <a:off x="391890" y="1214794"/>
            <a:ext cx="8229600" cy="4428411"/>
          </a:xfrm>
        </p:spPr>
        <p:txBody>
          <a:bodyPr>
            <a:normAutofit/>
          </a:bodyPr>
          <a:lstStyle/>
          <a:p>
            <a:r>
              <a:rPr lang="en-AU" sz="2000" b="1" dirty="0">
                <a:solidFill>
                  <a:srgbClr val="FF0000"/>
                </a:solidFill>
              </a:rPr>
              <a:t>People aspire to be better </a:t>
            </a:r>
            <a:r>
              <a:rPr lang="en-AU" sz="2000" dirty="0"/>
              <a:t>(Consumer Behaviour)</a:t>
            </a:r>
          </a:p>
          <a:p>
            <a:r>
              <a:rPr lang="en-AU" sz="2000" b="1" dirty="0">
                <a:solidFill>
                  <a:srgbClr val="FF0000"/>
                </a:solidFill>
              </a:rPr>
              <a:t>Marketers need to know to what the consumer aspires </a:t>
            </a:r>
            <a:r>
              <a:rPr lang="en-AU" sz="2000" dirty="0"/>
              <a:t>so they can tap into it (Market Research)</a:t>
            </a:r>
          </a:p>
          <a:p>
            <a:r>
              <a:rPr lang="en-AU" sz="2000" b="1" dirty="0">
                <a:solidFill>
                  <a:srgbClr val="FF0000"/>
                </a:solidFill>
              </a:rPr>
              <a:t>Marketers need to know who has what aspirations </a:t>
            </a:r>
            <a:r>
              <a:rPr lang="en-AU" sz="2000" dirty="0"/>
              <a:t>(Market Research &amp; Segmentation)</a:t>
            </a:r>
          </a:p>
          <a:p>
            <a:r>
              <a:rPr lang="en-AU" sz="2000" dirty="0"/>
              <a:t>Businesses need to be convinced that there are enough people that have the same aspiration to make production worthwhile. </a:t>
            </a:r>
          </a:p>
        </p:txBody>
      </p:sp>
    </p:spTree>
    <p:extLst>
      <p:ext uri="{BB962C8B-B14F-4D97-AF65-F5344CB8AC3E}">
        <p14:creationId xmlns:p14="http://schemas.microsoft.com/office/powerpoint/2010/main" val="3743601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20733D9C-4644-48A6-A8AD-8FC1E9FB518C}"/>
              </a:ext>
            </a:extLst>
          </p:cNvPr>
          <p:cNvSpPr>
            <a:spLocks noGrp="1"/>
          </p:cNvSpPr>
          <p:nvPr>
            <p:ph type="title"/>
          </p:nvPr>
        </p:nvSpPr>
        <p:spPr>
          <a:xfrm>
            <a:off x="457200" y="215372"/>
            <a:ext cx="8229600" cy="658687"/>
          </a:xfrm>
        </p:spPr>
        <p:txBody>
          <a:bodyPr/>
          <a:lstStyle/>
          <a:p>
            <a:r>
              <a:rPr lang="en-US" sz="3200" dirty="0"/>
              <a:t>Market targeting</a:t>
            </a:r>
            <a:endParaRPr lang="en-US" sz="2000" dirty="0"/>
          </a:p>
        </p:txBody>
      </p:sp>
      <p:sp>
        <p:nvSpPr>
          <p:cNvPr id="3" name="Text Placeholder 2">
            <a:extLst>
              <a:ext uri="{FF2B5EF4-FFF2-40B4-BE49-F238E27FC236}">
                <a16:creationId xmlns:a16="http://schemas.microsoft.com/office/drawing/2014/main" id="{4E8A2D21-8FB3-4C1C-858F-1ACEC6D29597}"/>
              </a:ext>
            </a:extLst>
          </p:cNvPr>
          <p:cNvSpPr>
            <a:spLocks noGrp="1"/>
          </p:cNvSpPr>
          <p:nvPr>
            <p:ph type="body" idx="4294967295"/>
          </p:nvPr>
        </p:nvSpPr>
        <p:spPr>
          <a:xfrm>
            <a:off x="457200" y="999763"/>
            <a:ext cx="8229600" cy="4525963"/>
          </a:xfrm>
        </p:spPr>
        <p:txBody>
          <a:bodyPr/>
          <a:lstStyle/>
          <a:p>
            <a:pPr marL="101600" indent="0" algn="l">
              <a:buNone/>
            </a:pPr>
            <a:r>
              <a:rPr lang="en-NZ" sz="2400" b="1" dirty="0">
                <a:solidFill>
                  <a:srgbClr val="007FA3"/>
                </a:solidFill>
                <a:latin typeface="+mn-lt"/>
              </a:rPr>
              <a:t>Socially responsible target marketing</a:t>
            </a:r>
          </a:p>
          <a:p>
            <a:pPr>
              <a:tabLst>
                <a:tab pos="1828800" algn="l"/>
              </a:tabLst>
            </a:pPr>
            <a:r>
              <a:rPr lang="en-NZ" sz="2000" dirty="0">
                <a:solidFill>
                  <a:schemeClr val="tx1"/>
                </a:solidFill>
                <a:latin typeface="+mn-lt"/>
              </a:rPr>
              <a:t>Socially responsible target marketing should consider brand impact of:</a:t>
            </a:r>
          </a:p>
          <a:p>
            <a:pPr lvl="1">
              <a:spcAft>
                <a:spcPts val="600"/>
              </a:spcAft>
              <a:buFont typeface="Wingdings" panose="05000000000000000000" pitchFamily="2" charset="2"/>
              <a:buChar char="§"/>
            </a:pPr>
            <a:r>
              <a:rPr lang="en-NZ" sz="1800" b="0" i="0" u="none" strike="noStrike" baseline="0" dirty="0">
                <a:latin typeface="+mn-lt"/>
              </a:rPr>
              <a:t>targeting vulnerable or disadvantaged consumers</a:t>
            </a:r>
          </a:p>
          <a:p>
            <a:pPr marL="1257300" lvl="2" indent="-241300">
              <a:spcAft>
                <a:spcPts val="600"/>
              </a:spcAft>
              <a:buFont typeface="Wingdings" panose="05000000000000000000" pitchFamily="2" charset="2"/>
              <a:buChar char="Ø"/>
            </a:pPr>
            <a:r>
              <a:rPr lang="en-US" dirty="0">
                <a:latin typeface="+mn-lt"/>
              </a:rPr>
              <a:t>low-income populations, elderly individuals, or people with certain health conditions, may be more susceptible to marketing tactics due to lower education levels, financial constraints, emotional vulnerability</a:t>
            </a:r>
            <a:endParaRPr lang="en-NZ" dirty="0">
              <a:latin typeface="+mn-lt"/>
            </a:endParaRPr>
          </a:p>
          <a:p>
            <a:pPr lvl="1">
              <a:spcAft>
                <a:spcPts val="600"/>
              </a:spcAft>
              <a:buFont typeface="Wingdings" panose="05000000000000000000" pitchFamily="2" charset="2"/>
              <a:buChar char="§"/>
            </a:pPr>
            <a:r>
              <a:rPr lang="en-NZ" sz="1800" b="0" i="0" u="none" strike="noStrike" baseline="0" dirty="0">
                <a:latin typeface="+mn-lt"/>
              </a:rPr>
              <a:t>marketing controversial or potentially harmful products</a:t>
            </a:r>
          </a:p>
          <a:p>
            <a:pPr marL="1257300" lvl="2" indent="-241300">
              <a:spcAft>
                <a:spcPts val="600"/>
              </a:spcAft>
              <a:buFont typeface="Wingdings" panose="05000000000000000000" pitchFamily="2" charset="2"/>
              <a:buChar char="Ø"/>
            </a:pPr>
            <a:r>
              <a:rPr lang="en-US" dirty="0">
                <a:latin typeface="+mn-lt"/>
              </a:rPr>
              <a:t>Products like tobacco, alcohol, or high-sugar foods can have harmful effects on health. </a:t>
            </a:r>
            <a:endParaRPr lang="en-NZ" dirty="0">
              <a:latin typeface="+mn-lt"/>
            </a:endParaRPr>
          </a:p>
          <a:p>
            <a:pPr lvl="1">
              <a:spcAft>
                <a:spcPts val="600"/>
              </a:spcAft>
              <a:buFont typeface="Wingdings" panose="05000000000000000000" pitchFamily="2" charset="2"/>
              <a:buChar char="§"/>
            </a:pPr>
            <a:r>
              <a:rPr lang="en-NZ" sz="1800" b="0" i="0" u="none" strike="noStrike" baseline="0" dirty="0">
                <a:latin typeface="+mn-lt"/>
              </a:rPr>
              <a:t>marketing efforts directed towards children</a:t>
            </a:r>
          </a:p>
          <a:p>
            <a:pPr marL="1257300" lvl="2" indent="-241300">
              <a:spcAft>
                <a:spcPts val="600"/>
              </a:spcAft>
              <a:buFont typeface="Wingdings" panose="05000000000000000000" pitchFamily="2" charset="2"/>
              <a:buChar char="Ø"/>
            </a:pPr>
            <a:r>
              <a:rPr lang="en-US" dirty="0">
                <a:latin typeface="+mn-lt"/>
              </a:rPr>
              <a:t>Children are a particularly impressionable audience and may not fully understand the persuasive intent of advertising. Marketers must be careful not to exploit children's naivety by promoting unhealthy food, unrealistic body images, or materialistic values. </a:t>
            </a:r>
            <a:endParaRPr lang="en-NZ" dirty="0">
              <a:latin typeface="+mn-lt"/>
            </a:endParaRPr>
          </a:p>
        </p:txBody>
      </p:sp>
    </p:spTree>
    <p:extLst>
      <p:ext uri="{BB962C8B-B14F-4D97-AF65-F5344CB8AC3E}">
        <p14:creationId xmlns:p14="http://schemas.microsoft.com/office/powerpoint/2010/main" val="3354492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20733D9C-4644-48A6-A8AD-8FC1E9FB518C}"/>
              </a:ext>
            </a:extLst>
          </p:cNvPr>
          <p:cNvSpPr>
            <a:spLocks noGrp="1"/>
          </p:cNvSpPr>
          <p:nvPr>
            <p:ph type="title"/>
          </p:nvPr>
        </p:nvSpPr>
        <p:spPr>
          <a:xfrm>
            <a:off x="457200" y="215372"/>
            <a:ext cx="8229600" cy="658687"/>
          </a:xfrm>
        </p:spPr>
        <p:txBody>
          <a:bodyPr/>
          <a:lstStyle/>
          <a:p>
            <a:r>
              <a:rPr lang="en-US" sz="3200" dirty="0"/>
              <a:t>Market targeting</a:t>
            </a:r>
            <a:endParaRPr lang="en-US" sz="2000" dirty="0"/>
          </a:p>
        </p:txBody>
      </p:sp>
      <p:sp>
        <p:nvSpPr>
          <p:cNvPr id="3" name="Text Placeholder 2">
            <a:extLst>
              <a:ext uri="{FF2B5EF4-FFF2-40B4-BE49-F238E27FC236}">
                <a16:creationId xmlns:a16="http://schemas.microsoft.com/office/drawing/2014/main" id="{4E8A2D21-8FB3-4C1C-858F-1ACEC6D29597}"/>
              </a:ext>
            </a:extLst>
          </p:cNvPr>
          <p:cNvSpPr>
            <a:spLocks noGrp="1"/>
          </p:cNvSpPr>
          <p:nvPr>
            <p:ph type="body" idx="4294967295"/>
          </p:nvPr>
        </p:nvSpPr>
        <p:spPr>
          <a:xfrm>
            <a:off x="457200" y="907468"/>
            <a:ext cx="8229600" cy="4525963"/>
          </a:xfrm>
        </p:spPr>
        <p:txBody>
          <a:bodyPr/>
          <a:lstStyle/>
          <a:p>
            <a:pPr marL="101600" indent="0" algn="l">
              <a:buNone/>
            </a:pPr>
            <a:r>
              <a:rPr lang="en-NZ" sz="2400" b="1" dirty="0">
                <a:solidFill>
                  <a:srgbClr val="007FA3"/>
                </a:solidFill>
                <a:latin typeface="+mn-lt"/>
              </a:rPr>
              <a:t>Socially responsible target marketing</a:t>
            </a:r>
          </a:p>
          <a:p>
            <a:pPr>
              <a:spcBef>
                <a:spcPts val="600"/>
              </a:spcBef>
              <a:spcAft>
                <a:spcPts val="600"/>
              </a:spcAft>
              <a:tabLst>
                <a:tab pos="1828800" algn="l"/>
              </a:tabLst>
            </a:pPr>
            <a:r>
              <a:rPr lang="en-NZ" sz="2000" dirty="0">
                <a:solidFill>
                  <a:schemeClr val="tx1"/>
                </a:solidFill>
                <a:latin typeface="+mn-lt"/>
              </a:rPr>
              <a:t>Socially responsible target marketing should consider:</a:t>
            </a:r>
          </a:p>
          <a:p>
            <a:pPr lvl="1">
              <a:spcAft>
                <a:spcPts val="600"/>
              </a:spcAft>
              <a:buFont typeface="Wingdings" panose="05000000000000000000" pitchFamily="2" charset="2"/>
              <a:buChar char="§"/>
            </a:pPr>
            <a:r>
              <a:rPr lang="en-NZ" sz="1800" dirty="0">
                <a:latin typeface="+mn-lt"/>
              </a:rPr>
              <a:t>U</a:t>
            </a:r>
            <a:r>
              <a:rPr lang="en-NZ" sz="1800" b="0" i="0" u="none" strike="noStrike" baseline="0" dirty="0">
                <a:latin typeface="+mn-lt"/>
              </a:rPr>
              <a:t>se of the internet and other targeted direct media</a:t>
            </a:r>
          </a:p>
          <a:p>
            <a:pPr marL="1257300" lvl="2" indent="-241300">
              <a:spcAft>
                <a:spcPts val="600"/>
              </a:spcAft>
              <a:buFont typeface="Wingdings" panose="05000000000000000000" pitchFamily="2" charset="2"/>
              <a:buChar char="Ø"/>
            </a:pPr>
            <a:r>
              <a:rPr lang="en-US" dirty="0">
                <a:latin typeface="+mn-lt"/>
              </a:rPr>
              <a:t>Marketers must respect consumer privacy, obtain consent when collecting personal data, and ensure that their marketing messages are appropriate for the audience they are targeting.</a:t>
            </a:r>
            <a:endParaRPr lang="en-NZ" dirty="0">
              <a:latin typeface="+mn-lt"/>
            </a:endParaRPr>
          </a:p>
          <a:p>
            <a:pPr lvl="1">
              <a:spcAft>
                <a:spcPts val="600"/>
              </a:spcAft>
              <a:buFont typeface="Wingdings" panose="05000000000000000000" pitchFamily="2" charset="2"/>
              <a:buChar char="§"/>
            </a:pPr>
            <a:r>
              <a:rPr lang="en-NZ" sz="1800" dirty="0">
                <a:latin typeface="+mn-lt"/>
              </a:rPr>
              <a:t>R</a:t>
            </a:r>
            <a:r>
              <a:rPr lang="en-NZ" sz="1800" b="0" i="0" u="none" strike="noStrike" baseline="0" dirty="0">
                <a:latin typeface="+mn-lt"/>
              </a:rPr>
              <a:t>esponsible advertising and advertising codes of conduct and guidelines</a:t>
            </a:r>
            <a:r>
              <a:rPr lang="en-NZ" sz="1800" dirty="0">
                <a:solidFill>
                  <a:schemeClr val="tx1"/>
                </a:solidFill>
                <a:latin typeface="+mn-lt"/>
              </a:rPr>
              <a:t>.</a:t>
            </a:r>
          </a:p>
          <a:p>
            <a:pPr marL="1257300" lvl="2" indent="-241300">
              <a:spcAft>
                <a:spcPts val="600"/>
              </a:spcAft>
              <a:buFont typeface="Wingdings" panose="05000000000000000000" pitchFamily="2" charset="2"/>
              <a:buChar char="Ø"/>
            </a:pPr>
            <a:r>
              <a:rPr lang="en-US" dirty="0">
                <a:latin typeface="+mn-lt"/>
              </a:rPr>
              <a:t>Adhering to established advertising codes of conduct helps ensure that marketing practices are fair, truthful, and non-deceptive. </a:t>
            </a:r>
          </a:p>
          <a:p>
            <a:pPr marL="1257300" lvl="2" indent="-241300">
              <a:spcAft>
                <a:spcPts val="600"/>
              </a:spcAft>
              <a:buFont typeface="Wingdings" panose="05000000000000000000" pitchFamily="2" charset="2"/>
              <a:buChar char="Ø"/>
            </a:pPr>
            <a:r>
              <a:rPr lang="en-US" dirty="0">
                <a:latin typeface="+mn-lt"/>
              </a:rPr>
              <a:t>These guidelines often include rules about truthful representation of products, avoiding misleading claims, and being respectful of cultural and societal values.</a:t>
            </a:r>
            <a:endParaRPr lang="en-NZ" dirty="0">
              <a:latin typeface="+mn-lt"/>
            </a:endParaRPr>
          </a:p>
          <a:p>
            <a:pPr>
              <a:spcBef>
                <a:spcPts val="600"/>
              </a:spcBef>
              <a:spcAft>
                <a:spcPts val="600"/>
              </a:spcAft>
            </a:pPr>
            <a:r>
              <a:rPr lang="en-NZ" sz="2000" dirty="0">
                <a:solidFill>
                  <a:schemeClr val="tx1"/>
                </a:solidFill>
                <a:latin typeface="+mn-lt"/>
              </a:rPr>
              <a:t>Socially responsible marketing calls for segmentation and targeting that serve the interests of both the company and those being targeted.</a:t>
            </a:r>
          </a:p>
        </p:txBody>
      </p:sp>
    </p:spTree>
    <p:extLst>
      <p:ext uri="{BB962C8B-B14F-4D97-AF65-F5344CB8AC3E}">
        <p14:creationId xmlns:p14="http://schemas.microsoft.com/office/powerpoint/2010/main" val="3549958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bwMode="auto">
          <a:xfrm>
            <a:off x="436563" y="333375"/>
            <a:ext cx="8316912" cy="634245"/>
          </a:xfrm>
        </p:spPr>
        <p:txBody>
          <a:bodyPr wrap="square" numCol="1" anchor="b" anchorCtr="0" compatLnSpc="1"/>
          <a:lstStyle/>
          <a:p>
            <a:r>
              <a:rPr lang="en-AU" altLang="en-US" sz="3200" dirty="0">
                <a:solidFill>
                  <a:srgbClr val="007FA3"/>
                </a:solidFill>
                <a:latin typeface="+mj-lt"/>
              </a:rPr>
              <a:t>Why use segmentation?</a:t>
            </a:r>
          </a:p>
        </p:txBody>
      </p:sp>
      <p:sp>
        <p:nvSpPr>
          <p:cNvPr id="14340" name="TextBox 5"/>
          <p:cNvSpPr txBox="1">
            <a:spLocks noChangeArrowheads="1"/>
          </p:cNvSpPr>
          <p:nvPr/>
        </p:nvSpPr>
        <p:spPr bwMode="auto">
          <a:xfrm>
            <a:off x="436563" y="1643063"/>
            <a:ext cx="8316912"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68288" indent="-268288">
              <a:spcBef>
                <a:spcPts val="600"/>
              </a:spcBef>
              <a:spcAft>
                <a:spcPts val="600"/>
              </a:spcAft>
              <a:buFont typeface="Arial" panose="020B0604020202020204" pitchFamily="34" charset="0"/>
              <a:buChar char="•"/>
            </a:pPr>
            <a:r>
              <a:rPr lang="en-AU" altLang="en-US" sz="2000" b="1" dirty="0">
                <a:solidFill>
                  <a:srgbClr val="FF0000"/>
                </a:solidFill>
              </a:rPr>
              <a:t>Groups of people </a:t>
            </a:r>
            <a:r>
              <a:rPr lang="en-AU" altLang="en-US" sz="2000" dirty="0"/>
              <a:t>or organisations </a:t>
            </a:r>
            <a:r>
              <a:rPr lang="en-AU" altLang="en-US" sz="2000" b="1" dirty="0">
                <a:solidFill>
                  <a:srgbClr val="FF0000"/>
                </a:solidFill>
              </a:rPr>
              <a:t>have different product needs and preferences</a:t>
            </a:r>
          </a:p>
          <a:p>
            <a:pPr marL="268288" indent="-268288">
              <a:spcBef>
                <a:spcPts val="600"/>
              </a:spcBef>
              <a:spcAft>
                <a:spcPts val="600"/>
              </a:spcAft>
              <a:buFont typeface="Arial" panose="020B0604020202020204" pitchFamily="34" charset="0"/>
              <a:buChar char="•"/>
            </a:pPr>
            <a:r>
              <a:rPr lang="en-AU" altLang="en-US" sz="2000" dirty="0"/>
              <a:t>Market </a:t>
            </a:r>
            <a:r>
              <a:rPr lang="en-AU" altLang="en-US" sz="2000" b="1" dirty="0">
                <a:solidFill>
                  <a:srgbClr val="FF0000"/>
                </a:solidFill>
              </a:rPr>
              <a:t>segmentation helps marketers define customer needs </a:t>
            </a:r>
            <a:r>
              <a:rPr lang="en-AU" altLang="en-US" sz="2000" dirty="0"/>
              <a:t>and wants more precisely</a:t>
            </a:r>
          </a:p>
          <a:p>
            <a:pPr marL="268288" indent="-268288">
              <a:spcBef>
                <a:spcPts val="600"/>
              </a:spcBef>
              <a:spcAft>
                <a:spcPts val="600"/>
              </a:spcAft>
              <a:buFont typeface="Arial" panose="020B0604020202020204" pitchFamily="34" charset="0"/>
              <a:buChar char="•"/>
            </a:pPr>
            <a:r>
              <a:rPr lang="en-AU" altLang="en-US" sz="2000" dirty="0"/>
              <a:t>Segmentation </a:t>
            </a:r>
            <a:r>
              <a:rPr lang="en-AU" altLang="en-US" sz="2000" b="1" dirty="0">
                <a:solidFill>
                  <a:srgbClr val="FF0000"/>
                </a:solidFill>
              </a:rPr>
              <a:t>helps decision makers define more accurate marketing objectives</a:t>
            </a:r>
          </a:p>
          <a:p>
            <a:pPr marL="268288" indent="-268288">
              <a:spcBef>
                <a:spcPts val="600"/>
              </a:spcBef>
              <a:spcAft>
                <a:spcPts val="600"/>
              </a:spcAft>
              <a:buFont typeface="Arial" panose="020B0604020202020204" pitchFamily="34" charset="0"/>
              <a:buChar char="•"/>
            </a:pPr>
            <a:r>
              <a:rPr lang="en-AU" altLang="en-US" sz="2000" b="1" dirty="0">
                <a:solidFill>
                  <a:srgbClr val="FF0000"/>
                </a:solidFill>
              </a:rPr>
              <a:t>The more precise your marketing objectives, </a:t>
            </a:r>
            <a:r>
              <a:rPr lang="en-AU" altLang="en-US" sz="2000" dirty="0"/>
              <a:t>the </a:t>
            </a:r>
            <a:r>
              <a:rPr lang="en-AU" altLang="en-US" sz="2000" b="1" dirty="0">
                <a:solidFill>
                  <a:srgbClr val="FF0000"/>
                </a:solidFill>
              </a:rPr>
              <a:t>more precise your evaluation of performance</a:t>
            </a:r>
          </a:p>
          <a:p>
            <a:pPr>
              <a:spcBef>
                <a:spcPts val="600"/>
              </a:spcBef>
              <a:spcAft>
                <a:spcPts val="600"/>
              </a:spcAft>
            </a:pPr>
            <a:endParaRPr lang="en-AU" altLang="en-US" sz="2000" dirty="0"/>
          </a:p>
        </p:txBody>
      </p:sp>
    </p:spTree>
    <p:extLst>
      <p:ext uri="{BB962C8B-B14F-4D97-AF65-F5344CB8AC3E}">
        <p14:creationId xmlns:p14="http://schemas.microsoft.com/office/powerpoint/2010/main" val="1062608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90" y="416859"/>
            <a:ext cx="8373208" cy="552892"/>
          </a:xfrm>
        </p:spPr>
        <p:txBody>
          <a:bodyPr>
            <a:noAutofit/>
          </a:bodyPr>
          <a:lstStyle/>
          <a:p>
            <a:r>
              <a:rPr lang="en-AU" sz="3200" dirty="0">
                <a:solidFill>
                  <a:srgbClr val="007FA3"/>
                </a:solidFill>
                <a:latin typeface="+mj-lt"/>
              </a:rPr>
              <a:t>Benefits of Market Segmentation</a:t>
            </a:r>
          </a:p>
        </p:txBody>
      </p:sp>
      <p:sp>
        <p:nvSpPr>
          <p:cNvPr id="3" name="Content Placeholder 2"/>
          <p:cNvSpPr>
            <a:spLocks noGrp="1"/>
          </p:cNvSpPr>
          <p:nvPr>
            <p:ph idx="1"/>
          </p:nvPr>
        </p:nvSpPr>
        <p:spPr>
          <a:xfrm>
            <a:off x="158174" y="1160655"/>
            <a:ext cx="8827652" cy="4536689"/>
          </a:xfrm>
        </p:spPr>
        <p:txBody>
          <a:bodyPr/>
          <a:lstStyle/>
          <a:p>
            <a:pPr>
              <a:spcBef>
                <a:spcPts val="600"/>
              </a:spcBef>
              <a:spcAft>
                <a:spcPts val="600"/>
              </a:spcAft>
            </a:pPr>
            <a:r>
              <a:rPr lang="en-US" sz="2000" b="1" dirty="0">
                <a:solidFill>
                  <a:srgbClr val="FF0000"/>
                </a:solidFill>
                <a:latin typeface="+mn-lt"/>
                <a:cs typeface="Arial" charset="0"/>
              </a:rPr>
              <a:t>Helps design effective marketing programs </a:t>
            </a:r>
            <a:r>
              <a:rPr lang="en-US" sz="2000" dirty="0">
                <a:solidFill>
                  <a:srgbClr val="010000"/>
                </a:solidFill>
                <a:latin typeface="+mn-lt"/>
                <a:cs typeface="Arial" charset="0"/>
              </a:rPr>
              <a:t>for reaching groups of buyers</a:t>
            </a:r>
          </a:p>
          <a:p>
            <a:pPr>
              <a:spcBef>
                <a:spcPts val="600"/>
              </a:spcBef>
              <a:spcAft>
                <a:spcPts val="600"/>
              </a:spcAft>
            </a:pPr>
            <a:r>
              <a:rPr lang="en-US" sz="2000" dirty="0">
                <a:solidFill>
                  <a:srgbClr val="010000"/>
                </a:solidFill>
                <a:latin typeface="+mn-lt"/>
                <a:cs typeface="Arial" charset="0"/>
              </a:rPr>
              <a:t>Identifies </a:t>
            </a:r>
            <a:r>
              <a:rPr lang="en-US" sz="2000" b="1" dirty="0">
                <a:solidFill>
                  <a:srgbClr val="FF0000"/>
                </a:solidFill>
                <a:latin typeface="+mn-lt"/>
                <a:cs typeface="Arial" charset="0"/>
              </a:rPr>
              <a:t>opportunities for new product </a:t>
            </a:r>
            <a:r>
              <a:rPr lang="en-US" sz="2000" dirty="0">
                <a:solidFill>
                  <a:srgbClr val="010000"/>
                </a:solidFill>
                <a:latin typeface="+mn-lt"/>
                <a:cs typeface="Arial" charset="0"/>
              </a:rPr>
              <a:t>development</a:t>
            </a:r>
          </a:p>
          <a:p>
            <a:pPr>
              <a:spcBef>
                <a:spcPts val="600"/>
              </a:spcBef>
              <a:spcAft>
                <a:spcPts val="600"/>
              </a:spcAft>
            </a:pPr>
            <a:r>
              <a:rPr lang="en-US" sz="2000" b="1" dirty="0">
                <a:solidFill>
                  <a:srgbClr val="FF0000"/>
                </a:solidFill>
                <a:latin typeface="+mn-lt"/>
                <a:cs typeface="Arial" charset="0"/>
              </a:rPr>
              <a:t>Improves allocation of marketing resources</a:t>
            </a:r>
            <a:endParaRPr lang="en-CA" sz="2000" b="1" dirty="0">
              <a:solidFill>
                <a:srgbClr val="FF0000"/>
              </a:solidFill>
              <a:latin typeface="+mn-lt"/>
              <a:cs typeface="Arial" charset="0"/>
            </a:endParaRPr>
          </a:p>
          <a:p>
            <a:pPr>
              <a:spcBef>
                <a:spcPts val="600"/>
              </a:spcBef>
              <a:spcAft>
                <a:spcPts val="600"/>
              </a:spcAft>
            </a:pPr>
            <a:endParaRPr lang="en-AU" sz="2000" dirty="0">
              <a:latin typeface="+mn-lt"/>
            </a:endParaRPr>
          </a:p>
        </p:txBody>
      </p:sp>
    </p:spTree>
    <p:extLst>
      <p:ext uri="{BB962C8B-B14F-4D97-AF65-F5344CB8AC3E}">
        <p14:creationId xmlns:p14="http://schemas.microsoft.com/office/powerpoint/2010/main" val="2284159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ChangeArrowheads="1"/>
          </p:cNvSpPr>
          <p:nvPr/>
        </p:nvSpPr>
        <p:spPr bwMode="auto">
          <a:xfrm>
            <a:off x="238760" y="233965"/>
            <a:ext cx="2590800" cy="2273531"/>
          </a:xfrm>
          <a:prstGeom prst="rect">
            <a:avLst/>
          </a:prstGeom>
          <a:solidFill>
            <a:srgbClr val="000096"/>
          </a:solidFill>
          <a:ln w="12700">
            <a:solidFill>
              <a:srgbClr val="000000"/>
            </a:solidFill>
            <a:miter lim="800000"/>
            <a:headEnd/>
            <a:tailEnd/>
          </a:ln>
        </p:spPr>
        <p:txBody>
          <a:bodyPr wrap="none" lIns="90488" tIns="44450" rIns="90488" bIns="44450" anchor="ctr" anchorCtr="1"/>
          <a:lstStyle>
            <a:lvl1pPr>
              <a:defRPr sz="2400" baseline="-25000">
                <a:solidFill>
                  <a:schemeClr val="tx1"/>
                </a:solidFill>
                <a:latin typeface="Times" panose="02020603050405020304" pitchFamily="18" charset="0"/>
              </a:defRPr>
            </a:lvl1pPr>
            <a:lvl2pPr marL="742950" indent="-285750">
              <a:defRPr sz="2400" baseline="-25000">
                <a:solidFill>
                  <a:schemeClr val="tx1"/>
                </a:solidFill>
                <a:latin typeface="Times" panose="02020603050405020304" pitchFamily="18" charset="0"/>
              </a:defRPr>
            </a:lvl2pPr>
            <a:lvl3pPr marL="1143000" indent="-228600">
              <a:defRPr sz="2400" baseline="-25000">
                <a:solidFill>
                  <a:schemeClr val="tx1"/>
                </a:solidFill>
                <a:latin typeface="Times" panose="02020603050405020304" pitchFamily="18" charset="0"/>
              </a:defRPr>
            </a:lvl3pPr>
            <a:lvl4pPr marL="1600200" indent="-228600">
              <a:defRPr sz="2400" baseline="-25000">
                <a:solidFill>
                  <a:schemeClr val="tx1"/>
                </a:solidFill>
                <a:latin typeface="Times" panose="02020603050405020304" pitchFamily="18" charset="0"/>
              </a:defRPr>
            </a:lvl4pPr>
            <a:lvl5pPr marL="2057400" indent="-228600">
              <a:defRPr sz="2400" baseline="-25000">
                <a:solidFill>
                  <a:schemeClr val="tx1"/>
                </a:solidFill>
                <a:latin typeface="Times" panose="02020603050405020304" pitchFamily="18" charset="0"/>
              </a:defRPr>
            </a:lvl5pPr>
            <a:lvl6pPr marL="2514600" indent="-228600" eaLnBrk="0" fontAlgn="base" hangingPunct="0">
              <a:spcBef>
                <a:spcPct val="0"/>
              </a:spcBef>
              <a:spcAft>
                <a:spcPct val="0"/>
              </a:spcAft>
              <a:defRPr sz="2400" baseline="-25000">
                <a:solidFill>
                  <a:schemeClr val="tx1"/>
                </a:solidFill>
                <a:latin typeface="Times" panose="02020603050405020304" pitchFamily="18" charset="0"/>
              </a:defRPr>
            </a:lvl6pPr>
            <a:lvl7pPr marL="2971800" indent="-228600" eaLnBrk="0" fontAlgn="base" hangingPunct="0">
              <a:spcBef>
                <a:spcPct val="0"/>
              </a:spcBef>
              <a:spcAft>
                <a:spcPct val="0"/>
              </a:spcAft>
              <a:defRPr sz="2400" baseline="-25000">
                <a:solidFill>
                  <a:schemeClr val="tx1"/>
                </a:solidFill>
                <a:latin typeface="Times" panose="02020603050405020304" pitchFamily="18" charset="0"/>
              </a:defRPr>
            </a:lvl7pPr>
            <a:lvl8pPr marL="3429000" indent="-228600" eaLnBrk="0" fontAlgn="base" hangingPunct="0">
              <a:spcBef>
                <a:spcPct val="0"/>
              </a:spcBef>
              <a:spcAft>
                <a:spcPct val="0"/>
              </a:spcAft>
              <a:defRPr sz="2400" baseline="-25000">
                <a:solidFill>
                  <a:schemeClr val="tx1"/>
                </a:solidFill>
                <a:latin typeface="Times" panose="02020603050405020304" pitchFamily="18" charset="0"/>
              </a:defRPr>
            </a:lvl8pPr>
            <a:lvl9pPr marL="3886200" indent="-228600" eaLnBrk="0" fontAlgn="base" hangingPunct="0">
              <a:spcBef>
                <a:spcPct val="0"/>
              </a:spcBef>
              <a:spcAft>
                <a:spcPct val="0"/>
              </a:spcAft>
              <a:defRPr sz="2400" baseline="-25000">
                <a:solidFill>
                  <a:schemeClr val="tx1"/>
                </a:solidFill>
                <a:latin typeface="Times" panose="02020603050405020304" pitchFamily="18" charset="0"/>
              </a:defRPr>
            </a:lvl9pPr>
          </a:lstStyle>
          <a:p>
            <a:pPr algn="ctr" eaLnBrk="0" fontAlgn="base" hangingPunct="0">
              <a:lnSpc>
                <a:spcPct val="90000"/>
              </a:lnSpc>
              <a:spcBef>
                <a:spcPct val="0"/>
              </a:spcBef>
              <a:spcAft>
                <a:spcPct val="0"/>
              </a:spcAft>
            </a:pPr>
            <a:r>
              <a:rPr lang="en-US" sz="2000" kern="1200" baseline="0">
                <a:solidFill>
                  <a:srgbClr val="FFFFFF"/>
                </a:solidFill>
                <a:latin typeface="+mn-lt"/>
              </a:rPr>
              <a:t>Market</a:t>
            </a:r>
          </a:p>
        </p:txBody>
      </p:sp>
      <p:sp>
        <p:nvSpPr>
          <p:cNvPr id="18436" name="Rectangle 4"/>
          <p:cNvSpPr>
            <a:spLocks noChangeArrowheads="1"/>
          </p:cNvSpPr>
          <p:nvPr/>
        </p:nvSpPr>
        <p:spPr bwMode="auto">
          <a:xfrm>
            <a:off x="238760" y="2507497"/>
            <a:ext cx="2590800" cy="2023864"/>
          </a:xfrm>
          <a:prstGeom prst="rect">
            <a:avLst/>
          </a:prstGeom>
          <a:solidFill>
            <a:srgbClr val="000096"/>
          </a:solidFill>
          <a:ln w="12700">
            <a:solidFill>
              <a:srgbClr val="000000"/>
            </a:solidFill>
            <a:miter lim="800000"/>
            <a:headEnd/>
            <a:tailEnd/>
          </a:ln>
        </p:spPr>
        <p:txBody>
          <a:bodyPr wrap="none" lIns="90488" tIns="44450" rIns="90488" bIns="44450" anchor="ctr" anchorCtr="1"/>
          <a:lstStyle>
            <a:lvl1pPr>
              <a:defRPr sz="2400" baseline="-25000">
                <a:solidFill>
                  <a:schemeClr val="tx1"/>
                </a:solidFill>
                <a:latin typeface="Times" panose="02020603050405020304" pitchFamily="18" charset="0"/>
              </a:defRPr>
            </a:lvl1pPr>
            <a:lvl2pPr marL="742950" indent="-285750">
              <a:defRPr sz="2400" baseline="-25000">
                <a:solidFill>
                  <a:schemeClr val="tx1"/>
                </a:solidFill>
                <a:latin typeface="Times" panose="02020603050405020304" pitchFamily="18" charset="0"/>
              </a:defRPr>
            </a:lvl2pPr>
            <a:lvl3pPr marL="1143000" indent="-228600">
              <a:defRPr sz="2400" baseline="-25000">
                <a:solidFill>
                  <a:schemeClr val="tx1"/>
                </a:solidFill>
                <a:latin typeface="Times" panose="02020603050405020304" pitchFamily="18" charset="0"/>
              </a:defRPr>
            </a:lvl3pPr>
            <a:lvl4pPr marL="1600200" indent="-228600">
              <a:defRPr sz="2400" baseline="-25000">
                <a:solidFill>
                  <a:schemeClr val="tx1"/>
                </a:solidFill>
                <a:latin typeface="Times" panose="02020603050405020304" pitchFamily="18" charset="0"/>
              </a:defRPr>
            </a:lvl4pPr>
            <a:lvl5pPr marL="2057400" indent="-228600">
              <a:defRPr sz="2400" baseline="-25000">
                <a:solidFill>
                  <a:schemeClr val="tx1"/>
                </a:solidFill>
                <a:latin typeface="Times" panose="02020603050405020304" pitchFamily="18" charset="0"/>
              </a:defRPr>
            </a:lvl5pPr>
            <a:lvl6pPr marL="2514600" indent="-228600" eaLnBrk="0" fontAlgn="base" hangingPunct="0">
              <a:spcBef>
                <a:spcPct val="0"/>
              </a:spcBef>
              <a:spcAft>
                <a:spcPct val="0"/>
              </a:spcAft>
              <a:defRPr sz="2400" baseline="-25000">
                <a:solidFill>
                  <a:schemeClr val="tx1"/>
                </a:solidFill>
                <a:latin typeface="Times" panose="02020603050405020304" pitchFamily="18" charset="0"/>
              </a:defRPr>
            </a:lvl6pPr>
            <a:lvl7pPr marL="2971800" indent="-228600" eaLnBrk="0" fontAlgn="base" hangingPunct="0">
              <a:spcBef>
                <a:spcPct val="0"/>
              </a:spcBef>
              <a:spcAft>
                <a:spcPct val="0"/>
              </a:spcAft>
              <a:defRPr sz="2400" baseline="-25000">
                <a:solidFill>
                  <a:schemeClr val="tx1"/>
                </a:solidFill>
                <a:latin typeface="Times" panose="02020603050405020304" pitchFamily="18" charset="0"/>
              </a:defRPr>
            </a:lvl7pPr>
            <a:lvl8pPr marL="3429000" indent="-228600" eaLnBrk="0" fontAlgn="base" hangingPunct="0">
              <a:spcBef>
                <a:spcPct val="0"/>
              </a:spcBef>
              <a:spcAft>
                <a:spcPct val="0"/>
              </a:spcAft>
              <a:defRPr sz="2400" baseline="-25000">
                <a:solidFill>
                  <a:schemeClr val="tx1"/>
                </a:solidFill>
                <a:latin typeface="Times" panose="02020603050405020304" pitchFamily="18" charset="0"/>
              </a:defRPr>
            </a:lvl8pPr>
            <a:lvl9pPr marL="3886200" indent="-228600" eaLnBrk="0" fontAlgn="base" hangingPunct="0">
              <a:spcBef>
                <a:spcPct val="0"/>
              </a:spcBef>
              <a:spcAft>
                <a:spcPct val="0"/>
              </a:spcAft>
              <a:defRPr sz="2400" baseline="-25000">
                <a:solidFill>
                  <a:schemeClr val="tx1"/>
                </a:solidFill>
                <a:latin typeface="Times" panose="02020603050405020304" pitchFamily="18" charset="0"/>
              </a:defRPr>
            </a:lvl9pPr>
          </a:lstStyle>
          <a:p>
            <a:pPr algn="ctr" eaLnBrk="0" fontAlgn="base" hangingPunct="0">
              <a:lnSpc>
                <a:spcPct val="90000"/>
              </a:lnSpc>
              <a:spcBef>
                <a:spcPct val="0"/>
              </a:spcBef>
              <a:spcAft>
                <a:spcPct val="0"/>
              </a:spcAft>
            </a:pPr>
            <a:r>
              <a:rPr lang="en-US" sz="2000" kern="1200" baseline="0" dirty="0">
                <a:solidFill>
                  <a:srgbClr val="FFFFFF"/>
                </a:solidFill>
                <a:latin typeface="+mn-lt"/>
              </a:rPr>
              <a:t>Market</a:t>
            </a:r>
          </a:p>
          <a:p>
            <a:pPr algn="ctr" eaLnBrk="0" fontAlgn="base" hangingPunct="0">
              <a:lnSpc>
                <a:spcPct val="90000"/>
              </a:lnSpc>
              <a:spcBef>
                <a:spcPct val="0"/>
              </a:spcBef>
              <a:spcAft>
                <a:spcPct val="0"/>
              </a:spcAft>
            </a:pPr>
            <a:r>
              <a:rPr lang="en-US" sz="2000" kern="1200" baseline="0" dirty="0">
                <a:solidFill>
                  <a:srgbClr val="FFFFFF"/>
                </a:solidFill>
                <a:latin typeface="+mn-lt"/>
              </a:rPr>
              <a:t>segment</a:t>
            </a:r>
          </a:p>
        </p:txBody>
      </p:sp>
      <p:sp>
        <p:nvSpPr>
          <p:cNvPr id="18437" name="Rectangle 5"/>
          <p:cNvSpPr>
            <a:spLocks noChangeArrowheads="1"/>
          </p:cNvSpPr>
          <p:nvPr/>
        </p:nvSpPr>
        <p:spPr bwMode="auto">
          <a:xfrm>
            <a:off x="238760" y="4379704"/>
            <a:ext cx="2590800" cy="1828056"/>
          </a:xfrm>
          <a:prstGeom prst="rect">
            <a:avLst/>
          </a:prstGeom>
          <a:solidFill>
            <a:srgbClr val="000096"/>
          </a:solidFill>
          <a:ln w="12700">
            <a:solidFill>
              <a:srgbClr val="000000"/>
            </a:solidFill>
            <a:miter lim="800000"/>
            <a:headEnd/>
            <a:tailEnd/>
          </a:ln>
        </p:spPr>
        <p:txBody>
          <a:bodyPr wrap="none" lIns="90488" tIns="44450" rIns="90488" bIns="44450" anchor="ctr" anchorCtr="1"/>
          <a:lstStyle>
            <a:lvl1pPr>
              <a:defRPr sz="2400" baseline="-25000">
                <a:solidFill>
                  <a:schemeClr val="tx1"/>
                </a:solidFill>
                <a:latin typeface="Times" panose="02020603050405020304" pitchFamily="18" charset="0"/>
              </a:defRPr>
            </a:lvl1pPr>
            <a:lvl2pPr marL="742950" indent="-285750">
              <a:defRPr sz="2400" baseline="-25000">
                <a:solidFill>
                  <a:schemeClr val="tx1"/>
                </a:solidFill>
                <a:latin typeface="Times" panose="02020603050405020304" pitchFamily="18" charset="0"/>
              </a:defRPr>
            </a:lvl2pPr>
            <a:lvl3pPr marL="1143000" indent="-228600">
              <a:defRPr sz="2400" baseline="-25000">
                <a:solidFill>
                  <a:schemeClr val="tx1"/>
                </a:solidFill>
                <a:latin typeface="Times" panose="02020603050405020304" pitchFamily="18" charset="0"/>
              </a:defRPr>
            </a:lvl3pPr>
            <a:lvl4pPr marL="1600200" indent="-228600">
              <a:defRPr sz="2400" baseline="-25000">
                <a:solidFill>
                  <a:schemeClr val="tx1"/>
                </a:solidFill>
                <a:latin typeface="Times" panose="02020603050405020304" pitchFamily="18" charset="0"/>
              </a:defRPr>
            </a:lvl4pPr>
            <a:lvl5pPr marL="2057400" indent="-228600">
              <a:defRPr sz="2400" baseline="-25000">
                <a:solidFill>
                  <a:schemeClr val="tx1"/>
                </a:solidFill>
                <a:latin typeface="Times" panose="02020603050405020304" pitchFamily="18" charset="0"/>
              </a:defRPr>
            </a:lvl5pPr>
            <a:lvl6pPr marL="2514600" indent="-228600" eaLnBrk="0" fontAlgn="base" hangingPunct="0">
              <a:spcBef>
                <a:spcPct val="0"/>
              </a:spcBef>
              <a:spcAft>
                <a:spcPct val="0"/>
              </a:spcAft>
              <a:defRPr sz="2400" baseline="-25000">
                <a:solidFill>
                  <a:schemeClr val="tx1"/>
                </a:solidFill>
                <a:latin typeface="Times" panose="02020603050405020304" pitchFamily="18" charset="0"/>
              </a:defRPr>
            </a:lvl6pPr>
            <a:lvl7pPr marL="2971800" indent="-228600" eaLnBrk="0" fontAlgn="base" hangingPunct="0">
              <a:spcBef>
                <a:spcPct val="0"/>
              </a:spcBef>
              <a:spcAft>
                <a:spcPct val="0"/>
              </a:spcAft>
              <a:defRPr sz="2400" baseline="-25000">
                <a:solidFill>
                  <a:schemeClr val="tx1"/>
                </a:solidFill>
                <a:latin typeface="Times" panose="02020603050405020304" pitchFamily="18" charset="0"/>
              </a:defRPr>
            </a:lvl7pPr>
            <a:lvl8pPr marL="3429000" indent="-228600" eaLnBrk="0" fontAlgn="base" hangingPunct="0">
              <a:spcBef>
                <a:spcPct val="0"/>
              </a:spcBef>
              <a:spcAft>
                <a:spcPct val="0"/>
              </a:spcAft>
              <a:defRPr sz="2400" baseline="-25000">
                <a:solidFill>
                  <a:schemeClr val="tx1"/>
                </a:solidFill>
                <a:latin typeface="Times" panose="02020603050405020304" pitchFamily="18" charset="0"/>
              </a:defRPr>
            </a:lvl8pPr>
            <a:lvl9pPr marL="3886200" indent="-228600" eaLnBrk="0" fontAlgn="base" hangingPunct="0">
              <a:spcBef>
                <a:spcPct val="0"/>
              </a:spcBef>
              <a:spcAft>
                <a:spcPct val="0"/>
              </a:spcAft>
              <a:defRPr sz="2400" baseline="-25000">
                <a:solidFill>
                  <a:schemeClr val="tx1"/>
                </a:solidFill>
                <a:latin typeface="Times" panose="02020603050405020304" pitchFamily="18" charset="0"/>
              </a:defRPr>
            </a:lvl9pPr>
          </a:lstStyle>
          <a:p>
            <a:pPr algn="ctr" eaLnBrk="0" fontAlgn="base" hangingPunct="0">
              <a:lnSpc>
                <a:spcPct val="90000"/>
              </a:lnSpc>
              <a:spcBef>
                <a:spcPct val="0"/>
              </a:spcBef>
              <a:spcAft>
                <a:spcPct val="0"/>
              </a:spcAft>
            </a:pPr>
            <a:r>
              <a:rPr lang="en-US" sz="2000" kern="1200" baseline="0" dirty="0">
                <a:solidFill>
                  <a:srgbClr val="FFFFFF"/>
                </a:solidFill>
                <a:latin typeface="+mn-lt"/>
              </a:rPr>
              <a:t>Market</a:t>
            </a:r>
          </a:p>
          <a:p>
            <a:pPr algn="ctr" eaLnBrk="0" fontAlgn="base" hangingPunct="0">
              <a:lnSpc>
                <a:spcPct val="90000"/>
              </a:lnSpc>
              <a:spcBef>
                <a:spcPct val="0"/>
              </a:spcBef>
              <a:spcAft>
                <a:spcPct val="0"/>
              </a:spcAft>
            </a:pPr>
            <a:r>
              <a:rPr lang="en-US" sz="2000" kern="1200" baseline="0" dirty="0">
                <a:solidFill>
                  <a:srgbClr val="FFFFFF"/>
                </a:solidFill>
                <a:latin typeface="+mn-lt"/>
              </a:rPr>
              <a:t>segmentation</a:t>
            </a:r>
          </a:p>
        </p:txBody>
      </p:sp>
      <p:sp>
        <p:nvSpPr>
          <p:cNvPr id="18438" name="Rectangle 6"/>
          <p:cNvSpPr>
            <a:spLocks noChangeArrowheads="1"/>
          </p:cNvSpPr>
          <p:nvPr/>
        </p:nvSpPr>
        <p:spPr bwMode="auto">
          <a:xfrm>
            <a:off x="2829560" y="233964"/>
            <a:ext cx="5867400" cy="2273532"/>
          </a:xfrm>
          <a:prstGeom prst="rect">
            <a:avLst/>
          </a:prstGeom>
          <a:solidFill>
            <a:schemeClr val="tx2"/>
          </a:solidFill>
          <a:ln w="12700">
            <a:solidFill>
              <a:srgbClr val="000000"/>
            </a:solidFill>
            <a:miter lim="800000"/>
            <a:headEnd/>
            <a:tailEnd/>
          </a:ln>
        </p:spPr>
        <p:txBody>
          <a:bodyPr lIns="90488" tIns="44450" rIns="90488" bIns="44450" anchor="ctr" anchorCtr="1"/>
          <a:lstStyle>
            <a:lvl1pPr>
              <a:defRPr sz="2400" baseline="-25000">
                <a:solidFill>
                  <a:schemeClr val="tx1"/>
                </a:solidFill>
                <a:latin typeface="Times" panose="02020603050405020304" pitchFamily="18" charset="0"/>
              </a:defRPr>
            </a:lvl1pPr>
            <a:lvl2pPr marL="742950" indent="-285750">
              <a:defRPr sz="2400" baseline="-25000">
                <a:solidFill>
                  <a:schemeClr val="tx1"/>
                </a:solidFill>
                <a:latin typeface="Times" panose="02020603050405020304" pitchFamily="18" charset="0"/>
              </a:defRPr>
            </a:lvl2pPr>
            <a:lvl3pPr marL="1143000" indent="-228600">
              <a:defRPr sz="2400" baseline="-25000">
                <a:solidFill>
                  <a:schemeClr val="tx1"/>
                </a:solidFill>
                <a:latin typeface="Times" panose="02020603050405020304" pitchFamily="18" charset="0"/>
              </a:defRPr>
            </a:lvl3pPr>
            <a:lvl4pPr marL="1600200" indent="-228600">
              <a:defRPr sz="2400" baseline="-25000">
                <a:solidFill>
                  <a:schemeClr val="tx1"/>
                </a:solidFill>
                <a:latin typeface="Times" panose="02020603050405020304" pitchFamily="18" charset="0"/>
              </a:defRPr>
            </a:lvl4pPr>
            <a:lvl5pPr marL="2057400" indent="-228600">
              <a:defRPr sz="2400" baseline="-25000">
                <a:solidFill>
                  <a:schemeClr val="tx1"/>
                </a:solidFill>
                <a:latin typeface="Times" panose="02020603050405020304" pitchFamily="18" charset="0"/>
              </a:defRPr>
            </a:lvl5pPr>
            <a:lvl6pPr marL="2514600" indent="-228600" eaLnBrk="0" fontAlgn="base" hangingPunct="0">
              <a:spcBef>
                <a:spcPct val="0"/>
              </a:spcBef>
              <a:spcAft>
                <a:spcPct val="0"/>
              </a:spcAft>
              <a:defRPr sz="2400" baseline="-25000">
                <a:solidFill>
                  <a:schemeClr val="tx1"/>
                </a:solidFill>
                <a:latin typeface="Times" panose="02020603050405020304" pitchFamily="18" charset="0"/>
              </a:defRPr>
            </a:lvl6pPr>
            <a:lvl7pPr marL="2971800" indent="-228600" eaLnBrk="0" fontAlgn="base" hangingPunct="0">
              <a:spcBef>
                <a:spcPct val="0"/>
              </a:spcBef>
              <a:spcAft>
                <a:spcPct val="0"/>
              </a:spcAft>
              <a:defRPr sz="2400" baseline="-25000">
                <a:solidFill>
                  <a:schemeClr val="tx1"/>
                </a:solidFill>
                <a:latin typeface="Times" panose="02020603050405020304" pitchFamily="18" charset="0"/>
              </a:defRPr>
            </a:lvl7pPr>
            <a:lvl8pPr marL="3429000" indent="-228600" eaLnBrk="0" fontAlgn="base" hangingPunct="0">
              <a:spcBef>
                <a:spcPct val="0"/>
              </a:spcBef>
              <a:spcAft>
                <a:spcPct val="0"/>
              </a:spcAft>
              <a:defRPr sz="2400" baseline="-25000">
                <a:solidFill>
                  <a:schemeClr val="tx1"/>
                </a:solidFill>
                <a:latin typeface="Times" panose="02020603050405020304" pitchFamily="18" charset="0"/>
              </a:defRPr>
            </a:lvl8pPr>
            <a:lvl9pPr marL="3886200" indent="-228600" eaLnBrk="0" fontAlgn="base" hangingPunct="0">
              <a:spcBef>
                <a:spcPct val="0"/>
              </a:spcBef>
              <a:spcAft>
                <a:spcPct val="0"/>
              </a:spcAft>
              <a:defRPr sz="2400" baseline="-25000">
                <a:solidFill>
                  <a:schemeClr val="tx1"/>
                </a:solidFill>
                <a:latin typeface="Times" panose="02020603050405020304" pitchFamily="18" charset="0"/>
              </a:defRPr>
            </a:lvl9pPr>
          </a:lstStyle>
          <a:p>
            <a:pPr eaLnBrk="0" fontAlgn="base" hangingPunct="0">
              <a:spcBef>
                <a:spcPct val="0"/>
              </a:spcBef>
              <a:spcAft>
                <a:spcPct val="0"/>
              </a:spcAft>
            </a:pPr>
            <a:r>
              <a:rPr lang="en-US" sz="2000" kern="1200" baseline="0" dirty="0">
                <a:solidFill>
                  <a:srgbClr val="FFFFFF"/>
                </a:solidFill>
                <a:latin typeface="+mn-lt"/>
              </a:rPr>
              <a:t>People or </a:t>
            </a:r>
            <a:r>
              <a:rPr lang="en-AU" sz="2000" kern="1200" baseline="0" dirty="0">
                <a:solidFill>
                  <a:srgbClr val="FFFFFF"/>
                </a:solidFill>
                <a:latin typeface="+mn-lt"/>
              </a:rPr>
              <a:t>organisations</a:t>
            </a:r>
            <a:r>
              <a:rPr lang="en-US" sz="2000" kern="1200" baseline="0" dirty="0">
                <a:solidFill>
                  <a:srgbClr val="FFFFFF"/>
                </a:solidFill>
                <a:latin typeface="+mn-lt"/>
              </a:rPr>
              <a:t> with </a:t>
            </a:r>
            <a:br>
              <a:rPr lang="en-US" sz="2000" kern="1200" baseline="0" dirty="0">
                <a:solidFill>
                  <a:srgbClr val="FFFFFF"/>
                </a:solidFill>
                <a:latin typeface="+mn-lt"/>
              </a:rPr>
            </a:br>
            <a:r>
              <a:rPr lang="en-US" sz="2000" kern="1200" baseline="0" dirty="0">
                <a:solidFill>
                  <a:srgbClr val="FFFFFF"/>
                </a:solidFill>
                <a:latin typeface="+mn-lt"/>
              </a:rPr>
              <a:t>needs or wants and the ability and willingness to buy.</a:t>
            </a:r>
          </a:p>
        </p:txBody>
      </p:sp>
      <p:sp>
        <p:nvSpPr>
          <p:cNvPr id="18439" name="Rectangle 7"/>
          <p:cNvSpPr>
            <a:spLocks noChangeArrowheads="1"/>
          </p:cNvSpPr>
          <p:nvPr/>
        </p:nvSpPr>
        <p:spPr bwMode="auto">
          <a:xfrm>
            <a:off x="2829560" y="2507497"/>
            <a:ext cx="5867400" cy="2023864"/>
          </a:xfrm>
          <a:prstGeom prst="rect">
            <a:avLst/>
          </a:prstGeom>
          <a:solidFill>
            <a:schemeClr val="tx2"/>
          </a:solidFill>
          <a:ln w="12700">
            <a:solidFill>
              <a:srgbClr val="000000"/>
            </a:solidFill>
            <a:miter lim="800000"/>
            <a:headEnd/>
            <a:tailEnd/>
          </a:ln>
        </p:spPr>
        <p:txBody>
          <a:bodyPr lIns="90488" tIns="44450" rIns="90488" bIns="44450" anchor="ctr" anchorCtr="1"/>
          <a:lstStyle>
            <a:lvl1pPr>
              <a:defRPr sz="2400" baseline="-25000">
                <a:solidFill>
                  <a:schemeClr val="tx1"/>
                </a:solidFill>
                <a:latin typeface="Times" panose="02020603050405020304" pitchFamily="18" charset="0"/>
              </a:defRPr>
            </a:lvl1pPr>
            <a:lvl2pPr marL="742950" indent="-285750">
              <a:defRPr sz="2400" baseline="-25000">
                <a:solidFill>
                  <a:schemeClr val="tx1"/>
                </a:solidFill>
                <a:latin typeface="Times" panose="02020603050405020304" pitchFamily="18" charset="0"/>
              </a:defRPr>
            </a:lvl2pPr>
            <a:lvl3pPr marL="1143000" indent="-228600">
              <a:defRPr sz="2400" baseline="-25000">
                <a:solidFill>
                  <a:schemeClr val="tx1"/>
                </a:solidFill>
                <a:latin typeface="Times" panose="02020603050405020304" pitchFamily="18" charset="0"/>
              </a:defRPr>
            </a:lvl3pPr>
            <a:lvl4pPr marL="1600200" indent="-228600">
              <a:defRPr sz="2400" baseline="-25000">
                <a:solidFill>
                  <a:schemeClr val="tx1"/>
                </a:solidFill>
                <a:latin typeface="Times" panose="02020603050405020304" pitchFamily="18" charset="0"/>
              </a:defRPr>
            </a:lvl4pPr>
            <a:lvl5pPr marL="2057400" indent="-228600">
              <a:defRPr sz="2400" baseline="-25000">
                <a:solidFill>
                  <a:schemeClr val="tx1"/>
                </a:solidFill>
                <a:latin typeface="Times" panose="02020603050405020304" pitchFamily="18" charset="0"/>
              </a:defRPr>
            </a:lvl5pPr>
            <a:lvl6pPr marL="2514600" indent="-228600" eaLnBrk="0" fontAlgn="base" hangingPunct="0">
              <a:spcBef>
                <a:spcPct val="0"/>
              </a:spcBef>
              <a:spcAft>
                <a:spcPct val="0"/>
              </a:spcAft>
              <a:defRPr sz="2400" baseline="-25000">
                <a:solidFill>
                  <a:schemeClr val="tx1"/>
                </a:solidFill>
                <a:latin typeface="Times" panose="02020603050405020304" pitchFamily="18" charset="0"/>
              </a:defRPr>
            </a:lvl6pPr>
            <a:lvl7pPr marL="2971800" indent="-228600" eaLnBrk="0" fontAlgn="base" hangingPunct="0">
              <a:spcBef>
                <a:spcPct val="0"/>
              </a:spcBef>
              <a:spcAft>
                <a:spcPct val="0"/>
              </a:spcAft>
              <a:defRPr sz="2400" baseline="-25000">
                <a:solidFill>
                  <a:schemeClr val="tx1"/>
                </a:solidFill>
                <a:latin typeface="Times" panose="02020603050405020304" pitchFamily="18" charset="0"/>
              </a:defRPr>
            </a:lvl7pPr>
            <a:lvl8pPr marL="3429000" indent="-228600" eaLnBrk="0" fontAlgn="base" hangingPunct="0">
              <a:spcBef>
                <a:spcPct val="0"/>
              </a:spcBef>
              <a:spcAft>
                <a:spcPct val="0"/>
              </a:spcAft>
              <a:defRPr sz="2400" baseline="-25000">
                <a:solidFill>
                  <a:schemeClr val="tx1"/>
                </a:solidFill>
                <a:latin typeface="Times" panose="02020603050405020304" pitchFamily="18" charset="0"/>
              </a:defRPr>
            </a:lvl8pPr>
            <a:lvl9pPr marL="3886200" indent="-228600" eaLnBrk="0" fontAlgn="base" hangingPunct="0">
              <a:spcBef>
                <a:spcPct val="0"/>
              </a:spcBef>
              <a:spcAft>
                <a:spcPct val="0"/>
              </a:spcAft>
              <a:defRPr sz="2400" baseline="-25000">
                <a:solidFill>
                  <a:schemeClr val="tx1"/>
                </a:solidFill>
                <a:latin typeface="Times" panose="02020603050405020304" pitchFamily="18" charset="0"/>
              </a:defRPr>
            </a:lvl9pPr>
          </a:lstStyle>
          <a:p>
            <a:pPr eaLnBrk="0" fontAlgn="base" hangingPunct="0">
              <a:spcBef>
                <a:spcPct val="0"/>
              </a:spcBef>
              <a:spcAft>
                <a:spcPct val="0"/>
              </a:spcAft>
            </a:pPr>
            <a:r>
              <a:rPr lang="en-US" sz="2000" b="1" kern="1200" baseline="0" dirty="0">
                <a:solidFill>
                  <a:srgbClr val="FFFF00"/>
                </a:solidFill>
                <a:latin typeface="+mn-lt"/>
              </a:rPr>
              <a:t>A subgroup of people </a:t>
            </a:r>
            <a:r>
              <a:rPr lang="en-US" sz="2000" kern="1200" baseline="0" dirty="0">
                <a:solidFill>
                  <a:srgbClr val="FFFFFF"/>
                </a:solidFill>
                <a:latin typeface="+mn-lt"/>
              </a:rPr>
              <a:t>or </a:t>
            </a:r>
            <a:r>
              <a:rPr lang="en-AU" sz="2000" kern="1200" baseline="0" dirty="0">
                <a:solidFill>
                  <a:srgbClr val="FFFFFF"/>
                </a:solidFill>
                <a:latin typeface="+mn-lt"/>
              </a:rPr>
              <a:t>organisations</a:t>
            </a:r>
            <a:r>
              <a:rPr lang="en-US" sz="2000" kern="1200" baseline="0" dirty="0">
                <a:solidFill>
                  <a:srgbClr val="FFFFFF"/>
                </a:solidFill>
                <a:latin typeface="+mn-lt"/>
              </a:rPr>
              <a:t> </a:t>
            </a:r>
            <a:r>
              <a:rPr lang="en-US" sz="2000" b="1" kern="1200" baseline="0" dirty="0">
                <a:solidFill>
                  <a:srgbClr val="FFFF00"/>
                </a:solidFill>
                <a:latin typeface="+mn-lt"/>
              </a:rPr>
              <a:t>sharing one or more characteristics </a:t>
            </a:r>
            <a:r>
              <a:rPr lang="en-US" sz="2000" kern="1200" baseline="0" dirty="0">
                <a:solidFill>
                  <a:srgbClr val="FFFFFF"/>
                </a:solidFill>
                <a:latin typeface="+mn-lt"/>
              </a:rPr>
              <a:t>that cause them to </a:t>
            </a:r>
            <a:r>
              <a:rPr lang="en-US" sz="2000" b="1" kern="1200" baseline="0" dirty="0">
                <a:solidFill>
                  <a:srgbClr val="FFFF00"/>
                </a:solidFill>
                <a:latin typeface="+mn-lt"/>
              </a:rPr>
              <a:t>have similar product needs.</a:t>
            </a:r>
          </a:p>
        </p:txBody>
      </p:sp>
      <p:sp>
        <p:nvSpPr>
          <p:cNvPr id="18440" name="Rectangle 8"/>
          <p:cNvSpPr>
            <a:spLocks noChangeArrowheads="1"/>
          </p:cNvSpPr>
          <p:nvPr/>
        </p:nvSpPr>
        <p:spPr bwMode="auto">
          <a:xfrm>
            <a:off x="2829560" y="4379703"/>
            <a:ext cx="5867400" cy="1828057"/>
          </a:xfrm>
          <a:prstGeom prst="rect">
            <a:avLst/>
          </a:prstGeom>
          <a:solidFill>
            <a:schemeClr val="tx2"/>
          </a:solidFill>
          <a:ln w="12700">
            <a:solidFill>
              <a:srgbClr val="000000"/>
            </a:solidFill>
            <a:miter lim="800000"/>
            <a:headEnd/>
            <a:tailEnd/>
          </a:ln>
        </p:spPr>
        <p:txBody>
          <a:bodyPr lIns="90488" tIns="44450" rIns="90488" bIns="44450" anchor="ctr" anchorCtr="1"/>
          <a:lstStyle>
            <a:lvl1pPr>
              <a:defRPr sz="2400" baseline="-25000">
                <a:solidFill>
                  <a:schemeClr val="tx1"/>
                </a:solidFill>
                <a:latin typeface="Times" panose="02020603050405020304" pitchFamily="18" charset="0"/>
              </a:defRPr>
            </a:lvl1pPr>
            <a:lvl2pPr marL="742950" indent="-285750">
              <a:defRPr sz="2400" baseline="-25000">
                <a:solidFill>
                  <a:schemeClr val="tx1"/>
                </a:solidFill>
                <a:latin typeface="Times" panose="02020603050405020304" pitchFamily="18" charset="0"/>
              </a:defRPr>
            </a:lvl2pPr>
            <a:lvl3pPr marL="1143000" indent="-228600">
              <a:defRPr sz="2400" baseline="-25000">
                <a:solidFill>
                  <a:schemeClr val="tx1"/>
                </a:solidFill>
                <a:latin typeface="Times" panose="02020603050405020304" pitchFamily="18" charset="0"/>
              </a:defRPr>
            </a:lvl3pPr>
            <a:lvl4pPr marL="1600200" indent="-228600">
              <a:defRPr sz="2400" baseline="-25000">
                <a:solidFill>
                  <a:schemeClr val="tx1"/>
                </a:solidFill>
                <a:latin typeface="Times" panose="02020603050405020304" pitchFamily="18" charset="0"/>
              </a:defRPr>
            </a:lvl4pPr>
            <a:lvl5pPr marL="2057400" indent="-228600">
              <a:defRPr sz="2400" baseline="-25000">
                <a:solidFill>
                  <a:schemeClr val="tx1"/>
                </a:solidFill>
                <a:latin typeface="Times" panose="02020603050405020304" pitchFamily="18" charset="0"/>
              </a:defRPr>
            </a:lvl5pPr>
            <a:lvl6pPr marL="2514600" indent="-228600" eaLnBrk="0" fontAlgn="base" hangingPunct="0">
              <a:spcBef>
                <a:spcPct val="0"/>
              </a:spcBef>
              <a:spcAft>
                <a:spcPct val="0"/>
              </a:spcAft>
              <a:defRPr sz="2400" baseline="-25000">
                <a:solidFill>
                  <a:schemeClr val="tx1"/>
                </a:solidFill>
                <a:latin typeface="Times" panose="02020603050405020304" pitchFamily="18" charset="0"/>
              </a:defRPr>
            </a:lvl6pPr>
            <a:lvl7pPr marL="2971800" indent="-228600" eaLnBrk="0" fontAlgn="base" hangingPunct="0">
              <a:spcBef>
                <a:spcPct val="0"/>
              </a:spcBef>
              <a:spcAft>
                <a:spcPct val="0"/>
              </a:spcAft>
              <a:defRPr sz="2400" baseline="-25000">
                <a:solidFill>
                  <a:schemeClr val="tx1"/>
                </a:solidFill>
                <a:latin typeface="Times" panose="02020603050405020304" pitchFamily="18" charset="0"/>
              </a:defRPr>
            </a:lvl7pPr>
            <a:lvl8pPr marL="3429000" indent="-228600" eaLnBrk="0" fontAlgn="base" hangingPunct="0">
              <a:spcBef>
                <a:spcPct val="0"/>
              </a:spcBef>
              <a:spcAft>
                <a:spcPct val="0"/>
              </a:spcAft>
              <a:defRPr sz="2400" baseline="-25000">
                <a:solidFill>
                  <a:schemeClr val="tx1"/>
                </a:solidFill>
                <a:latin typeface="Times" panose="02020603050405020304" pitchFamily="18" charset="0"/>
              </a:defRPr>
            </a:lvl8pPr>
            <a:lvl9pPr marL="3886200" indent="-228600" eaLnBrk="0" fontAlgn="base" hangingPunct="0">
              <a:spcBef>
                <a:spcPct val="0"/>
              </a:spcBef>
              <a:spcAft>
                <a:spcPct val="0"/>
              </a:spcAft>
              <a:defRPr sz="2400" baseline="-25000">
                <a:solidFill>
                  <a:schemeClr val="tx1"/>
                </a:solidFill>
                <a:latin typeface="Times" panose="02020603050405020304" pitchFamily="18" charset="0"/>
              </a:defRPr>
            </a:lvl9pPr>
          </a:lstStyle>
          <a:p>
            <a:pPr eaLnBrk="0" fontAlgn="base" hangingPunct="0">
              <a:spcBef>
                <a:spcPct val="0"/>
              </a:spcBef>
              <a:spcAft>
                <a:spcPct val="0"/>
              </a:spcAft>
            </a:pPr>
            <a:r>
              <a:rPr lang="en-US" sz="2000" b="1" kern="1200" baseline="0" dirty="0">
                <a:solidFill>
                  <a:srgbClr val="FFFF00"/>
                </a:solidFill>
                <a:latin typeface="+mn-lt"/>
              </a:rPr>
              <a:t>The process of dividing</a:t>
            </a:r>
            <a:r>
              <a:rPr lang="en-US" sz="2000" b="1" dirty="0">
                <a:solidFill>
                  <a:srgbClr val="FFFF00"/>
                </a:solidFill>
                <a:latin typeface="+mn-lt"/>
                <a:cs typeface="Times New Roman" panose="02020603050405020304" pitchFamily="18" charset="0"/>
              </a:rPr>
              <a:t> </a:t>
            </a:r>
            <a:r>
              <a:rPr lang="en-US" sz="2000" b="1" kern="1200" baseline="0" dirty="0">
                <a:solidFill>
                  <a:srgbClr val="FFFF00"/>
                </a:solidFill>
                <a:latin typeface="+mn-lt"/>
              </a:rPr>
              <a:t>a market into groups of buyers who might require separate </a:t>
            </a:r>
            <a:r>
              <a:rPr lang="en-US" sz="2000" kern="1200" baseline="0" dirty="0">
                <a:solidFill>
                  <a:srgbClr val="FFFFFF"/>
                </a:solidFill>
                <a:latin typeface="+mn-lt"/>
              </a:rPr>
              <a:t>products or </a:t>
            </a:r>
            <a:r>
              <a:rPr lang="en-US" sz="2000" b="1" kern="1200" baseline="0" dirty="0">
                <a:solidFill>
                  <a:srgbClr val="FFFF00"/>
                </a:solidFill>
                <a:latin typeface="+mn-lt"/>
              </a:rPr>
              <a:t>marketing mixes.</a:t>
            </a:r>
          </a:p>
        </p:txBody>
      </p:sp>
    </p:spTree>
    <p:extLst>
      <p:ext uri="{BB962C8B-B14F-4D97-AF65-F5344CB8AC3E}">
        <p14:creationId xmlns:p14="http://schemas.microsoft.com/office/powerpoint/2010/main" val="510610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bwMode="auto">
          <a:xfrm>
            <a:off x="431800" y="612775"/>
            <a:ext cx="8316913" cy="784225"/>
          </a:xfrm>
        </p:spPr>
        <p:txBody>
          <a:bodyPr wrap="square" numCol="1" anchor="b" anchorCtr="0" compatLnSpc="1"/>
          <a:lstStyle/>
          <a:p>
            <a:pPr>
              <a:spcBef>
                <a:spcPts val="886"/>
              </a:spcBef>
            </a:pPr>
            <a:r>
              <a:rPr lang="en-AU" altLang="en-US" sz="3200" dirty="0">
                <a:solidFill>
                  <a:srgbClr val="007FA3"/>
                </a:solidFill>
                <a:latin typeface="+mj-lt"/>
              </a:rPr>
              <a:t>The steps in segmenting a market</a:t>
            </a:r>
          </a:p>
        </p:txBody>
      </p:sp>
      <p:graphicFrame>
        <p:nvGraphicFramePr>
          <p:cNvPr id="5" name="Diagram 4"/>
          <p:cNvGraphicFramePr/>
          <p:nvPr>
            <p:extLst>
              <p:ext uri="{D42A27DB-BD31-4B8C-83A1-F6EECF244321}">
                <p14:modId xmlns:p14="http://schemas.microsoft.com/office/powerpoint/2010/main" val="1254001480"/>
              </p:ext>
            </p:extLst>
          </p:nvPr>
        </p:nvGraphicFramePr>
        <p:xfrm>
          <a:off x="221535" y="1397000"/>
          <a:ext cx="8748712" cy="42465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660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bwMode="auto">
          <a:xfrm>
            <a:off x="458388" y="181688"/>
            <a:ext cx="8316913" cy="971550"/>
          </a:xfrm>
        </p:spPr>
        <p:txBody>
          <a:bodyPr wrap="square" numCol="1" anchor="b" anchorCtr="0" compatLnSpc="1">
            <a:normAutofit fontScale="90000"/>
          </a:bodyPr>
          <a:lstStyle/>
          <a:p>
            <a:r>
              <a:rPr lang="en-AU" altLang="en-US" sz="3600" dirty="0">
                <a:solidFill>
                  <a:srgbClr val="007FA3"/>
                </a:solidFill>
                <a:latin typeface="+mj-lt"/>
              </a:rPr>
              <a:t>Step One: Selecting a market or product category for study</a:t>
            </a:r>
          </a:p>
        </p:txBody>
      </p:sp>
      <p:graphicFrame>
        <p:nvGraphicFramePr>
          <p:cNvPr id="8" name="Diagram 7"/>
          <p:cNvGraphicFramePr/>
          <p:nvPr>
            <p:extLst>
              <p:ext uri="{D42A27DB-BD31-4B8C-83A1-F6EECF244321}">
                <p14:modId xmlns:p14="http://schemas.microsoft.com/office/powerpoint/2010/main" val="150157667"/>
              </p:ext>
            </p:extLst>
          </p:nvPr>
        </p:nvGraphicFramePr>
        <p:xfrm>
          <a:off x="787376" y="693577"/>
          <a:ext cx="7642276" cy="25003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2" descr="Review of Apple's iPhone 14 and iPhone 14 Pro: They're leaning into it |  TechCrunch">
            <a:extLst>
              <a:ext uri="{FF2B5EF4-FFF2-40B4-BE49-F238E27FC236}">
                <a16:creationId xmlns:a16="http://schemas.microsoft.com/office/drawing/2014/main" id="{C8568B93-BDA7-5D81-53B7-69B6D09F28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376" y="2912914"/>
            <a:ext cx="2393947" cy="18478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Apple Watch Series 7 Review: Is Bigger Really Better?">
            <a:extLst>
              <a:ext uri="{FF2B5EF4-FFF2-40B4-BE49-F238E27FC236}">
                <a16:creationId xmlns:a16="http://schemas.microsoft.com/office/drawing/2014/main" id="{2914E0FC-CA15-6169-4060-FC04FDB68D5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19872" y="2912914"/>
            <a:ext cx="2393947" cy="18478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World's First Apple Car (2025) - YouTube">
            <a:extLst>
              <a:ext uri="{FF2B5EF4-FFF2-40B4-BE49-F238E27FC236}">
                <a16:creationId xmlns:a16="http://schemas.microsoft.com/office/drawing/2014/main" id="{258A9C6D-BA6B-EC43-025E-12626B3CC42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00750" y="2912913"/>
            <a:ext cx="2428902" cy="184784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8C1939D-F9B6-CCD0-1DD0-191C98411E95}"/>
              </a:ext>
            </a:extLst>
          </p:cNvPr>
          <p:cNvSpPr txBox="1"/>
          <p:nvPr/>
        </p:nvSpPr>
        <p:spPr>
          <a:xfrm>
            <a:off x="787376" y="4875305"/>
            <a:ext cx="2393947" cy="1600438"/>
          </a:xfrm>
          <a:prstGeom prst="rect">
            <a:avLst/>
          </a:prstGeom>
          <a:noFill/>
          <a:ln>
            <a:solidFill>
              <a:schemeClr val="tx1"/>
            </a:solidFill>
          </a:ln>
        </p:spPr>
        <p:txBody>
          <a:bodyPr wrap="square" rtlCol="0">
            <a:spAutoFit/>
          </a:bodyPr>
          <a:lstStyle/>
          <a:p>
            <a:pPr marL="93663" indent="-93663">
              <a:buFont typeface="Arial" panose="020B0604020202020204" pitchFamily="34" charset="0"/>
              <a:buChar char="•"/>
            </a:pPr>
            <a:r>
              <a:rPr lang="en-US" dirty="0"/>
              <a:t>Deepening your understanding of the current market dynamics, </a:t>
            </a:r>
          </a:p>
          <a:p>
            <a:pPr marL="93663" indent="-93663">
              <a:buFont typeface="Arial" panose="020B0604020202020204" pitchFamily="34" charset="0"/>
              <a:buChar char="•"/>
            </a:pPr>
            <a:r>
              <a:rPr lang="en-US" dirty="0"/>
              <a:t>Improving product offerings, and </a:t>
            </a:r>
          </a:p>
          <a:p>
            <a:pPr marL="93663" indent="-93663">
              <a:buFont typeface="Arial" panose="020B0604020202020204" pitchFamily="34" charset="0"/>
              <a:buChar char="•"/>
            </a:pPr>
            <a:r>
              <a:rPr lang="en-US" dirty="0"/>
              <a:t>Strengthening your competitive position</a:t>
            </a:r>
            <a:endParaRPr lang="en-AU" dirty="0"/>
          </a:p>
        </p:txBody>
      </p:sp>
      <p:sp>
        <p:nvSpPr>
          <p:cNvPr id="6" name="TextBox 5">
            <a:extLst>
              <a:ext uri="{FF2B5EF4-FFF2-40B4-BE49-F238E27FC236}">
                <a16:creationId xmlns:a16="http://schemas.microsoft.com/office/drawing/2014/main" id="{E5E67775-CB81-C232-28C2-41C3A87FCF63}"/>
              </a:ext>
            </a:extLst>
          </p:cNvPr>
          <p:cNvSpPr txBox="1"/>
          <p:nvPr/>
        </p:nvSpPr>
        <p:spPr>
          <a:xfrm>
            <a:off x="3419872" y="4875445"/>
            <a:ext cx="2393947" cy="1169551"/>
          </a:xfrm>
          <a:prstGeom prst="rect">
            <a:avLst/>
          </a:prstGeom>
          <a:noFill/>
          <a:ln>
            <a:solidFill>
              <a:schemeClr val="tx1"/>
            </a:solidFill>
          </a:ln>
        </p:spPr>
        <p:txBody>
          <a:bodyPr wrap="square" rtlCol="0">
            <a:spAutoFit/>
          </a:bodyPr>
          <a:lstStyle/>
          <a:p>
            <a:pPr marL="93663" indent="-93663">
              <a:buFont typeface="Arial" panose="020B0604020202020204" pitchFamily="34" charset="0"/>
              <a:buChar char="•"/>
            </a:pPr>
            <a:r>
              <a:rPr lang="en-US" dirty="0"/>
              <a:t>Different product category that appeals to the same customer base or </a:t>
            </a:r>
          </a:p>
          <a:p>
            <a:pPr marL="93663" indent="-93663">
              <a:buFont typeface="Arial" panose="020B0604020202020204" pitchFamily="34" charset="0"/>
              <a:buChar char="•"/>
            </a:pPr>
            <a:r>
              <a:rPr lang="en-US" dirty="0"/>
              <a:t>New customer segment for an existing product</a:t>
            </a:r>
            <a:endParaRPr lang="en-AU" dirty="0"/>
          </a:p>
        </p:txBody>
      </p:sp>
      <p:sp>
        <p:nvSpPr>
          <p:cNvPr id="7" name="TextBox 6">
            <a:extLst>
              <a:ext uri="{FF2B5EF4-FFF2-40B4-BE49-F238E27FC236}">
                <a16:creationId xmlns:a16="http://schemas.microsoft.com/office/drawing/2014/main" id="{B7FC2C8B-7425-8A6B-CC21-24EDE58CF18B}"/>
              </a:ext>
            </a:extLst>
          </p:cNvPr>
          <p:cNvSpPr txBox="1"/>
          <p:nvPr/>
        </p:nvSpPr>
        <p:spPr>
          <a:xfrm>
            <a:off x="6000751" y="4875445"/>
            <a:ext cx="2428902" cy="523220"/>
          </a:xfrm>
          <a:prstGeom prst="rect">
            <a:avLst/>
          </a:prstGeom>
          <a:noFill/>
          <a:ln>
            <a:solidFill>
              <a:schemeClr val="tx1"/>
            </a:solidFill>
          </a:ln>
        </p:spPr>
        <p:txBody>
          <a:bodyPr wrap="square" rtlCol="0">
            <a:spAutoFit/>
          </a:bodyPr>
          <a:lstStyle/>
          <a:p>
            <a:pPr marL="93663" indent="-93663">
              <a:buFont typeface="Arial" panose="020B0604020202020204" pitchFamily="34" charset="0"/>
              <a:buChar char="•"/>
            </a:pPr>
            <a:r>
              <a:rPr lang="en-US" dirty="0"/>
              <a:t>Your company or product has no presence</a:t>
            </a:r>
            <a:endParaRPr lang="en-AU" dirty="0"/>
          </a:p>
        </p:txBody>
      </p:sp>
    </p:spTree>
    <p:extLst>
      <p:ext uri="{BB962C8B-B14F-4D97-AF65-F5344CB8AC3E}">
        <p14:creationId xmlns:p14="http://schemas.microsoft.com/office/powerpoint/2010/main" val="2239047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Isosceles Triangle 12"/>
          <p:cNvSpPr/>
          <p:nvPr/>
        </p:nvSpPr>
        <p:spPr bwMode="auto">
          <a:xfrm>
            <a:off x="655729" y="1073504"/>
            <a:ext cx="7011640" cy="5125105"/>
          </a:xfrm>
          <a:prstGeom prst="triangle">
            <a:avLst/>
          </a:prstGeom>
          <a:gradFill flip="none" rotWithShape="1">
            <a:gsLst>
              <a:gs pos="60720">
                <a:srgbClr val="92D050"/>
              </a:gs>
              <a:gs pos="71420">
                <a:srgbClr val="E3F3D1"/>
              </a:gs>
              <a:gs pos="18000">
                <a:srgbClr val="D2FCFE"/>
              </a:gs>
              <a:gs pos="79000">
                <a:srgbClr val="D2FCFE"/>
              </a:gs>
              <a:gs pos="100000">
                <a:srgbClr val="E3F3D1"/>
              </a:gs>
            </a:gsLst>
            <a:path path="shape">
              <a:fillToRect l="50000" t="50000" r="50000" b="50000"/>
            </a:path>
            <a:tileRect/>
          </a:gra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dirty="0">
              <a:solidFill>
                <a:schemeClr val="tx1"/>
              </a:solidFill>
              <a:latin typeface="Verdana" pitchFamily="34" charset="0"/>
              <a:cs typeface="Arial" charset="0"/>
            </a:endParaRPr>
          </a:p>
        </p:txBody>
      </p:sp>
      <p:sp>
        <p:nvSpPr>
          <p:cNvPr id="13314" name="Slide Number Placeholder 3"/>
          <p:cNvSpPr>
            <a:spLocks noGrp="1"/>
          </p:cNvSpPr>
          <p:nvPr>
            <p:ph type="sldNum" sz="quarter" idx="10"/>
          </p:nvPr>
        </p:nvSpPr>
        <p:spPr bwMode="gray">
          <a:xfrm>
            <a:off x="8792307" y="7006864"/>
            <a:ext cx="352629" cy="16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GB"/>
            </a:defPPr>
            <a:lvl1pPr algn="l" rtl="0" fontAlgn="base">
              <a:spcBef>
                <a:spcPct val="0"/>
              </a:spcBef>
              <a:spcAft>
                <a:spcPct val="0"/>
              </a:spcAft>
              <a:defRPr sz="831" kern="1200">
                <a:solidFill>
                  <a:srgbClr val="4D4D4D"/>
                </a:solidFill>
                <a:latin typeface="Verdana" pitchFamily="34" charset="0"/>
                <a:ea typeface="+mn-ea"/>
                <a:cs typeface="Arial" charset="0"/>
              </a:defRPr>
            </a:lvl1pPr>
            <a:lvl2pPr marL="422041" algn="l" rtl="0" fontAlgn="base">
              <a:spcBef>
                <a:spcPct val="50000"/>
              </a:spcBef>
              <a:spcAft>
                <a:spcPct val="0"/>
              </a:spcAft>
              <a:defRPr sz="923" kern="1200">
                <a:solidFill>
                  <a:schemeClr val="tx1"/>
                </a:solidFill>
                <a:latin typeface="Verdana" pitchFamily="34" charset="0"/>
                <a:ea typeface="+mn-ea"/>
                <a:cs typeface="Arial" charset="0"/>
              </a:defRPr>
            </a:lvl2pPr>
            <a:lvl3pPr marL="844083" algn="l" rtl="0" fontAlgn="base">
              <a:spcBef>
                <a:spcPct val="50000"/>
              </a:spcBef>
              <a:spcAft>
                <a:spcPct val="0"/>
              </a:spcAft>
              <a:defRPr sz="923" kern="1200">
                <a:solidFill>
                  <a:schemeClr val="tx1"/>
                </a:solidFill>
                <a:latin typeface="Verdana" pitchFamily="34" charset="0"/>
                <a:ea typeface="+mn-ea"/>
                <a:cs typeface="Arial" charset="0"/>
              </a:defRPr>
            </a:lvl3pPr>
            <a:lvl4pPr marL="1266124" algn="l" rtl="0" fontAlgn="base">
              <a:spcBef>
                <a:spcPct val="50000"/>
              </a:spcBef>
              <a:spcAft>
                <a:spcPct val="0"/>
              </a:spcAft>
              <a:defRPr sz="923" kern="1200">
                <a:solidFill>
                  <a:schemeClr val="tx1"/>
                </a:solidFill>
                <a:latin typeface="Verdana" pitchFamily="34" charset="0"/>
                <a:ea typeface="+mn-ea"/>
                <a:cs typeface="Arial" charset="0"/>
              </a:defRPr>
            </a:lvl4pPr>
            <a:lvl5pPr marL="1688165" algn="l" rtl="0" fontAlgn="base">
              <a:spcBef>
                <a:spcPct val="50000"/>
              </a:spcBef>
              <a:spcAft>
                <a:spcPct val="0"/>
              </a:spcAft>
              <a:defRPr sz="923" kern="1200">
                <a:solidFill>
                  <a:schemeClr val="tx1"/>
                </a:solidFill>
                <a:latin typeface="Verdana" pitchFamily="34" charset="0"/>
                <a:ea typeface="+mn-ea"/>
                <a:cs typeface="Arial" charset="0"/>
              </a:defRPr>
            </a:lvl5pPr>
            <a:lvl6pPr marL="2110207" algn="l" defTabSz="844083" rtl="0" eaLnBrk="1" latinLnBrk="0" hangingPunct="1">
              <a:defRPr sz="923" kern="1200">
                <a:solidFill>
                  <a:schemeClr val="tx1"/>
                </a:solidFill>
                <a:latin typeface="Verdana" pitchFamily="34" charset="0"/>
                <a:ea typeface="+mn-ea"/>
                <a:cs typeface="Arial" charset="0"/>
              </a:defRPr>
            </a:lvl6pPr>
            <a:lvl7pPr marL="2532248" algn="l" defTabSz="844083" rtl="0" eaLnBrk="1" latinLnBrk="0" hangingPunct="1">
              <a:defRPr sz="923" kern="1200">
                <a:solidFill>
                  <a:schemeClr val="tx1"/>
                </a:solidFill>
                <a:latin typeface="Verdana" pitchFamily="34" charset="0"/>
                <a:ea typeface="+mn-ea"/>
                <a:cs typeface="Arial" charset="0"/>
              </a:defRPr>
            </a:lvl7pPr>
            <a:lvl8pPr marL="2954289" algn="l" defTabSz="844083" rtl="0" eaLnBrk="1" latinLnBrk="0" hangingPunct="1">
              <a:defRPr sz="923" kern="1200">
                <a:solidFill>
                  <a:schemeClr val="tx1"/>
                </a:solidFill>
                <a:latin typeface="Verdana" pitchFamily="34" charset="0"/>
                <a:ea typeface="+mn-ea"/>
                <a:cs typeface="Arial" charset="0"/>
              </a:defRPr>
            </a:lvl8pPr>
            <a:lvl9pPr marL="3376331" algn="l" defTabSz="844083" rtl="0" eaLnBrk="1" latinLnBrk="0" hangingPunct="1">
              <a:defRPr sz="923" kern="1200">
                <a:solidFill>
                  <a:schemeClr val="tx1"/>
                </a:solidFill>
                <a:latin typeface="Verdana" pitchFamily="34" charset="0"/>
                <a:ea typeface="+mn-ea"/>
                <a:cs typeface="Arial" charset="0"/>
              </a:defRPr>
            </a:lvl9pPr>
          </a:lstStyle>
          <a:p>
            <a:pPr eaLnBrk="1" hangingPunct="1">
              <a:spcBef>
                <a:spcPct val="0"/>
              </a:spcBef>
              <a:spcAft>
                <a:spcPct val="0"/>
              </a:spcAft>
              <a:buSzTx/>
              <a:buFontTx/>
              <a:buNone/>
              <a:defRPr/>
            </a:pPr>
            <a:fld id="{A38E4037-6637-4F58-A3D6-02D940F5DE4F}" type="slidenum">
              <a:rPr lang="en-GB" smtClean="0"/>
              <a:pPr eaLnBrk="1" hangingPunct="1">
                <a:spcBef>
                  <a:spcPct val="0"/>
                </a:spcBef>
                <a:spcAft>
                  <a:spcPct val="0"/>
                </a:spcAft>
                <a:buSzTx/>
                <a:buFontTx/>
                <a:buNone/>
                <a:defRPr/>
              </a:pPr>
              <a:t>13</a:t>
            </a:fld>
            <a:endParaRPr lang="en-GB" altLang="en-US" dirty="0"/>
          </a:p>
        </p:txBody>
      </p:sp>
      <p:sp>
        <p:nvSpPr>
          <p:cNvPr id="13315" name="Rectangle 2"/>
          <p:cNvSpPr>
            <a:spLocks noGrp="1" noChangeArrowheads="1"/>
          </p:cNvSpPr>
          <p:nvPr>
            <p:ph type="title"/>
          </p:nvPr>
        </p:nvSpPr>
        <p:spPr>
          <a:xfrm>
            <a:off x="332643" y="49571"/>
            <a:ext cx="8373208" cy="830874"/>
          </a:xfrm>
        </p:spPr>
        <p:txBody>
          <a:bodyPr anchor="t"/>
          <a:lstStyle/>
          <a:p>
            <a:pPr eaLnBrk="1" hangingPunct="1"/>
            <a:r>
              <a:rPr lang="en-GB" altLang="en-US" sz="3200" dirty="0">
                <a:solidFill>
                  <a:srgbClr val="007FA3"/>
                </a:solidFill>
                <a:latin typeface="+mj-lt"/>
              </a:rPr>
              <a:t>Stage Two: Select the major bases and variables for segmenting markets</a:t>
            </a:r>
          </a:p>
        </p:txBody>
      </p:sp>
      <p:sp>
        <p:nvSpPr>
          <p:cNvPr id="13317" name="Rectangle 27"/>
          <p:cNvSpPr txBox="1">
            <a:spLocks noChangeArrowheads="1"/>
          </p:cNvSpPr>
          <p:nvPr/>
        </p:nvSpPr>
        <p:spPr bwMode="gray">
          <a:xfrm>
            <a:off x="185327" y="7025913"/>
            <a:ext cx="8748923" cy="148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spcBef>
                <a:spcPct val="20000"/>
              </a:spcBef>
              <a:spcAft>
                <a:spcPct val="20000"/>
              </a:spcAft>
              <a:buSzPct val="80000"/>
              <a:buFont typeface="Verdana" pitchFamily="34" charset="0"/>
              <a:defRPr sz="2000">
                <a:solidFill>
                  <a:schemeClr val="tx1"/>
                </a:solidFill>
                <a:latin typeface="Verdana" pitchFamily="34" charset="0"/>
                <a:cs typeface="Arial" charset="0"/>
              </a:defRPr>
            </a:lvl1pPr>
            <a:lvl2pPr marL="358775" indent="-244475"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2pPr>
            <a:lvl3pPr marL="714375" indent="-247650"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3pPr>
            <a:lvl4pPr marL="1066800" indent="-247650"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4pPr>
            <a:lvl5pPr marL="1428750" indent="-257175"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5pPr>
            <a:lvl6pPr marL="18859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6pPr>
            <a:lvl7pPr marL="23431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7pPr>
            <a:lvl8pPr marL="28003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8pPr>
            <a:lvl9pPr marL="32575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9pPr>
          </a:lstStyle>
          <a:p>
            <a:pPr>
              <a:defRPr/>
            </a:pPr>
            <a:r>
              <a:rPr lang="en-AU" sz="738" dirty="0"/>
              <a:t>Copyright ©2015 Pearson Australia (a division of Pearson Australia Group Pty Ltd) – 9781486002696/Armstrong/Principles of Marketing/6e</a:t>
            </a:r>
          </a:p>
          <a:p>
            <a:pPr>
              <a:defRPr/>
            </a:pPr>
            <a:endParaRPr lang="en-AU" sz="738" dirty="0"/>
          </a:p>
        </p:txBody>
      </p:sp>
      <p:sp>
        <p:nvSpPr>
          <p:cNvPr id="7" name="Content Placeholder 7"/>
          <p:cNvSpPr>
            <a:spLocks noGrp="1"/>
          </p:cNvSpPr>
          <p:nvPr>
            <p:ph idx="1"/>
          </p:nvPr>
        </p:nvSpPr>
        <p:spPr bwMode="auto">
          <a:xfrm>
            <a:off x="332643" y="2059684"/>
            <a:ext cx="2598293" cy="1107354"/>
          </a:xfrm>
          <a:prstGeom prst="flowChartAlternateProcess">
            <a:avLst/>
          </a:prstGeom>
          <a:solidFill>
            <a:srgbClr val="BEE296"/>
          </a:solidFill>
          <a:ln w="15875">
            <a:solidFill>
              <a:srgbClr val="00B050"/>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268173" indent="0">
              <a:spcBef>
                <a:spcPct val="0"/>
              </a:spcBef>
              <a:buNone/>
              <a:defRPr/>
            </a:pPr>
            <a:r>
              <a:rPr lang="en-US" sz="2215" dirty="0"/>
              <a:t>Geographic segmentation</a:t>
            </a:r>
            <a:endParaRPr lang="en-US" sz="2215" dirty="0">
              <a:ea typeface="ＭＳ Ｐゴシック" pitchFamily="34" charset="-128"/>
            </a:endParaRPr>
          </a:p>
        </p:txBody>
      </p:sp>
      <p:sp>
        <p:nvSpPr>
          <p:cNvPr id="10" name="Content Placeholder 7"/>
          <p:cNvSpPr txBox="1">
            <a:spLocks/>
          </p:cNvSpPr>
          <p:nvPr/>
        </p:nvSpPr>
        <p:spPr bwMode="auto">
          <a:xfrm>
            <a:off x="3258860" y="2079485"/>
            <a:ext cx="5431943" cy="1105475"/>
          </a:xfrm>
          <a:prstGeom prst="flowChartAlternateProcess">
            <a:avLst/>
          </a:prstGeom>
          <a:solidFill>
            <a:srgbClr val="FAF3DA"/>
          </a:solidFill>
          <a:ln w="15875">
            <a:solidFill>
              <a:srgbClr val="00B050"/>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r>
              <a:rPr lang="en-US" sz="1477" dirty="0"/>
              <a:t>Divides buyers into different geographical units such as nations, regions, states, LGAs, cities or even </a:t>
            </a:r>
            <a:r>
              <a:rPr lang="en-AU" sz="1477" dirty="0"/>
              <a:t>neighbourhoods</a:t>
            </a:r>
            <a:r>
              <a:rPr lang="en-US" sz="1477" dirty="0"/>
              <a:t>. The company pays attention to geographic differences in need and wants. </a:t>
            </a:r>
            <a:endParaRPr lang="en-US" sz="1477" dirty="0">
              <a:ea typeface="ＭＳ Ｐゴシック" pitchFamily="34" charset="-128"/>
            </a:endParaRPr>
          </a:p>
        </p:txBody>
      </p:sp>
      <p:sp>
        <p:nvSpPr>
          <p:cNvPr id="14" name="Isosceles Triangle 13"/>
          <p:cNvSpPr/>
          <p:nvPr/>
        </p:nvSpPr>
        <p:spPr bwMode="auto">
          <a:xfrm rot="5400000">
            <a:off x="2970198" y="2486356"/>
            <a:ext cx="268054" cy="269663"/>
          </a:xfrm>
          <a:prstGeom prst="triangle">
            <a:avLst/>
          </a:prstGeom>
          <a:solidFill>
            <a:srgbClr val="3E724E"/>
          </a:solidFill>
          <a:ln>
            <a:noFill/>
          </a:ln>
          <a:effectLst>
            <a:outerShdw blurRad="50800" dist="38100" dir="2700000" algn="tl" rotWithShape="0">
              <a:prstClr val="black">
                <a:alpha val="40000"/>
              </a:prstClr>
            </a:outerShdw>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grpSp>
        <p:nvGrpSpPr>
          <p:cNvPr id="3" name="Group 2"/>
          <p:cNvGrpSpPr/>
          <p:nvPr/>
        </p:nvGrpSpPr>
        <p:grpSpPr>
          <a:xfrm>
            <a:off x="332643" y="3243012"/>
            <a:ext cx="8373208" cy="1255128"/>
            <a:chOff x="827636" y="2695113"/>
            <a:chExt cx="8517905" cy="861656"/>
          </a:xfrm>
          <a:effectLst>
            <a:outerShdw blurRad="50800" dist="38100" dir="2700000" algn="tl" rotWithShape="0">
              <a:prstClr val="black">
                <a:alpha val="40000"/>
              </a:prstClr>
            </a:outerShdw>
          </a:effectLst>
        </p:grpSpPr>
        <p:sp>
          <p:nvSpPr>
            <p:cNvPr id="8" name="Content Placeholder 7"/>
            <p:cNvSpPr txBox="1">
              <a:spLocks/>
            </p:cNvSpPr>
            <p:nvPr/>
          </p:nvSpPr>
          <p:spPr bwMode="auto">
            <a:xfrm>
              <a:off x="827636" y="2697159"/>
              <a:ext cx="2655277" cy="859610"/>
            </a:xfrm>
            <a:prstGeom prst="flowChartAlternateProcess">
              <a:avLst/>
            </a:prstGeom>
            <a:solidFill>
              <a:srgbClr val="D8EEC0"/>
            </a:solidFill>
            <a:ln w="15875">
              <a:solidFill>
                <a:srgbClr val="00B050"/>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68173" indent="0" eaLnBrk="1" hangingPunct="1">
                <a:spcBef>
                  <a:spcPct val="0"/>
                </a:spcBef>
                <a:defRPr/>
              </a:pPr>
              <a:r>
                <a:rPr lang="en-US" sz="2215" dirty="0"/>
                <a:t>Demographic segmentation</a:t>
              </a:r>
              <a:endParaRPr lang="en-US" sz="2215" dirty="0">
                <a:ea typeface="ＭＳ Ｐゴシック" pitchFamily="34" charset="-128"/>
              </a:endParaRPr>
            </a:p>
          </p:txBody>
        </p:sp>
        <p:sp>
          <p:nvSpPr>
            <p:cNvPr id="11" name="Content Placeholder 7"/>
            <p:cNvSpPr txBox="1">
              <a:spLocks/>
            </p:cNvSpPr>
            <p:nvPr/>
          </p:nvSpPr>
          <p:spPr bwMode="auto">
            <a:xfrm>
              <a:off x="3804421" y="2695113"/>
              <a:ext cx="5541120" cy="859610"/>
            </a:xfrm>
            <a:prstGeom prst="flowChartAlternateProcess">
              <a:avLst/>
            </a:prstGeom>
            <a:solidFill>
              <a:srgbClr val="FAF3DA"/>
            </a:solidFill>
            <a:ln w="15875">
              <a:solidFill>
                <a:srgbClr val="00B050"/>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05510" indent="0"/>
              <a:r>
                <a:rPr lang="en-US" sz="1477" dirty="0"/>
                <a:t>Divides buyers into segment based on demographic variables (e.g., age, gender, income, occupation etc). Widely used base because customer needs and wants often vary according to demographics.  </a:t>
              </a:r>
            </a:p>
          </p:txBody>
        </p:sp>
        <p:sp>
          <p:nvSpPr>
            <p:cNvPr id="15" name="Isosceles Triangle 14"/>
            <p:cNvSpPr/>
            <p:nvPr/>
          </p:nvSpPr>
          <p:spPr bwMode="auto">
            <a:xfrm rot="5400000">
              <a:off x="3516453" y="2914326"/>
              <a:ext cx="275652" cy="336879"/>
            </a:xfrm>
            <a:prstGeom prst="triangle">
              <a:avLst/>
            </a:prstGeom>
            <a:solidFill>
              <a:srgbClr val="3E724E"/>
            </a:soli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grpSp>
      <p:grpSp>
        <p:nvGrpSpPr>
          <p:cNvPr id="5" name="Group 4"/>
          <p:cNvGrpSpPr/>
          <p:nvPr/>
        </p:nvGrpSpPr>
        <p:grpSpPr>
          <a:xfrm>
            <a:off x="355200" y="5678413"/>
            <a:ext cx="8439176" cy="1156470"/>
            <a:chOff x="871616" y="4639681"/>
            <a:chExt cx="8500750" cy="1790863"/>
          </a:xfrm>
          <a:effectLst>
            <a:outerShdw blurRad="50800" dist="38100" dir="2700000" algn="tl" rotWithShape="0">
              <a:prstClr val="black">
                <a:alpha val="40000"/>
              </a:prstClr>
            </a:outerShdw>
          </a:effectLst>
        </p:grpSpPr>
        <p:sp>
          <p:nvSpPr>
            <p:cNvPr id="16" name="Isosceles Triangle 15"/>
            <p:cNvSpPr/>
            <p:nvPr/>
          </p:nvSpPr>
          <p:spPr bwMode="auto">
            <a:xfrm rot="5400000">
              <a:off x="3476170" y="5278046"/>
              <a:ext cx="401730" cy="300283"/>
            </a:xfrm>
            <a:prstGeom prst="triangle">
              <a:avLst/>
            </a:prstGeom>
            <a:solidFill>
              <a:srgbClr val="3E724E"/>
            </a:solidFill>
            <a:ln>
              <a:noFill/>
            </a:ln>
            <a:effectLst>
              <a:outerShdw blurRad="50800" dist="38100" dir="2700000" algn="tl" rotWithShape="0">
                <a:prstClr val="black">
                  <a:alpha val="40000"/>
                </a:prstClr>
              </a:outerShdw>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17" name="Content Placeholder 7"/>
            <p:cNvSpPr txBox="1">
              <a:spLocks/>
            </p:cNvSpPr>
            <p:nvPr/>
          </p:nvSpPr>
          <p:spPr bwMode="auto">
            <a:xfrm>
              <a:off x="871616" y="4651790"/>
              <a:ext cx="2655277" cy="1691163"/>
            </a:xfrm>
            <a:prstGeom prst="flowChartAlternateProcess">
              <a:avLst/>
            </a:prstGeom>
            <a:solidFill>
              <a:srgbClr val="D8EEC0"/>
            </a:solidFill>
            <a:ln w="15875">
              <a:solidFill>
                <a:srgbClr val="00B050"/>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68173" indent="0" eaLnBrk="1" hangingPunct="1">
                <a:spcBef>
                  <a:spcPct val="0"/>
                </a:spcBef>
                <a:defRPr/>
              </a:pPr>
              <a:r>
                <a:rPr lang="en-US" sz="2215" dirty="0"/>
                <a:t>Behavioural segmentation</a:t>
              </a:r>
              <a:endParaRPr lang="en-US" sz="2215" dirty="0">
                <a:ea typeface="ＭＳ Ｐゴシック" pitchFamily="34" charset="-128"/>
              </a:endParaRPr>
            </a:p>
          </p:txBody>
        </p:sp>
        <p:sp>
          <p:nvSpPr>
            <p:cNvPr id="19" name="Content Placeholder 7"/>
            <p:cNvSpPr txBox="1">
              <a:spLocks/>
            </p:cNvSpPr>
            <p:nvPr/>
          </p:nvSpPr>
          <p:spPr bwMode="auto">
            <a:xfrm>
              <a:off x="3876589" y="4639681"/>
              <a:ext cx="5495777" cy="1790863"/>
            </a:xfrm>
            <a:prstGeom prst="flowChartAlternateProcess">
              <a:avLst/>
            </a:prstGeom>
            <a:solidFill>
              <a:srgbClr val="FAF3DA"/>
            </a:solidFill>
            <a:ln w="15875">
              <a:solidFill>
                <a:srgbClr val="00B050"/>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05510" indent="0"/>
              <a:r>
                <a:rPr lang="en-US" sz="1477" dirty="0"/>
                <a:t>Divides buyers into segments based on their knowledge, attitudes, uses or responses to products. For many marketers, this is the starting point for building market segments.</a:t>
              </a:r>
            </a:p>
          </p:txBody>
        </p:sp>
      </p:grpSp>
      <p:grpSp>
        <p:nvGrpSpPr>
          <p:cNvPr id="4" name="Group 3"/>
          <p:cNvGrpSpPr/>
          <p:nvPr/>
        </p:nvGrpSpPr>
        <p:grpSpPr>
          <a:xfrm>
            <a:off x="361245" y="4560314"/>
            <a:ext cx="8344530" cy="1074140"/>
            <a:chOff x="871616" y="3642257"/>
            <a:chExt cx="8527537" cy="890150"/>
          </a:xfrm>
        </p:grpSpPr>
        <p:sp>
          <p:nvSpPr>
            <p:cNvPr id="9" name="Content Placeholder 7"/>
            <p:cNvSpPr txBox="1">
              <a:spLocks/>
            </p:cNvSpPr>
            <p:nvPr/>
          </p:nvSpPr>
          <p:spPr bwMode="auto">
            <a:xfrm>
              <a:off x="871616" y="3653349"/>
              <a:ext cx="2655277" cy="879058"/>
            </a:xfrm>
            <a:prstGeom prst="flowChartAlternateProcess">
              <a:avLst/>
            </a:prstGeom>
            <a:solidFill>
              <a:srgbClr val="A2D668"/>
            </a:solidFill>
            <a:ln w="15875">
              <a:solidFill>
                <a:srgbClr val="00B050"/>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68173" indent="0" eaLnBrk="1" hangingPunct="1">
                <a:spcBef>
                  <a:spcPct val="0"/>
                </a:spcBef>
                <a:defRPr/>
              </a:pPr>
              <a:r>
                <a:rPr lang="en-US" sz="2215" dirty="0"/>
                <a:t>Psychographic segmentation</a:t>
              </a:r>
              <a:endParaRPr lang="en-US" sz="2215" dirty="0">
                <a:ea typeface="ＭＳ Ｐゴシック" pitchFamily="34" charset="-128"/>
              </a:endParaRPr>
            </a:p>
          </p:txBody>
        </p:sp>
        <p:sp>
          <p:nvSpPr>
            <p:cNvPr id="18" name="Content Placeholder 7"/>
            <p:cNvSpPr txBox="1">
              <a:spLocks/>
            </p:cNvSpPr>
            <p:nvPr/>
          </p:nvSpPr>
          <p:spPr bwMode="auto">
            <a:xfrm>
              <a:off x="3865277" y="3642257"/>
              <a:ext cx="5533876" cy="859610"/>
            </a:xfrm>
            <a:prstGeom prst="flowChartAlternateProcess">
              <a:avLst/>
            </a:prstGeom>
            <a:solidFill>
              <a:srgbClr val="FAF3DA"/>
            </a:solidFill>
            <a:ln w="15875">
              <a:solidFill>
                <a:srgbClr val="00B050"/>
              </a:solidFill>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05510" indent="0"/>
              <a:r>
                <a:rPr lang="en-US" sz="1477" dirty="0"/>
                <a:t>Divides buyers into different segments based on social class, lifestyle or personality characteristics. People in the same demographic group can have very different pychographic profiles.</a:t>
              </a:r>
            </a:p>
          </p:txBody>
        </p:sp>
        <p:sp>
          <p:nvSpPr>
            <p:cNvPr id="20" name="Isosceles Triangle 19"/>
            <p:cNvSpPr/>
            <p:nvPr/>
          </p:nvSpPr>
          <p:spPr bwMode="auto">
            <a:xfrm rot="5400000">
              <a:off x="3521366" y="3868488"/>
              <a:ext cx="349437" cy="338384"/>
            </a:xfrm>
            <a:prstGeom prst="triangle">
              <a:avLst/>
            </a:prstGeom>
            <a:solidFill>
              <a:srgbClr val="3E724E"/>
            </a:solidFill>
            <a:ln>
              <a:noFill/>
            </a:ln>
            <a:effectLst>
              <a:outerShdw blurRad="50800" dist="38100" dir="2700000" algn="tl" rotWithShape="0">
                <a:prstClr val="black">
                  <a:alpha val="40000"/>
                </a:prstClr>
              </a:outerShdw>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grpSp>
      <p:sp>
        <p:nvSpPr>
          <p:cNvPr id="2" name="Rounded Rectangle 4">
            <a:extLst>
              <a:ext uri="{FF2B5EF4-FFF2-40B4-BE49-F238E27FC236}">
                <a16:creationId xmlns:a16="http://schemas.microsoft.com/office/drawing/2014/main" id="{83E4A499-A9E8-E066-CE7E-C8F3074C2718}"/>
              </a:ext>
            </a:extLst>
          </p:cNvPr>
          <p:cNvSpPr/>
          <p:nvPr/>
        </p:nvSpPr>
        <p:spPr>
          <a:xfrm>
            <a:off x="332643" y="1201067"/>
            <a:ext cx="8350960" cy="781968"/>
          </a:xfrm>
          <a:prstGeom prst="roundRect">
            <a:avLst/>
          </a:prstGeom>
          <a:solidFill>
            <a:srgbClr val="C3E3EB"/>
          </a:solidFill>
          <a:ln>
            <a:solidFill>
              <a:srgbClr val="C3E3EB"/>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buClr>
                <a:srgbClr val="B11738"/>
              </a:buClr>
              <a:buFont typeface="Arial" panose="020B0604020202020204" pitchFamily="34" charset="0"/>
              <a:buNone/>
              <a:defRPr/>
            </a:pPr>
            <a:r>
              <a:rPr lang="en-AU" altLang="en-US" sz="2000" dirty="0">
                <a:solidFill>
                  <a:srgbClr val="000000"/>
                </a:solidFill>
                <a:latin typeface="Arial" panose="020B0604020202020204" pitchFamily="34" charset="0"/>
                <a:cs typeface="Arial" panose="020B0604020202020204" pitchFamily="34" charset="0"/>
              </a:rPr>
              <a:t>A set of characteristics common to individuals, groups or organisations that can be used to segment a market</a:t>
            </a:r>
          </a:p>
        </p:txBody>
      </p:sp>
    </p:spTree>
    <p:extLst>
      <p:ext uri="{BB962C8B-B14F-4D97-AF65-F5344CB8AC3E}">
        <p14:creationId xmlns:p14="http://schemas.microsoft.com/office/powerpoint/2010/main" val="398722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wipe(left)">
                                      <p:cBhvr>
                                        <p:cTn id="7" dur="500"/>
                                        <p:tgtEl>
                                          <p:spTgt spid="7">
                                            <p:bg/>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left)">
                                      <p:cBhvr>
                                        <p:cTn id="14" dur="500"/>
                                        <p:tgtEl>
                                          <p:spTgt spid="14"/>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2000"/>
                                        <p:tgtEl>
                                          <p:spTgt spid="3"/>
                                        </p:tgtEl>
                                      </p:cBhvr>
                                    </p:animEffect>
                                  </p:childTnLst>
                                </p:cTn>
                              </p:par>
                            </p:childTnLst>
                          </p:cTn>
                        </p:par>
                        <p:par>
                          <p:cTn id="22" fill="hold">
                            <p:stCondLst>
                              <p:cond delay="3000"/>
                            </p:stCondLst>
                            <p:childTnLst>
                              <p:par>
                                <p:cTn id="23" presetID="22" presetClass="entr" presetSubtype="8"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2000"/>
                                        <p:tgtEl>
                                          <p:spTgt spid="4"/>
                                        </p:tgtEl>
                                      </p:cBhvr>
                                    </p:animEffect>
                                  </p:childTnLst>
                                </p:cTn>
                              </p:par>
                            </p:childTnLst>
                          </p:cTn>
                        </p:par>
                        <p:par>
                          <p:cTn id="26" fill="hold">
                            <p:stCondLst>
                              <p:cond delay="5000"/>
                            </p:stCondLst>
                            <p:childTnLst>
                              <p:par>
                                <p:cTn id="27" presetID="22" presetClass="entr" presetSubtype="8"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2000"/>
                                        <p:tgtEl>
                                          <p:spTgt spid="5"/>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P spid="10" grpId="0" animBg="1"/>
      <p:bldP spid="14" grpId="0" animBg="1"/>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391886" y="272955"/>
            <a:ext cx="8444753" cy="645832"/>
          </a:xfrm>
          <a:prstGeom prst="rect">
            <a:avLst/>
          </a:prstGeom>
          <a:noFill/>
          <a:ln>
            <a:noFill/>
          </a:ln>
        </p:spPr>
        <p:txBody>
          <a:bodyPr lIns="84392" tIns="84392" rIns="84392" bIns="84392" anchor="t" anchorCtr="0"/>
          <a:lstStyle/>
          <a:p>
            <a:pPr>
              <a:spcBef>
                <a:spcPts val="886"/>
              </a:spcBef>
            </a:pPr>
            <a:r>
              <a:rPr lang="en-GB" altLang="en-US" sz="3200" b="1" dirty="0">
                <a:solidFill>
                  <a:srgbClr val="007FA3"/>
                </a:solidFill>
                <a:latin typeface="+mj-lt"/>
                <a:cs typeface="Times New Roman"/>
                <a:sym typeface="Times New Roman"/>
              </a:rPr>
              <a:t>Market segmentation (contd.)</a:t>
            </a:r>
          </a:p>
        </p:txBody>
      </p:sp>
      <p:pic>
        <p:nvPicPr>
          <p:cNvPr id="5122" name="Picture 2" descr="E:\PAU 23\Armstrong\Images\Ch 6\ch06\tb06_01.jpg"/>
          <p:cNvPicPr>
            <a:picLocks noChangeAspect="1" noChangeArrowheads="1"/>
          </p:cNvPicPr>
          <p:nvPr/>
        </p:nvPicPr>
        <p:blipFill>
          <a:blip r:embed="rId2" cstate="print"/>
          <a:srcRect b="37760"/>
          <a:stretch>
            <a:fillRect/>
          </a:stretch>
        </p:blipFill>
        <p:spPr bwMode="auto">
          <a:xfrm>
            <a:off x="638355" y="1135536"/>
            <a:ext cx="7832785" cy="5126593"/>
          </a:xfrm>
          <a:prstGeom prst="rect">
            <a:avLst/>
          </a:prstGeom>
          <a:noFill/>
        </p:spPr>
      </p:pic>
    </p:spTree>
    <p:extLst>
      <p:ext uri="{BB962C8B-B14F-4D97-AF65-F5344CB8AC3E}">
        <p14:creationId xmlns:p14="http://schemas.microsoft.com/office/powerpoint/2010/main" val="1145593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391886" y="219029"/>
            <a:ext cx="8444753" cy="645832"/>
          </a:xfrm>
          <a:prstGeom prst="rect">
            <a:avLst/>
          </a:prstGeom>
          <a:noFill/>
          <a:ln>
            <a:noFill/>
          </a:ln>
        </p:spPr>
        <p:txBody>
          <a:bodyPr lIns="84392" tIns="84392" rIns="84392" bIns="84392" anchor="t" anchorCtr="0"/>
          <a:lstStyle/>
          <a:p>
            <a:pPr>
              <a:spcBef>
                <a:spcPts val="886"/>
              </a:spcBef>
            </a:pPr>
            <a:r>
              <a:rPr lang="en-GB" altLang="en-US" sz="3200" b="1" dirty="0">
                <a:solidFill>
                  <a:srgbClr val="007FA3"/>
                </a:solidFill>
                <a:latin typeface="+mj-lt"/>
                <a:cs typeface="Times New Roman"/>
              </a:rPr>
              <a:t>Market segmentation (contd.)</a:t>
            </a:r>
          </a:p>
        </p:txBody>
      </p:sp>
      <p:pic>
        <p:nvPicPr>
          <p:cNvPr id="6146" name="Picture 2" descr="E:\PAU 23\Armstrong\Images\Ch 6\ch06\tb06_01.jpg"/>
          <p:cNvPicPr>
            <a:picLocks noChangeAspect="1" noChangeArrowheads="1"/>
          </p:cNvPicPr>
          <p:nvPr/>
        </p:nvPicPr>
        <p:blipFill>
          <a:blip r:embed="rId2" cstate="print"/>
          <a:srcRect t="62240"/>
          <a:stretch>
            <a:fillRect/>
          </a:stretch>
        </p:blipFill>
        <p:spPr bwMode="auto">
          <a:xfrm>
            <a:off x="307361" y="1020136"/>
            <a:ext cx="8529278" cy="4725056"/>
          </a:xfrm>
          <a:prstGeom prst="rect">
            <a:avLst/>
          </a:prstGeom>
          <a:noFill/>
        </p:spPr>
      </p:pic>
    </p:spTree>
    <p:extLst>
      <p:ext uri="{BB962C8B-B14F-4D97-AF65-F5344CB8AC3E}">
        <p14:creationId xmlns:p14="http://schemas.microsoft.com/office/powerpoint/2010/main" val="24662219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90" y="134471"/>
            <a:ext cx="8373208" cy="632012"/>
          </a:xfrm>
        </p:spPr>
        <p:txBody>
          <a:bodyPr>
            <a:normAutofit fontScale="90000"/>
          </a:bodyPr>
          <a:lstStyle/>
          <a:p>
            <a:pPr>
              <a:spcBef>
                <a:spcPts val="886"/>
              </a:spcBef>
            </a:pPr>
            <a:r>
              <a:rPr lang="en-AU" sz="3200" dirty="0">
                <a:solidFill>
                  <a:srgbClr val="007FA3"/>
                </a:solidFill>
                <a:latin typeface="+mj-lt"/>
                <a:sym typeface="Arial"/>
              </a:rPr>
              <a:t>Step Three: Build a profile of your segment.</a:t>
            </a:r>
          </a:p>
        </p:txBody>
      </p:sp>
      <p:sp>
        <p:nvSpPr>
          <p:cNvPr id="3" name="Content Placeholder 2"/>
          <p:cNvSpPr>
            <a:spLocks noGrp="1"/>
          </p:cNvSpPr>
          <p:nvPr>
            <p:ph idx="1"/>
          </p:nvPr>
        </p:nvSpPr>
        <p:spPr>
          <a:xfrm>
            <a:off x="258159" y="1309035"/>
            <a:ext cx="8627682" cy="5197643"/>
          </a:xfrm>
        </p:spPr>
        <p:txBody>
          <a:bodyPr>
            <a:normAutofit/>
          </a:bodyPr>
          <a:lstStyle/>
          <a:p>
            <a:r>
              <a:rPr lang="en-AU" sz="2000" dirty="0"/>
              <a:t>Profiles of segments are constructed based on need and types of product</a:t>
            </a:r>
          </a:p>
          <a:p>
            <a:r>
              <a:rPr lang="en-AU" sz="2000" dirty="0"/>
              <a:t>No “one size fits all” approach to segments</a:t>
            </a:r>
          </a:p>
          <a:p>
            <a:r>
              <a:rPr lang="en-AU" sz="2000" dirty="0"/>
              <a:t>Roy Morgan (General </a:t>
            </a:r>
            <a:r>
              <a:rPr lang="en-AU" sz="2000" dirty="0" err="1"/>
              <a:t>Aus</a:t>
            </a:r>
            <a:r>
              <a:rPr lang="en-AU" sz="2000" dirty="0"/>
              <a:t>):</a:t>
            </a:r>
          </a:p>
          <a:p>
            <a:pPr lvl="1"/>
            <a:r>
              <a:rPr lang="en-AU" sz="2000" dirty="0">
                <a:hlinkClick r:id="rId2"/>
              </a:rPr>
              <a:t>http://www.roymorgan.com/products/values-segments</a:t>
            </a:r>
            <a:endParaRPr lang="en-AU" sz="2000" dirty="0"/>
          </a:p>
          <a:p>
            <a:r>
              <a:rPr lang="en-AU" sz="2000" dirty="0"/>
              <a:t>VALS (General US):</a:t>
            </a:r>
          </a:p>
          <a:p>
            <a:pPr lvl="1"/>
            <a:r>
              <a:rPr lang="en-AU" sz="2000" dirty="0">
                <a:hlinkClick r:id="rId3"/>
              </a:rPr>
              <a:t>http://www.strategicbusinessinsights.com/vals/ustypes/strivers.shtml</a:t>
            </a:r>
            <a:endParaRPr lang="en-AU" sz="2000" dirty="0"/>
          </a:p>
          <a:p>
            <a:r>
              <a:rPr lang="en-AU" sz="2000" dirty="0"/>
              <a:t>Experian (General UK): </a:t>
            </a:r>
          </a:p>
          <a:p>
            <a:pPr lvl="1"/>
            <a:r>
              <a:rPr lang="en-AU" sz="2000" dirty="0">
                <a:hlinkClick r:id="rId4"/>
              </a:rPr>
              <a:t>https://www.experian.co.uk/blogs/latest-thinking/marketing/customer-segments/</a:t>
            </a:r>
            <a:endParaRPr lang="en-AU" sz="2000" dirty="0"/>
          </a:p>
          <a:p>
            <a:r>
              <a:rPr lang="en-AU" sz="2000" dirty="0"/>
              <a:t>McKinsey (Banking Digital):</a:t>
            </a:r>
          </a:p>
          <a:p>
            <a:pPr lvl="1"/>
            <a:r>
              <a:rPr lang="en-AU" sz="2000" dirty="0">
                <a:hlinkClick r:id="rId5"/>
              </a:rPr>
              <a:t>https://www.youtube.com/watch?v=iM6hnYb2oiw&amp;feature=youtu.be</a:t>
            </a:r>
            <a:endParaRPr lang="en-AU" sz="2000" dirty="0"/>
          </a:p>
          <a:p>
            <a:endParaRPr lang="en-AU" sz="2000" dirty="0"/>
          </a:p>
        </p:txBody>
      </p:sp>
      <p:sp>
        <p:nvSpPr>
          <p:cNvPr id="5" name="TextBox 4">
            <a:extLst>
              <a:ext uri="{FF2B5EF4-FFF2-40B4-BE49-F238E27FC236}">
                <a16:creationId xmlns:a16="http://schemas.microsoft.com/office/drawing/2014/main" id="{890DEE89-44D3-FBBB-52EA-DD172ED64A9E}"/>
              </a:ext>
            </a:extLst>
          </p:cNvPr>
          <p:cNvSpPr txBox="1"/>
          <p:nvPr/>
        </p:nvSpPr>
        <p:spPr>
          <a:xfrm>
            <a:off x="391890" y="891347"/>
            <a:ext cx="5874439" cy="461665"/>
          </a:xfrm>
          <a:prstGeom prst="rect">
            <a:avLst/>
          </a:prstGeom>
          <a:noFill/>
        </p:spPr>
        <p:txBody>
          <a:bodyPr wrap="square">
            <a:spAutoFit/>
          </a:bodyPr>
          <a:lstStyle/>
          <a:p>
            <a:r>
              <a:rPr lang="en-AU" sz="2400" dirty="0">
                <a:solidFill>
                  <a:srgbClr val="007FA3"/>
                </a:solidFill>
                <a:latin typeface="+mn-lt"/>
                <a:sym typeface="Arial"/>
              </a:rPr>
              <a:t>Creating segment profiles</a:t>
            </a:r>
            <a:endParaRPr lang="en-AU" sz="2400" dirty="0">
              <a:latin typeface="+mn-lt"/>
            </a:endParaRPr>
          </a:p>
        </p:txBody>
      </p:sp>
    </p:spTree>
    <p:extLst>
      <p:ext uri="{BB962C8B-B14F-4D97-AF65-F5344CB8AC3E}">
        <p14:creationId xmlns:p14="http://schemas.microsoft.com/office/powerpoint/2010/main" val="7144662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90" y="134471"/>
            <a:ext cx="8373208" cy="632012"/>
          </a:xfrm>
        </p:spPr>
        <p:txBody>
          <a:bodyPr>
            <a:normAutofit fontScale="90000"/>
          </a:bodyPr>
          <a:lstStyle/>
          <a:p>
            <a:pPr>
              <a:spcBef>
                <a:spcPts val="886"/>
              </a:spcBef>
            </a:pPr>
            <a:r>
              <a:rPr lang="en-AU" sz="3200" dirty="0">
                <a:solidFill>
                  <a:srgbClr val="007FA3"/>
                </a:solidFill>
                <a:latin typeface="+mj-lt"/>
                <a:sym typeface="Arial"/>
              </a:rPr>
              <a:t>Step Three: Build a profile of your segment.</a:t>
            </a:r>
          </a:p>
        </p:txBody>
      </p:sp>
      <p:sp>
        <p:nvSpPr>
          <p:cNvPr id="3" name="Content Placeholder 2"/>
          <p:cNvSpPr>
            <a:spLocks noGrp="1"/>
          </p:cNvSpPr>
          <p:nvPr>
            <p:ph idx="1"/>
          </p:nvPr>
        </p:nvSpPr>
        <p:spPr>
          <a:xfrm>
            <a:off x="258159" y="1349227"/>
            <a:ext cx="8627682" cy="5197643"/>
          </a:xfrm>
        </p:spPr>
        <p:txBody>
          <a:bodyPr>
            <a:normAutofit lnSpcReduction="10000"/>
          </a:bodyPr>
          <a:lstStyle/>
          <a:p>
            <a:r>
              <a:rPr lang="en-US" sz="2000" dirty="0"/>
              <a:t>A customer persona is a detailed description of someone who represents your target audience. </a:t>
            </a:r>
          </a:p>
          <a:p>
            <a:r>
              <a:rPr lang="en-US" sz="2000" dirty="0"/>
              <a:t>This persona is fictional but based on deep research of your existing or desired audience.</a:t>
            </a:r>
          </a:p>
          <a:p>
            <a:r>
              <a:rPr lang="en-US" sz="2000" dirty="0"/>
              <a:t>You can’t get to know every </a:t>
            </a:r>
            <a:br>
              <a:rPr lang="en-US" sz="2000" dirty="0"/>
            </a:br>
            <a:r>
              <a:rPr lang="en-US" sz="2000" dirty="0"/>
              <a:t>customer or prospect </a:t>
            </a:r>
            <a:br>
              <a:rPr lang="en-US" sz="2000" dirty="0"/>
            </a:br>
            <a:r>
              <a:rPr lang="en-US" sz="2000" dirty="0"/>
              <a:t>individually. </a:t>
            </a:r>
          </a:p>
          <a:p>
            <a:r>
              <a:rPr lang="en-US" sz="2000" dirty="0"/>
              <a:t>However, you can create a </a:t>
            </a:r>
            <a:br>
              <a:rPr lang="en-US" sz="2000" dirty="0"/>
            </a:br>
            <a:r>
              <a:rPr lang="en-US" sz="2000" dirty="0"/>
              <a:t>customer persona/s to </a:t>
            </a:r>
            <a:br>
              <a:rPr lang="en-US" sz="2000" dirty="0"/>
            </a:br>
            <a:r>
              <a:rPr lang="en-US" sz="2000" dirty="0"/>
              <a:t>represent your customer base. </a:t>
            </a:r>
          </a:p>
          <a:p>
            <a:r>
              <a:rPr lang="en-US" sz="2000" dirty="0"/>
              <a:t>You’ll give this customer </a:t>
            </a:r>
            <a:br>
              <a:rPr lang="en-US" sz="2000" dirty="0"/>
            </a:br>
            <a:r>
              <a:rPr lang="en-US" sz="2000" dirty="0"/>
              <a:t>persona a name, demographic </a:t>
            </a:r>
            <a:br>
              <a:rPr lang="en-US" sz="2000" dirty="0"/>
            </a:br>
            <a:r>
              <a:rPr lang="en-US" sz="2000" dirty="0"/>
              <a:t>details, interests, and </a:t>
            </a:r>
            <a:br>
              <a:rPr lang="en-US" sz="2000" dirty="0"/>
            </a:br>
            <a:r>
              <a:rPr lang="en-US" sz="2000" dirty="0" err="1"/>
              <a:t>behavioural</a:t>
            </a:r>
            <a:r>
              <a:rPr lang="en-US" sz="2000" dirty="0"/>
              <a:t> traits. </a:t>
            </a:r>
          </a:p>
        </p:txBody>
      </p:sp>
      <p:sp>
        <p:nvSpPr>
          <p:cNvPr id="5" name="TextBox 4">
            <a:extLst>
              <a:ext uri="{FF2B5EF4-FFF2-40B4-BE49-F238E27FC236}">
                <a16:creationId xmlns:a16="http://schemas.microsoft.com/office/drawing/2014/main" id="{890DEE89-44D3-FBBB-52EA-DD172ED64A9E}"/>
              </a:ext>
            </a:extLst>
          </p:cNvPr>
          <p:cNvSpPr txBox="1"/>
          <p:nvPr/>
        </p:nvSpPr>
        <p:spPr>
          <a:xfrm>
            <a:off x="391890" y="891347"/>
            <a:ext cx="5874439" cy="461665"/>
          </a:xfrm>
          <a:prstGeom prst="rect">
            <a:avLst/>
          </a:prstGeom>
          <a:noFill/>
        </p:spPr>
        <p:txBody>
          <a:bodyPr wrap="square">
            <a:spAutoFit/>
          </a:bodyPr>
          <a:lstStyle/>
          <a:p>
            <a:r>
              <a:rPr lang="en-AU" sz="2400" dirty="0">
                <a:solidFill>
                  <a:srgbClr val="007FA3"/>
                </a:solidFill>
                <a:latin typeface="+mn-lt"/>
                <a:sym typeface="Arial"/>
              </a:rPr>
              <a:t>Creating “personas” of segments</a:t>
            </a:r>
            <a:endParaRPr lang="en-AU" sz="2400" dirty="0">
              <a:latin typeface="+mn-lt"/>
            </a:endParaRPr>
          </a:p>
        </p:txBody>
      </p:sp>
      <p:pic>
        <p:nvPicPr>
          <p:cNvPr id="4" name="Picture 3">
            <a:extLst>
              <a:ext uri="{FF2B5EF4-FFF2-40B4-BE49-F238E27FC236}">
                <a16:creationId xmlns:a16="http://schemas.microsoft.com/office/drawing/2014/main" id="{7FE55B84-8908-4F2D-1D99-93E512E93B41}"/>
              </a:ext>
            </a:extLst>
          </p:cNvPr>
          <p:cNvPicPr>
            <a:picLocks noChangeAspect="1"/>
          </p:cNvPicPr>
          <p:nvPr/>
        </p:nvPicPr>
        <p:blipFill>
          <a:blip r:embed="rId2"/>
          <a:stretch>
            <a:fillRect/>
          </a:stretch>
        </p:blipFill>
        <p:spPr>
          <a:xfrm>
            <a:off x="4153882" y="2833037"/>
            <a:ext cx="4224894" cy="3133616"/>
          </a:xfrm>
          <a:prstGeom prst="rect">
            <a:avLst/>
          </a:prstGeom>
        </p:spPr>
      </p:pic>
    </p:spTree>
    <p:extLst>
      <p:ext uri="{BB962C8B-B14F-4D97-AF65-F5344CB8AC3E}">
        <p14:creationId xmlns:p14="http://schemas.microsoft.com/office/powerpoint/2010/main" val="2884925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90" y="134471"/>
            <a:ext cx="8373208" cy="632012"/>
          </a:xfrm>
        </p:spPr>
        <p:txBody>
          <a:bodyPr>
            <a:normAutofit fontScale="90000"/>
          </a:bodyPr>
          <a:lstStyle/>
          <a:p>
            <a:pPr>
              <a:spcBef>
                <a:spcPts val="886"/>
              </a:spcBef>
            </a:pPr>
            <a:r>
              <a:rPr lang="en-AU" sz="3200" dirty="0">
                <a:solidFill>
                  <a:srgbClr val="007FA3"/>
                </a:solidFill>
                <a:latin typeface="+mj-lt"/>
                <a:sym typeface="Arial"/>
              </a:rPr>
              <a:t>Step Three: Build a profile of your segment.</a:t>
            </a:r>
          </a:p>
        </p:txBody>
      </p:sp>
      <p:sp>
        <p:nvSpPr>
          <p:cNvPr id="3" name="Content Placeholder 2"/>
          <p:cNvSpPr>
            <a:spLocks noGrp="1"/>
          </p:cNvSpPr>
          <p:nvPr>
            <p:ph idx="1"/>
          </p:nvPr>
        </p:nvSpPr>
        <p:spPr>
          <a:xfrm>
            <a:off x="258159" y="1309035"/>
            <a:ext cx="8627682" cy="5197643"/>
          </a:xfrm>
        </p:spPr>
        <p:txBody>
          <a:bodyPr>
            <a:normAutofit/>
          </a:bodyPr>
          <a:lstStyle/>
          <a:p>
            <a:r>
              <a:rPr lang="en-US" sz="2000" dirty="0"/>
              <a:t>You’ll understand their goals, pain points, and buying patterns. </a:t>
            </a:r>
          </a:p>
          <a:p>
            <a:r>
              <a:rPr lang="en-US" sz="2000" dirty="0"/>
              <a:t>You can even give them a face using stock photography or illustration if you want — because sometimes it’s important for your team to put a face to a name.</a:t>
            </a:r>
          </a:p>
          <a:p>
            <a:r>
              <a:rPr lang="en-US" sz="2000" dirty="0"/>
              <a:t>You want to think about and speak about this model customer as if they were a real person. </a:t>
            </a:r>
          </a:p>
          <a:p>
            <a:r>
              <a:rPr lang="en-US" sz="2000" dirty="0"/>
              <a:t>This will allow you to craft marketing messages targeted specifically to them.</a:t>
            </a:r>
          </a:p>
          <a:p>
            <a:r>
              <a:rPr lang="en-US" sz="2000" dirty="0"/>
              <a:t>Keeping your customer persona (or personas) in mind keeps the voice and direction of everything consistent, from product development to your brand voice to the social channels you use.</a:t>
            </a:r>
            <a:endParaRPr lang="en-AU" sz="2000" dirty="0"/>
          </a:p>
        </p:txBody>
      </p:sp>
      <p:sp>
        <p:nvSpPr>
          <p:cNvPr id="5" name="TextBox 4">
            <a:extLst>
              <a:ext uri="{FF2B5EF4-FFF2-40B4-BE49-F238E27FC236}">
                <a16:creationId xmlns:a16="http://schemas.microsoft.com/office/drawing/2014/main" id="{890DEE89-44D3-FBBB-52EA-DD172ED64A9E}"/>
              </a:ext>
            </a:extLst>
          </p:cNvPr>
          <p:cNvSpPr txBox="1"/>
          <p:nvPr/>
        </p:nvSpPr>
        <p:spPr>
          <a:xfrm>
            <a:off x="391890" y="891347"/>
            <a:ext cx="5874439" cy="461665"/>
          </a:xfrm>
          <a:prstGeom prst="rect">
            <a:avLst/>
          </a:prstGeom>
          <a:noFill/>
        </p:spPr>
        <p:txBody>
          <a:bodyPr wrap="square">
            <a:spAutoFit/>
          </a:bodyPr>
          <a:lstStyle/>
          <a:p>
            <a:r>
              <a:rPr lang="en-AU" sz="2400" dirty="0">
                <a:solidFill>
                  <a:srgbClr val="007FA3"/>
                </a:solidFill>
                <a:latin typeface="+mn-lt"/>
                <a:sym typeface="Arial"/>
              </a:rPr>
              <a:t>Creating “personas” of segments</a:t>
            </a:r>
            <a:endParaRPr lang="en-AU" sz="2400" dirty="0">
              <a:latin typeface="+mn-lt"/>
            </a:endParaRPr>
          </a:p>
        </p:txBody>
      </p:sp>
    </p:spTree>
    <p:extLst>
      <p:ext uri="{BB962C8B-B14F-4D97-AF65-F5344CB8AC3E}">
        <p14:creationId xmlns:p14="http://schemas.microsoft.com/office/powerpoint/2010/main" val="2511824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Isosceles Triangle 12"/>
          <p:cNvSpPr/>
          <p:nvPr/>
        </p:nvSpPr>
        <p:spPr bwMode="auto">
          <a:xfrm>
            <a:off x="931640" y="1188414"/>
            <a:ext cx="7011640" cy="5125105"/>
          </a:xfrm>
          <a:prstGeom prst="triangle">
            <a:avLst/>
          </a:prstGeom>
          <a:gradFill flip="none" rotWithShape="1">
            <a:gsLst>
              <a:gs pos="60720">
                <a:srgbClr val="92D050"/>
              </a:gs>
              <a:gs pos="71420">
                <a:srgbClr val="E3F3D1"/>
              </a:gs>
              <a:gs pos="18000">
                <a:srgbClr val="D2FCFE"/>
              </a:gs>
              <a:gs pos="79000">
                <a:srgbClr val="D2FCFE"/>
              </a:gs>
              <a:gs pos="100000">
                <a:srgbClr val="E3F3D1"/>
              </a:gs>
            </a:gsLst>
            <a:path path="shape">
              <a:fillToRect l="50000" t="50000" r="50000" b="50000"/>
            </a:path>
            <a:tileRect/>
          </a:gradFill>
          <a:ln>
            <a:noFill/>
          </a:ln>
          <a:effectLst/>
        </p:spPr>
        <p:txBody>
          <a:bodyPr vert="horz" wrap="square" lIns="0" tIns="0" rIns="0" bIns="0" numCol="1" rtlCol="0" anchor="t" anchorCtr="0" compatLnSpc="1">
            <a:prstTxWarp prst="textNoShape">
              <a:avLst/>
            </a:prstTxWarp>
          </a:bodyPr>
          <a:lstStyle/>
          <a:p>
            <a:pPr defTabSz="844083" fontAlgn="base">
              <a:spcBef>
                <a:spcPct val="50000"/>
              </a:spcBef>
              <a:spcAft>
                <a:spcPct val="0"/>
              </a:spcAft>
            </a:pPr>
            <a:endParaRPr lang="en-US" sz="923">
              <a:solidFill>
                <a:schemeClr val="tx1"/>
              </a:solidFill>
              <a:latin typeface="Verdana" pitchFamily="34" charset="0"/>
              <a:cs typeface="Arial" charset="0"/>
            </a:endParaRPr>
          </a:p>
        </p:txBody>
      </p:sp>
      <p:sp>
        <p:nvSpPr>
          <p:cNvPr id="13314" name="Slide Number Placeholder 3"/>
          <p:cNvSpPr>
            <a:spLocks noGrp="1"/>
          </p:cNvSpPr>
          <p:nvPr>
            <p:ph type="sldNum" sz="quarter" idx="10"/>
          </p:nvPr>
        </p:nvSpPr>
        <p:spPr bwMode="gray">
          <a:xfrm>
            <a:off x="8811358" y="6428643"/>
            <a:ext cx="332642" cy="16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GB"/>
            </a:defPPr>
            <a:lvl1pPr algn="l" rtl="0" fontAlgn="base">
              <a:spcBef>
                <a:spcPct val="0"/>
              </a:spcBef>
              <a:spcAft>
                <a:spcPct val="0"/>
              </a:spcAft>
              <a:defRPr sz="831" kern="1200">
                <a:solidFill>
                  <a:srgbClr val="4D4D4D"/>
                </a:solidFill>
                <a:latin typeface="Verdana" pitchFamily="34" charset="0"/>
                <a:ea typeface="+mn-ea"/>
                <a:cs typeface="Arial" charset="0"/>
              </a:defRPr>
            </a:lvl1pPr>
            <a:lvl2pPr marL="422041" algn="l" rtl="0" fontAlgn="base">
              <a:spcBef>
                <a:spcPct val="50000"/>
              </a:spcBef>
              <a:spcAft>
                <a:spcPct val="0"/>
              </a:spcAft>
              <a:defRPr sz="923" kern="1200">
                <a:solidFill>
                  <a:schemeClr val="tx1"/>
                </a:solidFill>
                <a:latin typeface="Verdana" pitchFamily="34" charset="0"/>
                <a:ea typeface="+mn-ea"/>
                <a:cs typeface="Arial" charset="0"/>
              </a:defRPr>
            </a:lvl2pPr>
            <a:lvl3pPr marL="844083" algn="l" rtl="0" fontAlgn="base">
              <a:spcBef>
                <a:spcPct val="50000"/>
              </a:spcBef>
              <a:spcAft>
                <a:spcPct val="0"/>
              </a:spcAft>
              <a:defRPr sz="923" kern="1200">
                <a:solidFill>
                  <a:schemeClr val="tx1"/>
                </a:solidFill>
                <a:latin typeface="Verdana" pitchFamily="34" charset="0"/>
                <a:ea typeface="+mn-ea"/>
                <a:cs typeface="Arial" charset="0"/>
              </a:defRPr>
            </a:lvl3pPr>
            <a:lvl4pPr marL="1266124" algn="l" rtl="0" fontAlgn="base">
              <a:spcBef>
                <a:spcPct val="50000"/>
              </a:spcBef>
              <a:spcAft>
                <a:spcPct val="0"/>
              </a:spcAft>
              <a:defRPr sz="923" kern="1200">
                <a:solidFill>
                  <a:schemeClr val="tx1"/>
                </a:solidFill>
                <a:latin typeface="Verdana" pitchFamily="34" charset="0"/>
                <a:ea typeface="+mn-ea"/>
                <a:cs typeface="Arial" charset="0"/>
              </a:defRPr>
            </a:lvl4pPr>
            <a:lvl5pPr marL="1688165" algn="l" rtl="0" fontAlgn="base">
              <a:spcBef>
                <a:spcPct val="50000"/>
              </a:spcBef>
              <a:spcAft>
                <a:spcPct val="0"/>
              </a:spcAft>
              <a:defRPr sz="923" kern="1200">
                <a:solidFill>
                  <a:schemeClr val="tx1"/>
                </a:solidFill>
                <a:latin typeface="Verdana" pitchFamily="34" charset="0"/>
                <a:ea typeface="+mn-ea"/>
                <a:cs typeface="Arial" charset="0"/>
              </a:defRPr>
            </a:lvl5pPr>
            <a:lvl6pPr marL="2110207" algn="l" defTabSz="844083" rtl="0" eaLnBrk="1" latinLnBrk="0" hangingPunct="1">
              <a:defRPr sz="923" kern="1200">
                <a:solidFill>
                  <a:schemeClr val="tx1"/>
                </a:solidFill>
                <a:latin typeface="Verdana" pitchFamily="34" charset="0"/>
                <a:ea typeface="+mn-ea"/>
                <a:cs typeface="Arial" charset="0"/>
              </a:defRPr>
            </a:lvl6pPr>
            <a:lvl7pPr marL="2532248" algn="l" defTabSz="844083" rtl="0" eaLnBrk="1" latinLnBrk="0" hangingPunct="1">
              <a:defRPr sz="923" kern="1200">
                <a:solidFill>
                  <a:schemeClr val="tx1"/>
                </a:solidFill>
                <a:latin typeface="Verdana" pitchFamily="34" charset="0"/>
                <a:ea typeface="+mn-ea"/>
                <a:cs typeface="Arial" charset="0"/>
              </a:defRPr>
            </a:lvl7pPr>
            <a:lvl8pPr marL="2954289" algn="l" defTabSz="844083" rtl="0" eaLnBrk="1" latinLnBrk="0" hangingPunct="1">
              <a:defRPr sz="923" kern="1200">
                <a:solidFill>
                  <a:schemeClr val="tx1"/>
                </a:solidFill>
                <a:latin typeface="Verdana" pitchFamily="34" charset="0"/>
                <a:ea typeface="+mn-ea"/>
                <a:cs typeface="Arial" charset="0"/>
              </a:defRPr>
            </a:lvl8pPr>
            <a:lvl9pPr marL="3376331" algn="l" defTabSz="844083" rtl="0" eaLnBrk="1" latinLnBrk="0" hangingPunct="1">
              <a:defRPr sz="923" kern="1200">
                <a:solidFill>
                  <a:schemeClr val="tx1"/>
                </a:solidFill>
                <a:latin typeface="Verdana" pitchFamily="34" charset="0"/>
                <a:ea typeface="+mn-ea"/>
                <a:cs typeface="Arial" charset="0"/>
              </a:defRPr>
            </a:lvl9pPr>
          </a:lstStyle>
          <a:p>
            <a:pPr eaLnBrk="1" hangingPunct="1">
              <a:spcBef>
                <a:spcPct val="0"/>
              </a:spcBef>
              <a:spcAft>
                <a:spcPct val="0"/>
              </a:spcAft>
              <a:buSzTx/>
              <a:buFontTx/>
              <a:buNone/>
              <a:defRPr/>
            </a:pPr>
            <a:fld id="{A38E4037-6637-4F58-A3D6-02D940F5DE4F}" type="slidenum">
              <a:rPr lang="en-GB" smtClean="0"/>
              <a:pPr eaLnBrk="1" hangingPunct="1">
                <a:spcBef>
                  <a:spcPct val="0"/>
                </a:spcBef>
                <a:spcAft>
                  <a:spcPct val="0"/>
                </a:spcAft>
                <a:buSzTx/>
                <a:buFontTx/>
                <a:buNone/>
                <a:defRPr/>
              </a:pPr>
              <a:t>19</a:t>
            </a:fld>
            <a:endParaRPr lang="en-GB" altLang="en-US"/>
          </a:p>
        </p:txBody>
      </p:sp>
      <p:sp>
        <p:nvSpPr>
          <p:cNvPr id="13315" name="Rectangle 2"/>
          <p:cNvSpPr>
            <a:spLocks noGrp="1" noChangeArrowheads="1"/>
          </p:cNvSpPr>
          <p:nvPr>
            <p:ph type="title"/>
          </p:nvPr>
        </p:nvSpPr>
        <p:spPr>
          <a:xfrm>
            <a:off x="485093" y="263769"/>
            <a:ext cx="8658907" cy="830874"/>
          </a:xfrm>
        </p:spPr>
        <p:txBody>
          <a:bodyPr/>
          <a:lstStyle/>
          <a:p>
            <a:pPr eaLnBrk="1" hangingPunct="1">
              <a:spcBef>
                <a:spcPts val="886"/>
              </a:spcBef>
            </a:pPr>
            <a:r>
              <a:rPr lang="en-GB" altLang="en-US" sz="3200" dirty="0">
                <a:solidFill>
                  <a:srgbClr val="007FA3"/>
                </a:solidFill>
                <a:latin typeface="+mj-lt"/>
                <a:sym typeface="Arial"/>
              </a:rPr>
              <a:t>Requirements for effective segmentation</a:t>
            </a:r>
          </a:p>
        </p:txBody>
      </p:sp>
      <p:sp>
        <p:nvSpPr>
          <p:cNvPr id="13317" name="Rectangle 27"/>
          <p:cNvSpPr txBox="1">
            <a:spLocks noChangeArrowheads="1"/>
          </p:cNvSpPr>
          <p:nvPr/>
        </p:nvSpPr>
        <p:spPr bwMode="gray">
          <a:xfrm>
            <a:off x="657958" y="6447692"/>
            <a:ext cx="8253046" cy="148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spcBef>
                <a:spcPct val="20000"/>
              </a:spcBef>
              <a:spcAft>
                <a:spcPct val="20000"/>
              </a:spcAft>
              <a:buSzPct val="80000"/>
              <a:buFont typeface="Verdana" pitchFamily="34" charset="0"/>
              <a:defRPr sz="2000">
                <a:solidFill>
                  <a:schemeClr val="tx1"/>
                </a:solidFill>
                <a:latin typeface="Verdana" pitchFamily="34" charset="0"/>
                <a:cs typeface="Arial" charset="0"/>
              </a:defRPr>
            </a:lvl1pPr>
            <a:lvl2pPr marL="358775" indent="-244475"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2pPr>
            <a:lvl3pPr marL="714375" indent="-247650"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3pPr>
            <a:lvl4pPr marL="1066800" indent="-247650"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4pPr>
            <a:lvl5pPr marL="1428750" indent="-257175"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5pPr>
            <a:lvl6pPr marL="18859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6pPr>
            <a:lvl7pPr marL="23431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7pPr>
            <a:lvl8pPr marL="28003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8pPr>
            <a:lvl9pPr marL="32575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9pPr>
          </a:lstStyle>
          <a:p>
            <a:pPr>
              <a:defRPr/>
            </a:pPr>
            <a:r>
              <a:rPr lang="en-AU" sz="738" dirty="0"/>
              <a:t>Copyright ©2015 Pearson Australia (a division of Pearson Australia Group Pty Ltd) – 9781486002696/Armstrong/Principles of Marketing/6e</a:t>
            </a:r>
          </a:p>
          <a:p>
            <a:pPr>
              <a:defRPr/>
            </a:pPr>
            <a:endParaRPr lang="en-AU" sz="738" dirty="0"/>
          </a:p>
        </p:txBody>
      </p:sp>
      <p:sp>
        <p:nvSpPr>
          <p:cNvPr id="8" name="Content Placeholder 7"/>
          <p:cNvSpPr txBox="1">
            <a:spLocks/>
          </p:cNvSpPr>
          <p:nvPr/>
        </p:nvSpPr>
        <p:spPr bwMode="auto">
          <a:xfrm>
            <a:off x="809524" y="1251871"/>
            <a:ext cx="7736584" cy="1046054"/>
          </a:xfrm>
          <a:prstGeom prst="flowChartAlternateProcess">
            <a:avLst/>
          </a:prstGeom>
          <a:solidFill>
            <a:srgbClr val="D8EEC0"/>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162662" indent="0"/>
            <a:r>
              <a:rPr lang="en-US" sz="1846" dirty="0"/>
              <a:t> There are many ways to segment a market, but not all segmentations are effective. To be useful, market segments must be…</a:t>
            </a:r>
            <a:endParaRPr lang="en-US" sz="1846" dirty="0">
              <a:ea typeface="ＭＳ Ｐゴシック" pitchFamily="34" charset="-128"/>
            </a:endParaRPr>
          </a:p>
        </p:txBody>
      </p:sp>
      <p:sp>
        <p:nvSpPr>
          <p:cNvPr id="14" name="Content Placeholder 7"/>
          <p:cNvSpPr txBox="1">
            <a:spLocks/>
          </p:cNvSpPr>
          <p:nvPr/>
        </p:nvSpPr>
        <p:spPr bwMode="auto">
          <a:xfrm>
            <a:off x="3405884" y="2376755"/>
            <a:ext cx="5140225" cy="654214"/>
          </a:xfrm>
          <a:prstGeom prst="flowChartAlternateProcess">
            <a:avLst/>
          </a:prstGeom>
          <a:solidFill>
            <a:srgbClr val="EDF7E1"/>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68173" indent="0" eaLnBrk="1" hangingPunct="1">
              <a:spcBef>
                <a:spcPct val="0"/>
              </a:spcBef>
              <a:defRPr/>
            </a:pPr>
            <a:r>
              <a:rPr lang="en-US" sz="1846" b="1" dirty="0"/>
              <a:t>Measurable: </a:t>
            </a:r>
            <a:r>
              <a:rPr lang="en-US" sz="1846" dirty="0"/>
              <a:t>size and profile of segment can be </a:t>
            </a:r>
            <a:r>
              <a:rPr lang="en-US" sz="1846" u="sng" dirty="0"/>
              <a:t>measured</a:t>
            </a:r>
            <a:endParaRPr lang="en-US" sz="1846" u="sng" dirty="0">
              <a:ea typeface="ＭＳ Ｐゴシック" pitchFamily="34" charset="-128"/>
            </a:endParaRPr>
          </a:p>
        </p:txBody>
      </p:sp>
      <p:cxnSp>
        <p:nvCxnSpPr>
          <p:cNvPr id="4" name="Straight Connector 3"/>
          <p:cNvCxnSpPr/>
          <p:nvPr/>
        </p:nvCxnSpPr>
        <p:spPr bwMode="auto">
          <a:xfrm>
            <a:off x="2410838" y="2292910"/>
            <a:ext cx="0" cy="1431264"/>
          </a:xfrm>
          <a:prstGeom prst="line">
            <a:avLst/>
          </a:prstGeom>
          <a:ln w="31750">
            <a:solidFill>
              <a:srgbClr val="3E724E"/>
            </a:solidFill>
          </a:ln>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bwMode="auto">
          <a:xfrm flipH="1">
            <a:off x="2410838" y="2727401"/>
            <a:ext cx="995046" cy="7348"/>
          </a:xfrm>
          <a:prstGeom prst="line">
            <a:avLst/>
          </a:prstGeom>
          <a:ln w="31750">
            <a:solidFill>
              <a:srgbClr val="3E724E"/>
            </a:solidFill>
          </a:ln>
        </p:spPr>
        <p:style>
          <a:lnRef idx="1">
            <a:schemeClr val="dk1"/>
          </a:lnRef>
          <a:fillRef idx="0">
            <a:schemeClr val="dk1"/>
          </a:fillRef>
          <a:effectRef idx="0">
            <a:schemeClr val="dk1"/>
          </a:effectRef>
          <a:fontRef idx="minor">
            <a:schemeClr val="tx1"/>
          </a:fontRef>
        </p:style>
      </p:cxnSp>
      <p:grpSp>
        <p:nvGrpSpPr>
          <p:cNvPr id="13312" name="Group 13311"/>
          <p:cNvGrpSpPr/>
          <p:nvPr/>
        </p:nvGrpSpPr>
        <p:grpSpPr>
          <a:xfrm>
            <a:off x="2410850" y="3809593"/>
            <a:ext cx="6135258" cy="651717"/>
            <a:chOff x="2831108" y="3736293"/>
            <a:chExt cx="6646529" cy="706027"/>
          </a:xfrm>
        </p:grpSpPr>
        <p:sp>
          <p:nvSpPr>
            <p:cNvPr id="15" name="Content Placeholder 7"/>
            <p:cNvSpPr txBox="1">
              <a:spLocks/>
            </p:cNvSpPr>
            <p:nvPr/>
          </p:nvSpPr>
          <p:spPr bwMode="auto">
            <a:xfrm>
              <a:off x="3909061" y="3736293"/>
              <a:ext cx="5568576" cy="706027"/>
            </a:xfrm>
            <a:prstGeom prst="flowChartAlternateProcess">
              <a:avLst/>
            </a:prstGeom>
            <a:solidFill>
              <a:srgbClr val="EDF7E1"/>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68173" indent="0" eaLnBrk="1" hangingPunct="1">
                <a:spcBef>
                  <a:spcPct val="0"/>
                </a:spcBef>
                <a:defRPr/>
              </a:pPr>
              <a:r>
                <a:rPr lang="en-US" sz="1846" b="1" dirty="0"/>
                <a:t>Substantial: </a:t>
              </a:r>
              <a:r>
                <a:rPr lang="en-US" sz="1846" dirty="0"/>
                <a:t>segment size is </a:t>
              </a:r>
              <a:r>
                <a:rPr lang="en-US" sz="1846" u="sng" dirty="0"/>
                <a:t>profitable</a:t>
              </a:r>
              <a:endParaRPr lang="en-US" sz="1846" u="sng" dirty="0">
                <a:ea typeface="ＭＳ Ｐゴシック" pitchFamily="34" charset="-128"/>
              </a:endParaRPr>
            </a:p>
          </p:txBody>
        </p:sp>
        <p:cxnSp>
          <p:nvCxnSpPr>
            <p:cNvPr id="25" name="Straight Connector 24"/>
            <p:cNvCxnSpPr>
              <a:endCxn id="15" idx="1"/>
            </p:cNvCxnSpPr>
            <p:nvPr/>
          </p:nvCxnSpPr>
          <p:spPr bwMode="auto">
            <a:xfrm>
              <a:off x="2831108" y="4076570"/>
              <a:ext cx="1077953" cy="12737"/>
            </a:xfrm>
            <a:prstGeom prst="line">
              <a:avLst/>
            </a:prstGeom>
            <a:ln w="31750">
              <a:solidFill>
                <a:srgbClr val="3E724E"/>
              </a:solidFill>
            </a:ln>
          </p:spPr>
          <p:style>
            <a:lnRef idx="1">
              <a:schemeClr val="dk1"/>
            </a:lnRef>
            <a:fillRef idx="0">
              <a:schemeClr val="dk1"/>
            </a:fillRef>
            <a:effectRef idx="0">
              <a:schemeClr val="dk1"/>
            </a:effectRef>
            <a:fontRef idx="minor">
              <a:schemeClr val="tx1"/>
            </a:fontRef>
          </p:style>
        </p:cxnSp>
      </p:grpSp>
      <p:grpSp>
        <p:nvGrpSpPr>
          <p:cNvPr id="13341" name="Group 13340"/>
          <p:cNvGrpSpPr/>
          <p:nvPr/>
        </p:nvGrpSpPr>
        <p:grpSpPr>
          <a:xfrm>
            <a:off x="2410850" y="4373586"/>
            <a:ext cx="6135261" cy="1869600"/>
            <a:chOff x="2831105" y="4297798"/>
            <a:chExt cx="6646533" cy="2025400"/>
          </a:xfrm>
        </p:grpSpPr>
        <p:sp>
          <p:nvSpPr>
            <p:cNvPr id="17" name="Content Placeholder 7"/>
            <p:cNvSpPr txBox="1">
              <a:spLocks/>
            </p:cNvSpPr>
            <p:nvPr/>
          </p:nvSpPr>
          <p:spPr bwMode="auto">
            <a:xfrm>
              <a:off x="3909060" y="5514031"/>
              <a:ext cx="5568578" cy="809167"/>
            </a:xfrm>
            <a:prstGeom prst="flowChartAlternateProcess">
              <a:avLst/>
            </a:prstGeom>
            <a:solidFill>
              <a:srgbClr val="EDF7E1"/>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68173" indent="0" eaLnBrk="1" hangingPunct="1">
                <a:spcBef>
                  <a:spcPct val="0"/>
                </a:spcBef>
                <a:defRPr/>
              </a:pPr>
              <a:r>
                <a:rPr lang="en-US" sz="1846" b="1" dirty="0"/>
                <a:t>Actionable: </a:t>
              </a:r>
              <a:r>
                <a:rPr lang="en-US" sz="1846" dirty="0"/>
                <a:t>the </a:t>
              </a:r>
              <a:r>
                <a:rPr lang="en-US" sz="1846" u="sng" dirty="0"/>
                <a:t>company</a:t>
              </a:r>
              <a:r>
                <a:rPr lang="en-US" sz="1846" dirty="0"/>
                <a:t> can design effective </a:t>
              </a:r>
              <a:r>
                <a:rPr lang="en-US" sz="1846" u="sng" dirty="0"/>
                <a:t>programs</a:t>
              </a:r>
              <a:r>
                <a:rPr lang="en-US" sz="1846" dirty="0"/>
                <a:t> to serve segments</a:t>
              </a:r>
              <a:endParaRPr lang="en-US" sz="1846" dirty="0">
                <a:ea typeface="ＭＳ Ｐゴシック" pitchFamily="34" charset="-128"/>
              </a:endParaRPr>
            </a:p>
          </p:txBody>
        </p:sp>
        <p:cxnSp>
          <p:nvCxnSpPr>
            <p:cNvPr id="29" name="Straight Connector 28"/>
            <p:cNvCxnSpPr/>
            <p:nvPr/>
          </p:nvCxnSpPr>
          <p:spPr bwMode="auto">
            <a:xfrm>
              <a:off x="2831120" y="5999045"/>
              <a:ext cx="1077940" cy="0"/>
            </a:xfrm>
            <a:prstGeom prst="line">
              <a:avLst/>
            </a:prstGeom>
            <a:ln w="31750">
              <a:solidFill>
                <a:srgbClr val="3E724E"/>
              </a:solidFill>
            </a:ln>
          </p:spPr>
          <p:style>
            <a:lnRef idx="1">
              <a:schemeClr val="dk1"/>
            </a:lnRef>
            <a:fillRef idx="0">
              <a:schemeClr val="dk1"/>
            </a:fillRef>
            <a:effectRef idx="0">
              <a:schemeClr val="dk1"/>
            </a:effectRef>
            <a:fontRef idx="minor">
              <a:schemeClr val="tx1"/>
            </a:fontRef>
          </p:style>
        </p:cxnSp>
        <p:cxnSp>
          <p:nvCxnSpPr>
            <p:cNvPr id="38" name="Straight Connector 37"/>
            <p:cNvCxnSpPr/>
            <p:nvPr/>
          </p:nvCxnSpPr>
          <p:spPr bwMode="auto">
            <a:xfrm flipH="1">
              <a:off x="2831105" y="4297798"/>
              <a:ext cx="5" cy="1712158"/>
            </a:xfrm>
            <a:prstGeom prst="line">
              <a:avLst/>
            </a:prstGeom>
            <a:ln w="31750">
              <a:solidFill>
                <a:srgbClr val="3E724E"/>
              </a:solidFill>
            </a:ln>
          </p:spPr>
          <p:style>
            <a:lnRef idx="1">
              <a:schemeClr val="dk1"/>
            </a:lnRef>
            <a:fillRef idx="0">
              <a:schemeClr val="dk1"/>
            </a:fillRef>
            <a:effectRef idx="0">
              <a:schemeClr val="dk1"/>
            </a:effectRef>
            <a:fontRef idx="minor">
              <a:schemeClr val="tx1"/>
            </a:fontRef>
          </p:style>
        </p:cxnSp>
      </p:grpSp>
      <p:grpSp>
        <p:nvGrpSpPr>
          <p:cNvPr id="13329" name="Group 13328"/>
          <p:cNvGrpSpPr/>
          <p:nvPr/>
        </p:nvGrpSpPr>
        <p:grpSpPr>
          <a:xfrm>
            <a:off x="2410854" y="3689231"/>
            <a:ext cx="6135257" cy="1738766"/>
            <a:chOff x="2831108" y="3910556"/>
            <a:chExt cx="6646528" cy="1883663"/>
          </a:xfrm>
        </p:grpSpPr>
        <p:sp>
          <p:nvSpPr>
            <p:cNvPr id="16" name="Content Placeholder 7"/>
            <p:cNvSpPr txBox="1">
              <a:spLocks/>
            </p:cNvSpPr>
            <p:nvPr/>
          </p:nvSpPr>
          <p:spPr bwMode="auto">
            <a:xfrm>
              <a:off x="3909059" y="4804589"/>
              <a:ext cx="5568577" cy="989630"/>
            </a:xfrm>
            <a:prstGeom prst="flowChartAlternateProcess">
              <a:avLst/>
            </a:prstGeom>
            <a:solidFill>
              <a:srgbClr val="EDF7E1"/>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68173" indent="0" eaLnBrk="1" hangingPunct="1">
                <a:spcBef>
                  <a:spcPct val="0"/>
                </a:spcBef>
                <a:defRPr/>
              </a:pPr>
              <a:r>
                <a:rPr lang="en-US" sz="1846" b="1" dirty="0"/>
                <a:t>Differentiable: </a:t>
              </a:r>
              <a:r>
                <a:rPr lang="en-US" sz="1846" dirty="0"/>
                <a:t>Given our company objectives and/or identity, will the target market </a:t>
              </a:r>
              <a:r>
                <a:rPr lang="en-US" sz="1846" u="sng" dirty="0"/>
                <a:t>respond to our marketing mix</a:t>
              </a:r>
              <a:r>
                <a:rPr lang="en-US" sz="1846" dirty="0"/>
                <a:t> elements</a:t>
              </a:r>
              <a:endParaRPr lang="en-US" sz="1846" dirty="0">
                <a:ea typeface="ＭＳ Ｐゴシック" pitchFamily="34" charset="-128"/>
              </a:endParaRPr>
            </a:p>
          </p:txBody>
        </p:sp>
        <p:cxnSp>
          <p:nvCxnSpPr>
            <p:cNvPr id="39" name="Straight Connector 38"/>
            <p:cNvCxnSpPr/>
            <p:nvPr/>
          </p:nvCxnSpPr>
          <p:spPr bwMode="auto">
            <a:xfrm>
              <a:off x="2831119" y="5324612"/>
              <a:ext cx="1077939" cy="11256"/>
            </a:xfrm>
            <a:prstGeom prst="line">
              <a:avLst/>
            </a:prstGeom>
            <a:ln w="31750">
              <a:solidFill>
                <a:srgbClr val="3E724E"/>
              </a:solidFill>
            </a:ln>
          </p:spPr>
          <p:style>
            <a:lnRef idx="1">
              <a:schemeClr val="dk1"/>
            </a:lnRef>
            <a:fillRef idx="0">
              <a:schemeClr val="dk1"/>
            </a:fillRef>
            <a:effectRef idx="0">
              <a:schemeClr val="dk1"/>
            </a:effectRef>
            <a:fontRef idx="minor">
              <a:schemeClr val="tx1"/>
            </a:fontRef>
          </p:style>
        </p:cxnSp>
        <p:cxnSp>
          <p:nvCxnSpPr>
            <p:cNvPr id="40" name="Straight Connector 39"/>
            <p:cNvCxnSpPr/>
            <p:nvPr/>
          </p:nvCxnSpPr>
          <p:spPr bwMode="auto">
            <a:xfrm>
              <a:off x="2831108" y="3910556"/>
              <a:ext cx="0" cy="741385"/>
            </a:xfrm>
            <a:prstGeom prst="line">
              <a:avLst/>
            </a:prstGeom>
            <a:ln w="31750">
              <a:solidFill>
                <a:srgbClr val="3E724E"/>
              </a:solidFill>
            </a:ln>
          </p:spPr>
          <p:style>
            <a:lnRef idx="1">
              <a:schemeClr val="dk1"/>
            </a:lnRef>
            <a:fillRef idx="0">
              <a:schemeClr val="dk1"/>
            </a:fillRef>
            <a:effectRef idx="0">
              <a:schemeClr val="dk1"/>
            </a:effectRef>
            <a:fontRef idx="minor">
              <a:schemeClr val="tx1"/>
            </a:fontRef>
          </p:style>
        </p:cxnSp>
      </p:grpSp>
      <p:sp>
        <p:nvSpPr>
          <p:cNvPr id="23" name="Content Placeholder 7"/>
          <p:cNvSpPr txBox="1">
            <a:spLocks/>
          </p:cNvSpPr>
          <p:nvPr/>
        </p:nvSpPr>
        <p:spPr bwMode="auto">
          <a:xfrm>
            <a:off x="3405884" y="3096752"/>
            <a:ext cx="5140225" cy="654214"/>
          </a:xfrm>
          <a:prstGeom prst="flowChartAlternateProcess">
            <a:avLst/>
          </a:prstGeom>
          <a:solidFill>
            <a:srgbClr val="EDF7E1"/>
          </a:solidFill>
          <a:ln w="15875">
            <a:solidFill>
              <a:srgbClr val="00B05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268173" indent="0" eaLnBrk="1" hangingPunct="1">
              <a:spcBef>
                <a:spcPct val="0"/>
              </a:spcBef>
              <a:defRPr/>
            </a:pPr>
            <a:r>
              <a:rPr lang="en-US" sz="1846" b="1" dirty="0"/>
              <a:t>Accessible: </a:t>
            </a:r>
            <a:r>
              <a:rPr lang="en-US" sz="1846" dirty="0"/>
              <a:t>Are our resources enough to </a:t>
            </a:r>
            <a:r>
              <a:rPr lang="en-US" sz="1846" u="sng" dirty="0"/>
              <a:t>reach and serve</a:t>
            </a:r>
            <a:r>
              <a:rPr lang="en-US" sz="1846" dirty="0"/>
              <a:t> this segment efficiently</a:t>
            </a:r>
            <a:endParaRPr lang="en-US" sz="1846" dirty="0">
              <a:ea typeface="ＭＳ Ｐゴシック" pitchFamily="34" charset="-128"/>
            </a:endParaRPr>
          </a:p>
        </p:txBody>
      </p:sp>
      <p:cxnSp>
        <p:nvCxnSpPr>
          <p:cNvPr id="27" name="Straight Connector 26"/>
          <p:cNvCxnSpPr>
            <a:endCxn id="23" idx="1"/>
          </p:cNvCxnSpPr>
          <p:nvPr/>
        </p:nvCxnSpPr>
        <p:spPr bwMode="auto">
          <a:xfrm>
            <a:off x="2410838" y="3420734"/>
            <a:ext cx="995046" cy="3126"/>
          </a:xfrm>
          <a:prstGeom prst="line">
            <a:avLst/>
          </a:prstGeom>
          <a:ln w="28575">
            <a:solidFill>
              <a:srgbClr val="144219"/>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3952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8" fill="hold" nodeType="withEffect">
                                  <p:stCondLst>
                                    <p:cond delay="75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0" dur="500"/>
                                        <p:tgtEl>
                                          <p:spTgt spid="22"/>
                                        </p:tgtEl>
                                      </p:cBhvr>
                                    </p:animEffect>
                                  </p:childTnLst>
                                </p:cTn>
                              </p:par>
                              <p:par>
                                <p:cTn id="11" presetID="22" presetClass="entr" presetSubtype="8" fill="hold" nodeType="withEffect">
                                  <p:stCondLst>
                                    <p:cond delay="750"/>
                                  </p:stCondLst>
                                  <p:childTnLst>
                                    <p:set>
                                      <p:cBhvr>
                                        <p:cTn id="12" dur="1" fill="hold">
                                          <p:stCondLst>
                                            <p:cond delay="0"/>
                                          </p:stCondLst>
                                        </p:cTn>
                                        <p:tgtEl>
                                          <p:spTgt spid="4"/>
                                        </p:tgtEl>
                                        <p:attrNameLst>
                                          <p:attrName>style.visibility</p:attrName>
                                        </p:attrNameLst>
                                      </p:cBhvr>
                                      <p:to>
                                        <p:strVal val="visible"/>
                                      </p:to>
                                    </p:set>
                                    <p:animEffect transition="in" filter="wipe(left)">
                                      <p:cBhvr>
                                        <p:cTn id="13" dur="500"/>
                                        <p:tgtEl>
                                          <p:spTgt spid="4"/>
                                        </p:tgtEl>
                                      </p:cBhvr>
                                    </p:animEffect>
                                  </p:childTnLst>
                                </p:cTn>
                              </p:par>
                            </p:childTnLst>
                          </p:cTn>
                        </p:par>
                        <p:par>
                          <p:cTn id="14" fill="hold">
                            <p:stCondLst>
                              <p:cond delay="1250"/>
                            </p:stCondLst>
                            <p:childTnLst>
                              <p:par>
                                <p:cTn id="15" presetID="22" presetClass="entr" presetSubtype="8" fill="hold" grpId="0" nodeType="afterEffect">
                                  <p:stCondLst>
                                    <p:cond delay="75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500"/>
                                        <p:tgtEl>
                                          <p:spTgt spid="14"/>
                                        </p:tgtEl>
                                      </p:cBhvr>
                                    </p:animEffect>
                                  </p:childTnLst>
                                </p:cTn>
                              </p:par>
                            </p:childTnLst>
                          </p:cTn>
                        </p:par>
                        <p:par>
                          <p:cTn id="18" fill="hold">
                            <p:stCondLst>
                              <p:cond delay="2500"/>
                            </p:stCondLst>
                            <p:childTnLst>
                              <p:par>
                                <p:cTn id="19" presetID="22" presetClass="entr" presetSubtype="8" fill="hold" nodeType="afterEffect">
                                  <p:stCondLst>
                                    <p:cond delay="0"/>
                                  </p:stCondLst>
                                  <p:childTnLst>
                                    <p:set>
                                      <p:cBhvr>
                                        <p:cTn id="20" dur="1" fill="hold">
                                          <p:stCondLst>
                                            <p:cond delay="0"/>
                                          </p:stCondLst>
                                        </p:cTn>
                                        <p:tgtEl>
                                          <p:spTgt spid="13312"/>
                                        </p:tgtEl>
                                        <p:attrNameLst>
                                          <p:attrName>style.visibility</p:attrName>
                                        </p:attrNameLst>
                                      </p:cBhvr>
                                      <p:to>
                                        <p:strVal val="visible"/>
                                      </p:to>
                                    </p:set>
                                    <p:animEffect transition="in" filter="wipe(left)">
                                      <p:cBhvr>
                                        <p:cTn id="21" dur="750"/>
                                        <p:tgtEl>
                                          <p:spTgt spid="13312"/>
                                        </p:tgtEl>
                                      </p:cBhvr>
                                    </p:animEffect>
                                  </p:childTnLst>
                                </p:cTn>
                              </p:par>
                            </p:childTnLst>
                          </p:cTn>
                        </p:par>
                        <p:par>
                          <p:cTn id="22" fill="hold">
                            <p:stCondLst>
                              <p:cond delay="3250"/>
                            </p:stCondLst>
                            <p:childTnLst>
                              <p:par>
                                <p:cTn id="23" presetID="22" presetClass="entr" presetSubtype="8" fill="hold" nodeType="afterEffect">
                                  <p:stCondLst>
                                    <p:cond delay="0"/>
                                  </p:stCondLst>
                                  <p:childTnLst>
                                    <p:set>
                                      <p:cBhvr>
                                        <p:cTn id="24" dur="1" fill="hold">
                                          <p:stCondLst>
                                            <p:cond delay="0"/>
                                          </p:stCondLst>
                                        </p:cTn>
                                        <p:tgtEl>
                                          <p:spTgt spid="13329"/>
                                        </p:tgtEl>
                                        <p:attrNameLst>
                                          <p:attrName>style.visibility</p:attrName>
                                        </p:attrNameLst>
                                      </p:cBhvr>
                                      <p:to>
                                        <p:strVal val="visible"/>
                                      </p:to>
                                    </p:set>
                                    <p:animEffect transition="in" filter="wipe(left)">
                                      <p:cBhvr>
                                        <p:cTn id="25" dur="750"/>
                                        <p:tgtEl>
                                          <p:spTgt spid="13329"/>
                                        </p:tgtEl>
                                      </p:cBhvr>
                                    </p:animEffect>
                                  </p:childTnLst>
                                </p:cTn>
                              </p:par>
                            </p:childTnLst>
                          </p:cTn>
                        </p:par>
                        <p:par>
                          <p:cTn id="26" fill="hold">
                            <p:stCondLst>
                              <p:cond delay="4000"/>
                            </p:stCondLst>
                            <p:childTnLst>
                              <p:par>
                                <p:cTn id="27" presetID="22" presetClass="entr" presetSubtype="8" fill="hold" nodeType="afterEffect">
                                  <p:stCondLst>
                                    <p:cond delay="0"/>
                                  </p:stCondLst>
                                  <p:childTnLst>
                                    <p:set>
                                      <p:cBhvr>
                                        <p:cTn id="28" dur="1" fill="hold">
                                          <p:stCondLst>
                                            <p:cond delay="0"/>
                                          </p:stCondLst>
                                        </p:cTn>
                                        <p:tgtEl>
                                          <p:spTgt spid="13341"/>
                                        </p:tgtEl>
                                        <p:attrNameLst>
                                          <p:attrName>style.visibility</p:attrName>
                                        </p:attrNameLst>
                                      </p:cBhvr>
                                      <p:to>
                                        <p:strVal val="visible"/>
                                      </p:to>
                                    </p:set>
                                    <p:animEffect transition="in" filter="wipe(left)">
                                      <p:cBhvr>
                                        <p:cTn id="29" dur="750"/>
                                        <p:tgtEl>
                                          <p:spTgt spid="13341"/>
                                        </p:tgtEl>
                                      </p:cBhvr>
                                    </p:animEffect>
                                  </p:childTnLst>
                                </p:cTn>
                              </p:par>
                            </p:childTnLst>
                          </p:cTn>
                        </p:par>
                        <p:par>
                          <p:cTn id="30" fill="hold">
                            <p:stCondLst>
                              <p:cond delay="4750"/>
                            </p:stCondLst>
                            <p:childTnLst>
                              <p:par>
                                <p:cTn id="31" presetID="22" presetClass="entr" presetSubtype="8" fill="hold" grpId="0" nodeType="afterEffect">
                                  <p:stCondLst>
                                    <p:cond delay="75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 grpId="0" animBg="1"/>
      <p:bldP spid="2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title"/>
          </p:nvPr>
        </p:nvSpPr>
        <p:spPr>
          <a:xfrm>
            <a:off x="601515" y="276045"/>
            <a:ext cx="8042839" cy="1129501"/>
          </a:xfrm>
        </p:spPr>
        <p:txBody>
          <a:bodyPr/>
          <a:lstStyle/>
          <a:p>
            <a:pPr eaLnBrk="1" hangingPunct="1"/>
            <a:r>
              <a:rPr lang="en-AU" sz="3200" dirty="0">
                <a:solidFill>
                  <a:srgbClr val="007FA3"/>
                </a:solidFill>
                <a:latin typeface="+mj-lt"/>
                <a:sym typeface="Arial"/>
              </a:rPr>
              <a:t>Step Four: </a:t>
            </a:r>
            <a:r>
              <a:rPr lang="en-AU" altLang="en-US" sz="3200" dirty="0">
                <a:solidFill>
                  <a:srgbClr val="007FA3"/>
                </a:solidFill>
                <a:latin typeface="+mj-lt"/>
                <a:sym typeface="Arial"/>
              </a:rPr>
              <a:t>How to choose a Market-Coverage Strategy</a:t>
            </a:r>
          </a:p>
        </p:txBody>
      </p:sp>
      <p:sp>
        <p:nvSpPr>
          <p:cNvPr id="57347" name="Rectangle 5"/>
          <p:cNvSpPr>
            <a:spLocks noGrp="1" noChangeArrowheads="1"/>
          </p:cNvSpPr>
          <p:nvPr>
            <p:ph type="body" idx="1"/>
          </p:nvPr>
        </p:nvSpPr>
        <p:spPr>
          <a:xfrm>
            <a:off x="550581" y="1405547"/>
            <a:ext cx="8042839" cy="2959766"/>
          </a:xfrm>
        </p:spPr>
        <p:txBody>
          <a:bodyPr/>
          <a:lstStyle/>
          <a:p>
            <a:pPr marL="101600" indent="0" algn="ctr" eaLnBrk="1" hangingPunct="1">
              <a:lnSpc>
                <a:spcPct val="90000"/>
              </a:lnSpc>
              <a:buNone/>
            </a:pPr>
            <a:r>
              <a:rPr lang="en-AU" altLang="en-US" sz="2215" b="1" i="1" dirty="0"/>
              <a:t>Many factors must be considered. Which strategy is best depending on:</a:t>
            </a:r>
          </a:p>
          <a:p>
            <a:pPr marL="342900" indent="-342900">
              <a:lnSpc>
                <a:spcPct val="90000"/>
              </a:lnSpc>
              <a:buFont typeface="Arial" panose="020B0604020202020204" pitchFamily="34" charset="0"/>
              <a:buChar char="•"/>
            </a:pPr>
            <a:r>
              <a:rPr lang="en-AU" altLang="en-US" sz="2215" dirty="0"/>
              <a:t>your own marketing resources (money and expertise)</a:t>
            </a:r>
          </a:p>
          <a:p>
            <a:pPr marL="342900" indent="-342900">
              <a:lnSpc>
                <a:spcPct val="90000"/>
              </a:lnSpc>
              <a:buFont typeface="Arial" panose="020B0604020202020204" pitchFamily="34" charset="0"/>
              <a:buChar char="•"/>
            </a:pPr>
            <a:r>
              <a:rPr lang="en-AU" altLang="en-US" sz="2215" dirty="0"/>
              <a:t>product range &amp; variability</a:t>
            </a:r>
          </a:p>
          <a:p>
            <a:pPr marL="342900" indent="-342900">
              <a:lnSpc>
                <a:spcPct val="90000"/>
              </a:lnSpc>
              <a:buFont typeface="Arial" panose="020B0604020202020204" pitchFamily="34" charset="0"/>
              <a:buChar char="•"/>
            </a:pPr>
            <a:r>
              <a:rPr lang="en-AU" altLang="en-US" sz="2215" dirty="0"/>
              <a:t>the stage in the product life cycle</a:t>
            </a:r>
          </a:p>
          <a:p>
            <a:pPr marL="342900" indent="-342900">
              <a:lnSpc>
                <a:spcPct val="90000"/>
              </a:lnSpc>
              <a:buFont typeface="Arial" panose="020B0604020202020204" pitchFamily="34" charset="0"/>
              <a:buChar char="•"/>
            </a:pPr>
            <a:r>
              <a:rPr lang="en-AU" altLang="en-US" sz="2215" dirty="0"/>
              <a:t>diversity of different segments</a:t>
            </a:r>
          </a:p>
          <a:p>
            <a:pPr marL="342900" indent="-342900">
              <a:lnSpc>
                <a:spcPct val="90000"/>
              </a:lnSpc>
              <a:buFont typeface="Arial" panose="020B0604020202020204" pitchFamily="34" charset="0"/>
              <a:buChar char="•"/>
            </a:pPr>
            <a:r>
              <a:rPr lang="en-AU" altLang="en-US" sz="2215" dirty="0"/>
              <a:t>competitors’ marketing strategies.</a:t>
            </a:r>
            <a:endParaRPr lang="en-AU" altLang="en-US" dirty="0"/>
          </a:p>
        </p:txBody>
      </p:sp>
      <p:pic>
        <p:nvPicPr>
          <p:cNvPr id="57348" name="Picture 5" descr="http://sorethumbmarketing.com/wp/wp-content/uploads/2013/02/market_segmentation.jpg">
            <a:hlinkClick r:id="rId3"/>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8182" y="4573222"/>
            <a:ext cx="3692769" cy="175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5696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D7484-F644-4A80-A4C7-24662A82671F}"/>
              </a:ext>
            </a:extLst>
          </p:cNvPr>
          <p:cNvSpPr>
            <a:spLocks noGrp="1"/>
          </p:cNvSpPr>
          <p:nvPr>
            <p:ph type="title"/>
          </p:nvPr>
        </p:nvSpPr>
        <p:spPr>
          <a:xfrm>
            <a:off x="457200" y="228600"/>
            <a:ext cx="8229600" cy="672657"/>
          </a:xfrm>
        </p:spPr>
        <p:txBody>
          <a:bodyPr anchor="b">
            <a:noAutofit/>
          </a:bodyPr>
          <a:lstStyle/>
          <a:p>
            <a:pPr>
              <a:lnSpc>
                <a:spcPct val="90000"/>
              </a:lnSpc>
            </a:pPr>
            <a:r>
              <a:rPr lang="en-US" dirty="0"/>
              <a:t>Figure 6.2</a:t>
            </a:r>
            <a:endParaRPr lang="en-NZ" dirty="0"/>
          </a:p>
        </p:txBody>
      </p:sp>
      <p:sp>
        <p:nvSpPr>
          <p:cNvPr id="3" name="Text Placeholder 2">
            <a:extLst>
              <a:ext uri="{FF2B5EF4-FFF2-40B4-BE49-F238E27FC236}">
                <a16:creationId xmlns:a16="http://schemas.microsoft.com/office/drawing/2014/main" id="{E9CE5ABD-515A-47C2-8956-37F699C37883}"/>
              </a:ext>
            </a:extLst>
          </p:cNvPr>
          <p:cNvSpPr>
            <a:spLocks noGrp="1"/>
          </p:cNvSpPr>
          <p:nvPr>
            <p:ph type="body" sz="quarter" idx="14"/>
          </p:nvPr>
        </p:nvSpPr>
        <p:spPr>
          <a:xfrm>
            <a:off x="457200" y="901257"/>
            <a:ext cx="8232775" cy="611631"/>
          </a:xfrm>
        </p:spPr>
        <p:txBody>
          <a:bodyPr anchor="t">
            <a:normAutofit/>
          </a:bodyPr>
          <a:lstStyle/>
          <a:p>
            <a:r>
              <a:rPr lang="en-NZ" dirty="0"/>
              <a:t>Market targeting strategies</a:t>
            </a:r>
          </a:p>
        </p:txBody>
      </p:sp>
      <p:pic>
        <p:nvPicPr>
          <p:cNvPr id="6" name="Picture 5" descr="A flow diagram depicts four market targeting strategies. Full alt text description in Notes.">
            <a:extLst>
              <a:ext uri="{FF2B5EF4-FFF2-40B4-BE49-F238E27FC236}">
                <a16:creationId xmlns:a16="http://schemas.microsoft.com/office/drawing/2014/main" id="{2E5ACAED-E4BF-41A3-BB83-1F63AA811F93}"/>
              </a:ext>
            </a:extLst>
          </p:cNvPr>
          <p:cNvPicPr>
            <a:picLocks noChangeAspect="1"/>
          </p:cNvPicPr>
          <p:nvPr/>
        </p:nvPicPr>
        <p:blipFill>
          <a:blip r:embed="rId3"/>
          <a:stretch>
            <a:fillRect/>
          </a:stretch>
        </p:blipFill>
        <p:spPr>
          <a:xfrm>
            <a:off x="345903" y="2025445"/>
            <a:ext cx="8452194" cy="2712800"/>
          </a:xfrm>
          <a:prstGeom prst="rect">
            <a:avLst/>
          </a:prstGeom>
        </p:spPr>
      </p:pic>
    </p:spTree>
    <p:extLst>
      <p:ext uri="{BB962C8B-B14F-4D97-AF65-F5344CB8AC3E}">
        <p14:creationId xmlns:p14="http://schemas.microsoft.com/office/powerpoint/2010/main" val="5081789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20733D9C-4644-48A6-A8AD-8FC1E9FB518C}"/>
              </a:ext>
            </a:extLst>
          </p:cNvPr>
          <p:cNvSpPr>
            <a:spLocks noGrp="1"/>
          </p:cNvSpPr>
          <p:nvPr>
            <p:ph type="title"/>
          </p:nvPr>
        </p:nvSpPr>
        <p:spPr>
          <a:xfrm>
            <a:off x="457200" y="215372"/>
            <a:ext cx="8229600" cy="605510"/>
          </a:xfrm>
        </p:spPr>
        <p:txBody>
          <a:bodyPr/>
          <a:lstStyle/>
          <a:p>
            <a:r>
              <a:rPr lang="en-US" sz="3200" dirty="0"/>
              <a:t>Market targeting</a:t>
            </a:r>
            <a:endParaRPr lang="en-US" sz="2000" dirty="0"/>
          </a:p>
        </p:txBody>
      </p:sp>
      <p:sp>
        <p:nvSpPr>
          <p:cNvPr id="3" name="Text Placeholder 2">
            <a:extLst>
              <a:ext uri="{FF2B5EF4-FFF2-40B4-BE49-F238E27FC236}">
                <a16:creationId xmlns:a16="http://schemas.microsoft.com/office/drawing/2014/main" id="{4E8A2D21-8FB3-4C1C-858F-1ACEC6D29597}"/>
              </a:ext>
            </a:extLst>
          </p:cNvPr>
          <p:cNvSpPr>
            <a:spLocks noGrp="1"/>
          </p:cNvSpPr>
          <p:nvPr>
            <p:ph type="body" idx="4294967295"/>
          </p:nvPr>
        </p:nvSpPr>
        <p:spPr>
          <a:xfrm>
            <a:off x="457200" y="820882"/>
            <a:ext cx="8229600" cy="4525963"/>
          </a:xfrm>
        </p:spPr>
        <p:txBody>
          <a:bodyPr/>
          <a:lstStyle/>
          <a:p>
            <a:pPr marL="101600" indent="0" algn="l">
              <a:buNone/>
            </a:pPr>
            <a:r>
              <a:rPr lang="en-NZ" sz="2400" b="1" dirty="0">
                <a:solidFill>
                  <a:srgbClr val="007FA3"/>
                </a:solidFill>
                <a:latin typeface="+mn-lt"/>
              </a:rPr>
              <a:t>Selecting target market segments</a:t>
            </a:r>
          </a:p>
          <a:p>
            <a:pPr>
              <a:tabLst>
                <a:tab pos="1828800" algn="l"/>
              </a:tabLst>
            </a:pPr>
            <a:r>
              <a:rPr lang="en-US" sz="2000" dirty="0">
                <a:latin typeface="+mn-lt"/>
              </a:rPr>
              <a:t>A </a:t>
            </a:r>
            <a:r>
              <a:rPr lang="en-US" sz="2000" b="1" dirty="0">
                <a:latin typeface="+mn-lt"/>
              </a:rPr>
              <a:t>target market </a:t>
            </a:r>
            <a:r>
              <a:rPr lang="en-US" sz="2000" dirty="0">
                <a:latin typeface="+mn-lt"/>
              </a:rPr>
              <a:t>is a set of buyers sharing common needs or characteristics that the company decides to serve.</a:t>
            </a:r>
          </a:p>
          <a:p>
            <a:pPr>
              <a:tabLst>
                <a:tab pos="1828800" algn="l"/>
              </a:tabLst>
            </a:pPr>
            <a:r>
              <a:rPr lang="en-US" sz="2000" dirty="0">
                <a:latin typeface="+mn-lt"/>
              </a:rPr>
              <a:t>The marketer identifies market segments, selects one or more, and develops products and marketing mixes tailored to each</a:t>
            </a:r>
          </a:p>
          <a:p>
            <a:pPr marL="101600" indent="0">
              <a:buNone/>
              <a:tabLst>
                <a:tab pos="1828800" algn="l"/>
              </a:tabLst>
            </a:pPr>
            <a:r>
              <a:rPr lang="en-US" sz="2200" b="1" dirty="0">
                <a:solidFill>
                  <a:srgbClr val="00B0F0"/>
                </a:solidFill>
                <a:latin typeface="+mn-lt"/>
              </a:rPr>
              <a:t>Undifferentiated marketing</a:t>
            </a:r>
          </a:p>
          <a:p>
            <a:r>
              <a:rPr lang="en-NZ" sz="1950" b="1" i="0" u="none" strike="noStrike" baseline="0" dirty="0">
                <a:solidFill>
                  <a:schemeClr val="tx1"/>
                </a:solidFill>
                <a:latin typeface="+mn-lt"/>
              </a:rPr>
              <a:t>Undifferentiated </a:t>
            </a:r>
            <a:r>
              <a:rPr lang="en-NZ" sz="1950" dirty="0">
                <a:solidFill>
                  <a:schemeClr val="tx1"/>
                </a:solidFill>
                <a:latin typeface="+mn-lt"/>
              </a:rPr>
              <a:t>(</a:t>
            </a:r>
            <a:r>
              <a:rPr lang="en-NZ" sz="1950" b="1" dirty="0">
                <a:solidFill>
                  <a:schemeClr val="tx1"/>
                </a:solidFill>
                <a:latin typeface="+mn-lt"/>
              </a:rPr>
              <a:t>mass</a:t>
            </a:r>
            <a:r>
              <a:rPr lang="en-NZ" sz="1950" dirty="0">
                <a:solidFill>
                  <a:schemeClr val="tx1"/>
                </a:solidFill>
                <a:latin typeface="+mn-lt"/>
              </a:rPr>
              <a:t>) </a:t>
            </a:r>
            <a:r>
              <a:rPr lang="en-NZ" sz="1950" b="1" i="0" u="none" strike="noStrike" baseline="0" dirty="0">
                <a:solidFill>
                  <a:schemeClr val="tx1"/>
                </a:solidFill>
                <a:latin typeface="+mn-lt"/>
              </a:rPr>
              <a:t>marketing </a:t>
            </a:r>
            <a:r>
              <a:rPr lang="en-NZ" sz="1950" b="0" i="0" u="none" strike="noStrike" baseline="0" dirty="0">
                <a:solidFill>
                  <a:schemeClr val="tx1"/>
                </a:solidFill>
                <a:latin typeface="+mn-lt"/>
              </a:rPr>
              <a:t>is a </a:t>
            </a:r>
          </a:p>
          <a:p>
            <a:pPr lvl="1">
              <a:buFont typeface="Wingdings" panose="05000000000000000000" pitchFamily="2" charset="2"/>
              <a:buChar char="§"/>
            </a:pPr>
            <a:r>
              <a:rPr lang="en-NZ" sz="1800" b="0" i="0" u="none" strike="noStrike" baseline="0" dirty="0">
                <a:solidFill>
                  <a:schemeClr val="tx1"/>
                </a:solidFill>
                <a:latin typeface="+mn-lt"/>
              </a:rPr>
              <a:t>market-coverage strategy in which a firm decides to ignore market segment differences, </a:t>
            </a:r>
            <a:r>
              <a:rPr lang="en-US" sz="1800" b="0" i="0" u="none" strike="noStrike" baseline="0" dirty="0">
                <a:solidFill>
                  <a:schemeClr val="tx1"/>
                </a:solidFill>
                <a:latin typeface="+mn-lt"/>
              </a:rPr>
              <a:t>and uses a single marketing mix (product, price, place, promotion) to target the entire market, without segmenting it into different groups.</a:t>
            </a:r>
          </a:p>
          <a:p>
            <a:pPr lvl="1">
              <a:buFont typeface="Wingdings" panose="05000000000000000000" pitchFamily="2" charset="2"/>
              <a:buChar char="§"/>
            </a:pPr>
            <a:r>
              <a:rPr lang="en-US" sz="1800" b="1" dirty="0">
                <a:solidFill>
                  <a:schemeClr val="tx1"/>
                </a:solidFill>
                <a:latin typeface="+mn-lt"/>
              </a:rPr>
              <a:t>For example: </a:t>
            </a:r>
          </a:p>
          <a:p>
            <a:pPr marL="1257300" lvl="2" indent="-241300">
              <a:buFont typeface="Wingdings" panose="05000000000000000000" pitchFamily="2" charset="2"/>
              <a:buChar char="Ø"/>
            </a:pPr>
            <a:r>
              <a:rPr lang="en-US" dirty="0">
                <a:solidFill>
                  <a:schemeClr val="tx1"/>
                </a:solidFill>
                <a:latin typeface="+mn-lt"/>
              </a:rPr>
              <a:t>Coca-Cola’s original marketing strategy, where the same product and message were aimed at everyone, regardless of age, gender, or location.</a:t>
            </a:r>
            <a:endParaRPr lang="en-NZ" dirty="0">
              <a:solidFill>
                <a:schemeClr val="tx1"/>
              </a:solidFill>
              <a:latin typeface="+mn-lt"/>
            </a:endParaRPr>
          </a:p>
          <a:p>
            <a:pPr marL="101600" indent="0" algn="l">
              <a:buNone/>
            </a:pPr>
            <a:endParaRPr lang="en-US" sz="2000" dirty="0">
              <a:latin typeface="+mn-lt"/>
            </a:endParaRPr>
          </a:p>
        </p:txBody>
      </p:sp>
    </p:spTree>
    <p:extLst>
      <p:ext uri="{BB962C8B-B14F-4D97-AF65-F5344CB8AC3E}">
        <p14:creationId xmlns:p14="http://schemas.microsoft.com/office/powerpoint/2010/main" val="1025292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20733D9C-4644-48A6-A8AD-8FC1E9FB518C}"/>
              </a:ext>
            </a:extLst>
          </p:cNvPr>
          <p:cNvSpPr>
            <a:spLocks noGrp="1"/>
          </p:cNvSpPr>
          <p:nvPr>
            <p:ph type="title"/>
          </p:nvPr>
        </p:nvSpPr>
        <p:spPr>
          <a:xfrm>
            <a:off x="457200" y="215372"/>
            <a:ext cx="8229600" cy="766264"/>
          </a:xfrm>
        </p:spPr>
        <p:txBody>
          <a:bodyPr/>
          <a:lstStyle/>
          <a:p>
            <a:r>
              <a:rPr lang="en-US" sz="3200" dirty="0"/>
              <a:t>Market targeting</a:t>
            </a:r>
            <a:endParaRPr lang="en-US" sz="2000" dirty="0"/>
          </a:p>
        </p:txBody>
      </p:sp>
      <p:sp>
        <p:nvSpPr>
          <p:cNvPr id="3" name="Text Placeholder 2">
            <a:extLst>
              <a:ext uri="{FF2B5EF4-FFF2-40B4-BE49-F238E27FC236}">
                <a16:creationId xmlns:a16="http://schemas.microsoft.com/office/drawing/2014/main" id="{4E8A2D21-8FB3-4C1C-858F-1ACEC6D29597}"/>
              </a:ext>
            </a:extLst>
          </p:cNvPr>
          <p:cNvSpPr>
            <a:spLocks noGrp="1"/>
          </p:cNvSpPr>
          <p:nvPr>
            <p:ph type="body" idx="4294967295"/>
          </p:nvPr>
        </p:nvSpPr>
        <p:spPr>
          <a:xfrm>
            <a:off x="457200" y="1166018"/>
            <a:ext cx="8229600" cy="4525963"/>
          </a:xfrm>
        </p:spPr>
        <p:txBody>
          <a:bodyPr/>
          <a:lstStyle/>
          <a:p>
            <a:pPr marL="101600" indent="0" algn="l">
              <a:buNone/>
            </a:pPr>
            <a:r>
              <a:rPr lang="en-NZ" sz="2400" b="1" dirty="0">
                <a:solidFill>
                  <a:srgbClr val="007FA3"/>
                </a:solidFill>
                <a:latin typeface="+mn-lt"/>
              </a:rPr>
              <a:t>Selecting target market segments</a:t>
            </a:r>
          </a:p>
          <a:p>
            <a:pPr marL="101600" indent="0">
              <a:buNone/>
              <a:tabLst>
                <a:tab pos="1828800" algn="l"/>
              </a:tabLst>
            </a:pPr>
            <a:r>
              <a:rPr lang="en-US" sz="2200" b="1" dirty="0">
                <a:solidFill>
                  <a:srgbClr val="00B0F0"/>
                </a:solidFill>
                <a:latin typeface="+mn-lt"/>
              </a:rPr>
              <a:t>Differentiated marketing</a:t>
            </a:r>
          </a:p>
          <a:p>
            <a:r>
              <a:rPr lang="en-NZ" sz="2000" b="1" i="0" u="none" strike="noStrike" baseline="0" dirty="0">
                <a:solidFill>
                  <a:schemeClr val="tx1"/>
                </a:solidFill>
                <a:latin typeface="+mn-lt"/>
              </a:rPr>
              <a:t>Differentiated </a:t>
            </a:r>
            <a:r>
              <a:rPr lang="en-NZ" sz="2000" dirty="0">
                <a:solidFill>
                  <a:schemeClr val="tx1"/>
                </a:solidFill>
                <a:latin typeface="+mn-lt"/>
              </a:rPr>
              <a:t>(</a:t>
            </a:r>
            <a:r>
              <a:rPr lang="en-NZ" sz="2000" b="1" dirty="0">
                <a:solidFill>
                  <a:schemeClr val="tx1"/>
                </a:solidFill>
                <a:latin typeface="+mn-lt"/>
              </a:rPr>
              <a:t>segmented</a:t>
            </a:r>
            <a:r>
              <a:rPr lang="en-NZ" sz="2000" dirty="0">
                <a:solidFill>
                  <a:schemeClr val="tx1"/>
                </a:solidFill>
                <a:latin typeface="+mn-lt"/>
              </a:rPr>
              <a:t>) </a:t>
            </a:r>
            <a:r>
              <a:rPr lang="en-NZ" sz="2000" b="1" i="0" u="none" strike="noStrike" baseline="0" dirty="0">
                <a:solidFill>
                  <a:schemeClr val="tx1"/>
                </a:solidFill>
                <a:latin typeface="+mn-lt"/>
              </a:rPr>
              <a:t>marketing </a:t>
            </a:r>
            <a:r>
              <a:rPr lang="en-NZ" sz="2000" b="0" i="0" u="none" strike="noStrike" baseline="0" dirty="0">
                <a:solidFill>
                  <a:schemeClr val="tx1"/>
                </a:solidFill>
                <a:latin typeface="+mn-lt"/>
              </a:rPr>
              <a:t>is a </a:t>
            </a:r>
          </a:p>
          <a:p>
            <a:pPr lvl="1">
              <a:buFont typeface="Wingdings" panose="05000000000000000000" pitchFamily="2" charset="2"/>
              <a:buChar char="§"/>
            </a:pPr>
            <a:r>
              <a:rPr lang="en-NZ" sz="1800" dirty="0">
                <a:solidFill>
                  <a:schemeClr val="tx1"/>
                </a:solidFill>
                <a:latin typeface="+mn-lt"/>
              </a:rPr>
              <a:t>market-coverage strategy in which a firm decides to target several market segments </a:t>
            </a:r>
            <a:r>
              <a:rPr lang="en-US" sz="1800" dirty="0">
                <a:solidFill>
                  <a:schemeClr val="tx1"/>
                </a:solidFill>
                <a:latin typeface="+mn-lt"/>
              </a:rPr>
              <a:t>with distinct needs or preferences and tailors its products and marketing strategies to meet those specific needs.</a:t>
            </a:r>
          </a:p>
          <a:p>
            <a:pPr lvl="1">
              <a:buFont typeface="Wingdings" panose="05000000000000000000" pitchFamily="2" charset="2"/>
              <a:buChar char="§"/>
            </a:pPr>
            <a:r>
              <a:rPr lang="en-US" sz="1800" b="1" dirty="0">
                <a:solidFill>
                  <a:schemeClr val="tx1"/>
                </a:solidFill>
                <a:latin typeface="+mn-lt"/>
              </a:rPr>
              <a:t>For example: </a:t>
            </a:r>
            <a:r>
              <a:rPr lang="en-US" sz="1800" dirty="0">
                <a:solidFill>
                  <a:schemeClr val="tx1"/>
                </a:solidFill>
                <a:latin typeface="+mn-lt"/>
              </a:rPr>
              <a:t>A car manufacturer might market </a:t>
            </a:r>
          </a:p>
          <a:p>
            <a:pPr marL="1257300" lvl="2" indent="-241300">
              <a:buFont typeface="Wingdings" panose="05000000000000000000" pitchFamily="2" charset="2"/>
              <a:buChar char="Ø"/>
            </a:pPr>
            <a:r>
              <a:rPr lang="en-US" dirty="0">
                <a:solidFill>
                  <a:schemeClr val="tx1"/>
                </a:solidFill>
                <a:latin typeface="+mn-lt"/>
              </a:rPr>
              <a:t>a luxury sedan to high-income consumers, </a:t>
            </a:r>
          </a:p>
          <a:p>
            <a:pPr marL="1257300" lvl="2" indent="-241300">
              <a:buFont typeface="Wingdings" panose="05000000000000000000" pitchFamily="2" charset="2"/>
              <a:buChar char="Ø"/>
            </a:pPr>
            <a:r>
              <a:rPr lang="en-US" dirty="0">
                <a:solidFill>
                  <a:schemeClr val="tx1"/>
                </a:solidFill>
                <a:latin typeface="+mn-lt"/>
              </a:rPr>
              <a:t>an SUV to families, and </a:t>
            </a:r>
          </a:p>
          <a:p>
            <a:pPr marL="1257300" lvl="2" indent="-241300">
              <a:buFont typeface="Wingdings" panose="05000000000000000000" pitchFamily="2" charset="2"/>
              <a:buChar char="Ø"/>
            </a:pPr>
            <a:r>
              <a:rPr lang="en-US" dirty="0">
                <a:solidFill>
                  <a:schemeClr val="tx1"/>
                </a:solidFill>
                <a:latin typeface="+mn-lt"/>
              </a:rPr>
              <a:t>an electric vehicle to environmentally conscious buyers.</a:t>
            </a:r>
            <a:endParaRPr lang="en-NZ" dirty="0">
              <a:solidFill>
                <a:schemeClr val="tx1"/>
              </a:solidFill>
              <a:latin typeface="+mn-lt"/>
            </a:endParaRPr>
          </a:p>
          <a:p>
            <a:pPr marL="101600" indent="0" algn="l">
              <a:buNone/>
            </a:pPr>
            <a:endParaRPr lang="en-US" sz="2000" dirty="0">
              <a:latin typeface="+mn-lt"/>
            </a:endParaRPr>
          </a:p>
        </p:txBody>
      </p:sp>
    </p:spTree>
    <p:extLst>
      <p:ext uri="{BB962C8B-B14F-4D97-AF65-F5344CB8AC3E}">
        <p14:creationId xmlns:p14="http://schemas.microsoft.com/office/powerpoint/2010/main" val="3385987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20733D9C-4644-48A6-A8AD-8FC1E9FB518C}"/>
              </a:ext>
            </a:extLst>
          </p:cNvPr>
          <p:cNvSpPr>
            <a:spLocks noGrp="1"/>
          </p:cNvSpPr>
          <p:nvPr>
            <p:ph type="title"/>
          </p:nvPr>
        </p:nvSpPr>
        <p:spPr>
          <a:xfrm>
            <a:off x="457200" y="215372"/>
            <a:ext cx="8229600" cy="615901"/>
          </a:xfrm>
        </p:spPr>
        <p:txBody>
          <a:bodyPr/>
          <a:lstStyle/>
          <a:p>
            <a:r>
              <a:rPr lang="en-US" sz="3200" dirty="0"/>
              <a:t>Market targeting</a:t>
            </a:r>
            <a:endParaRPr lang="en-US" sz="2000" dirty="0"/>
          </a:p>
        </p:txBody>
      </p:sp>
      <p:sp>
        <p:nvSpPr>
          <p:cNvPr id="3" name="Text Placeholder 2">
            <a:extLst>
              <a:ext uri="{FF2B5EF4-FFF2-40B4-BE49-F238E27FC236}">
                <a16:creationId xmlns:a16="http://schemas.microsoft.com/office/drawing/2014/main" id="{4E8A2D21-8FB3-4C1C-858F-1ACEC6D29597}"/>
              </a:ext>
            </a:extLst>
          </p:cNvPr>
          <p:cNvSpPr>
            <a:spLocks noGrp="1"/>
          </p:cNvSpPr>
          <p:nvPr>
            <p:ph type="body" idx="4294967295"/>
          </p:nvPr>
        </p:nvSpPr>
        <p:spPr>
          <a:xfrm>
            <a:off x="457200" y="984299"/>
            <a:ext cx="8229600" cy="4525963"/>
          </a:xfrm>
        </p:spPr>
        <p:txBody>
          <a:bodyPr/>
          <a:lstStyle/>
          <a:p>
            <a:pPr marL="101600" indent="0" algn="l">
              <a:buNone/>
            </a:pPr>
            <a:r>
              <a:rPr lang="en-NZ" sz="2400" b="1" dirty="0">
                <a:solidFill>
                  <a:srgbClr val="007FA3"/>
                </a:solidFill>
                <a:latin typeface="+mn-lt"/>
              </a:rPr>
              <a:t>Selecting target market segments (cont.)</a:t>
            </a:r>
          </a:p>
          <a:p>
            <a:pPr marL="101600" indent="0">
              <a:buNone/>
              <a:tabLst>
                <a:tab pos="1828800" algn="l"/>
              </a:tabLst>
            </a:pPr>
            <a:r>
              <a:rPr lang="en-US" sz="2200" b="1" dirty="0">
                <a:solidFill>
                  <a:srgbClr val="00B0F0"/>
                </a:solidFill>
                <a:latin typeface="+mn-lt"/>
              </a:rPr>
              <a:t>Niche</a:t>
            </a:r>
          </a:p>
          <a:p>
            <a:r>
              <a:rPr lang="en-NZ" sz="2000" b="1" dirty="0">
                <a:solidFill>
                  <a:schemeClr val="tx1"/>
                </a:solidFill>
                <a:latin typeface="+mn-lt"/>
              </a:rPr>
              <a:t>Niche </a:t>
            </a:r>
            <a:r>
              <a:rPr lang="en-NZ" sz="2000" b="0" i="0" u="none" strike="noStrike" baseline="0" dirty="0">
                <a:solidFill>
                  <a:schemeClr val="tx1"/>
                </a:solidFill>
                <a:latin typeface="+mn-lt"/>
              </a:rPr>
              <a:t>is </a:t>
            </a:r>
          </a:p>
          <a:p>
            <a:pPr lvl="1">
              <a:buFont typeface="Wingdings" panose="05000000000000000000" pitchFamily="2" charset="2"/>
              <a:buChar char="§"/>
            </a:pPr>
            <a:r>
              <a:rPr lang="en-NZ" sz="1800" dirty="0">
                <a:solidFill>
                  <a:schemeClr val="tx1"/>
                </a:solidFill>
                <a:latin typeface="+mn-lt"/>
              </a:rPr>
              <a:t>the practice of tailoring products and marketing programs to the needs and wants of </a:t>
            </a:r>
            <a:r>
              <a:rPr lang="en-US" sz="1800" dirty="0">
                <a:solidFill>
                  <a:schemeClr val="tx1"/>
                </a:solidFill>
                <a:latin typeface="+mn-lt"/>
              </a:rPr>
              <a:t>on a very specific, well-defined segment of the market, often with specialized needs</a:t>
            </a:r>
            <a:r>
              <a:rPr lang="en-NZ" sz="1800" dirty="0">
                <a:solidFill>
                  <a:schemeClr val="tx1"/>
                </a:solidFill>
                <a:latin typeface="+mn-lt"/>
              </a:rPr>
              <a:t>.</a:t>
            </a:r>
          </a:p>
          <a:p>
            <a:pPr lvl="1">
              <a:buFont typeface="Wingdings" panose="05000000000000000000" pitchFamily="2" charset="2"/>
              <a:buChar char="§"/>
            </a:pPr>
            <a:r>
              <a:rPr lang="en-NZ" sz="1800" dirty="0">
                <a:solidFill>
                  <a:schemeClr val="tx1"/>
                </a:solidFill>
                <a:latin typeface="+mn-lt"/>
              </a:rPr>
              <a:t>For example: </a:t>
            </a:r>
          </a:p>
          <a:p>
            <a:pPr marL="1257300" lvl="2" indent="-241300">
              <a:buFont typeface="Wingdings" panose="05000000000000000000" pitchFamily="2" charset="2"/>
              <a:buChar char="Ø"/>
            </a:pPr>
            <a:r>
              <a:rPr lang="en-US" dirty="0">
                <a:solidFill>
                  <a:schemeClr val="tx1"/>
                </a:solidFill>
                <a:latin typeface="+mn-lt"/>
              </a:rPr>
              <a:t>A company that produces high-end vegan skincare products only for a small segment of consumers who are both vegan and willing to pay a premium for luxury.</a:t>
            </a:r>
            <a:endParaRPr lang="en-NZ" dirty="0">
              <a:solidFill>
                <a:schemeClr val="tx1"/>
              </a:solidFill>
              <a:latin typeface="+mn-lt"/>
            </a:endParaRPr>
          </a:p>
          <a:p>
            <a:pPr marL="101600" indent="0" algn="l">
              <a:buNone/>
            </a:pPr>
            <a:endParaRPr lang="en-US" sz="2000" dirty="0">
              <a:latin typeface="+mn-lt"/>
            </a:endParaRPr>
          </a:p>
        </p:txBody>
      </p:sp>
    </p:spTree>
    <p:extLst>
      <p:ext uri="{BB962C8B-B14F-4D97-AF65-F5344CB8AC3E}">
        <p14:creationId xmlns:p14="http://schemas.microsoft.com/office/powerpoint/2010/main" val="1727032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20733D9C-4644-48A6-A8AD-8FC1E9FB518C}"/>
              </a:ext>
            </a:extLst>
          </p:cNvPr>
          <p:cNvSpPr>
            <a:spLocks noGrp="1"/>
          </p:cNvSpPr>
          <p:nvPr>
            <p:ph type="title"/>
          </p:nvPr>
        </p:nvSpPr>
        <p:spPr>
          <a:xfrm>
            <a:off x="457200" y="215372"/>
            <a:ext cx="8229600" cy="657464"/>
          </a:xfrm>
        </p:spPr>
        <p:txBody>
          <a:bodyPr/>
          <a:lstStyle/>
          <a:p>
            <a:r>
              <a:rPr lang="en-US" sz="3200" dirty="0"/>
              <a:t>Market targeting</a:t>
            </a:r>
            <a:endParaRPr lang="en-US" sz="2000" dirty="0"/>
          </a:p>
        </p:txBody>
      </p:sp>
      <p:sp>
        <p:nvSpPr>
          <p:cNvPr id="3" name="Text Placeholder 2">
            <a:extLst>
              <a:ext uri="{FF2B5EF4-FFF2-40B4-BE49-F238E27FC236}">
                <a16:creationId xmlns:a16="http://schemas.microsoft.com/office/drawing/2014/main" id="{4E8A2D21-8FB3-4C1C-858F-1ACEC6D29597}"/>
              </a:ext>
            </a:extLst>
          </p:cNvPr>
          <p:cNvSpPr>
            <a:spLocks noGrp="1"/>
          </p:cNvSpPr>
          <p:nvPr>
            <p:ph type="body" idx="4294967295"/>
          </p:nvPr>
        </p:nvSpPr>
        <p:spPr>
          <a:xfrm>
            <a:off x="457200" y="914400"/>
            <a:ext cx="8229600" cy="4525963"/>
          </a:xfrm>
        </p:spPr>
        <p:txBody>
          <a:bodyPr/>
          <a:lstStyle/>
          <a:p>
            <a:pPr marL="101600" indent="0" algn="l">
              <a:buNone/>
            </a:pPr>
            <a:r>
              <a:rPr lang="en-NZ" sz="2400" b="1" dirty="0">
                <a:solidFill>
                  <a:srgbClr val="007FA3"/>
                </a:solidFill>
                <a:latin typeface="+mn-lt"/>
              </a:rPr>
              <a:t>Selecting target market segments (cont.)</a:t>
            </a:r>
          </a:p>
          <a:p>
            <a:pPr marL="101600" indent="0">
              <a:buNone/>
              <a:tabLst>
                <a:tab pos="1828800" algn="l"/>
              </a:tabLst>
            </a:pPr>
            <a:r>
              <a:rPr lang="en-US" sz="2200" b="1" dirty="0">
                <a:solidFill>
                  <a:srgbClr val="00B0F0"/>
                </a:solidFill>
                <a:latin typeface="+mn-lt"/>
              </a:rPr>
              <a:t>Micromarketing</a:t>
            </a:r>
          </a:p>
          <a:p>
            <a:r>
              <a:rPr lang="en-NZ" sz="2000" b="1" dirty="0">
                <a:solidFill>
                  <a:schemeClr val="tx1"/>
                </a:solidFill>
                <a:latin typeface="+mn-lt"/>
              </a:rPr>
              <a:t>Micromarketing</a:t>
            </a:r>
            <a:r>
              <a:rPr lang="en-NZ" sz="2000" b="1" i="0" u="none" strike="noStrike" baseline="0" dirty="0">
                <a:solidFill>
                  <a:schemeClr val="tx1"/>
                </a:solidFill>
                <a:latin typeface="+mn-lt"/>
              </a:rPr>
              <a:t> </a:t>
            </a:r>
            <a:r>
              <a:rPr lang="en-NZ" sz="2000" b="0" i="0" u="none" strike="noStrike" baseline="0" dirty="0">
                <a:solidFill>
                  <a:schemeClr val="tx1"/>
                </a:solidFill>
                <a:latin typeface="+mn-lt"/>
              </a:rPr>
              <a:t>is a </a:t>
            </a:r>
            <a:r>
              <a:rPr lang="en-US" sz="2000" b="0" i="0" u="none" strike="noStrike" baseline="0" dirty="0">
                <a:solidFill>
                  <a:schemeClr val="tx1"/>
                </a:solidFill>
                <a:latin typeface="+mn-lt"/>
              </a:rPr>
              <a:t>highly targeted marketing strategy where products and marketing efforts are tailored to suit the tastes of specific individuals or local customer segments.</a:t>
            </a:r>
            <a:endParaRPr lang="en-NZ" sz="2000" dirty="0">
              <a:solidFill>
                <a:schemeClr val="tx1"/>
              </a:solidFill>
              <a:latin typeface="+mn-lt"/>
            </a:endParaRPr>
          </a:p>
          <a:p>
            <a:pPr lvl="1">
              <a:buFont typeface="Wingdings" panose="05000000000000000000" pitchFamily="2" charset="2"/>
              <a:buChar char="§"/>
            </a:pPr>
            <a:r>
              <a:rPr lang="en-US" sz="1800" dirty="0">
                <a:solidFill>
                  <a:schemeClr val="tx1"/>
                </a:solidFill>
                <a:latin typeface="+mn-lt"/>
              </a:rPr>
              <a:t>It can involve either local marketing (focusing on marketing within a specific geographic area) or </a:t>
            </a:r>
          </a:p>
          <a:p>
            <a:pPr lvl="1">
              <a:buFont typeface="Wingdings" panose="05000000000000000000" pitchFamily="2" charset="2"/>
              <a:buChar char="§"/>
            </a:pPr>
            <a:r>
              <a:rPr lang="en-US" sz="1800" dirty="0">
                <a:solidFill>
                  <a:schemeClr val="tx1"/>
                </a:solidFill>
                <a:latin typeface="+mn-lt"/>
              </a:rPr>
              <a:t>individual marketing (customizing products and marketing for individual customers, also known as one-to-one marketing)</a:t>
            </a:r>
          </a:p>
          <a:p>
            <a:pPr lvl="1">
              <a:buFont typeface="Wingdings" panose="05000000000000000000" pitchFamily="2" charset="2"/>
              <a:buChar char="§"/>
            </a:pPr>
            <a:r>
              <a:rPr lang="en-US" sz="1800" dirty="0">
                <a:solidFill>
                  <a:schemeClr val="tx1"/>
                </a:solidFill>
                <a:latin typeface="+mn-lt"/>
              </a:rPr>
              <a:t>For example: </a:t>
            </a:r>
          </a:p>
          <a:p>
            <a:pPr marL="1257300" lvl="2" indent="-241300">
              <a:buFont typeface="Wingdings" panose="05000000000000000000" pitchFamily="2" charset="2"/>
              <a:buChar char="Ø"/>
            </a:pPr>
            <a:r>
              <a:rPr lang="en-US" dirty="0">
                <a:solidFill>
                  <a:schemeClr val="tx1"/>
                </a:solidFill>
                <a:latin typeface="+mn-lt"/>
              </a:rPr>
              <a:t>Local micromarketing might involve a chain store offering different product assortments in different neighborhoods based on the local demographics. </a:t>
            </a:r>
          </a:p>
          <a:p>
            <a:pPr marL="1257300" lvl="2" indent="-241300">
              <a:buFont typeface="Wingdings" panose="05000000000000000000" pitchFamily="2" charset="2"/>
              <a:buChar char="Ø"/>
            </a:pPr>
            <a:r>
              <a:rPr lang="en-US" dirty="0">
                <a:solidFill>
                  <a:schemeClr val="tx1"/>
                </a:solidFill>
                <a:latin typeface="+mn-lt"/>
              </a:rPr>
              <a:t>Individual micromarketing might include personalized email campaigns based on individual buying behavior or preferences.</a:t>
            </a:r>
            <a:endParaRPr lang="en-NZ" dirty="0">
              <a:solidFill>
                <a:schemeClr val="tx1"/>
              </a:solidFill>
              <a:latin typeface="+mn-lt"/>
            </a:endParaRPr>
          </a:p>
          <a:p>
            <a:pPr marL="101600" indent="0" algn="l">
              <a:buNone/>
            </a:pPr>
            <a:endParaRPr lang="en-US" sz="2000" dirty="0">
              <a:latin typeface="+mn-lt"/>
            </a:endParaRPr>
          </a:p>
        </p:txBody>
      </p:sp>
    </p:spTree>
    <p:extLst>
      <p:ext uri="{BB962C8B-B14F-4D97-AF65-F5344CB8AC3E}">
        <p14:creationId xmlns:p14="http://schemas.microsoft.com/office/powerpoint/2010/main" val="884486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bwMode="auto">
          <a:xfrm>
            <a:off x="489214" y="244386"/>
            <a:ext cx="8316913" cy="736312"/>
          </a:xfrm>
        </p:spPr>
        <p:txBody>
          <a:bodyPr wrap="square" numCol="1" anchor="b" anchorCtr="0" compatLnSpc="1">
            <a:normAutofit/>
          </a:bodyPr>
          <a:lstStyle/>
          <a:p>
            <a:r>
              <a:rPr lang="en-AU" altLang="en-US" sz="3200" dirty="0">
                <a:solidFill>
                  <a:srgbClr val="007FA3"/>
                </a:solidFill>
                <a:latin typeface="+mj-lt"/>
              </a:rPr>
              <a:t>Step Five: Positioning strategy</a:t>
            </a:r>
          </a:p>
        </p:txBody>
      </p:sp>
      <p:sp>
        <p:nvSpPr>
          <p:cNvPr id="6" name="Freeform 5"/>
          <p:cNvSpPr/>
          <p:nvPr/>
        </p:nvSpPr>
        <p:spPr bwMode="auto">
          <a:xfrm>
            <a:off x="539552" y="3010613"/>
            <a:ext cx="2417763" cy="720279"/>
          </a:xfrm>
          <a:custGeom>
            <a:avLst/>
            <a:gdLst>
              <a:gd name="connsiteX0" fmla="*/ 0 w 2418270"/>
              <a:gd name="connsiteY0" fmla="*/ 0 h 576000"/>
              <a:gd name="connsiteX1" fmla="*/ 2418270 w 2418270"/>
              <a:gd name="connsiteY1" fmla="*/ 0 h 576000"/>
              <a:gd name="connsiteX2" fmla="*/ 2418270 w 2418270"/>
              <a:gd name="connsiteY2" fmla="*/ 576000 h 576000"/>
              <a:gd name="connsiteX3" fmla="*/ 0 w 2418270"/>
              <a:gd name="connsiteY3" fmla="*/ 576000 h 576000"/>
              <a:gd name="connsiteX4" fmla="*/ 0 w 241827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270" h="576000">
                <a:moveTo>
                  <a:pt x="0" y="0"/>
                </a:moveTo>
                <a:lnTo>
                  <a:pt x="2418270" y="0"/>
                </a:lnTo>
                <a:lnTo>
                  <a:pt x="2418270" y="576000"/>
                </a:lnTo>
                <a:lnTo>
                  <a:pt x="0" y="576000"/>
                </a:lnTo>
                <a:lnTo>
                  <a:pt x="0" y="0"/>
                </a:lnTo>
                <a:close/>
              </a:path>
            </a:pathLst>
          </a:custGeom>
          <a:solidFill>
            <a:srgbClr val="C3E3EB"/>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AU" sz="2000" b="1">
                <a:solidFill>
                  <a:schemeClr val="tx1"/>
                </a:solidFill>
                <a:latin typeface="Arial" panose="020B0604020202020204" pitchFamily="34" charset="0"/>
                <a:cs typeface="Arial" panose="020B0604020202020204" pitchFamily="34" charset="0"/>
              </a:rPr>
              <a:t>Positioning</a:t>
            </a:r>
            <a:endParaRPr lang="en-AU" sz="2000" b="1" dirty="0">
              <a:solidFill>
                <a:schemeClr val="tx1"/>
              </a:solidFill>
              <a:latin typeface="Arial" panose="020B0604020202020204" pitchFamily="34" charset="0"/>
              <a:cs typeface="Arial" panose="020B0604020202020204" pitchFamily="34" charset="0"/>
            </a:endParaRPr>
          </a:p>
        </p:txBody>
      </p:sp>
      <p:sp>
        <p:nvSpPr>
          <p:cNvPr id="7" name="Freeform 6"/>
          <p:cNvSpPr/>
          <p:nvPr/>
        </p:nvSpPr>
        <p:spPr bwMode="auto">
          <a:xfrm>
            <a:off x="539552" y="3730892"/>
            <a:ext cx="2417763" cy="2376264"/>
          </a:xfrm>
          <a:custGeom>
            <a:avLst/>
            <a:gdLst>
              <a:gd name="connsiteX0" fmla="*/ 0 w 2418270"/>
              <a:gd name="connsiteY0" fmla="*/ 0 h 3211649"/>
              <a:gd name="connsiteX1" fmla="*/ 2418270 w 2418270"/>
              <a:gd name="connsiteY1" fmla="*/ 0 h 3211649"/>
              <a:gd name="connsiteX2" fmla="*/ 2418270 w 2418270"/>
              <a:gd name="connsiteY2" fmla="*/ 3211649 h 3211649"/>
              <a:gd name="connsiteX3" fmla="*/ 0 w 2418270"/>
              <a:gd name="connsiteY3" fmla="*/ 3211649 h 3211649"/>
              <a:gd name="connsiteX4" fmla="*/ 0 w 2418270"/>
              <a:gd name="connsiteY4" fmla="*/ 0 h 321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270" h="3211649">
                <a:moveTo>
                  <a:pt x="0" y="0"/>
                </a:moveTo>
                <a:lnTo>
                  <a:pt x="2418270" y="0"/>
                </a:lnTo>
                <a:lnTo>
                  <a:pt x="2418270" y="3211649"/>
                </a:lnTo>
                <a:lnTo>
                  <a:pt x="0" y="3211649"/>
                </a:lnTo>
                <a:lnTo>
                  <a:pt x="0" y="0"/>
                </a:lnTo>
                <a:close/>
              </a:path>
            </a:pathLst>
          </a:custGeom>
          <a:solidFill>
            <a:srgbClr val="F0F8FA"/>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p:spPr>
        <p:style>
          <a:lnRef idx="1">
            <a:schemeClr val="accent1"/>
          </a:lnRef>
          <a:fillRef idx="3">
            <a:schemeClr val="accent1"/>
          </a:fillRef>
          <a:effectRef idx="2">
            <a:schemeClr val="accent1"/>
          </a:effectRef>
          <a:fontRef idx="minor">
            <a:schemeClr val="lt1"/>
          </a:fontRef>
        </p:style>
        <p:txBody>
          <a:bodyPr/>
          <a:lstStyle/>
          <a:p>
            <a:pPr marL="0" lvl="1" algn="ctr">
              <a:defRPr/>
            </a:pPr>
            <a:r>
              <a:rPr lang="en-AU" dirty="0">
                <a:solidFill>
                  <a:schemeClr val="tx1"/>
                </a:solidFill>
                <a:latin typeface="Arial" panose="020B0604020202020204" pitchFamily="34" charset="0"/>
                <a:cs typeface="Arial" panose="020B0604020202020204" pitchFamily="34" charset="0"/>
              </a:rPr>
              <a:t>The process of developing a specific marketing mix to influence current and potential customers’ overall perception of a brand, product line or organisation</a:t>
            </a:r>
          </a:p>
        </p:txBody>
      </p:sp>
      <p:sp>
        <p:nvSpPr>
          <p:cNvPr id="8" name="Freeform 7"/>
          <p:cNvSpPr/>
          <p:nvPr/>
        </p:nvSpPr>
        <p:spPr bwMode="auto">
          <a:xfrm>
            <a:off x="3236715" y="3010613"/>
            <a:ext cx="2417762" cy="720279"/>
          </a:xfrm>
          <a:custGeom>
            <a:avLst/>
            <a:gdLst>
              <a:gd name="connsiteX0" fmla="*/ 0 w 2478437"/>
              <a:gd name="connsiteY0" fmla="*/ 0 h 576000"/>
              <a:gd name="connsiteX1" fmla="*/ 2478437 w 2478437"/>
              <a:gd name="connsiteY1" fmla="*/ 0 h 576000"/>
              <a:gd name="connsiteX2" fmla="*/ 2478437 w 2478437"/>
              <a:gd name="connsiteY2" fmla="*/ 576000 h 576000"/>
              <a:gd name="connsiteX3" fmla="*/ 0 w 2478437"/>
              <a:gd name="connsiteY3" fmla="*/ 576000 h 576000"/>
              <a:gd name="connsiteX4" fmla="*/ 0 w 2478437"/>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8437" h="576000">
                <a:moveTo>
                  <a:pt x="0" y="0"/>
                </a:moveTo>
                <a:lnTo>
                  <a:pt x="2478437" y="0"/>
                </a:lnTo>
                <a:lnTo>
                  <a:pt x="2478437" y="576000"/>
                </a:lnTo>
                <a:lnTo>
                  <a:pt x="0" y="576000"/>
                </a:lnTo>
                <a:lnTo>
                  <a:pt x="0" y="0"/>
                </a:lnTo>
                <a:close/>
              </a:path>
            </a:pathLst>
          </a:custGeom>
          <a:solidFill>
            <a:srgbClr val="C3E3EB"/>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AU" sz="2000" b="1">
                <a:solidFill>
                  <a:schemeClr val="tx1"/>
                </a:solidFill>
                <a:latin typeface="Arial" panose="020B0604020202020204" pitchFamily="34" charset="0"/>
                <a:cs typeface="Arial" panose="020B0604020202020204" pitchFamily="34" charset="0"/>
              </a:rPr>
              <a:t>Position</a:t>
            </a:r>
            <a:endParaRPr lang="en-AU" sz="2000" b="1" dirty="0">
              <a:solidFill>
                <a:schemeClr val="tx1"/>
              </a:solidFill>
              <a:latin typeface="Arial" panose="020B0604020202020204" pitchFamily="34" charset="0"/>
              <a:cs typeface="Arial" panose="020B0604020202020204" pitchFamily="34" charset="0"/>
            </a:endParaRPr>
          </a:p>
        </p:txBody>
      </p:sp>
      <p:sp>
        <p:nvSpPr>
          <p:cNvPr id="9" name="Freeform 8"/>
          <p:cNvSpPr/>
          <p:nvPr/>
        </p:nvSpPr>
        <p:spPr bwMode="auto">
          <a:xfrm>
            <a:off x="3236715" y="3730892"/>
            <a:ext cx="2417762" cy="2376264"/>
          </a:xfrm>
          <a:custGeom>
            <a:avLst/>
            <a:gdLst>
              <a:gd name="connsiteX0" fmla="*/ 0 w 2418270"/>
              <a:gd name="connsiteY0" fmla="*/ 0 h 3211649"/>
              <a:gd name="connsiteX1" fmla="*/ 2418270 w 2418270"/>
              <a:gd name="connsiteY1" fmla="*/ 0 h 3211649"/>
              <a:gd name="connsiteX2" fmla="*/ 2418270 w 2418270"/>
              <a:gd name="connsiteY2" fmla="*/ 3211649 h 3211649"/>
              <a:gd name="connsiteX3" fmla="*/ 0 w 2418270"/>
              <a:gd name="connsiteY3" fmla="*/ 3211649 h 3211649"/>
              <a:gd name="connsiteX4" fmla="*/ 0 w 2418270"/>
              <a:gd name="connsiteY4" fmla="*/ 0 h 321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270" h="3211649">
                <a:moveTo>
                  <a:pt x="0" y="0"/>
                </a:moveTo>
                <a:lnTo>
                  <a:pt x="2418270" y="0"/>
                </a:lnTo>
                <a:lnTo>
                  <a:pt x="2418270" y="3211649"/>
                </a:lnTo>
                <a:lnTo>
                  <a:pt x="0" y="3211649"/>
                </a:lnTo>
                <a:lnTo>
                  <a:pt x="0" y="0"/>
                </a:lnTo>
                <a:close/>
              </a:path>
            </a:pathLst>
          </a:custGeom>
          <a:solidFill>
            <a:srgbClr val="F0F8FA"/>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p:spPr>
        <p:style>
          <a:lnRef idx="1">
            <a:schemeClr val="accent1"/>
          </a:lnRef>
          <a:fillRef idx="3">
            <a:schemeClr val="accent1"/>
          </a:fillRef>
          <a:effectRef idx="2">
            <a:schemeClr val="accent1"/>
          </a:effectRef>
          <a:fontRef idx="minor">
            <a:schemeClr val="lt1"/>
          </a:fontRef>
        </p:style>
        <p:txBody>
          <a:bodyPr/>
          <a:lstStyle/>
          <a:p>
            <a:pPr marL="0" lvl="1" algn="ctr">
              <a:defRPr/>
            </a:pPr>
            <a:r>
              <a:rPr lang="en-AU" dirty="0">
                <a:solidFill>
                  <a:schemeClr val="tx1"/>
                </a:solidFill>
                <a:latin typeface="Arial" panose="020B0604020202020204" pitchFamily="34" charset="0"/>
                <a:cs typeface="Arial" panose="020B0604020202020204" pitchFamily="34" charset="0"/>
              </a:rPr>
              <a:t>The place a product, brand or groups of products hold in the consumers’ mind in relation to similar products</a:t>
            </a:r>
          </a:p>
        </p:txBody>
      </p:sp>
      <p:sp>
        <p:nvSpPr>
          <p:cNvPr id="10" name="Freeform 9"/>
          <p:cNvSpPr/>
          <p:nvPr/>
        </p:nvSpPr>
        <p:spPr bwMode="auto">
          <a:xfrm>
            <a:off x="5933877" y="3010613"/>
            <a:ext cx="2417763" cy="720279"/>
          </a:xfrm>
          <a:custGeom>
            <a:avLst/>
            <a:gdLst>
              <a:gd name="connsiteX0" fmla="*/ 0 w 2418270"/>
              <a:gd name="connsiteY0" fmla="*/ 0 h 576000"/>
              <a:gd name="connsiteX1" fmla="*/ 2418270 w 2418270"/>
              <a:gd name="connsiteY1" fmla="*/ 0 h 576000"/>
              <a:gd name="connsiteX2" fmla="*/ 2418270 w 2418270"/>
              <a:gd name="connsiteY2" fmla="*/ 576000 h 576000"/>
              <a:gd name="connsiteX3" fmla="*/ 0 w 2418270"/>
              <a:gd name="connsiteY3" fmla="*/ 576000 h 576000"/>
              <a:gd name="connsiteX4" fmla="*/ 0 w 2418270"/>
              <a:gd name="connsiteY4" fmla="*/ 0 h 57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270" h="576000">
                <a:moveTo>
                  <a:pt x="0" y="0"/>
                </a:moveTo>
                <a:lnTo>
                  <a:pt x="2418270" y="0"/>
                </a:lnTo>
                <a:lnTo>
                  <a:pt x="2418270" y="576000"/>
                </a:lnTo>
                <a:lnTo>
                  <a:pt x="0" y="576000"/>
                </a:lnTo>
                <a:lnTo>
                  <a:pt x="0" y="0"/>
                </a:lnTo>
                <a:close/>
              </a:path>
            </a:pathLst>
          </a:custGeom>
          <a:solidFill>
            <a:srgbClr val="C3E3EB"/>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AU" sz="2000" b="1" dirty="0">
                <a:solidFill>
                  <a:schemeClr val="tx1"/>
                </a:solidFill>
                <a:latin typeface="Arial" panose="020B0604020202020204" pitchFamily="34" charset="0"/>
                <a:cs typeface="Arial" panose="020B0604020202020204" pitchFamily="34" charset="0"/>
              </a:rPr>
              <a:t>Product differentiation</a:t>
            </a:r>
          </a:p>
        </p:txBody>
      </p:sp>
      <p:sp>
        <p:nvSpPr>
          <p:cNvPr id="11" name="Freeform 10"/>
          <p:cNvSpPr/>
          <p:nvPr/>
        </p:nvSpPr>
        <p:spPr bwMode="auto">
          <a:xfrm>
            <a:off x="5933877" y="3730892"/>
            <a:ext cx="2417763" cy="2376264"/>
          </a:xfrm>
          <a:custGeom>
            <a:avLst/>
            <a:gdLst>
              <a:gd name="connsiteX0" fmla="*/ 0 w 2418270"/>
              <a:gd name="connsiteY0" fmla="*/ 0 h 3211649"/>
              <a:gd name="connsiteX1" fmla="*/ 2418270 w 2418270"/>
              <a:gd name="connsiteY1" fmla="*/ 0 h 3211649"/>
              <a:gd name="connsiteX2" fmla="*/ 2418270 w 2418270"/>
              <a:gd name="connsiteY2" fmla="*/ 3211649 h 3211649"/>
              <a:gd name="connsiteX3" fmla="*/ 0 w 2418270"/>
              <a:gd name="connsiteY3" fmla="*/ 3211649 h 3211649"/>
              <a:gd name="connsiteX4" fmla="*/ 0 w 2418270"/>
              <a:gd name="connsiteY4" fmla="*/ 0 h 321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8270" h="3211649">
                <a:moveTo>
                  <a:pt x="0" y="0"/>
                </a:moveTo>
                <a:lnTo>
                  <a:pt x="2418270" y="0"/>
                </a:lnTo>
                <a:lnTo>
                  <a:pt x="2418270" y="3211649"/>
                </a:lnTo>
                <a:lnTo>
                  <a:pt x="0" y="3211649"/>
                </a:lnTo>
                <a:lnTo>
                  <a:pt x="0" y="0"/>
                </a:lnTo>
                <a:close/>
              </a:path>
            </a:pathLst>
          </a:custGeom>
          <a:solidFill>
            <a:srgbClr val="F0F8FA"/>
          </a:solidFill>
          <a:ln>
            <a:noFill/>
          </a:ln>
          <a:effectLst>
            <a:outerShdw blurRad="50800" dist="38100" dir="2700000" algn="tl" rotWithShape="0">
              <a:prstClr val="black">
                <a:alpha val="40000"/>
              </a:prstClr>
            </a:outerShdw>
          </a:effectLst>
          <a:scene3d>
            <a:camera prst="orthographicFront">
              <a:rot lat="0" lon="0" rev="0"/>
            </a:camera>
            <a:lightRig rig="contrasting" dir="t">
              <a:rot lat="0" lon="0" rev="1500000"/>
            </a:lightRig>
          </a:scene3d>
          <a:sp3d prstMaterial="metal"/>
        </p:spPr>
        <p:style>
          <a:lnRef idx="1">
            <a:schemeClr val="accent1"/>
          </a:lnRef>
          <a:fillRef idx="3">
            <a:schemeClr val="accent1"/>
          </a:fillRef>
          <a:effectRef idx="2">
            <a:schemeClr val="accent1"/>
          </a:effectRef>
          <a:fontRef idx="minor">
            <a:schemeClr val="lt1"/>
          </a:fontRef>
        </p:style>
        <p:txBody>
          <a:bodyPr/>
          <a:lstStyle/>
          <a:p>
            <a:pPr marL="0" lvl="1" algn="ctr">
              <a:defRPr/>
            </a:pPr>
            <a:r>
              <a:rPr lang="en-AU" dirty="0">
                <a:solidFill>
                  <a:schemeClr val="tx1"/>
                </a:solidFill>
                <a:latin typeface="Arial" panose="020B0604020202020204" pitchFamily="34" charset="0"/>
                <a:cs typeface="Arial" panose="020B0604020202020204" pitchFamily="34" charset="0"/>
              </a:rPr>
              <a:t>A positioning strategy that some organisations use to distinguish their products from those competitors</a:t>
            </a:r>
          </a:p>
        </p:txBody>
      </p:sp>
      <p:sp>
        <p:nvSpPr>
          <p:cNvPr id="4" name="TextBox 3">
            <a:extLst>
              <a:ext uri="{FF2B5EF4-FFF2-40B4-BE49-F238E27FC236}">
                <a16:creationId xmlns:a16="http://schemas.microsoft.com/office/drawing/2014/main" id="{C452902F-D382-0D09-EE56-0719D8CECBCD}"/>
              </a:ext>
            </a:extLst>
          </p:cNvPr>
          <p:cNvSpPr txBox="1"/>
          <p:nvPr/>
        </p:nvSpPr>
        <p:spPr>
          <a:xfrm>
            <a:off x="489214" y="980698"/>
            <a:ext cx="8115234" cy="1785104"/>
          </a:xfrm>
          <a:prstGeom prst="rect">
            <a:avLst/>
          </a:prstGeom>
          <a:noFill/>
        </p:spPr>
        <p:txBody>
          <a:bodyPr wrap="square">
            <a:spAutoFit/>
          </a:bodyPr>
          <a:lstStyle/>
          <a:p>
            <a:pPr>
              <a:spcBef>
                <a:spcPts val="600"/>
              </a:spcBef>
              <a:spcAft>
                <a:spcPts val="600"/>
              </a:spcAft>
            </a:pPr>
            <a:r>
              <a:rPr lang="en-NZ" sz="2000" b="1" dirty="0">
                <a:solidFill>
                  <a:schemeClr val="tx1"/>
                </a:solidFill>
                <a:latin typeface="+mn-lt"/>
              </a:rPr>
              <a:t>Product position </a:t>
            </a:r>
            <a:r>
              <a:rPr lang="en-NZ" sz="2000" dirty="0">
                <a:solidFill>
                  <a:schemeClr val="tx1"/>
                </a:solidFill>
                <a:latin typeface="+mn-lt"/>
              </a:rPr>
              <a:t>is the complex set of perceptions, impressions and feelings that consumers have for the product compared with competing products.</a:t>
            </a:r>
          </a:p>
          <a:p>
            <a:pPr algn="l">
              <a:spcBef>
                <a:spcPts val="600"/>
              </a:spcBef>
              <a:spcAft>
                <a:spcPts val="600"/>
              </a:spcAft>
            </a:pPr>
            <a:r>
              <a:rPr lang="en-NZ" sz="2000" dirty="0">
                <a:solidFill>
                  <a:schemeClr val="tx1"/>
                </a:solidFill>
                <a:latin typeface="+mn-lt"/>
              </a:rPr>
              <a:t>The product position must resonate with each of the segments the company chooses to target.</a:t>
            </a:r>
          </a:p>
        </p:txBody>
      </p:sp>
    </p:spTree>
    <p:extLst>
      <p:ext uri="{BB962C8B-B14F-4D97-AF65-F5344CB8AC3E}">
        <p14:creationId xmlns:p14="http://schemas.microsoft.com/office/powerpoint/2010/main" val="2004051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bwMode="auto">
          <a:xfrm>
            <a:off x="431800" y="207010"/>
            <a:ext cx="8316913" cy="814966"/>
          </a:xfrm>
        </p:spPr>
        <p:txBody>
          <a:bodyPr wrap="square" numCol="1" anchor="b" anchorCtr="0" compatLnSpc="1">
            <a:normAutofit/>
          </a:bodyPr>
          <a:lstStyle/>
          <a:p>
            <a:r>
              <a:rPr lang="en-AU" altLang="en-US" sz="3200" dirty="0">
                <a:solidFill>
                  <a:srgbClr val="007FA3"/>
                </a:solidFill>
                <a:latin typeface="+mj-lt"/>
              </a:rPr>
              <a:t>Positioning strategy</a:t>
            </a:r>
          </a:p>
        </p:txBody>
      </p:sp>
      <p:sp>
        <p:nvSpPr>
          <p:cNvPr id="10" name="Right Arrow 9"/>
          <p:cNvSpPr/>
          <p:nvPr/>
        </p:nvSpPr>
        <p:spPr>
          <a:xfrm>
            <a:off x="1042988" y="2060575"/>
            <a:ext cx="3097212" cy="3078163"/>
          </a:xfrm>
          <a:prstGeom prst="rightArrow">
            <a:avLst/>
          </a:prstGeom>
          <a:solidFill>
            <a:srgbClr val="D5CBDF"/>
          </a:solidFill>
          <a:ln>
            <a:solidFill>
              <a:srgbClr val="D5CBDF"/>
            </a:solid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algn="ctr" eaLnBrk="1" hangingPunct="1">
              <a:buClr>
                <a:srgbClr val="B11738"/>
              </a:buClr>
              <a:buFont typeface="Arial" panose="020B0604020202020204" pitchFamily="34" charset="0"/>
              <a:buNone/>
              <a:defRPr/>
            </a:pPr>
            <a:r>
              <a:rPr lang="en-AU" sz="2000" dirty="0">
                <a:solidFill>
                  <a:srgbClr val="000000"/>
                </a:solidFill>
                <a:latin typeface="Arial" panose="020B0604020202020204" pitchFamily="34" charset="0"/>
                <a:cs typeface="Arial" panose="020B0604020202020204" pitchFamily="34" charset="0"/>
              </a:rPr>
              <a:t>Each of Unilever’s laundry detergents have a unique market position:</a:t>
            </a:r>
          </a:p>
        </p:txBody>
      </p:sp>
      <p:sp>
        <p:nvSpPr>
          <p:cNvPr id="28678" name="Rectangle 1"/>
          <p:cNvSpPr>
            <a:spLocks noChangeArrowheads="1"/>
          </p:cNvSpPr>
          <p:nvPr/>
        </p:nvSpPr>
        <p:spPr bwMode="auto">
          <a:xfrm>
            <a:off x="4050550" y="6286761"/>
            <a:ext cx="4572000"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nn-NO" altLang="en-US" sz="900"/>
              <a:t>Unilever Australia &amp; New Zealand www.unilever.com.au.</a:t>
            </a:r>
            <a:endParaRPr lang="en-US" altLang="en-US" sz="900"/>
          </a:p>
        </p:txBody>
      </p:sp>
      <p:pic>
        <p:nvPicPr>
          <p:cNvPr id="3" name="Picture 2">
            <a:extLst>
              <a:ext uri="{FF2B5EF4-FFF2-40B4-BE49-F238E27FC236}">
                <a16:creationId xmlns:a16="http://schemas.microsoft.com/office/drawing/2014/main" id="{EDA30810-FA5B-45F2-87D6-5FDEA2BE3496}"/>
              </a:ext>
            </a:extLst>
          </p:cNvPr>
          <p:cNvPicPr>
            <a:picLocks noChangeAspect="1"/>
          </p:cNvPicPr>
          <p:nvPr/>
        </p:nvPicPr>
        <p:blipFill>
          <a:blip r:embed="rId3"/>
          <a:stretch>
            <a:fillRect/>
          </a:stretch>
        </p:blipFill>
        <p:spPr>
          <a:xfrm>
            <a:off x="4211960" y="1674813"/>
            <a:ext cx="3028425" cy="4492991"/>
          </a:xfrm>
          <a:prstGeom prst="rect">
            <a:avLst/>
          </a:prstGeom>
        </p:spPr>
      </p:pic>
    </p:spTree>
    <p:extLst>
      <p:ext uri="{BB962C8B-B14F-4D97-AF65-F5344CB8AC3E}">
        <p14:creationId xmlns:p14="http://schemas.microsoft.com/office/powerpoint/2010/main" val="2263028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5396" y="727704"/>
            <a:ext cx="8373208" cy="552892"/>
          </a:xfrm>
        </p:spPr>
        <p:txBody>
          <a:bodyPr>
            <a:normAutofit fontScale="90000"/>
          </a:bodyPr>
          <a:lstStyle/>
          <a:p>
            <a:r>
              <a:rPr lang="en-AU" sz="3200" dirty="0">
                <a:solidFill>
                  <a:srgbClr val="007FA3"/>
                </a:solidFill>
                <a:latin typeface="+mj-lt"/>
              </a:rPr>
              <a:t>Importance of positioning in value-driven marketing</a:t>
            </a:r>
          </a:p>
        </p:txBody>
      </p:sp>
      <p:sp>
        <p:nvSpPr>
          <p:cNvPr id="3" name="Content Placeholder 2"/>
          <p:cNvSpPr>
            <a:spLocks noGrp="1"/>
          </p:cNvSpPr>
          <p:nvPr>
            <p:ph idx="1"/>
          </p:nvPr>
        </p:nvSpPr>
        <p:spPr>
          <a:xfrm>
            <a:off x="258159" y="1509386"/>
            <a:ext cx="8627682" cy="5020723"/>
          </a:xfrm>
        </p:spPr>
        <p:txBody>
          <a:bodyPr/>
          <a:lstStyle/>
          <a:p>
            <a:pPr>
              <a:spcBef>
                <a:spcPts val="600"/>
              </a:spcBef>
              <a:spcAft>
                <a:spcPts val="600"/>
              </a:spcAft>
            </a:pPr>
            <a:r>
              <a:rPr lang="en-AU" sz="2000" dirty="0"/>
              <a:t>Consumers seek out highest value trade-off</a:t>
            </a:r>
          </a:p>
          <a:p>
            <a:pPr>
              <a:spcBef>
                <a:spcPts val="600"/>
              </a:spcBef>
              <a:spcAft>
                <a:spcPts val="600"/>
              </a:spcAft>
            </a:pPr>
            <a:r>
              <a:rPr lang="en-AU" sz="2000" dirty="0"/>
              <a:t>Having a distinct positioning in the marketplace enables a company to:</a:t>
            </a:r>
          </a:p>
          <a:p>
            <a:pPr lvl="1">
              <a:spcAft>
                <a:spcPts val="600"/>
              </a:spcAft>
              <a:buFont typeface="Wingdings" panose="05000000000000000000" pitchFamily="2" charset="2"/>
              <a:buChar char="§"/>
            </a:pPr>
            <a:r>
              <a:rPr lang="en-AU" sz="1800" dirty="0"/>
              <a:t>Highlight value proposition</a:t>
            </a:r>
          </a:p>
          <a:p>
            <a:pPr lvl="1">
              <a:spcAft>
                <a:spcPts val="600"/>
              </a:spcAft>
              <a:buFont typeface="Wingdings" panose="05000000000000000000" pitchFamily="2" charset="2"/>
              <a:buChar char="§"/>
            </a:pPr>
            <a:r>
              <a:rPr lang="en-AU" sz="1800" dirty="0"/>
              <a:t>Establishes competitive advantage</a:t>
            </a:r>
          </a:p>
          <a:p>
            <a:pPr lvl="1">
              <a:spcAft>
                <a:spcPts val="600"/>
              </a:spcAft>
              <a:buFont typeface="Wingdings" panose="05000000000000000000" pitchFamily="2" charset="2"/>
              <a:buChar char="§"/>
            </a:pPr>
            <a:r>
              <a:rPr lang="en-AU" sz="1800" dirty="0"/>
              <a:t>Better customer relationship (either voluntary or involuntary)</a:t>
            </a:r>
          </a:p>
          <a:p>
            <a:pPr lvl="1">
              <a:spcAft>
                <a:spcPts val="600"/>
              </a:spcAft>
              <a:buFont typeface="Wingdings" panose="05000000000000000000" pitchFamily="2" charset="2"/>
              <a:buChar char="§"/>
            </a:pPr>
            <a:r>
              <a:rPr lang="en-AU" sz="1800" dirty="0"/>
              <a:t>Justifies price premium</a:t>
            </a:r>
          </a:p>
          <a:p>
            <a:pPr>
              <a:spcBef>
                <a:spcPts val="600"/>
              </a:spcBef>
              <a:spcAft>
                <a:spcPts val="600"/>
              </a:spcAft>
            </a:pPr>
            <a:endParaRPr lang="en-AU" sz="2000" dirty="0"/>
          </a:p>
        </p:txBody>
      </p:sp>
    </p:spTree>
    <p:extLst>
      <p:ext uri="{BB962C8B-B14F-4D97-AF65-F5344CB8AC3E}">
        <p14:creationId xmlns:p14="http://schemas.microsoft.com/office/powerpoint/2010/main" val="15780938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78793" y="161047"/>
            <a:ext cx="8444753" cy="1008529"/>
          </a:xfrm>
          <a:prstGeom prst="rect">
            <a:avLst/>
          </a:prstGeom>
          <a:noFill/>
          <a:ln>
            <a:noFill/>
          </a:ln>
        </p:spPr>
        <p:txBody>
          <a:bodyPr lIns="84392" tIns="84392" rIns="84392" bIns="84392" anchor="t" anchorCtr="0"/>
          <a:lstStyle/>
          <a:p>
            <a:pPr lvl="1">
              <a:buClr>
                <a:srgbClr val="007FA3"/>
              </a:buClr>
              <a:tabLst>
                <a:tab pos="1688165" algn="l"/>
              </a:tabLst>
            </a:pPr>
            <a:r>
              <a:rPr lang="en-US" altLang="en-US" sz="2900" b="1" dirty="0">
                <a:solidFill>
                  <a:srgbClr val="007FA3"/>
                </a:solidFill>
                <a:latin typeface="+mj-lt"/>
                <a:cs typeface="Times New Roman"/>
                <a:sym typeface="Times New Roman"/>
              </a:rPr>
              <a:t>Identifying possible value differences and competitive advantages</a:t>
            </a:r>
            <a:endParaRPr lang="en-US" sz="2900" b="1" dirty="0">
              <a:solidFill>
                <a:srgbClr val="007FA3"/>
              </a:solidFill>
              <a:latin typeface="+mj-lt"/>
              <a:cs typeface="Times New Roman"/>
              <a:sym typeface="Times New Roman"/>
            </a:endParaRPr>
          </a:p>
        </p:txBody>
      </p:sp>
      <p:sp>
        <p:nvSpPr>
          <p:cNvPr id="4" name="Content Placeholder 10"/>
          <p:cNvSpPr>
            <a:spLocks noGrp="1"/>
          </p:cNvSpPr>
          <p:nvPr>
            <p:ph idx="1"/>
          </p:nvPr>
        </p:nvSpPr>
        <p:spPr>
          <a:xfrm>
            <a:off x="378793" y="1209919"/>
            <a:ext cx="8373322" cy="4406399"/>
          </a:xfrm>
        </p:spPr>
        <p:txBody>
          <a:bodyPr/>
          <a:lstStyle/>
          <a:p>
            <a:pPr marL="182563" indent="-182563">
              <a:spcAft>
                <a:spcPts val="600"/>
              </a:spcAft>
              <a:buClr>
                <a:srgbClr val="00638A"/>
              </a:buClr>
              <a:buFont typeface="Arial" panose="020B0604020202020204" pitchFamily="34" charset="0"/>
              <a:buChar char="•"/>
              <a:tabLst>
                <a:tab pos="1688165" algn="l"/>
              </a:tabLst>
            </a:pPr>
            <a:r>
              <a:rPr lang="en-US" sz="2000" dirty="0">
                <a:latin typeface="+mn-lt"/>
                <a:ea typeface="Verdana" pitchFamily="34" charset="0"/>
                <a:cs typeface="Verdana" pitchFamily="34" charset="0"/>
              </a:rPr>
              <a:t>To find points of differentiation, marketers must think through the customer’s entire experience with the company’s product or service. </a:t>
            </a:r>
          </a:p>
          <a:p>
            <a:pPr marL="182563" indent="-182563">
              <a:spcAft>
                <a:spcPts val="600"/>
              </a:spcAft>
              <a:buClr>
                <a:srgbClr val="00638A"/>
              </a:buClr>
              <a:buFont typeface="Arial" panose="020B0604020202020204" pitchFamily="34" charset="0"/>
              <a:buChar char="•"/>
              <a:tabLst>
                <a:tab pos="1688165" algn="l"/>
              </a:tabLst>
            </a:pPr>
            <a:r>
              <a:rPr lang="en-US" sz="2000" dirty="0">
                <a:latin typeface="+mn-lt"/>
                <a:ea typeface="Verdana" pitchFamily="34" charset="0"/>
                <a:cs typeface="Verdana" pitchFamily="34" charset="0"/>
              </a:rPr>
              <a:t>An alert company can find ways to differentiate itself at every customer contact point. </a:t>
            </a:r>
          </a:p>
          <a:p>
            <a:pPr marL="182563" indent="-182563">
              <a:spcAft>
                <a:spcPts val="600"/>
              </a:spcAft>
              <a:buClr>
                <a:srgbClr val="00638A"/>
              </a:buClr>
              <a:buFont typeface="Arial" panose="020B0604020202020204" pitchFamily="34" charset="0"/>
              <a:buChar char="•"/>
              <a:tabLst>
                <a:tab pos="1688165" algn="l"/>
              </a:tabLst>
            </a:pPr>
            <a:r>
              <a:rPr lang="en-US" sz="2000" dirty="0">
                <a:latin typeface="+mn-lt"/>
                <a:ea typeface="Verdana" pitchFamily="34" charset="0"/>
              </a:rPr>
              <a:t>It can differentiate along the lines of:</a:t>
            </a:r>
          </a:p>
          <a:p>
            <a:pPr marL="820737" lvl="1" indent="-342900">
              <a:spcAft>
                <a:spcPts val="600"/>
              </a:spcAft>
              <a:buFont typeface="Wingdings" panose="05000000000000000000" pitchFamily="2" charset="2"/>
              <a:buChar char="§"/>
              <a:defRPr/>
            </a:pPr>
            <a:r>
              <a:rPr lang="en-US" sz="1800" b="1" dirty="0">
                <a:solidFill>
                  <a:srgbClr val="C00000"/>
                </a:solidFill>
                <a:sym typeface="Wingdings" pitchFamily="2" charset="2"/>
              </a:rPr>
              <a:t>Product: </a:t>
            </a:r>
            <a:r>
              <a:rPr lang="en-US" sz="1800" dirty="0">
                <a:sym typeface="Wingdings" pitchFamily="2" charset="2"/>
              </a:rPr>
              <a:t>includes features, performance, durability, conformance, reliability, reparability, styles, designs.</a:t>
            </a:r>
          </a:p>
          <a:p>
            <a:pPr marL="820737" lvl="1" indent="-342900">
              <a:spcAft>
                <a:spcPts val="600"/>
              </a:spcAft>
              <a:buFont typeface="Wingdings" panose="05000000000000000000" pitchFamily="2" charset="2"/>
              <a:buChar char="§"/>
              <a:defRPr/>
            </a:pPr>
            <a:r>
              <a:rPr lang="en-US" sz="1800" b="1" dirty="0">
                <a:solidFill>
                  <a:srgbClr val="7030A0"/>
                </a:solidFill>
                <a:sym typeface="Wingdings" pitchFamily="2" charset="2"/>
              </a:rPr>
              <a:t>Service:</a:t>
            </a:r>
            <a:r>
              <a:rPr lang="en-US" sz="1800" dirty="0">
                <a:sym typeface="Wingdings" pitchFamily="2" charset="2"/>
              </a:rPr>
              <a:t> includes delivery, installation, customer training, consulting, maintenance, other services (e.g., warranty and guarantee).</a:t>
            </a:r>
          </a:p>
          <a:p>
            <a:pPr marL="820737" lvl="1" indent="-342900">
              <a:spcAft>
                <a:spcPts val="600"/>
              </a:spcAft>
              <a:buFont typeface="Wingdings" panose="05000000000000000000" pitchFamily="2" charset="2"/>
              <a:buChar char="§"/>
              <a:defRPr/>
            </a:pPr>
            <a:r>
              <a:rPr lang="en-US" sz="1800" b="1" dirty="0">
                <a:solidFill>
                  <a:srgbClr val="00B050"/>
                </a:solidFill>
                <a:sym typeface="Wingdings" pitchFamily="2" charset="2"/>
              </a:rPr>
              <a:t>Personnel: </a:t>
            </a:r>
            <a:r>
              <a:rPr lang="en-US" sz="1800" dirty="0">
                <a:sym typeface="Wingdings" pitchFamily="2" charset="2"/>
              </a:rPr>
              <a:t>includes competence, hospitality, credibility, trustworthiness, responsiveness, communicative. </a:t>
            </a:r>
          </a:p>
          <a:p>
            <a:pPr marL="820737" lvl="1" indent="-342900">
              <a:spcAft>
                <a:spcPts val="600"/>
              </a:spcAft>
              <a:buFont typeface="Wingdings" panose="05000000000000000000" pitchFamily="2" charset="2"/>
              <a:buChar char="§"/>
              <a:defRPr/>
            </a:pPr>
            <a:r>
              <a:rPr lang="en-US" sz="1800" b="1" dirty="0">
                <a:solidFill>
                  <a:srgbClr val="3BA1E3"/>
                </a:solidFill>
                <a:sym typeface="Wingdings" pitchFamily="2" charset="2"/>
              </a:rPr>
              <a:t>Image: </a:t>
            </a:r>
            <a:r>
              <a:rPr lang="en-US" sz="1800" dirty="0">
                <a:sym typeface="Wingdings" pitchFamily="2" charset="2"/>
              </a:rPr>
              <a:t>includes symbols, printed media, audio/visual media, atmosphere, sponsorship.</a:t>
            </a:r>
          </a:p>
          <a:p>
            <a:pPr marL="764950" lvl="2" indent="-237398">
              <a:spcAft>
                <a:spcPts val="600"/>
              </a:spcAft>
              <a:buClr>
                <a:srgbClr val="00638A"/>
              </a:buClr>
              <a:buNone/>
              <a:tabLst>
                <a:tab pos="1688165" algn="l"/>
              </a:tabLst>
              <a:defRPr/>
            </a:pPr>
            <a:endParaRPr lang="en-US" sz="1846" dirty="0"/>
          </a:p>
          <a:p>
            <a:pPr marL="0" lvl="2" indent="1466">
              <a:spcAft>
                <a:spcPts val="600"/>
              </a:spcAft>
              <a:buClr>
                <a:srgbClr val="00638A"/>
              </a:buClr>
              <a:buNone/>
              <a:tabLst>
                <a:tab pos="1688165" algn="l"/>
              </a:tabLst>
              <a:defRPr/>
            </a:pPr>
            <a:endParaRPr lang="en-AU" altLang="en-US" sz="2308" b="1" dirty="0">
              <a:solidFill>
                <a:srgbClr val="00638A"/>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804626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373208" cy="552892"/>
          </a:xfrm>
        </p:spPr>
        <p:txBody>
          <a:bodyPr>
            <a:noAutofit/>
          </a:bodyPr>
          <a:lstStyle/>
          <a:p>
            <a:r>
              <a:rPr lang="en-AU" sz="3200" dirty="0">
                <a:solidFill>
                  <a:srgbClr val="007FA3"/>
                </a:solidFill>
                <a:latin typeface="+mj-lt"/>
              </a:rPr>
              <a:t>Developing an Effective Positioning Strategy</a:t>
            </a:r>
          </a:p>
        </p:txBody>
      </p:sp>
      <p:sp>
        <p:nvSpPr>
          <p:cNvPr id="3" name="Content Placeholder 2"/>
          <p:cNvSpPr>
            <a:spLocks noGrp="1"/>
          </p:cNvSpPr>
          <p:nvPr>
            <p:ph idx="1"/>
          </p:nvPr>
        </p:nvSpPr>
        <p:spPr/>
        <p:txBody>
          <a:bodyPr>
            <a:normAutofit lnSpcReduction="10000"/>
          </a:bodyPr>
          <a:lstStyle/>
          <a:p>
            <a:r>
              <a:rPr lang="en-US" sz="2000" dirty="0"/>
              <a:t>Once a company has decided which segments of the market it will enter, it must decide on a ‘position’ or ‘value proposition’.</a:t>
            </a:r>
          </a:p>
          <a:p>
            <a:r>
              <a:rPr lang="en-AU" sz="2000" dirty="0"/>
              <a:t>Positioning involves decisions on </a:t>
            </a:r>
            <a:r>
              <a:rPr lang="en-AU" sz="2000" b="1" dirty="0"/>
              <a:t>attributes important to customers </a:t>
            </a:r>
          </a:p>
          <a:p>
            <a:r>
              <a:rPr lang="en-AU" sz="2000" dirty="0"/>
              <a:t>Positioning strategy can take place at </a:t>
            </a:r>
            <a:r>
              <a:rPr lang="en-AU" sz="2000" b="1" dirty="0"/>
              <a:t>several different levels</a:t>
            </a:r>
            <a:r>
              <a:rPr lang="en-AU" sz="2000" dirty="0"/>
              <a:t>, (product, service, personnel, image) depending on the nature of the business in question. </a:t>
            </a:r>
          </a:p>
          <a:p>
            <a:r>
              <a:rPr lang="en-US" sz="2000" dirty="0"/>
              <a:t>Product position is the way the product is defined by consumers on important attributes—the place the product occupies in consumers’ minds relative to competing products.</a:t>
            </a:r>
          </a:p>
          <a:p>
            <a:r>
              <a:rPr lang="en-AU" sz="2000" dirty="0"/>
              <a:t>An explicit positioning strategy is valuable to help prospective customers to get a ‘mental fix’ on what to expect</a:t>
            </a:r>
          </a:p>
          <a:p>
            <a:pPr marL="0" indent="0">
              <a:buNone/>
            </a:pPr>
            <a:endParaRPr lang="en-AU" sz="2000" dirty="0"/>
          </a:p>
        </p:txBody>
      </p:sp>
    </p:spTree>
    <p:extLst>
      <p:ext uri="{BB962C8B-B14F-4D97-AF65-F5344CB8AC3E}">
        <p14:creationId xmlns:p14="http://schemas.microsoft.com/office/powerpoint/2010/main" val="7220099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Title 1"/>
          <p:cNvSpPr>
            <a:spLocks noGrp="1"/>
          </p:cNvSpPr>
          <p:nvPr>
            <p:ph type="title"/>
          </p:nvPr>
        </p:nvSpPr>
        <p:spPr>
          <a:xfrm>
            <a:off x="641369" y="12325"/>
            <a:ext cx="8373208" cy="487973"/>
          </a:xfrm>
        </p:spPr>
        <p:txBody>
          <a:bodyPr anchor="t"/>
          <a:lstStyle/>
          <a:p>
            <a:pPr eaLnBrk="1" hangingPunct="1"/>
            <a:r>
              <a:rPr lang="en-US" altLang="en-US" sz="3600" dirty="0">
                <a:solidFill>
                  <a:srgbClr val="007FA3"/>
                </a:solidFill>
                <a:latin typeface="+mj-lt"/>
              </a:rPr>
              <a:t>Choosing a differentiation and positioning strategy</a:t>
            </a:r>
            <a:br>
              <a:rPr lang="en-US" altLang="en-US" sz="2769" kern="1200" dirty="0">
                <a:solidFill>
                  <a:srgbClr val="2B3A59"/>
                </a:solidFill>
                <a:ea typeface="ＭＳ Ｐゴシック" panose="020B0600070205080204" pitchFamily="34" charset="-128"/>
                <a:cs typeface="Arial" charset="0"/>
              </a:rPr>
            </a:br>
            <a:endParaRPr lang="en-US" altLang="en-US" sz="2769" kern="1200" dirty="0">
              <a:solidFill>
                <a:srgbClr val="2B3A59"/>
              </a:solidFill>
              <a:ea typeface="ＭＳ Ｐゴシック" panose="020B0600070205080204" pitchFamily="34" charset="-128"/>
              <a:cs typeface="Arial" charset="0"/>
            </a:endParaRPr>
          </a:p>
        </p:txBody>
      </p:sp>
      <p:graphicFrame>
        <p:nvGraphicFramePr>
          <p:cNvPr id="4" name="Content Placeholder 3"/>
          <p:cNvGraphicFramePr>
            <a:graphicFrameLocks noGrp="1"/>
          </p:cNvGraphicFramePr>
          <p:nvPr>
            <p:ph idx="1"/>
          </p:nvPr>
        </p:nvGraphicFramePr>
        <p:xfrm>
          <a:off x="784977" y="1491496"/>
          <a:ext cx="8229600" cy="44186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7549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91886" y="374304"/>
            <a:ext cx="8444753" cy="645832"/>
          </a:xfrm>
          <a:prstGeom prst="rect">
            <a:avLst/>
          </a:prstGeom>
          <a:noFill/>
          <a:ln>
            <a:noFill/>
          </a:ln>
        </p:spPr>
        <p:txBody>
          <a:bodyPr lIns="84392" tIns="84392" rIns="84392" bIns="84392" anchor="t" anchorCtr="0"/>
          <a:lstStyle/>
          <a:p>
            <a:pPr>
              <a:spcBef>
                <a:spcPts val="886"/>
              </a:spcBef>
            </a:pPr>
            <a:r>
              <a:rPr lang="en-US" altLang="en-US" sz="3200" b="1" dirty="0">
                <a:solidFill>
                  <a:srgbClr val="007FA3"/>
                </a:solidFill>
                <a:latin typeface="+mj-lt"/>
                <a:cs typeface="Times New Roman"/>
                <a:sym typeface="Times New Roman"/>
              </a:rPr>
              <a:t>Differentiation and positioning</a:t>
            </a:r>
            <a:endParaRPr lang="en-GB" altLang="en-US" sz="3200" b="1" dirty="0">
              <a:solidFill>
                <a:srgbClr val="007FA3"/>
              </a:solidFill>
              <a:latin typeface="+mj-lt"/>
              <a:cs typeface="Times New Roman"/>
              <a:sym typeface="Times New Roman"/>
            </a:endParaRPr>
          </a:p>
        </p:txBody>
      </p:sp>
      <p:sp>
        <p:nvSpPr>
          <p:cNvPr id="4" name="Content Placeholder 10"/>
          <p:cNvSpPr>
            <a:spLocks noGrp="1"/>
          </p:cNvSpPr>
          <p:nvPr>
            <p:ph idx="1"/>
          </p:nvPr>
        </p:nvSpPr>
        <p:spPr>
          <a:xfrm>
            <a:off x="427601" y="1020136"/>
            <a:ext cx="8373322" cy="5132660"/>
          </a:xfrm>
        </p:spPr>
        <p:txBody>
          <a:bodyPr/>
          <a:lstStyle/>
          <a:p>
            <a:pPr marL="218348" lvl="1" indent="1466">
              <a:spcBef>
                <a:spcPts val="554"/>
              </a:spcBef>
              <a:spcAft>
                <a:spcPts val="554"/>
              </a:spcAft>
              <a:buClr>
                <a:srgbClr val="00638A"/>
              </a:buClr>
              <a:buNone/>
              <a:tabLst>
                <a:tab pos="1688165" algn="l"/>
              </a:tabLst>
            </a:pPr>
            <a:r>
              <a:rPr lang="en-US" altLang="en-US" sz="2000" b="1" dirty="0">
                <a:solidFill>
                  <a:srgbClr val="00B050"/>
                </a:solidFill>
                <a:latin typeface="+mn-lt"/>
                <a:ea typeface="Verdana" panose="020B0604030504040204" pitchFamily="34" charset="0"/>
                <a:cs typeface="Verdana" panose="020B0604030504040204" pitchFamily="34" charset="0"/>
              </a:rPr>
              <a:t>Choosing the right competitive advantages</a:t>
            </a:r>
            <a:endParaRPr lang="en-US" sz="2000" dirty="0">
              <a:latin typeface="+mn-lt"/>
              <a:ea typeface="Verdana" pitchFamily="34" charset="0"/>
              <a:cs typeface="Verdana" pitchFamily="34" charset="0"/>
            </a:endParaRPr>
          </a:p>
          <a:p>
            <a:pPr marL="542198" lvl="1" indent="-342900">
              <a:spcBef>
                <a:spcPts val="554"/>
              </a:spcBef>
              <a:spcAft>
                <a:spcPts val="554"/>
              </a:spcAft>
              <a:buClr>
                <a:srgbClr val="00638A"/>
              </a:buClr>
              <a:buFont typeface="Arial" panose="020B0604020202020204" pitchFamily="34" charset="0"/>
              <a:buChar char="•"/>
              <a:tabLst>
                <a:tab pos="1688165" algn="l"/>
              </a:tabLst>
            </a:pPr>
            <a:r>
              <a:rPr lang="en-US" sz="2000" dirty="0">
                <a:latin typeface="+mn-lt"/>
                <a:ea typeface="Verdana" pitchFamily="34" charset="0"/>
                <a:cs typeface="Verdana" pitchFamily="34" charset="0"/>
              </a:rPr>
              <a:t>Not all points of difference are meaningful or worthwhile. </a:t>
            </a:r>
          </a:p>
          <a:p>
            <a:pPr marL="542198" lvl="1" indent="-342900">
              <a:spcBef>
                <a:spcPts val="554"/>
              </a:spcBef>
              <a:spcAft>
                <a:spcPts val="554"/>
              </a:spcAft>
              <a:buClr>
                <a:srgbClr val="00638A"/>
              </a:buClr>
              <a:buFont typeface="Arial" panose="020B0604020202020204" pitchFamily="34" charset="0"/>
              <a:buChar char="•"/>
              <a:tabLst>
                <a:tab pos="1688165" algn="l"/>
              </a:tabLst>
            </a:pPr>
            <a:r>
              <a:rPr lang="en-US" sz="2000" dirty="0">
                <a:latin typeface="+mn-lt"/>
                <a:ea typeface="Verdana" pitchFamily="34" charset="0"/>
                <a:cs typeface="Verdana" pitchFamily="34" charset="0"/>
              </a:rPr>
              <a:t>A difference that is worth establishing has the following criteria:</a:t>
            </a:r>
          </a:p>
          <a:p>
            <a:pPr marL="764950" lvl="2" indent="-237398">
              <a:spcBef>
                <a:spcPts val="554"/>
              </a:spcBef>
              <a:spcAft>
                <a:spcPts val="554"/>
              </a:spcAft>
              <a:buClr>
                <a:srgbClr val="00638A"/>
              </a:buClr>
              <a:buFont typeface="Wingdings" pitchFamily="2" charset="2"/>
              <a:buChar char="§"/>
              <a:tabLst>
                <a:tab pos="1688165" algn="l"/>
              </a:tabLst>
              <a:defRPr/>
            </a:pPr>
            <a:r>
              <a:rPr lang="en-US" sz="1800" b="1" dirty="0">
                <a:latin typeface="+mn-lt"/>
                <a:ea typeface="Verdana" pitchFamily="34" charset="0"/>
                <a:cs typeface="Verdana" pitchFamily="34" charset="0"/>
              </a:rPr>
              <a:t>Important:</a:t>
            </a:r>
            <a:r>
              <a:rPr lang="en-US" sz="1800" dirty="0">
                <a:latin typeface="+mn-lt"/>
                <a:ea typeface="Verdana" pitchFamily="34" charset="0"/>
                <a:cs typeface="Verdana" pitchFamily="34" charset="0"/>
              </a:rPr>
              <a:t> is highly valued by customers</a:t>
            </a:r>
          </a:p>
          <a:p>
            <a:pPr marL="764950" lvl="2" indent="-237398">
              <a:spcBef>
                <a:spcPts val="554"/>
              </a:spcBef>
              <a:spcAft>
                <a:spcPts val="554"/>
              </a:spcAft>
              <a:buClr>
                <a:srgbClr val="00638A"/>
              </a:buClr>
              <a:buFont typeface="Wingdings" pitchFamily="2" charset="2"/>
              <a:buChar char="§"/>
              <a:tabLst>
                <a:tab pos="1688165" algn="l"/>
              </a:tabLst>
              <a:defRPr/>
            </a:pPr>
            <a:r>
              <a:rPr lang="en-US" sz="1800" b="1" dirty="0">
                <a:latin typeface="+mn-lt"/>
                <a:ea typeface="Verdana" pitchFamily="34" charset="0"/>
                <a:cs typeface="Verdana" pitchFamily="34" charset="0"/>
              </a:rPr>
              <a:t>Distinctive:</a:t>
            </a:r>
            <a:r>
              <a:rPr lang="en-US" sz="1800" dirty="0">
                <a:latin typeface="+mn-lt"/>
                <a:ea typeface="Verdana" pitchFamily="34" charset="0"/>
                <a:cs typeface="Verdana" pitchFamily="34" charset="0"/>
              </a:rPr>
              <a:t> competitors do not offer the difference</a:t>
            </a:r>
          </a:p>
          <a:p>
            <a:pPr marL="764950" lvl="2" indent="-237398">
              <a:spcBef>
                <a:spcPts val="554"/>
              </a:spcBef>
              <a:spcAft>
                <a:spcPts val="554"/>
              </a:spcAft>
              <a:buClr>
                <a:srgbClr val="00638A"/>
              </a:buClr>
              <a:buFont typeface="Wingdings" pitchFamily="2" charset="2"/>
              <a:buChar char="§"/>
              <a:tabLst>
                <a:tab pos="1688165" algn="l"/>
              </a:tabLst>
              <a:defRPr/>
            </a:pPr>
            <a:r>
              <a:rPr lang="en-US" sz="1800" b="1" dirty="0">
                <a:latin typeface="+mn-lt"/>
                <a:ea typeface="Verdana" pitchFamily="34" charset="0"/>
                <a:cs typeface="Verdana" pitchFamily="34" charset="0"/>
              </a:rPr>
              <a:t>Superior: </a:t>
            </a:r>
            <a:r>
              <a:rPr lang="en-US" sz="1800" dirty="0">
                <a:latin typeface="+mn-lt"/>
                <a:ea typeface="Verdana" pitchFamily="34" charset="0"/>
                <a:cs typeface="Verdana" pitchFamily="34" charset="0"/>
              </a:rPr>
              <a:t>the difference is superior to other ways in which customers might obtain the benefit </a:t>
            </a:r>
          </a:p>
          <a:p>
            <a:pPr marL="764950" lvl="2" indent="-237398">
              <a:spcBef>
                <a:spcPts val="554"/>
              </a:spcBef>
              <a:spcAft>
                <a:spcPts val="554"/>
              </a:spcAft>
              <a:buClr>
                <a:srgbClr val="00638A"/>
              </a:buClr>
              <a:buFont typeface="Wingdings" pitchFamily="2" charset="2"/>
              <a:buChar char="§"/>
              <a:tabLst>
                <a:tab pos="1688165" algn="l"/>
              </a:tabLst>
              <a:defRPr/>
            </a:pPr>
            <a:r>
              <a:rPr lang="en-US" sz="1800" b="1" dirty="0">
                <a:latin typeface="+mn-lt"/>
                <a:ea typeface="Verdana" pitchFamily="34" charset="0"/>
                <a:cs typeface="Verdana" pitchFamily="34" charset="0"/>
              </a:rPr>
              <a:t>Communicable:</a:t>
            </a:r>
            <a:r>
              <a:rPr lang="en-US" sz="1800" dirty="0">
                <a:latin typeface="+mn-lt"/>
                <a:ea typeface="Verdana" pitchFamily="34" charset="0"/>
                <a:cs typeface="Verdana" pitchFamily="34" charset="0"/>
              </a:rPr>
              <a:t> visible to buyers</a:t>
            </a:r>
          </a:p>
          <a:p>
            <a:pPr marL="764950" lvl="2" indent="-237398">
              <a:spcBef>
                <a:spcPts val="554"/>
              </a:spcBef>
              <a:spcAft>
                <a:spcPts val="554"/>
              </a:spcAft>
              <a:buClr>
                <a:srgbClr val="00638A"/>
              </a:buClr>
              <a:buFont typeface="Wingdings" pitchFamily="2" charset="2"/>
              <a:buChar char="§"/>
              <a:tabLst>
                <a:tab pos="1688165" algn="l"/>
              </a:tabLst>
              <a:defRPr/>
            </a:pPr>
            <a:r>
              <a:rPr lang="en-US" sz="1800" b="1" dirty="0">
                <a:latin typeface="+mn-lt"/>
                <a:ea typeface="Verdana" pitchFamily="34" charset="0"/>
                <a:cs typeface="Verdana" pitchFamily="34" charset="0"/>
              </a:rPr>
              <a:t>Pre-emptive: </a:t>
            </a:r>
            <a:r>
              <a:rPr lang="en-US" sz="1800" dirty="0">
                <a:latin typeface="+mn-lt"/>
                <a:ea typeface="Verdana" pitchFamily="34" charset="0"/>
                <a:cs typeface="Verdana" pitchFamily="34" charset="0"/>
              </a:rPr>
              <a:t>competitors cannot easily copy the difference</a:t>
            </a:r>
          </a:p>
          <a:p>
            <a:pPr marL="764950" lvl="2" indent="-237398">
              <a:spcBef>
                <a:spcPts val="554"/>
              </a:spcBef>
              <a:spcAft>
                <a:spcPts val="554"/>
              </a:spcAft>
              <a:buClr>
                <a:srgbClr val="00638A"/>
              </a:buClr>
              <a:buFont typeface="Wingdings" pitchFamily="2" charset="2"/>
              <a:buChar char="§"/>
              <a:tabLst>
                <a:tab pos="1688165" algn="l"/>
              </a:tabLst>
              <a:defRPr/>
            </a:pPr>
            <a:r>
              <a:rPr lang="en-US" sz="1800" b="1" dirty="0">
                <a:latin typeface="+mn-lt"/>
                <a:ea typeface="Verdana" pitchFamily="34" charset="0"/>
                <a:cs typeface="Verdana" pitchFamily="34" charset="0"/>
              </a:rPr>
              <a:t>Affordable:</a:t>
            </a:r>
            <a:r>
              <a:rPr lang="en-US" sz="1800" dirty="0">
                <a:latin typeface="+mn-lt"/>
                <a:ea typeface="Verdana" pitchFamily="34" charset="0"/>
                <a:cs typeface="Verdana" pitchFamily="34" charset="0"/>
              </a:rPr>
              <a:t> buyers can afford to pay for the difference</a:t>
            </a:r>
          </a:p>
          <a:p>
            <a:pPr marL="764950" lvl="2" indent="-237398">
              <a:spcBef>
                <a:spcPts val="554"/>
              </a:spcBef>
              <a:spcAft>
                <a:spcPts val="554"/>
              </a:spcAft>
              <a:buClr>
                <a:srgbClr val="00638A"/>
              </a:buClr>
              <a:buFont typeface="Wingdings" pitchFamily="2" charset="2"/>
              <a:buChar char="§"/>
              <a:tabLst>
                <a:tab pos="1688165" algn="l"/>
              </a:tabLst>
              <a:defRPr/>
            </a:pPr>
            <a:r>
              <a:rPr lang="en-US" sz="1800" b="1" dirty="0">
                <a:latin typeface="+mn-lt"/>
                <a:ea typeface="Verdana" pitchFamily="34" charset="0"/>
                <a:cs typeface="Verdana" pitchFamily="34" charset="0"/>
              </a:rPr>
              <a:t>Profitable: </a:t>
            </a:r>
            <a:r>
              <a:rPr lang="en-US" sz="1800" dirty="0">
                <a:latin typeface="+mn-lt"/>
                <a:ea typeface="Verdana" pitchFamily="34" charset="0"/>
                <a:cs typeface="Verdana" pitchFamily="34" charset="0"/>
              </a:rPr>
              <a:t>the company can introduce the difference profitably</a:t>
            </a:r>
            <a:endParaRPr lang="en-US" sz="1800" dirty="0">
              <a:latin typeface="+mn-lt"/>
            </a:endParaRPr>
          </a:p>
          <a:p>
            <a:pPr marL="0" lvl="2" indent="1466">
              <a:spcBef>
                <a:spcPts val="554"/>
              </a:spcBef>
              <a:spcAft>
                <a:spcPts val="554"/>
              </a:spcAft>
              <a:buClr>
                <a:srgbClr val="00638A"/>
              </a:buClr>
              <a:buNone/>
              <a:tabLst>
                <a:tab pos="1688165" algn="l"/>
              </a:tabLst>
              <a:defRPr/>
            </a:pPr>
            <a:endParaRPr lang="en-AU" altLang="en-US" sz="2000" b="1" dirty="0">
              <a:solidFill>
                <a:srgbClr val="00638A"/>
              </a:solidFill>
              <a:latin typeface="+mn-lt"/>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623152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159" y="183824"/>
            <a:ext cx="8719586" cy="865047"/>
          </a:xfrm>
        </p:spPr>
        <p:txBody>
          <a:bodyPr>
            <a:normAutofit/>
          </a:bodyPr>
          <a:lstStyle/>
          <a:p>
            <a:r>
              <a:rPr lang="en-AU" sz="3200" dirty="0">
                <a:solidFill>
                  <a:srgbClr val="007FA3"/>
                </a:solidFill>
                <a:latin typeface="+mj-lt"/>
              </a:rPr>
              <a:t>Developing a Positioning Statement</a:t>
            </a:r>
          </a:p>
        </p:txBody>
      </p:sp>
      <p:sp>
        <p:nvSpPr>
          <p:cNvPr id="3" name="Content Placeholder 2"/>
          <p:cNvSpPr>
            <a:spLocks noGrp="1"/>
          </p:cNvSpPr>
          <p:nvPr>
            <p:ph idx="1"/>
          </p:nvPr>
        </p:nvSpPr>
        <p:spPr>
          <a:xfrm>
            <a:off x="258159" y="1214794"/>
            <a:ext cx="8229600" cy="4428411"/>
          </a:xfrm>
        </p:spPr>
        <p:txBody>
          <a:bodyPr>
            <a:normAutofit/>
          </a:bodyPr>
          <a:lstStyle/>
          <a:p>
            <a:r>
              <a:rPr lang="en-AU" sz="2000" dirty="0"/>
              <a:t>Company determines </a:t>
            </a:r>
            <a:r>
              <a:rPr lang="en-AU" sz="2000" b="1" dirty="0"/>
              <a:t>how to succinctly communicate the market position.</a:t>
            </a:r>
          </a:p>
          <a:p>
            <a:r>
              <a:rPr lang="en-AU" sz="2000" dirty="0"/>
              <a:t>Company and brand positioning should be </a:t>
            </a:r>
            <a:r>
              <a:rPr lang="en-AU" sz="2000" b="1" dirty="0"/>
              <a:t>summed up in a positioning statement,</a:t>
            </a:r>
          </a:p>
          <a:p>
            <a:r>
              <a:rPr lang="en-AU" sz="2000" dirty="0"/>
              <a:t>Positioning statement often then </a:t>
            </a:r>
            <a:r>
              <a:rPr lang="en-AU" sz="2000" b="1" dirty="0"/>
              <a:t>becomes the source of company slogan</a:t>
            </a:r>
          </a:p>
          <a:p>
            <a:endParaRPr lang="en-AU" sz="2000" dirty="0"/>
          </a:p>
        </p:txBody>
      </p:sp>
    </p:spTree>
    <p:extLst>
      <p:ext uri="{BB962C8B-B14F-4D97-AF65-F5344CB8AC3E}">
        <p14:creationId xmlns:p14="http://schemas.microsoft.com/office/powerpoint/2010/main" val="175871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3" name="Text Placeholder 2">
            <a:extLst>
              <a:ext uri="{FF2B5EF4-FFF2-40B4-BE49-F238E27FC236}">
                <a16:creationId xmlns:a16="http://schemas.microsoft.com/office/drawing/2014/main" id="{4E8A2D21-8FB3-4C1C-858F-1ACEC6D29597}"/>
              </a:ext>
            </a:extLst>
          </p:cNvPr>
          <p:cNvSpPr>
            <a:spLocks noGrp="1"/>
          </p:cNvSpPr>
          <p:nvPr>
            <p:ph type="body" idx="4294967295"/>
          </p:nvPr>
        </p:nvSpPr>
        <p:spPr>
          <a:xfrm>
            <a:off x="301924" y="270173"/>
            <a:ext cx="8229600" cy="1668484"/>
          </a:xfrm>
        </p:spPr>
        <p:txBody>
          <a:bodyPr/>
          <a:lstStyle/>
          <a:p>
            <a:pPr marL="101600" indent="0" algn="l">
              <a:buNone/>
            </a:pPr>
            <a:r>
              <a:rPr lang="en-NZ" sz="3600" b="1" dirty="0">
                <a:solidFill>
                  <a:srgbClr val="007FA3"/>
                </a:solidFill>
                <a:latin typeface="+mj-lt"/>
                <a:cs typeface="Times New Roman"/>
                <a:sym typeface="Times New Roman"/>
              </a:rPr>
              <a:t>Developing a positioning statement</a:t>
            </a:r>
          </a:p>
          <a:p>
            <a:r>
              <a:rPr lang="en-NZ" sz="2000" u="none" strike="noStrike" baseline="0" dirty="0">
                <a:solidFill>
                  <a:srgbClr val="000000"/>
                </a:solidFill>
                <a:latin typeface="+mn-lt"/>
              </a:rPr>
              <a:t>A </a:t>
            </a:r>
            <a:r>
              <a:rPr lang="en-NZ" sz="2000" b="1" u="none" strike="noStrike" baseline="0" dirty="0">
                <a:solidFill>
                  <a:srgbClr val="000000"/>
                </a:solidFill>
                <a:latin typeface="+mn-lt"/>
              </a:rPr>
              <a:t>positioning statement</a:t>
            </a:r>
            <a:r>
              <a:rPr lang="en-NZ" sz="2000" u="none" strike="noStrike" baseline="0" dirty="0">
                <a:solidFill>
                  <a:srgbClr val="000000"/>
                </a:solidFill>
                <a:latin typeface="+mn-lt"/>
              </a:rPr>
              <a:t> is a statement that </a:t>
            </a:r>
            <a:r>
              <a:rPr lang="en-US" sz="2000" dirty="0" err="1">
                <a:latin typeface="+mn-lt"/>
                <a:ea typeface="Verdana" pitchFamily="34" charset="0"/>
                <a:cs typeface="Verdana" pitchFamily="34" charset="0"/>
              </a:rPr>
              <a:t>summarises</a:t>
            </a:r>
            <a:r>
              <a:rPr lang="en-US" sz="2000" dirty="0">
                <a:latin typeface="+mn-lt"/>
                <a:ea typeface="Verdana" pitchFamily="34" charset="0"/>
                <a:cs typeface="Verdana" pitchFamily="34" charset="0"/>
              </a:rPr>
              <a:t> company or brand positioning.</a:t>
            </a:r>
            <a:endParaRPr lang="en-NZ" sz="2000" dirty="0">
              <a:solidFill>
                <a:srgbClr val="000000"/>
              </a:solidFill>
              <a:latin typeface="+mn-lt"/>
            </a:endParaRPr>
          </a:p>
          <a:p>
            <a:pPr marL="101600" indent="0">
              <a:buNone/>
            </a:pPr>
            <a:endParaRPr lang="en-NZ" sz="2000" b="0" u="none" strike="noStrike" baseline="0" dirty="0">
              <a:solidFill>
                <a:srgbClr val="000000"/>
              </a:solidFill>
              <a:latin typeface="+mn-lt"/>
            </a:endParaRPr>
          </a:p>
        </p:txBody>
      </p:sp>
      <p:sp>
        <p:nvSpPr>
          <p:cNvPr id="5" name="Content Placeholder 2">
            <a:extLst>
              <a:ext uri="{FF2B5EF4-FFF2-40B4-BE49-F238E27FC236}">
                <a16:creationId xmlns:a16="http://schemas.microsoft.com/office/drawing/2014/main" id="{B70B842E-92FB-4D51-87AD-FDC03C7B4C94}"/>
              </a:ext>
            </a:extLst>
          </p:cNvPr>
          <p:cNvSpPr txBox="1">
            <a:spLocks/>
          </p:cNvSpPr>
          <p:nvPr/>
        </p:nvSpPr>
        <p:spPr bwMode="auto">
          <a:xfrm>
            <a:off x="1043706" y="1738329"/>
            <a:ext cx="7305965" cy="2143558"/>
          </a:xfrm>
          <a:prstGeom prst="rect">
            <a:avLst/>
          </a:prstGeom>
          <a:solidFill>
            <a:srgbClr val="E1F2D0"/>
          </a:solidFill>
          <a:ln w="9525">
            <a:noFill/>
            <a:miter lim="800000"/>
            <a:headEnd/>
            <a:tailEnd/>
          </a:ln>
        </p:spPr>
        <p:txBody>
          <a:bodyPr lIns="0" tIns="0" rIns="0" bIns="0"/>
          <a:lstStyle/>
          <a:p>
            <a:pPr marL="342900" indent="-342900" algn="ctr" defTabSz="857250" eaLnBrk="1" hangingPunct="1">
              <a:lnSpc>
                <a:spcPct val="150000"/>
              </a:lnSpc>
              <a:spcAft>
                <a:spcPct val="20000"/>
              </a:spcAft>
              <a:buSzPct val="80000"/>
              <a:buFont typeface="Verdana" pitchFamily="34" charset="0"/>
              <a:buNone/>
              <a:defRPr/>
            </a:pPr>
            <a:r>
              <a:rPr lang="en-US" sz="2000" b="1" kern="0" dirty="0">
                <a:latin typeface="+mn-lt"/>
                <a:ea typeface="ＭＳ Ｐゴシック" pitchFamily="34" charset="-128"/>
                <a:cs typeface="+mn-cs"/>
              </a:rPr>
              <a:t>To (target segment and need),</a:t>
            </a:r>
          </a:p>
          <a:p>
            <a:pPr marL="342900" indent="-342900" algn="ctr" defTabSz="857250" eaLnBrk="1" hangingPunct="1">
              <a:lnSpc>
                <a:spcPct val="150000"/>
              </a:lnSpc>
              <a:spcAft>
                <a:spcPct val="20000"/>
              </a:spcAft>
              <a:buSzPct val="80000"/>
              <a:buFont typeface="Verdana" pitchFamily="34" charset="0"/>
              <a:buNone/>
              <a:defRPr/>
            </a:pPr>
            <a:r>
              <a:rPr lang="en-US" sz="2000" b="1" kern="0" dirty="0">
                <a:latin typeface="+mn-lt"/>
                <a:ea typeface="ＭＳ Ｐゴシック" pitchFamily="34" charset="-128"/>
                <a:cs typeface="+mn-cs"/>
              </a:rPr>
              <a:t> our (brand) </a:t>
            </a:r>
          </a:p>
          <a:p>
            <a:pPr marL="342900" indent="-342900" algn="ctr" defTabSz="857250" eaLnBrk="1" hangingPunct="1">
              <a:lnSpc>
                <a:spcPct val="150000"/>
              </a:lnSpc>
              <a:spcAft>
                <a:spcPct val="20000"/>
              </a:spcAft>
              <a:buSzPct val="80000"/>
              <a:buFont typeface="Verdana" pitchFamily="34" charset="0"/>
              <a:buNone/>
              <a:defRPr/>
            </a:pPr>
            <a:r>
              <a:rPr lang="en-US" sz="2000" b="1" kern="0" dirty="0">
                <a:latin typeface="+mn-lt"/>
                <a:ea typeface="ＭＳ Ｐゴシック" pitchFamily="34" charset="-128"/>
                <a:cs typeface="+mn-cs"/>
              </a:rPr>
              <a:t>is (concept) </a:t>
            </a:r>
          </a:p>
          <a:p>
            <a:pPr marL="342900" indent="-342900" algn="ctr" defTabSz="857250" eaLnBrk="1" hangingPunct="1">
              <a:lnSpc>
                <a:spcPct val="150000"/>
              </a:lnSpc>
              <a:spcAft>
                <a:spcPct val="20000"/>
              </a:spcAft>
              <a:buSzPct val="80000"/>
              <a:buFont typeface="Verdana" pitchFamily="34" charset="0"/>
              <a:buNone/>
              <a:defRPr/>
            </a:pPr>
            <a:r>
              <a:rPr lang="en-US" sz="2000" b="1" kern="0" dirty="0">
                <a:latin typeface="+mn-lt"/>
                <a:ea typeface="ＭＳ Ｐゴシック" pitchFamily="34" charset="-128"/>
                <a:cs typeface="+mn-cs"/>
              </a:rPr>
              <a:t>that (point of difference).</a:t>
            </a:r>
          </a:p>
        </p:txBody>
      </p:sp>
      <p:grpSp>
        <p:nvGrpSpPr>
          <p:cNvPr id="6" name="Group 5">
            <a:extLst>
              <a:ext uri="{FF2B5EF4-FFF2-40B4-BE49-F238E27FC236}">
                <a16:creationId xmlns:a16="http://schemas.microsoft.com/office/drawing/2014/main" id="{D3B3F46B-5659-4CAF-9C16-12A979D6C0D7}"/>
              </a:ext>
            </a:extLst>
          </p:cNvPr>
          <p:cNvGrpSpPr/>
          <p:nvPr/>
        </p:nvGrpSpPr>
        <p:grpSpPr>
          <a:xfrm>
            <a:off x="457200" y="3778069"/>
            <a:ext cx="7892471" cy="2398444"/>
            <a:chOff x="1006762" y="3935160"/>
            <a:chExt cx="7892471" cy="2152328"/>
          </a:xfrm>
        </p:grpSpPr>
        <p:sp>
          <p:nvSpPr>
            <p:cNvPr id="7" name="Content Placeholder 2">
              <a:extLst>
                <a:ext uri="{FF2B5EF4-FFF2-40B4-BE49-F238E27FC236}">
                  <a16:creationId xmlns:a16="http://schemas.microsoft.com/office/drawing/2014/main" id="{D1B936F0-0A8A-470D-BA7C-ECDC4D3F8CA8}"/>
                </a:ext>
              </a:extLst>
            </p:cNvPr>
            <p:cNvSpPr txBox="1">
              <a:spLocks/>
            </p:cNvSpPr>
            <p:nvPr/>
          </p:nvSpPr>
          <p:spPr bwMode="auto">
            <a:xfrm>
              <a:off x="1593269" y="4303659"/>
              <a:ext cx="7305964" cy="1783829"/>
            </a:xfrm>
            <a:prstGeom prst="rect">
              <a:avLst/>
            </a:prstGeom>
            <a:solidFill>
              <a:srgbClr val="E1F2D0"/>
            </a:solidFill>
            <a:ln w="9525">
              <a:noFill/>
              <a:miter lim="800000"/>
              <a:headEnd/>
              <a:tailEnd/>
            </a:ln>
          </p:spPr>
          <p:txBody>
            <a:bodyPr lIns="0" tIns="0" rIns="0" bIns="0"/>
            <a:lstStyle/>
            <a:p>
              <a:pPr marL="230188">
                <a:lnSpc>
                  <a:spcPct val="150000"/>
                </a:lnSpc>
              </a:pPr>
              <a:r>
                <a:rPr lang="en-US" sz="2000" dirty="0"/>
                <a:t>‘</a:t>
              </a:r>
              <a:r>
                <a:rPr lang="en-US" sz="2000" i="1" dirty="0"/>
                <a:t>To busy, mobile professionals who need always to be in the loop</a:t>
              </a:r>
              <a:r>
                <a:rPr lang="en-US" sz="2000" dirty="0"/>
                <a:t>, </a:t>
              </a:r>
              <a:r>
                <a:rPr lang="en-US" sz="2000" i="1" dirty="0"/>
                <a:t>BlackBerry is a wireless connectivity solution that gives you an easier, more reliable way to stay connected to data, people and resources while on the go.</a:t>
              </a:r>
              <a:r>
                <a:rPr lang="en-US" sz="2000" dirty="0"/>
                <a:t>’</a:t>
              </a:r>
              <a:endParaRPr lang="en-US" sz="2000" b="1" kern="0" dirty="0">
                <a:latin typeface="+mn-lt"/>
                <a:ea typeface="ＭＳ Ｐゴシック" pitchFamily="34" charset="-128"/>
                <a:cs typeface="+mn-cs"/>
              </a:endParaRPr>
            </a:p>
          </p:txBody>
        </p:sp>
        <p:sp>
          <p:nvSpPr>
            <p:cNvPr id="8" name="TextBox 7">
              <a:extLst>
                <a:ext uri="{FF2B5EF4-FFF2-40B4-BE49-F238E27FC236}">
                  <a16:creationId xmlns:a16="http://schemas.microsoft.com/office/drawing/2014/main" id="{41AC81A4-BE37-4E4A-995B-7921EBA22D41}"/>
                </a:ext>
              </a:extLst>
            </p:cNvPr>
            <p:cNvSpPr txBox="1"/>
            <p:nvPr/>
          </p:nvSpPr>
          <p:spPr>
            <a:xfrm>
              <a:off x="1006762" y="3935160"/>
              <a:ext cx="3500582" cy="461665"/>
            </a:xfrm>
            <a:prstGeom prst="rect">
              <a:avLst/>
            </a:prstGeom>
            <a:noFill/>
          </p:spPr>
          <p:txBody>
            <a:bodyPr wrap="square" rtlCol="0">
              <a:spAutoFit/>
            </a:bodyPr>
            <a:lstStyle/>
            <a:p>
              <a:r>
                <a:rPr lang="en-US" sz="2400" b="1" dirty="0">
                  <a:solidFill>
                    <a:srgbClr val="5F9127"/>
                  </a:solidFill>
                </a:rPr>
                <a:t>Example</a:t>
              </a:r>
            </a:p>
          </p:txBody>
        </p:sp>
      </p:grpSp>
    </p:spTree>
    <p:extLst>
      <p:ext uri="{BB962C8B-B14F-4D97-AF65-F5344CB8AC3E}">
        <p14:creationId xmlns:p14="http://schemas.microsoft.com/office/powerpoint/2010/main" val="279322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25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2" name="Title 1">
            <a:extLst>
              <a:ext uri="{FF2B5EF4-FFF2-40B4-BE49-F238E27FC236}">
                <a16:creationId xmlns:a16="http://schemas.microsoft.com/office/drawing/2014/main" id="{20733D9C-4644-48A6-A8AD-8FC1E9FB518C}"/>
              </a:ext>
            </a:extLst>
          </p:cNvPr>
          <p:cNvSpPr>
            <a:spLocks noGrp="1"/>
          </p:cNvSpPr>
          <p:nvPr>
            <p:ph type="title"/>
          </p:nvPr>
        </p:nvSpPr>
        <p:spPr>
          <a:xfrm>
            <a:off x="457200" y="215372"/>
            <a:ext cx="8229600" cy="553555"/>
          </a:xfrm>
        </p:spPr>
        <p:txBody>
          <a:bodyPr/>
          <a:lstStyle/>
          <a:p>
            <a:pPr marL="101600" lvl="0" indent="0" fontAlgn="auto">
              <a:spcBef>
                <a:spcPts val="400"/>
              </a:spcBef>
              <a:spcAft>
                <a:spcPts val="400"/>
              </a:spcAft>
              <a:buNone/>
            </a:pPr>
            <a:r>
              <a:rPr lang="en-AU" altLang="en-US" sz="3200" b="1" kern="0" dirty="0">
                <a:solidFill>
                  <a:srgbClr val="00638A"/>
                </a:solidFill>
                <a:ea typeface="Verdana" panose="020B0604030504040204" pitchFamily="34" charset="0"/>
                <a:cs typeface="Verdana" panose="020B0604030504040204" pitchFamily="34" charset="0"/>
                <a:sym typeface="Arial"/>
              </a:rPr>
              <a:t>Positioning maps</a:t>
            </a:r>
            <a:endParaRPr kumimoji="0" lang="en-AU" altLang="en-US" sz="3200" b="1" i="0" u="none" strike="noStrike" kern="0" cap="none" spc="0" normalizeH="0" baseline="0" noProof="0" dirty="0">
              <a:ln>
                <a:noFill/>
              </a:ln>
              <a:solidFill>
                <a:srgbClr val="000000"/>
              </a:solidFill>
              <a:effectLst/>
              <a:uLnTx/>
              <a:uFillTx/>
              <a:latin typeface="Verdana" panose="020B0604030504040204" pitchFamily="34" charset="0"/>
              <a:ea typeface="Verdana" panose="020B0604030504040204" pitchFamily="34" charset="0"/>
              <a:cs typeface="Verdana" panose="020B0604030504040204" pitchFamily="34" charset="0"/>
              <a:sym typeface="Arial"/>
            </a:endParaRPr>
          </a:p>
        </p:txBody>
      </p:sp>
      <p:sp>
        <p:nvSpPr>
          <p:cNvPr id="3" name="Text Placeholder 2">
            <a:extLst>
              <a:ext uri="{FF2B5EF4-FFF2-40B4-BE49-F238E27FC236}">
                <a16:creationId xmlns:a16="http://schemas.microsoft.com/office/drawing/2014/main" id="{4E8A2D21-8FB3-4C1C-858F-1ACEC6D29597}"/>
              </a:ext>
            </a:extLst>
          </p:cNvPr>
          <p:cNvSpPr>
            <a:spLocks noGrp="1"/>
          </p:cNvSpPr>
          <p:nvPr>
            <p:ph type="body" idx="4294967295"/>
          </p:nvPr>
        </p:nvSpPr>
        <p:spPr>
          <a:xfrm>
            <a:off x="457200" y="666654"/>
            <a:ext cx="8229600" cy="4525963"/>
          </a:xfrm>
        </p:spPr>
        <p:txBody>
          <a:bodyPr/>
          <a:lstStyle/>
          <a:p>
            <a:pPr marL="256032" lvl="1" indent="-154432" fontAlgn="auto">
              <a:spcBef>
                <a:spcPts val="1500"/>
              </a:spcBef>
              <a:buFont typeface="Arial"/>
              <a:buChar char="•"/>
              <a:tabLst>
                <a:tab pos="1828800" algn="l"/>
              </a:tabLst>
            </a:pPr>
            <a:r>
              <a:rPr lang="en-US" sz="2000" dirty="0">
                <a:solidFill>
                  <a:schemeClr val="tx1"/>
                </a:solidFill>
                <a:latin typeface="+mn-lt"/>
              </a:rPr>
              <a:t>In planning their differentiation and positioning strategies, marketers often prepare perceptual positioning maps.</a:t>
            </a:r>
            <a:endParaRPr lang="en-AU" altLang="en-US" sz="2000" dirty="0">
              <a:solidFill>
                <a:schemeClr val="tx1"/>
              </a:solidFill>
              <a:latin typeface="+mn-lt"/>
            </a:endParaRPr>
          </a:p>
          <a:p>
            <a:pPr algn="l"/>
            <a:r>
              <a:rPr lang="en-US" sz="2000" dirty="0">
                <a:solidFill>
                  <a:schemeClr val="tx1"/>
                </a:solidFill>
                <a:latin typeface="+mn-lt"/>
              </a:rPr>
              <a:t>Positioning maps show consumer perceptions of marketer’s brands versus competing products on important buying dimensions (criteria).</a:t>
            </a:r>
          </a:p>
          <a:p>
            <a:pPr algn="l"/>
            <a:r>
              <a:rPr lang="en-US" sz="2000" dirty="0">
                <a:solidFill>
                  <a:schemeClr val="tx1"/>
                </a:solidFill>
                <a:latin typeface="+mn-lt"/>
              </a:rPr>
              <a:t>The buying dimensions (criteria), depends on what attributes the business is basing decisions on either:</a:t>
            </a:r>
          </a:p>
          <a:p>
            <a:pPr lvl="1">
              <a:buFont typeface="Wingdings" panose="05000000000000000000" pitchFamily="2" charset="2"/>
              <a:buChar char="§"/>
            </a:pPr>
            <a:r>
              <a:rPr lang="en-US" sz="1800" dirty="0">
                <a:solidFill>
                  <a:schemeClr val="tx1"/>
                </a:solidFill>
                <a:latin typeface="+mn-lt"/>
              </a:rPr>
              <a:t>Define the industry/product category</a:t>
            </a:r>
          </a:p>
          <a:p>
            <a:pPr lvl="1">
              <a:buFont typeface="Wingdings" panose="05000000000000000000" pitchFamily="2" charset="2"/>
              <a:buChar char="§"/>
            </a:pPr>
            <a:r>
              <a:rPr lang="en-US" sz="1800" dirty="0">
                <a:solidFill>
                  <a:schemeClr val="tx1"/>
                </a:solidFill>
                <a:latin typeface="+mn-lt"/>
              </a:rPr>
              <a:t>Is valued by the consumer</a:t>
            </a:r>
          </a:p>
          <a:p>
            <a:pPr marL="1257300" lvl="2" indent="-241300">
              <a:buFont typeface="Wingdings" panose="05000000000000000000" pitchFamily="2" charset="2"/>
              <a:buChar char="Ø"/>
            </a:pPr>
            <a:r>
              <a:rPr lang="en-US" sz="1400" dirty="0">
                <a:solidFill>
                  <a:schemeClr val="tx1"/>
                </a:solidFill>
                <a:latin typeface="+mn-lt"/>
              </a:rPr>
              <a:t>Mapping ‘energy drinks will most likely have ‘caffeine content’ but maybe not price</a:t>
            </a:r>
          </a:p>
          <a:p>
            <a:pPr lvl="1">
              <a:buFont typeface="Wingdings" panose="05000000000000000000" pitchFamily="2" charset="2"/>
              <a:buChar char="§"/>
            </a:pPr>
            <a:r>
              <a:rPr lang="en-US" sz="1800" dirty="0">
                <a:solidFill>
                  <a:schemeClr val="tx1"/>
                </a:solidFill>
                <a:latin typeface="+mn-lt"/>
              </a:rPr>
              <a:t>The biggest mistake in position mapping is to name one of the axis “Quality”. Why?</a:t>
            </a:r>
          </a:p>
          <a:p>
            <a:pPr marL="1257300" lvl="2" indent="-241300">
              <a:buFont typeface="Wingdings" panose="05000000000000000000" pitchFamily="2" charset="2"/>
              <a:buChar char="Ø"/>
            </a:pPr>
            <a:r>
              <a:rPr lang="en-US" sz="1400" dirty="0">
                <a:solidFill>
                  <a:schemeClr val="tx1"/>
                </a:solidFill>
                <a:latin typeface="+mn-lt"/>
              </a:rPr>
              <a:t>Quality is Often Subjective and Hard to Quantify e.g., durability, design, brand reputation, customer service etc.</a:t>
            </a:r>
          </a:p>
          <a:p>
            <a:pPr marL="1257300" lvl="2" indent="-241300">
              <a:buFont typeface="Wingdings" panose="05000000000000000000" pitchFamily="2" charset="2"/>
              <a:buChar char="Ø"/>
            </a:pPr>
            <a:r>
              <a:rPr lang="en-US" sz="1400" dirty="0">
                <a:solidFill>
                  <a:schemeClr val="tx1"/>
                </a:solidFill>
                <a:latin typeface="+mn-lt"/>
              </a:rPr>
              <a:t>Quality is Expected, Not a Differentiator e.g., luxury brands – needs to become more targeted - craftmanship, safety. reliability</a:t>
            </a:r>
          </a:p>
          <a:p>
            <a:pPr marL="1257300" lvl="2" indent="-241300">
              <a:buFont typeface="Wingdings" panose="05000000000000000000" pitchFamily="2" charset="2"/>
              <a:buChar char="Ø"/>
            </a:pPr>
            <a:r>
              <a:rPr lang="en-US" sz="1400" dirty="0">
                <a:solidFill>
                  <a:schemeClr val="tx1"/>
                </a:solidFill>
                <a:latin typeface="+mn-lt"/>
              </a:rPr>
              <a:t>Quality is Often Implicit in Other Attributes e.g., premium-priced products are generally perceived as high quality</a:t>
            </a:r>
          </a:p>
          <a:p>
            <a:pPr algn="l"/>
            <a:endParaRPr lang="en-NZ" sz="2000" dirty="0">
              <a:solidFill>
                <a:schemeClr val="tx1"/>
              </a:solidFill>
              <a:latin typeface="+mn-lt"/>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8A2B0910-1469-48C3-125E-65117C290C8F}"/>
                  </a:ext>
                </a:extLst>
              </p14:cNvPr>
              <p14:cNvContentPartPr/>
              <p14:nvPr/>
            </p14:nvContentPartPr>
            <p14:xfrm>
              <a:off x="-1806243" y="6423403"/>
              <a:ext cx="277920" cy="162360"/>
            </p14:xfrm>
          </p:contentPart>
        </mc:Choice>
        <mc:Fallback xmlns="">
          <p:pic>
            <p:nvPicPr>
              <p:cNvPr id="4" name="Ink 3">
                <a:extLst>
                  <a:ext uri="{FF2B5EF4-FFF2-40B4-BE49-F238E27FC236}">
                    <a16:creationId xmlns:a16="http://schemas.microsoft.com/office/drawing/2014/main" id="{8A2B0910-1469-48C3-125E-65117C290C8F}"/>
                  </a:ext>
                </a:extLst>
              </p:cNvPr>
              <p:cNvPicPr/>
              <p:nvPr/>
            </p:nvPicPr>
            <p:blipFill>
              <a:blip r:embed="rId4"/>
              <a:stretch>
                <a:fillRect/>
              </a:stretch>
            </p:blipFill>
            <p:spPr>
              <a:xfrm>
                <a:off x="-1814883" y="6414403"/>
                <a:ext cx="2955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DD2C44F3-7C5A-D3D1-60B1-135F3B86B3AB}"/>
                  </a:ext>
                </a:extLst>
              </p14:cNvPr>
              <p14:cNvContentPartPr/>
              <p14:nvPr/>
            </p14:nvContentPartPr>
            <p14:xfrm>
              <a:off x="1006437" y="4844443"/>
              <a:ext cx="41760" cy="5040"/>
            </p14:xfrm>
          </p:contentPart>
        </mc:Choice>
        <mc:Fallback xmlns="">
          <p:pic>
            <p:nvPicPr>
              <p:cNvPr id="5" name="Ink 4">
                <a:extLst>
                  <a:ext uri="{FF2B5EF4-FFF2-40B4-BE49-F238E27FC236}">
                    <a16:creationId xmlns:a16="http://schemas.microsoft.com/office/drawing/2014/main" id="{DD2C44F3-7C5A-D3D1-60B1-135F3B86B3AB}"/>
                  </a:ext>
                </a:extLst>
              </p:cNvPr>
              <p:cNvPicPr/>
              <p:nvPr/>
            </p:nvPicPr>
            <p:blipFill>
              <a:blip r:embed="rId6"/>
              <a:stretch>
                <a:fillRect/>
              </a:stretch>
            </p:blipFill>
            <p:spPr>
              <a:xfrm>
                <a:off x="1000317" y="4838323"/>
                <a:ext cx="5400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050B5A0-2B1A-0723-232B-743DDEE9D68A}"/>
                  </a:ext>
                </a:extLst>
              </p14:cNvPr>
              <p14:cNvContentPartPr/>
              <p14:nvPr/>
            </p14:nvContentPartPr>
            <p14:xfrm>
              <a:off x="2545077" y="5914363"/>
              <a:ext cx="360" cy="360"/>
            </p14:xfrm>
          </p:contentPart>
        </mc:Choice>
        <mc:Fallback xmlns="">
          <p:pic>
            <p:nvPicPr>
              <p:cNvPr id="6" name="Ink 5">
                <a:extLst>
                  <a:ext uri="{FF2B5EF4-FFF2-40B4-BE49-F238E27FC236}">
                    <a16:creationId xmlns:a16="http://schemas.microsoft.com/office/drawing/2014/main" id="{9050B5A0-2B1A-0723-232B-743DDEE9D68A}"/>
                  </a:ext>
                </a:extLst>
              </p:cNvPr>
              <p:cNvPicPr/>
              <p:nvPr/>
            </p:nvPicPr>
            <p:blipFill>
              <a:blip r:embed="rId8"/>
              <a:stretch>
                <a:fillRect/>
              </a:stretch>
            </p:blipFill>
            <p:spPr>
              <a:xfrm>
                <a:off x="2538957" y="5908243"/>
                <a:ext cx="12600" cy="12600"/>
              </a:xfrm>
              <a:prstGeom prst="rect">
                <a:avLst/>
              </a:prstGeom>
            </p:spPr>
          </p:pic>
        </mc:Fallback>
      </mc:AlternateContent>
    </p:spTree>
    <p:extLst>
      <p:ext uri="{BB962C8B-B14F-4D97-AF65-F5344CB8AC3E}">
        <p14:creationId xmlns:p14="http://schemas.microsoft.com/office/powerpoint/2010/main" val="32012226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76B16-7B21-40D7-A6E9-A1C632899F16}"/>
              </a:ext>
            </a:extLst>
          </p:cNvPr>
          <p:cNvSpPr>
            <a:spLocks noGrp="1"/>
          </p:cNvSpPr>
          <p:nvPr>
            <p:ph type="title"/>
          </p:nvPr>
        </p:nvSpPr>
        <p:spPr>
          <a:xfrm>
            <a:off x="457200" y="228600"/>
            <a:ext cx="8229600" cy="672657"/>
          </a:xfrm>
        </p:spPr>
        <p:txBody>
          <a:bodyPr anchor="b">
            <a:noAutofit/>
          </a:bodyPr>
          <a:lstStyle/>
          <a:p>
            <a:pPr>
              <a:lnSpc>
                <a:spcPct val="90000"/>
              </a:lnSpc>
            </a:pPr>
            <a:r>
              <a:rPr lang="en-NZ" dirty="0"/>
              <a:t>Figure 6.3</a:t>
            </a:r>
          </a:p>
        </p:txBody>
      </p:sp>
      <p:sp>
        <p:nvSpPr>
          <p:cNvPr id="3" name="Text Placeholder 2">
            <a:extLst>
              <a:ext uri="{FF2B5EF4-FFF2-40B4-BE49-F238E27FC236}">
                <a16:creationId xmlns:a16="http://schemas.microsoft.com/office/drawing/2014/main" id="{58E2ECBE-30D5-451A-ADEB-E5B5B50E1717}"/>
              </a:ext>
            </a:extLst>
          </p:cNvPr>
          <p:cNvSpPr>
            <a:spLocks noGrp="1"/>
          </p:cNvSpPr>
          <p:nvPr>
            <p:ph type="body" sz="quarter" idx="14"/>
          </p:nvPr>
        </p:nvSpPr>
        <p:spPr>
          <a:xfrm>
            <a:off x="457200" y="901257"/>
            <a:ext cx="8232775" cy="611631"/>
          </a:xfrm>
        </p:spPr>
        <p:txBody>
          <a:bodyPr anchor="t">
            <a:noAutofit/>
          </a:bodyPr>
          <a:lstStyle/>
          <a:p>
            <a:pPr>
              <a:lnSpc>
                <a:spcPct val="90000"/>
              </a:lnSpc>
            </a:pPr>
            <a:r>
              <a:rPr lang="en-NZ" dirty="0"/>
              <a:t>Positioning map: Carbonated beverages (15- to 18-year-olds)</a:t>
            </a:r>
          </a:p>
        </p:txBody>
      </p:sp>
      <p:pic>
        <p:nvPicPr>
          <p:cNvPr id="4" name="Picture 3" descr="A graph plots sweetness against social acceptability, depicting relative positioning of three carbonated beverages, Coca Cola, Pepsi and Solo. Full alt text description in Notes.">
            <a:extLst>
              <a:ext uri="{FF2B5EF4-FFF2-40B4-BE49-F238E27FC236}">
                <a16:creationId xmlns:a16="http://schemas.microsoft.com/office/drawing/2014/main" id="{DC29A2FF-6F90-41B1-A4F0-E46D407AA42B}"/>
              </a:ext>
            </a:extLst>
          </p:cNvPr>
          <p:cNvPicPr>
            <a:picLocks noChangeAspect="1"/>
          </p:cNvPicPr>
          <p:nvPr/>
        </p:nvPicPr>
        <p:blipFill>
          <a:blip r:embed="rId3"/>
          <a:stretch>
            <a:fillRect/>
          </a:stretch>
        </p:blipFill>
        <p:spPr>
          <a:xfrm>
            <a:off x="342900" y="1745827"/>
            <a:ext cx="8458200" cy="4314825"/>
          </a:xfrm>
          <a:prstGeom prst="rect">
            <a:avLst/>
          </a:prstGeom>
        </p:spPr>
      </p:pic>
    </p:spTree>
    <p:extLst>
      <p:ext uri="{BB962C8B-B14F-4D97-AF65-F5344CB8AC3E}">
        <p14:creationId xmlns:p14="http://schemas.microsoft.com/office/powerpoint/2010/main" val="23299627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8"/>
          <p:cNvSpPr>
            <a:spLocks noGrp="1" noChangeArrowheads="1"/>
          </p:cNvSpPr>
          <p:nvPr>
            <p:ph type="title"/>
          </p:nvPr>
        </p:nvSpPr>
        <p:spPr>
          <a:xfrm>
            <a:off x="475391" y="228647"/>
            <a:ext cx="8440615" cy="1653797"/>
          </a:xfrm>
        </p:spPr>
        <p:txBody>
          <a:bodyPr/>
          <a:lstStyle/>
          <a:p>
            <a:pPr eaLnBrk="1" hangingPunct="1">
              <a:lnSpc>
                <a:spcPct val="90000"/>
              </a:lnSpc>
            </a:pPr>
            <a:r>
              <a:rPr lang="en-AU" altLang="en-US" sz="3600" dirty="0">
                <a:solidFill>
                  <a:srgbClr val="007FA3"/>
                </a:solidFill>
                <a:latin typeface="+mj-lt"/>
              </a:rPr>
              <a:t>Choosing an overall positioning strategy. One common and important aid: The Positioning Map</a:t>
            </a:r>
          </a:p>
        </p:txBody>
      </p:sp>
      <p:pic>
        <p:nvPicPr>
          <p:cNvPr id="6963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1098" y="1882444"/>
            <a:ext cx="7231674" cy="3541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TextBox 1"/>
          <p:cNvSpPr txBox="1"/>
          <p:nvPr/>
        </p:nvSpPr>
        <p:spPr>
          <a:xfrm>
            <a:off x="1450357" y="5688530"/>
            <a:ext cx="6776271" cy="603883"/>
          </a:xfrm>
          <a:prstGeom prst="rect">
            <a:avLst/>
          </a:prstGeom>
          <a:noFill/>
        </p:spPr>
        <p:txBody>
          <a:bodyPr wrap="square" rtlCol="0">
            <a:spAutoFit/>
          </a:bodyPr>
          <a:lstStyle/>
          <a:p>
            <a:pPr algn="ctr"/>
            <a:r>
              <a:rPr lang="en-AU" sz="1662" b="1" dirty="0">
                <a:solidFill>
                  <a:srgbClr val="003618"/>
                </a:solidFill>
              </a:rPr>
              <a:t>Example of a Positioning Map for a whole organisation. Note that this is normally done for individual products.</a:t>
            </a:r>
          </a:p>
        </p:txBody>
      </p:sp>
    </p:spTree>
    <p:extLst>
      <p:ext uri="{BB962C8B-B14F-4D97-AF65-F5344CB8AC3E}">
        <p14:creationId xmlns:p14="http://schemas.microsoft.com/office/powerpoint/2010/main" val="24999644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8"/>
          <p:cNvSpPr>
            <a:spLocks noGrp="1" noChangeArrowheads="1"/>
          </p:cNvSpPr>
          <p:nvPr>
            <p:ph type="title"/>
          </p:nvPr>
        </p:nvSpPr>
        <p:spPr>
          <a:xfrm>
            <a:off x="556805" y="751185"/>
            <a:ext cx="8373208" cy="1008603"/>
          </a:xfrm>
        </p:spPr>
        <p:txBody>
          <a:bodyPr/>
          <a:lstStyle/>
          <a:p>
            <a:pPr eaLnBrk="1" hangingPunct="1"/>
            <a:r>
              <a:rPr lang="en-AU" altLang="en-US" sz="3600" dirty="0">
                <a:solidFill>
                  <a:srgbClr val="007FA3"/>
                </a:solidFill>
                <a:latin typeface="+mj-lt"/>
              </a:rPr>
              <a:t>Choosing an overall positioning strategy. </a:t>
            </a:r>
            <a:br>
              <a:rPr lang="en-AU" altLang="en-US" sz="3600" dirty="0">
                <a:solidFill>
                  <a:srgbClr val="007FA3"/>
                </a:solidFill>
                <a:latin typeface="+mj-lt"/>
              </a:rPr>
            </a:br>
            <a:r>
              <a:rPr lang="en-AU" altLang="en-US" sz="3600" dirty="0">
                <a:solidFill>
                  <a:srgbClr val="007FA3"/>
                </a:solidFill>
                <a:latin typeface="+mj-lt"/>
              </a:rPr>
              <a:t>Re-positioning</a:t>
            </a:r>
          </a:p>
        </p:txBody>
      </p:sp>
      <p:pic>
        <p:nvPicPr>
          <p:cNvPr id="7373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820" y="2174260"/>
            <a:ext cx="7189177" cy="3414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40632794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1693" y="45320"/>
            <a:ext cx="8574098" cy="602485"/>
          </a:xfrm>
        </p:spPr>
        <p:txBody>
          <a:bodyPr/>
          <a:lstStyle/>
          <a:p>
            <a:r>
              <a:rPr lang="en-AU" sz="3600" dirty="0">
                <a:solidFill>
                  <a:srgbClr val="007FA3"/>
                </a:solidFill>
                <a:latin typeface="+mj-lt"/>
              </a:rPr>
              <a:t>Another example of a positioning map</a:t>
            </a:r>
          </a:p>
        </p:txBody>
      </p:sp>
      <p:sp>
        <p:nvSpPr>
          <p:cNvPr id="4" name="Slide Number Placeholder 3"/>
          <p:cNvSpPr>
            <a:spLocks noGrp="1"/>
          </p:cNvSpPr>
          <p:nvPr>
            <p:ph type="sldNum" sz="quarter" idx="10"/>
          </p:nvPr>
        </p:nvSpPr>
        <p:spPr bwMode="gray">
          <a:xfrm>
            <a:off x="8811358" y="6428643"/>
            <a:ext cx="332642" cy="16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GB"/>
            </a:defPPr>
            <a:lvl1pPr algn="l" rtl="0" fontAlgn="base">
              <a:spcBef>
                <a:spcPct val="0"/>
              </a:spcBef>
              <a:spcAft>
                <a:spcPct val="0"/>
              </a:spcAft>
              <a:defRPr sz="831" kern="1200">
                <a:solidFill>
                  <a:srgbClr val="4D4D4D"/>
                </a:solidFill>
                <a:latin typeface="Verdana" pitchFamily="34" charset="0"/>
                <a:ea typeface="+mn-ea"/>
                <a:cs typeface="Arial" charset="0"/>
              </a:defRPr>
            </a:lvl1pPr>
            <a:lvl2pPr marL="422041" algn="l" rtl="0" fontAlgn="base">
              <a:spcBef>
                <a:spcPct val="50000"/>
              </a:spcBef>
              <a:spcAft>
                <a:spcPct val="0"/>
              </a:spcAft>
              <a:defRPr sz="923" kern="1200">
                <a:solidFill>
                  <a:schemeClr val="tx1"/>
                </a:solidFill>
                <a:latin typeface="Verdana" pitchFamily="34" charset="0"/>
                <a:ea typeface="+mn-ea"/>
                <a:cs typeface="Arial" charset="0"/>
              </a:defRPr>
            </a:lvl2pPr>
            <a:lvl3pPr marL="844083" algn="l" rtl="0" fontAlgn="base">
              <a:spcBef>
                <a:spcPct val="50000"/>
              </a:spcBef>
              <a:spcAft>
                <a:spcPct val="0"/>
              </a:spcAft>
              <a:defRPr sz="923" kern="1200">
                <a:solidFill>
                  <a:schemeClr val="tx1"/>
                </a:solidFill>
                <a:latin typeface="Verdana" pitchFamily="34" charset="0"/>
                <a:ea typeface="+mn-ea"/>
                <a:cs typeface="Arial" charset="0"/>
              </a:defRPr>
            </a:lvl3pPr>
            <a:lvl4pPr marL="1266124" algn="l" rtl="0" fontAlgn="base">
              <a:spcBef>
                <a:spcPct val="50000"/>
              </a:spcBef>
              <a:spcAft>
                <a:spcPct val="0"/>
              </a:spcAft>
              <a:defRPr sz="923" kern="1200">
                <a:solidFill>
                  <a:schemeClr val="tx1"/>
                </a:solidFill>
                <a:latin typeface="Verdana" pitchFamily="34" charset="0"/>
                <a:ea typeface="+mn-ea"/>
                <a:cs typeface="Arial" charset="0"/>
              </a:defRPr>
            </a:lvl4pPr>
            <a:lvl5pPr marL="1688165" algn="l" rtl="0" fontAlgn="base">
              <a:spcBef>
                <a:spcPct val="50000"/>
              </a:spcBef>
              <a:spcAft>
                <a:spcPct val="0"/>
              </a:spcAft>
              <a:defRPr sz="923" kern="1200">
                <a:solidFill>
                  <a:schemeClr val="tx1"/>
                </a:solidFill>
                <a:latin typeface="Verdana" pitchFamily="34" charset="0"/>
                <a:ea typeface="+mn-ea"/>
                <a:cs typeface="Arial" charset="0"/>
              </a:defRPr>
            </a:lvl5pPr>
            <a:lvl6pPr marL="2110207" algn="l" defTabSz="844083" rtl="0" eaLnBrk="1" latinLnBrk="0" hangingPunct="1">
              <a:defRPr sz="923" kern="1200">
                <a:solidFill>
                  <a:schemeClr val="tx1"/>
                </a:solidFill>
                <a:latin typeface="Verdana" pitchFamily="34" charset="0"/>
                <a:ea typeface="+mn-ea"/>
                <a:cs typeface="Arial" charset="0"/>
              </a:defRPr>
            </a:lvl6pPr>
            <a:lvl7pPr marL="2532248" algn="l" defTabSz="844083" rtl="0" eaLnBrk="1" latinLnBrk="0" hangingPunct="1">
              <a:defRPr sz="923" kern="1200">
                <a:solidFill>
                  <a:schemeClr val="tx1"/>
                </a:solidFill>
                <a:latin typeface="Verdana" pitchFamily="34" charset="0"/>
                <a:ea typeface="+mn-ea"/>
                <a:cs typeface="Arial" charset="0"/>
              </a:defRPr>
            </a:lvl7pPr>
            <a:lvl8pPr marL="2954289" algn="l" defTabSz="844083" rtl="0" eaLnBrk="1" latinLnBrk="0" hangingPunct="1">
              <a:defRPr sz="923" kern="1200">
                <a:solidFill>
                  <a:schemeClr val="tx1"/>
                </a:solidFill>
                <a:latin typeface="Verdana" pitchFamily="34" charset="0"/>
                <a:ea typeface="+mn-ea"/>
                <a:cs typeface="Arial" charset="0"/>
              </a:defRPr>
            </a:lvl8pPr>
            <a:lvl9pPr marL="3376331" algn="l" defTabSz="844083" rtl="0" eaLnBrk="1" latinLnBrk="0" hangingPunct="1">
              <a:defRPr sz="923" kern="1200">
                <a:solidFill>
                  <a:schemeClr val="tx1"/>
                </a:solidFill>
                <a:latin typeface="Verdana" pitchFamily="34" charset="0"/>
                <a:ea typeface="+mn-ea"/>
                <a:cs typeface="Arial" charset="0"/>
              </a:defRPr>
            </a:lvl9pPr>
          </a:lstStyle>
          <a:p>
            <a:pPr>
              <a:defRPr/>
            </a:pPr>
            <a:fld id="{A38E4037-6637-4F58-A3D6-02D940F5DE4F}" type="slidenum">
              <a:rPr lang="en-GB" smtClean="0"/>
              <a:pPr>
                <a:defRPr/>
              </a:pPr>
              <a:t>39</a:t>
            </a:fld>
            <a:endParaRPr lang="en-GB" dirty="0"/>
          </a:p>
        </p:txBody>
      </p:sp>
      <p:sp>
        <p:nvSpPr>
          <p:cNvPr id="5" name="Footer Placeholder 4"/>
          <p:cNvSpPr>
            <a:spLocks noGrp="1"/>
          </p:cNvSpPr>
          <p:nvPr>
            <p:ph type="ftr" sz="quarter" idx="11"/>
          </p:nvPr>
        </p:nvSpPr>
        <p:spPr bwMode="gray">
          <a:xfrm>
            <a:off x="385397" y="6446228"/>
            <a:ext cx="8253046" cy="148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GB"/>
            </a:defPPr>
            <a:lvl1pPr algn="l" rtl="0" fontAlgn="base">
              <a:spcBef>
                <a:spcPct val="0"/>
              </a:spcBef>
              <a:spcAft>
                <a:spcPct val="0"/>
              </a:spcAft>
              <a:defRPr lang="en-AU" sz="738" b="0" i="0" kern="1200">
                <a:solidFill>
                  <a:srgbClr val="4D4D4D"/>
                </a:solidFill>
                <a:effectLst/>
                <a:latin typeface="Verdana" pitchFamily="34" charset="0"/>
                <a:ea typeface="+mn-ea"/>
                <a:cs typeface="Arial" charset="0"/>
              </a:defRPr>
            </a:lvl1pPr>
            <a:lvl2pPr marL="422041" algn="l" rtl="0" fontAlgn="base">
              <a:spcBef>
                <a:spcPct val="50000"/>
              </a:spcBef>
              <a:spcAft>
                <a:spcPct val="0"/>
              </a:spcAft>
              <a:defRPr sz="923" kern="1200">
                <a:solidFill>
                  <a:schemeClr val="tx1"/>
                </a:solidFill>
                <a:latin typeface="Verdana" pitchFamily="34" charset="0"/>
                <a:ea typeface="+mn-ea"/>
                <a:cs typeface="Arial" charset="0"/>
              </a:defRPr>
            </a:lvl2pPr>
            <a:lvl3pPr marL="844083" algn="l" rtl="0" fontAlgn="base">
              <a:spcBef>
                <a:spcPct val="50000"/>
              </a:spcBef>
              <a:spcAft>
                <a:spcPct val="0"/>
              </a:spcAft>
              <a:defRPr sz="923" kern="1200">
                <a:solidFill>
                  <a:schemeClr val="tx1"/>
                </a:solidFill>
                <a:latin typeface="Verdana" pitchFamily="34" charset="0"/>
                <a:ea typeface="+mn-ea"/>
                <a:cs typeface="Arial" charset="0"/>
              </a:defRPr>
            </a:lvl3pPr>
            <a:lvl4pPr marL="1266124" algn="l" rtl="0" fontAlgn="base">
              <a:spcBef>
                <a:spcPct val="50000"/>
              </a:spcBef>
              <a:spcAft>
                <a:spcPct val="0"/>
              </a:spcAft>
              <a:defRPr sz="923" kern="1200">
                <a:solidFill>
                  <a:schemeClr val="tx1"/>
                </a:solidFill>
                <a:latin typeface="Verdana" pitchFamily="34" charset="0"/>
                <a:ea typeface="+mn-ea"/>
                <a:cs typeface="Arial" charset="0"/>
              </a:defRPr>
            </a:lvl4pPr>
            <a:lvl5pPr marL="1688165" algn="l" rtl="0" fontAlgn="base">
              <a:spcBef>
                <a:spcPct val="50000"/>
              </a:spcBef>
              <a:spcAft>
                <a:spcPct val="0"/>
              </a:spcAft>
              <a:defRPr sz="923" kern="1200">
                <a:solidFill>
                  <a:schemeClr val="tx1"/>
                </a:solidFill>
                <a:latin typeface="Verdana" pitchFamily="34" charset="0"/>
                <a:ea typeface="+mn-ea"/>
                <a:cs typeface="Arial" charset="0"/>
              </a:defRPr>
            </a:lvl5pPr>
            <a:lvl6pPr marL="2110207" algn="l" defTabSz="844083" rtl="0" eaLnBrk="1" latinLnBrk="0" hangingPunct="1">
              <a:defRPr sz="923" kern="1200">
                <a:solidFill>
                  <a:schemeClr val="tx1"/>
                </a:solidFill>
                <a:latin typeface="Verdana" pitchFamily="34" charset="0"/>
                <a:ea typeface="+mn-ea"/>
                <a:cs typeface="Arial" charset="0"/>
              </a:defRPr>
            </a:lvl6pPr>
            <a:lvl7pPr marL="2532248" algn="l" defTabSz="844083" rtl="0" eaLnBrk="1" latinLnBrk="0" hangingPunct="1">
              <a:defRPr sz="923" kern="1200">
                <a:solidFill>
                  <a:schemeClr val="tx1"/>
                </a:solidFill>
                <a:latin typeface="Verdana" pitchFamily="34" charset="0"/>
                <a:ea typeface="+mn-ea"/>
                <a:cs typeface="Arial" charset="0"/>
              </a:defRPr>
            </a:lvl7pPr>
            <a:lvl8pPr marL="2954289" algn="l" defTabSz="844083" rtl="0" eaLnBrk="1" latinLnBrk="0" hangingPunct="1">
              <a:defRPr sz="923" kern="1200">
                <a:solidFill>
                  <a:schemeClr val="tx1"/>
                </a:solidFill>
                <a:latin typeface="Verdana" pitchFamily="34" charset="0"/>
                <a:ea typeface="+mn-ea"/>
                <a:cs typeface="Arial" charset="0"/>
              </a:defRPr>
            </a:lvl8pPr>
            <a:lvl9pPr marL="3376331" algn="l" defTabSz="844083" rtl="0" eaLnBrk="1" latinLnBrk="0" hangingPunct="1">
              <a:defRPr sz="923" kern="1200">
                <a:solidFill>
                  <a:schemeClr val="tx1"/>
                </a:solidFill>
                <a:latin typeface="Verdana" pitchFamily="34" charset="0"/>
                <a:ea typeface="+mn-ea"/>
                <a:cs typeface="Arial" charset="0"/>
              </a:defRPr>
            </a:lvl9pPr>
          </a:lstStyle>
          <a:p>
            <a:pPr>
              <a:defRPr/>
            </a:pPr>
            <a:r>
              <a:rPr lang="en-US"/>
              <a:t>Copyright ©2015 Pearson Australia (a division of Pearson Australia Group Pty Ltd) – 9781486002696/Armstrong/Principles of Marketing/6</a:t>
            </a:r>
            <a:r>
              <a:rPr lang="en-US" baseline="30000"/>
              <a:t>th</a:t>
            </a:r>
            <a:r>
              <a:rPr lang="en-US"/>
              <a:t> edition</a:t>
            </a:r>
            <a:endParaRPr lang="en-AU" dirty="0"/>
          </a:p>
        </p:txBody>
      </p:sp>
      <p:pic>
        <p:nvPicPr>
          <p:cNvPr id="1026"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3546" y="1186176"/>
            <a:ext cx="5583905" cy="5325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9">
            <a:extLst>
              <a:ext uri="{FF2B5EF4-FFF2-40B4-BE49-F238E27FC236}">
                <a16:creationId xmlns:a16="http://schemas.microsoft.com/office/drawing/2014/main" id="{50307399-329D-BE81-EA07-F2730BFBF6CF}"/>
              </a:ext>
            </a:extLst>
          </p:cNvPr>
          <p:cNvSpPr txBox="1">
            <a:spLocks noChangeArrowheads="1"/>
          </p:cNvSpPr>
          <p:nvPr/>
        </p:nvSpPr>
        <p:spPr>
          <a:xfrm>
            <a:off x="385397" y="683546"/>
            <a:ext cx="8440614" cy="764359"/>
          </a:xfrm>
          <a:prstGeom prst="rect">
            <a:avLst/>
          </a:prstGeom>
          <a:noFill/>
          <a:ln>
            <a:noFill/>
          </a:ln>
        </p:spPr>
        <p:txBody>
          <a:bodyPr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Font typeface="Times New Roman"/>
              <a:buNone/>
              <a:defRPr sz="3400" b="1" i="0" u="none" strike="noStrike" cap="none" baseline="0">
                <a:solidFill>
                  <a:srgbClr val="C00000"/>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br>
              <a:rPr lang="en-AU" altLang="en-US" sz="2400" dirty="0"/>
            </a:br>
            <a:br>
              <a:rPr lang="en-AU" altLang="en-US" sz="2400" dirty="0"/>
            </a:br>
            <a:br>
              <a:rPr lang="en-AU" altLang="en-US" sz="2400" dirty="0"/>
            </a:br>
            <a:r>
              <a:rPr lang="en-AU" altLang="en-US" sz="2000" b="0" kern="1200" dirty="0">
                <a:solidFill>
                  <a:srgbClr val="2B3A59"/>
                </a:solidFill>
                <a:latin typeface="+mn-lt"/>
                <a:ea typeface="ＭＳ Ｐゴシック" panose="020B0600070205080204" pitchFamily="34" charset="-128"/>
                <a:cs typeface="Arial" charset="0"/>
              </a:rPr>
              <a:t>Showing where the consumer segments are (too many criteria): </a:t>
            </a:r>
            <a:r>
              <a:rPr lang="en-AU" altLang="en-US" sz="2000" kern="1200" dirty="0">
                <a:solidFill>
                  <a:srgbClr val="2B3A59"/>
                </a:solidFill>
                <a:latin typeface="+mn-lt"/>
                <a:ea typeface="ＭＳ Ｐゴシック" panose="020B0600070205080204" pitchFamily="34" charset="-128"/>
                <a:cs typeface="Arial" charset="0"/>
              </a:rPr>
              <a:t>Poor use</a:t>
            </a:r>
            <a:endParaRPr lang="en-AU" altLang="en-US" sz="2769" kern="1200" dirty="0">
              <a:solidFill>
                <a:srgbClr val="2B3A59"/>
              </a:solidFill>
              <a:latin typeface="+mn-lt"/>
              <a:ea typeface="ＭＳ Ｐゴシック" panose="020B0600070205080204" pitchFamily="34" charset="-128"/>
              <a:cs typeface="Arial" charset="0"/>
            </a:endParaRPr>
          </a:p>
        </p:txBody>
      </p:sp>
    </p:spTree>
    <p:extLst>
      <p:ext uri="{BB962C8B-B14F-4D97-AF65-F5344CB8AC3E}">
        <p14:creationId xmlns:p14="http://schemas.microsoft.com/office/powerpoint/2010/main" val="28615507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party graph">
            <a:extLst>
              <a:ext uri="{FF2B5EF4-FFF2-40B4-BE49-F238E27FC236}">
                <a16:creationId xmlns:a16="http://schemas.microsoft.com/office/drawing/2014/main" id="{0611EE53-ECA5-3DD8-97BF-767A6FDC722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891152" y="68263"/>
            <a:ext cx="5361697" cy="6145212"/>
          </a:xfrm>
          <a:prstGeom prst="rect">
            <a:avLst/>
          </a:prstGeom>
          <a:solidFill>
            <a:srgbClr val="FFFFFF"/>
          </a:solidFill>
        </p:spPr>
      </p:pic>
    </p:spTree>
    <p:extLst>
      <p:ext uri="{BB962C8B-B14F-4D97-AF65-F5344CB8AC3E}">
        <p14:creationId xmlns:p14="http://schemas.microsoft.com/office/powerpoint/2010/main" val="3775966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9"/>
          <p:cNvSpPr>
            <a:spLocks noGrp="1" noChangeArrowheads="1"/>
          </p:cNvSpPr>
          <p:nvPr>
            <p:ph type="title"/>
          </p:nvPr>
        </p:nvSpPr>
        <p:spPr>
          <a:xfrm>
            <a:off x="351693" y="99890"/>
            <a:ext cx="8440614" cy="1365978"/>
          </a:xfrm>
        </p:spPr>
        <p:txBody>
          <a:bodyPr/>
          <a:lstStyle/>
          <a:p>
            <a:pPr eaLnBrk="1" hangingPunct="1"/>
            <a:r>
              <a:rPr lang="en-AU" altLang="en-US" sz="3600" dirty="0">
                <a:solidFill>
                  <a:srgbClr val="007FA3"/>
                </a:solidFill>
                <a:latin typeface="+mj-lt"/>
              </a:rPr>
              <a:t>Choosing an overall positioning strategy - another Positioning Map</a:t>
            </a:r>
          </a:p>
        </p:txBody>
      </p:sp>
      <p:pic>
        <p:nvPicPr>
          <p:cNvPr id="71683" name="Picture 11" descr="Fig-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4491" t="7431" r="4518" b="13974"/>
          <a:stretch>
            <a:fillRect/>
          </a:stretch>
        </p:blipFill>
        <p:spPr>
          <a:xfrm>
            <a:off x="363581" y="2554228"/>
            <a:ext cx="8440615" cy="3124200"/>
          </a:xfrm>
          <a:noFill/>
        </p:spPr>
      </p:pic>
      <p:sp>
        <p:nvSpPr>
          <p:cNvPr id="4" name="Rectangle 9">
            <a:extLst>
              <a:ext uri="{FF2B5EF4-FFF2-40B4-BE49-F238E27FC236}">
                <a16:creationId xmlns:a16="http://schemas.microsoft.com/office/drawing/2014/main" id="{21F8A0FF-F2EE-43D5-978F-0B7074782B5A}"/>
              </a:ext>
            </a:extLst>
          </p:cNvPr>
          <p:cNvSpPr txBox="1">
            <a:spLocks noChangeArrowheads="1"/>
          </p:cNvSpPr>
          <p:nvPr/>
        </p:nvSpPr>
        <p:spPr>
          <a:xfrm>
            <a:off x="351693" y="1532032"/>
            <a:ext cx="8440614" cy="764359"/>
          </a:xfrm>
          <a:prstGeom prst="rect">
            <a:avLst/>
          </a:prstGeom>
          <a:noFill/>
          <a:ln>
            <a:noFill/>
          </a:ln>
        </p:spPr>
        <p:txBody>
          <a:bodyPr lIns="91425" tIns="91425" rIns="91425" bIns="91425" anchor="b" anchorCtr="0"/>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7FA3"/>
              </a:buClr>
              <a:buFont typeface="Times New Roman"/>
              <a:buNone/>
              <a:defRPr sz="3400" b="1" i="0" u="none" strike="noStrike" cap="none" baseline="0">
                <a:solidFill>
                  <a:srgbClr val="C00000"/>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br>
              <a:rPr lang="en-AU" altLang="en-US" sz="2400" dirty="0"/>
            </a:br>
            <a:br>
              <a:rPr lang="en-AU" altLang="en-US" sz="2400" dirty="0"/>
            </a:br>
            <a:br>
              <a:rPr lang="en-AU" altLang="en-US" sz="2400" dirty="0"/>
            </a:br>
            <a:r>
              <a:rPr lang="en-AU" altLang="en-US" sz="2000" b="0" kern="1200" dirty="0">
                <a:solidFill>
                  <a:srgbClr val="2B3A59"/>
                </a:solidFill>
                <a:latin typeface="+mn-lt"/>
                <a:ea typeface="ＭＳ Ｐゴシック" panose="020B0600070205080204" pitchFamily="34" charset="-128"/>
                <a:cs typeface="Arial" charset="0"/>
              </a:rPr>
              <a:t>Showing where the consumer segments are (perceptions of different home loans): </a:t>
            </a:r>
            <a:r>
              <a:rPr lang="en-AU" altLang="en-US" sz="2000" kern="1200" dirty="0">
                <a:solidFill>
                  <a:srgbClr val="2B3A59"/>
                </a:solidFill>
                <a:latin typeface="+mn-lt"/>
                <a:ea typeface="ＭＳ Ｐゴシック" panose="020B0600070205080204" pitchFamily="34" charset="-128"/>
                <a:cs typeface="Arial" charset="0"/>
              </a:rPr>
              <a:t>Poor use</a:t>
            </a:r>
            <a:endParaRPr lang="en-AU" altLang="en-US" sz="2769" kern="1200" dirty="0">
              <a:solidFill>
                <a:srgbClr val="2B3A59"/>
              </a:solidFill>
              <a:latin typeface="+mn-lt"/>
              <a:ea typeface="ＭＳ Ｐゴシック" panose="020B0600070205080204" pitchFamily="34" charset="-128"/>
              <a:cs typeface="Arial" charset="0"/>
            </a:endParaRPr>
          </a:p>
        </p:txBody>
      </p:sp>
    </p:spTree>
    <p:extLst>
      <p:ext uri="{BB962C8B-B14F-4D97-AF65-F5344CB8AC3E}">
        <p14:creationId xmlns:p14="http://schemas.microsoft.com/office/powerpoint/2010/main" val="37068064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60457" y="1186693"/>
            <a:ext cx="4217968" cy="3091177"/>
          </a:xfrm>
          <a:prstGeom prst="rect">
            <a:avLst/>
          </a:prstGeom>
        </p:spPr>
      </p:pic>
      <p:sp>
        <p:nvSpPr>
          <p:cNvPr id="13314" name="Slide Number Placeholder 3"/>
          <p:cNvSpPr>
            <a:spLocks noGrp="1"/>
          </p:cNvSpPr>
          <p:nvPr>
            <p:ph type="sldNum" sz="quarter" idx="10"/>
          </p:nvPr>
        </p:nvSpPr>
        <p:spPr bwMode="gray">
          <a:xfrm>
            <a:off x="8811358" y="6428643"/>
            <a:ext cx="332642" cy="16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defPPr>
              <a:defRPr lang="en-GB"/>
            </a:defPPr>
            <a:lvl1pPr algn="l" rtl="0" fontAlgn="base">
              <a:spcBef>
                <a:spcPct val="0"/>
              </a:spcBef>
              <a:spcAft>
                <a:spcPct val="0"/>
              </a:spcAft>
              <a:defRPr sz="831" kern="1200">
                <a:solidFill>
                  <a:srgbClr val="4D4D4D"/>
                </a:solidFill>
                <a:latin typeface="Verdana" pitchFamily="34" charset="0"/>
                <a:ea typeface="+mn-ea"/>
                <a:cs typeface="Arial" charset="0"/>
              </a:defRPr>
            </a:lvl1pPr>
            <a:lvl2pPr marL="422041" algn="l" rtl="0" fontAlgn="base">
              <a:spcBef>
                <a:spcPct val="50000"/>
              </a:spcBef>
              <a:spcAft>
                <a:spcPct val="0"/>
              </a:spcAft>
              <a:defRPr sz="923" kern="1200">
                <a:solidFill>
                  <a:schemeClr val="tx1"/>
                </a:solidFill>
                <a:latin typeface="Verdana" pitchFamily="34" charset="0"/>
                <a:ea typeface="+mn-ea"/>
                <a:cs typeface="Arial" charset="0"/>
              </a:defRPr>
            </a:lvl2pPr>
            <a:lvl3pPr marL="844083" algn="l" rtl="0" fontAlgn="base">
              <a:spcBef>
                <a:spcPct val="50000"/>
              </a:spcBef>
              <a:spcAft>
                <a:spcPct val="0"/>
              </a:spcAft>
              <a:defRPr sz="923" kern="1200">
                <a:solidFill>
                  <a:schemeClr val="tx1"/>
                </a:solidFill>
                <a:latin typeface="Verdana" pitchFamily="34" charset="0"/>
                <a:ea typeface="+mn-ea"/>
                <a:cs typeface="Arial" charset="0"/>
              </a:defRPr>
            </a:lvl3pPr>
            <a:lvl4pPr marL="1266124" algn="l" rtl="0" fontAlgn="base">
              <a:spcBef>
                <a:spcPct val="50000"/>
              </a:spcBef>
              <a:spcAft>
                <a:spcPct val="0"/>
              </a:spcAft>
              <a:defRPr sz="923" kern="1200">
                <a:solidFill>
                  <a:schemeClr val="tx1"/>
                </a:solidFill>
                <a:latin typeface="Verdana" pitchFamily="34" charset="0"/>
                <a:ea typeface="+mn-ea"/>
                <a:cs typeface="Arial" charset="0"/>
              </a:defRPr>
            </a:lvl4pPr>
            <a:lvl5pPr marL="1688165" algn="l" rtl="0" fontAlgn="base">
              <a:spcBef>
                <a:spcPct val="50000"/>
              </a:spcBef>
              <a:spcAft>
                <a:spcPct val="0"/>
              </a:spcAft>
              <a:defRPr sz="923" kern="1200">
                <a:solidFill>
                  <a:schemeClr val="tx1"/>
                </a:solidFill>
                <a:latin typeface="Verdana" pitchFamily="34" charset="0"/>
                <a:ea typeface="+mn-ea"/>
                <a:cs typeface="Arial" charset="0"/>
              </a:defRPr>
            </a:lvl5pPr>
            <a:lvl6pPr marL="2110207" algn="l" defTabSz="844083" rtl="0" eaLnBrk="1" latinLnBrk="0" hangingPunct="1">
              <a:defRPr sz="923" kern="1200">
                <a:solidFill>
                  <a:schemeClr val="tx1"/>
                </a:solidFill>
                <a:latin typeface="Verdana" pitchFamily="34" charset="0"/>
                <a:ea typeface="+mn-ea"/>
                <a:cs typeface="Arial" charset="0"/>
              </a:defRPr>
            </a:lvl6pPr>
            <a:lvl7pPr marL="2532248" algn="l" defTabSz="844083" rtl="0" eaLnBrk="1" latinLnBrk="0" hangingPunct="1">
              <a:defRPr sz="923" kern="1200">
                <a:solidFill>
                  <a:schemeClr val="tx1"/>
                </a:solidFill>
                <a:latin typeface="Verdana" pitchFamily="34" charset="0"/>
                <a:ea typeface="+mn-ea"/>
                <a:cs typeface="Arial" charset="0"/>
              </a:defRPr>
            </a:lvl7pPr>
            <a:lvl8pPr marL="2954289" algn="l" defTabSz="844083" rtl="0" eaLnBrk="1" latinLnBrk="0" hangingPunct="1">
              <a:defRPr sz="923" kern="1200">
                <a:solidFill>
                  <a:schemeClr val="tx1"/>
                </a:solidFill>
                <a:latin typeface="Verdana" pitchFamily="34" charset="0"/>
                <a:ea typeface="+mn-ea"/>
                <a:cs typeface="Arial" charset="0"/>
              </a:defRPr>
            </a:lvl8pPr>
            <a:lvl9pPr marL="3376331" algn="l" defTabSz="844083" rtl="0" eaLnBrk="1" latinLnBrk="0" hangingPunct="1">
              <a:defRPr sz="923" kern="1200">
                <a:solidFill>
                  <a:schemeClr val="tx1"/>
                </a:solidFill>
                <a:latin typeface="Verdana" pitchFamily="34" charset="0"/>
                <a:ea typeface="+mn-ea"/>
                <a:cs typeface="Arial" charset="0"/>
              </a:defRPr>
            </a:lvl9pPr>
          </a:lstStyle>
          <a:p>
            <a:pPr eaLnBrk="1" hangingPunct="1">
              <a:spcBef>
                <a:spcPct val="0"/>
              </a:spcBef>
              <a:spcAft>
                <a:spcPct val="0"/>
              </a:spcAft>
              <a:buSzTx/>
              <a:buFontTx/>
              <a:buNone/>
              <a:defRPr/>
            </a:pPr>
            <a:fld id="{A38E4037-6637-4F58-A3D6-02D940F5DE4F}" type="slidenum">
              <a:rPr lang="en-GB" smtClean="0"/>
              <a:pPr eaLnBrk="1" hangingPunct="1">
                <a:spcBef>
                  <a:spcPct val="0"/>
                </a:spcBef>
                <a:spcAft>
                  <a:spcPct val="0"/>
                </a:spcAft>
                <a:buSzTx/>
                <a:buFontTx/>
                <a:buNone/>
                <a:defRPr/>
              </a:pPr>
              <a:t>42</a:t>
            </a:fld>
            <a:endParaRPr lang="en-GB" altLang="en-US" dirty="0"/>
          </a:p>
        </p:txBody>
      </p:sp>
      <p:sp>
        <p:nvSpPr>
          <p:cNvPr id="13315" name="Rectangle 2"/>
          <p:cNvSpPr>
            <a:spLocks noGrp="1" noChangeArrowheads="1"/>
          </p:cNvSpPr>
          <p:nvPr>
            <p:ph type="title"/>
          </p:nvPr>
        </p:nvSpPr>
        <p:spPr>
          <a:xfrm>
            <a:off x="598022" y="208485"/>
            <a:ext cx="8312982" cy="446226"/>
          </a:xfrm>
        </p:spPr>
        <p:txBody>
          <a:bodyPr anchor="t"/>
          <a:lstStyle/>
          <a:p>
            <a:pPr eaLnBrk="1" hangingPunct="1"/>
            <a:r>
              <a:rPr lang="en-GB" altLang="en-US" sz="3600" dirty="0">
                <a:solidFill>
                  <a:srgbClr val="007FA3"/>
                </a:solidFill>
                <a:latin typeface="+mj-lt"/>
                <a:sym typeface="Arial"/>
              </a:rPr>
              <a:t>Choosing an overall positioning strategy</a:t>
            </a:r>
          </a:p>
        </p:txBody>
      </p:sp>
      <p:sp>
        <p:nvSpPr>
          <p:cNvPr id="13317" name="Rectangle 27"/>
          <p:cNvSpPr txBox="1">
            <a:spLocks noChangeArrowheads="1"/>
          </p:cNvSpPr>
          <p:nvPr/>
        </p:nvSpPr>
        <p:spPr bwMode="gray">
          <a:xfrm>
            <a:off x="657958" y="6447692"/>
            <a:ext cx="8253046" cy="1480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eaLnBrk="0" hangingPunct="0">
              <a:spcBef>
                <a:spcPct val="20000"/>
              </a:spcBef>
              <a:spcAft>
                <a:spcPct val="20000"/>
              </a:spcAft>
              <a:buSzPct val="80000"/>
              <a:buFont typeface="Verdana" pitchFamily="34" charset="0"/>
              <a:defRPr sz="2000">
                <a:solidFill>
                  <a:schemeClr val="tx1"/>
                </a:solidFill>
                <a:latin typeface="Verdana" pitchFamily="34" charset="0"/>
                <a:cs typeface="Arial" charset="0"/>
              </a:defRPr>
            </a:lvl1pPr>
            <a:lvl2pPr marL="358775" indent="-244475"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2pPr>
            <a:lvl3pPr marL="714375" indent="-247650" eaLnBrk="0" hangingPunct="0">
              <a:spcBef>
                <a:spcPct val="20000"/>
              </a:spcBef>
              <a:spcAft>
                <a:spcPct val="20000"/>
              </a:spcAft>
              <a:buSzPct val="80000"/>
              <a:buFont typeface="Verdana" pitchFamily="34" charset="0"/>
              <a:buChar char="•"/>
              <a:defRPr sz="2000">
                <a:solidFill>
                  <a:schemeClr val="tx1"/>
                </a:solidFill>
                <a:latin typeface="Verdana" pitchFamily="34" charset="0"/>
                <a:cs typeface="Arial" charset="0"/>
              </a:defRPr>
            </a:lvl3pPr>
            <a:lvl4pPr marL="1066800" indent="-247650"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4pPr>
            <a:lvl5pPr marL="1428750" indent="-257175" eaLnBrk="0"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5pPr>
            <a:lvl6pPr marL="18859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6pPr>
            <a:lvl7pPr marL="23431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7pPr>
            <a:lvl8pPr marL="28003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8pPr>
            <a:lvl9pPr marL="3257550" indent="-257175" eaLnBrk="0" fontAlgn="base" hangingPunct="0">
              <a:spcBef>
                <a:spcPct val="20000"/>
              </a:spcBef>
              <a:spcAft>
                <a:spcPct val="20000"/>
              </a:spcAft>
              <a:buSzPct val="80000"/>
              <a:buFont typeface="Arial" charset="0"/>
              <a:buChar char="○"/>
              <a:defRPr sz="2000">
                <a:solidFill>
                  <a:schemeClr val="tx1"/>
                </a:solidFill>
                <a:latin typeface="Verdana" pitchFamily="34" charset="0"/>
                <a:cs typeface="Arial" charset="0"/>
              </a:defRPr>
            </a:lvl9pPr>
          </a:lstStyle>
          <a:p>
            <a:pPr>
              <a:defRPr/>
            </a:pPr>
            <a:r>
              <a:rPr lang="en-AU" sz="738" dirty="0"/>
              <a:t>Copyright ©2015 Pearson Australia (a division of Pearson Australia Group Pty Ltd) – 9781486002696/Armstrong/Principles of Marketing/6e</a:t>
            </a:r>
          </a:p>
          <a:p>
            <a:pPr>
              <a:defRPr/>
            </a:pPr>
            <a:endParaRPr lang="en-AU" sz="738" dirty="0"/>
          </a:p>
        </p:txBody>
      </p:sp>
      <p:sp>
        <p:nvSpPr>
          <p:cNvPr id="10" name="Content Placeholder 7"/>
          <p:cNvSpPr txBox="1">
            <a:spLocks/>
          </p:cNvSpPr>
          <p:nvPr/>
        </p:nvSpPr>
        <p:spPr bwMode="auto">
          <a:xfrm>
            <a:off x="4796542" y="1226480"/>
            <a:ext cx="3843459" cy="424994"/>
          </a:xfrm>
          <a:prstGeom prst="flowChartAlternateProcess">
            <a:avLst/>
          </a:prstGeom>
          <a:solidFill>
            <a:srgbClr val="D1F3FF"/>
          </a:solidFill>
          <a:ln w="15875">
            <a:solidFill>
              <a:srgbClr val="00206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indent="0"/>
            <a:r>
              <a:rPr lang="en-US" sz="1477" b="1" dirty="0">
                <a:solidFill>
                  <a:srgbClr val="002060"/>
                </a:solidFill>
              </a:rPr>
              <a:t>Target: </a:t>
            </a:r>
            <a:r>
              <a:rPr lang="en-US" sz="1477" dirty="0"/>
              <a:t>Price-conscious shoppers</a:t>
            </a:r>
            <a:endParaRPr lang="en-US" sz="1477" dirty="0">
              <a:solidFill>
                <a:schemeClr val="bg1"/>
              </a:solidFill>
            </a:endParaRPr>
          </a:p>
        </p:txBody>
      </p:sp>
      <p:sp>
        <p:nvSpPr>
          <p:cNvPr id="11" name="Content Placeholder 7"/>
          <p:cNvSpPr txBox="1">
            <a:spLocks/>
          </p:cNvSpPr>
          <p:nvPr/>
        </p:nvSpPr>
        <p:spPr bwMode="auto">
          <a:xfrm>
            <a:off x="4796542" y="2525815"/>
            <a:ext cx="3843459" cy="847968"/>
          </a:xfrm>
          <a:prstGeom prst="flowChartAlternateProcess">
            <a:avLst/>
          </a:prstGeom>
          <a:solidFill>
            <a:srgbClr val="D1F3FF"/>
          </a:solidFill>
          <a:ln w="15875">
            <a:solidFill>
              <a:srgbClr val="00206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marL="373683" indent="0">
              <a:tabLst>
                <a:tab pos="0" algn="l"/>
              </a:tabLst>
            </a:pPr>
            <a:r>
              <a:rPr lang="en-US" sz="1477" b="1" dirty="0">
                <a:solidFill>
                  <a:srgbClr val="002060"/>
                </a:solidFill>
              </a:rPr>
              <a:t>The offer: </a:t>
            </a:r>
            <a:r>
              <a:rPr lang="en-US" sz="1477" dirty="0"/>
              <a:t>Limited choice of well-presented stock at low prices, in small yet accessible stores</a:t>
            </a:r>
            <a:endParaRPr lang="en-US" sz="1662" dirty="0"/>
          </a:p>
        </p:txBody>
      </p:sp>
      <p:sp>
        <p:nvSpPr>
          <p:cNvPr id="12" name="Content Placeholder 7"/>
          <p:cNvSpPr txBox="1">
            <a:spLocks/>
          </p:cNvSpPr>
          <p:nvPr/>
        </p:nvSpPr>
        <p:spPr bwMode="auto">
          <a:xfrm>
            <a:off x="4796542" y="1795426"/>
            <a:ext cx="3843458" cy="566480"/>
          </a:xfrm>
          <a:prstGeom prst="flowChartAlternateProcess">
            <a:avLst/>
          </a:prstGeom>
          <a:solidFill>
            <a:srgbClr val="D1F3FF"/>
          </a:solidFill>
          <a:ln w="15875">
            <a:solidFill>
              <a:srgbClr val="002060"/>
            </a:solidFill>
          </a:ln>
          <a:effectLst/>
        </p:spPr>
        <p:txBody>
          <a:bodyPr vert="horz" wrap="square" lIns="0" tIns="0" rIns="0" bIns="0" numCol="1" rtlCol="0" anchor="ctr" anchorCtr="0" compatLnSpc="1">
            <a:prstTxWarp prst="textNoShape">
              <a:avLst/>
            </a:prstTxWarp>
          </a:bodyPr>
          <a:lstStyle>
            <a:lvl1pPr marL="342900" indent="-342900" algn="l" defTabSz="857250" rtl="0" eaLnBrk="0" fontAlgn="base" hangingPunct="0">
              <a:spcBef>
                <a:spcPct val="20000"/>
              </a:spcBef>
              <a:spcAft>
                <a:spcPct val="20000"/>
              </a:spcAft>
              <a:buSzPct val="80000"/>
              <a:buFont typeface="Verdana" pitchFamily="34" charset="0"/>
              <a:defRPr sz="2000">
                <a:solidFill>
                  <a:schemeClr val="tx1"/>
                </a:solidFill>
                <a:latin typeface="+mn-lt"/>
                <a:ea typeface="+mn-ea"/>
                <a:cs typeface="+mn-cs"/>
              </a:defRPr>
            </a:lvl1pPr>
            <a:lvl2pPr marL="358775" indent="-244475"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2pPr>
            <a:lvl3pPr marL="714375" indent="-247650" algn="l" defTabSz="857250" rtl="0" eaLnBrk="0" fontAlgn="base" hangingPunct="0">
              <a:spcBef>
                <a:spcPct val="20000"/>
              </a:spcBef>
              <a:spcAft>
                <a:spcPct val="20000"/>
              </a:spcAft>
              <a:buSzPct val="80000"/>
              <a:buFont typeface="Verdana" pitchFamily="34" charset="0"/>
              <a:buChar char="•"/>
              <a:defRPr sz="2000">
                <a:solidFill>
                  <a:schemeClr val="tx1"/>
                </a:solidFill>
                <a:latin typeface="+mn-lt"/>
                <a:cs typeface="+mn-cs"/>
              </a:defRPr>
            </a:lvl3pPr>
            <a:lvl4pPr marL="1066800" indent="-247650"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4pPr>
            <a:lvl5pPr marL="1428750" indent="-257175" algn="l" defTabSz="857250" rtl="0" eaLnBrk="0" fontAlgn="base" hangingPunct="0">
              <a:spcBef>
                <a:spcPct val="20000"/>
              </a:spcBef>
              <a:spcAft>
                <a:spcPct val="20000"/>
              </a:spcAft>
              <a:buSzPct val="80000"/>
              <a:buFont typeface="Arial" charset="0"/>
              <a:buChar char="○"/>
              <a:defRPr sz="2000">
                <a:solidFill>
                  <a:schemeClr val="tx1"/>
                </a:solidFill>
                <a:latin typeface="+mn-lt"/>
                <a:cs typeface="+mn-cs"/>
              </a:defRPr>
            </a:lvl5pPr>
            <a:lvl6pPr marL="18859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6pPr>
            <a:lvl7pPr marL="23431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7pPr>
            <a:lvl8pPr marL="28003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8pPr>
            <a:lvl9pPr marL="3257550" indent="-257175" algn="l" defTabSz="857250" rtl="0" fontAlgn="base">
              <a:spcBef>
                <a:spcPct val="20000"/>
              </a:spcBef>
              <a:spcAft>
                <a:spcPct val="20000"/>
              </a:spcAft>
              <a:buSzPct val="80000"/>
              <a:buFont typeface="Arial" charset="0"/>
              <a:buChar char="○"/>
              <a:defRPr sz="2000">
                <a:solidFill>
                  <a:schemeClr val="tx1"/>
                </a:solidFill>
                <a:latin typeface="+mn-lt"/>
                <a:cs typeface="+mn-cs"/>
              </a:defRPr>
            </a:lvl9pPr>
          </a:lstStyle>
          <a:p>
            <a:pPr indent="0"/>
            <a:r>
              <a:rPr lang="en-US" sz="1477" b="1" dirty="0">
                <a:solidFill>
                  <a:srgbClr val="002060"/>
                </a:solidFill>
              </a:rPr>
              <a:t>Market position</a:t>
            </a:r>
            <a:r>
              <a:rPr lang="en-US" sz="1477" b="1" dirty="0"/>
              <a:t>: </a:t>
            </a:r>
            <a:r>
              <a:rPr lang="en-US" sz="1477" dirty="0"/>
              <a:t>Low prices, good quality</a:t>
            </a:r>
            <a:endParaRPr lang="en-US" sz="1477" dirty="0">
              <a:solidFill>
                <a:schemeClr val="bg1"/>
              </a:solidFill>
            </a:endParaRPr>
          </a:p>
        </p:txBody>
      </p:sp>
      <p:sp>
        <p:nvSpPr>
          <p:cNvPr id="18" name="Rounded Rectangle 17"/>
          <p:cNvSpPr/>
          <p:nvPr/>
        </p:nvSpPr>
        <p:spPr bwMode="auto">
          <a:xfrm>
            <a:off x="4428793" y="3895117"/>
            <a:ext cx="1291090" cy="473338"/>
          </a:xfrm>
          <a:prstGeom prst="roundRect">
            <a:avLst/>
          </a:prstGeom>
          <a:solidFill>
            <a:srgbClr val="00B0F0"/>
          </a:solidFill>
          <a:ln w="22225">
            <a:solidFill>
              <a:srgbClr val="002060"/>
            </a:solidFill>
          </a:ln>
          <a:effectLst/>
        </p:spPr>
        <p:txBody>
          <a:bodyPr vert="horz" wrap="square" lIns="0" tIns="0" rIns="0" bIns="0" numCol="1" rtlCol="0" anchor="t" anchorCtr="0" compatLnSpc="1">
            <a:prstTxWarp prst="textNoShape">
              <a:avLst/>
            </a:prstTxWarp>
          </a:bodyPr>
          <a:lstStyle/>
          <a:p>
            <a:pPr algn="ctr" defTabSz="844083" fontAlgn="base">
              <a:spcBef>
                <a:spcPct val="50000"/>
              </a:spcBef>
              <a:spcAft>
                <a:spcPct val="0"/>
              </a:spcAft>
            </a:pPr>
            <a:r>
              <a:rPr lang="en-US" sz="1477" b="1" dirty="0">
                <a:solidFill>
                  <a:srgbClr val="002060"/>
                </a:solidFill>
                <a:latin typeface="Verdana" pitchFamily="34" charset="0"/>
                <a:cs typeface="Arial" charset="0"/>
              </a:rPr>
              <a:t>Marketing program</a:t>
            </a:r>
          </a:p>
        </p:txBody>
      </p:sp>
      <p:grpSp>
        <p:nvGrpSpPr>
          <p:cNvPr id="2" name="Group 1"/>
          <p:cNvGrpSpPr/>
          <p:nvPr/>
        </p:nvGrpSpPr>
        <p:grpSpPr>
          <a:xfrm>
            <a:off x="704517" y="4131785"/>
            <a:ext cx="3724277" cy="1160919"/>
            <a:chOff x="763226" y="4190351"/>
            <a:chExt cx="4034633" cy="1257662"/>
          </a:xfrm>
        </p:grpSpPr>
        <p:sp>
          <p:nvSpPr>
            <p:cNvPr id="7" name="Oval 6"/>
            <p:cNvSpPr/>
            <p:nvPr/>
          </p:nvSpPr>
          <p:spPr bwMode="auto">
            <a:xfrm>
              <a:off x="763226" y="4215683"/>
              <a:ext cx="3224159" cy="1232330"/>
            </a:xfrm>
            <a:prstGeom prst="ellipse">
              <a:avLst/>
            </a:prstGeom>
            <a:solidFill>
              <a:srgbClr val="002060"/>
            </a:solidFill>
            <a:ln>
              <a:noFill/>
            </a:ln>
            <a:effectLst/>
          </p:spPr>
          <p:txBody>
            <a:bodyPr vert="horz" wrap="square" lIns="0" tIns="0" rIns="0" bIns="0" numCol="1" rtlCol="0" anchor="t" anchorCtr="0" compatLnSpc="1">
              <a:prstTxWarp prst="textNoShape">
                <a:avLst/>
              </a:prstTxWarp>
            </a:bodyPr>
            <a:lstStyle/>
            <a:p>
              <a:pPr algn="ctr" defTabSz="844083" fontAlgn="base">
                <a:spcBef>
                  <a:spcPct val="50000"/>
                </a:spcBef>
                <a:spcAft>
                  <a:spcPct val="0"/>
                </a:spcAft>
              </a:pPr>
              <a:endParaRPr lang="en-US" sz="1477" dirty="0">
                <a:solidFill>
                  <a:schemeClr val="bg1"/>
                </a:solidFill>
                <a:latin typeface="Verdana" pitchFamily="34" charset="0"/>
                <a:cs typeface="Arial" charset="0"/>
              </a:endParaRPr>
            </a:p>
          </p:txBody>
        </p:sp>
        <p:sp>
          <p:nvSpPr>
            <p:cNvPr id="15" name="Rectangle 14"/>
            <p:cNvSpPr/>
            <p:nvPr/>
          </p:nvSpPr>
          <p:spPr>
            <a:xfrm>
              <a:off x="773354" y="4287041"/>
              <a:ext cx="3299594" cy="777088"/>
            </a:xfrm>
            <a:prstGeom prst="rect">
              <a:avLst/>
            </a:prstGeom>
          </p:spPr>
          <p:txBody>
            <a:bodyPr wrap="square">
              <a:spAutoFit/>
            </a:bodyPr>
            <a:lstStyle/>
            <a:p>
              <a:pPr algn="ctr"/>
              <a:r>
                <a:rPr lang="en-US" sz="1477" b="1" dirty="0">
                  <a:solidFill>
                    <a:schemeClr val="bg1"/>
                  </a:solidFill>
                </a:rPr>
                <a:t>Product</a:t>
              </a:r>
            </a:p>
            <a:p>
              <a:pPr algn="ctr"/>
              <a:r>
                <a:rPr lang="en-US" sz="1292" dirty="0">
                  <a:solidFill>
                    <a:schemeClr val="bg1"/>
                  </a:solidFill>
                </a:rPr>
                <a:t>Range of 700 most popular lines, mainly sold under private label.</a:t>
              </a:r>
            </a:p>
          </p:txBody>
        </p:sp>
        <p:cxnSp>
          <p:nvCxnSpPr>
            <p:cNvPr id="20" name="Straight Arrow Connector 19"/>
            <p:cNvCxnSpPr>
              <a:stCxn id="18" idx="1"/>
            </p:cNvCxnSpPr>
            <p:nvPr/>
          </p:nvCxnSpPr>
          <p:spPr bwMode="auto">
            <a:xfrm flipH="1">
              <a:off x="3154992" y="4190351"/>
              <a:ext cx="1642867" cy="102917"/>
            </a:xfrm>
            <a:prstGeom prst="straightConnector1">
              <a:avLst/>
            </a:prstGeom>
            <a:ln w="34925">
              <a:solidFill>
                <a:srgbClr val="00B0F0"/>
              </a:solidFill>
              <a:tailEnd type="triangle"/>
            </a:ln>
          </p:spPr>
          <p:style>
            <a:lnRef idx="1">
              <a:schemeClr val="dk1"/>
            </a:lnRef>
            <a:fillRef idx="0">
              <a:schemeClr val="dk1"/>
            </a:fillRef>
            <a:effectRef idx="0">
              <a:schemeClr val="dk1"/>
            </a:effectRef>
            <a:fontRef idx="minor">
              <a:schemeClr val="tx1"/>
            </a:fontRef>
          </p:style>
        </p:cxnSp>
      </p:grpSp>
      <p:grpSp>
        <p:nvGrpSpPr>
          <p:cNvPr id="4" name="Group 3"/>
          <p:cNvGrpSpPr/>
          <p:nvPr/>
        </p:nvGrpSpPr>
        <p:grpSpPr>
          <a:xfrm>
            <a:off x="5740088" y="3640500"/>
            <a:ext cx="3230852" cy="1152197"/>
            <a:chOff x="6218428" y="3658125"/>
            <a:chExt cx="3500090" cy="1248213"/>
          </a:xfrm>
        </p:grpSpPr>
        <p:sp>
          <p:nvSpPr>
            <p:cNvPr id="17" name="Oval 16"/>
            <p:cNvSpPr/>
            <p:nvPr/>
          </p:nvSpPr>
          <p:spPr bwMode="auto">
            <a:xfrm>
              <a:off x="6498262" y="3658125"/>
              <a:ext cx="3220256" cy="1248213"/>
            </a:xfrm>
            <a:prstGeom prst="ellipse">
              <a:avLst/>
            </a:prstGeom>
            <a:solidFill>
              <a:srgbClr val="002060"/>
            </a:solidFill>
            <a:ln>
              <a:noFill/>
            </a:ln>
            <a:effectLst/>
          </p:spPr>
          <p:txBody>
            <a:bodyPr vert="horz" wrap="square" lIns="0" tIns="0" rIns="0" bIns="0" numCol="1" rtlCol="0" anchor="t" anchorCtr="0" compatLnSpc="1">
              <a:prstTxWarp prst="textNoShape">
                <a:avLst/>
              </a:prstTxWarp>
            </a:bodyPr>
            <a:lstStyle/>
            <a:p>
              <a:pPr algn="ctr" defTabSz="844083" fontAlgn="base">
                <a:spcBef>
                  <a:spcPct val="50000"/>
                </a:spcBef>
                <a:spcAft>
                  <a:spcPct val="0"/>
                </a:spcAft>
              </a:pPr>
              <a:endParaRPr lang="en-US" sz="1477" dirty="0">
                <a:solidFill>
                  <a:schemeClr val="bg1"/>
                </a:solidFill>
              </a:endParaRPr>
            </a:p>
          </p:txBody>
        </p:sp>
        <p:sp>
          <p:nvSpPr>
            <p:cNvPr id="9" name="Rectangle 8"/>
            <p:cNvSpPr/>
            <p:nvPr/>
          </p:nvSpPr>
          <p:spPr>
            <a:xfrm>
              <a:off x="6498262" y="3719334"/>
              <a:ext cx="3220256" cy="992493"/>
            </a:xfrm>
            <a:prstGeom prst="rect">
              <a:avLst/>
            </a:prstGeom>
          </p:spPr>
          <p:txBody>
            <a:bodyPr wrap="square">
              <a:spAutoFit/>
            </a:bodyPr>
            <a:lstStyle/>
            <a:p>
              <a:pPr algn="ctr"/>
              <a:r>
                <a:rPr lang="en-US" sz="1477" b="1" dirty="0">
                  <a:solidFill>
                    <a:schemeClr val="bg1"/>
                  </a:solidFill>
                </a:rPr>
                <a:t>Service</a:t>
              </a:r>
            </a:p>
            <a:p>
              <a:pPr algn="ctr"/>
              <a:r>
                <a:rPr lang="en-US" sz="1292" dirty="0">
                  <a:solidFill>
                    <a:schemeClr val="bg1"/>
                  </a:solidFill>
                </a:rPr>
                <a:t>Self-serve, minimal ancillary services: no free shopping bags, no home delivery</a:t>
              </a:r>
            </a:p>
          </p:txBody>
        </p:sp>
        <p:cxnSp>
          <p:nvCxnSpPr>
            <p:cNvPr id="28" name="Straight Arrow Connector 27"/>
            <p:cNvCxnSpPr/>
            <p:nvPr/>
          </p:nvCxnSpPr>
          <p:spPr bwMode="auto">
            <a:xfrm flipV="1">
              <a:off x="6218428" y="4048217"/>
              <a:ext cx="445042" cy="158387"/>
            </a:xfrm>
            <a:prstGeom prst="straightConnector1">
              <a:avLst/>
            </a:prstGeom>
            <a:ln w="34925">
              <a:solidFill>
                <a:srgbClr val="00B0F0"/>
              </a:solidFill>
              <a:tailEnd type="triangle"/>
            </a:ln>
          </p:spPr>
          <p:style>
            <a:lnRef idx="1">
              <a:schemeClr val="dk1"/>
            </a:lnRef>
            <a:fillRef idx="0">
              <a:schemeClr val="dk1"/>
            </a:fillRef>
            <a:effectRef idx="0">
              <a:schemeClr val="dk1"/>
            </a:effectRef>
            <a:fontRef idx="minor">
              <a:schemeClr val="tx1"/>
            </a:fontRef>
          </p:style>
        </p:cxnSp>
      </p:grpSp>
      <p:grpSp>
        <p:nvGrpSpPr>
          <p:cNvPr id="3" name="Group 2"/>
          <p:cNvGrpSpPr/>
          <p:nvPr/>
        </p:nvGrpSpPr>
        <p:grpSpPr>
          <a:xfrm>
            <a:off x="3508267" y="4384171"/>
            <a:ext cx="3348688" cy="1416390"/>
            <a:chOff x="3800622" y="4463769"/>
            <a:chExt cx="3627745" cy="1534422"/>
          </a:xfrm>
        </p:grpSpPr>
        <p:sp>
          <p:nvSpPr>
            <p:cNvPr id="16" name="Oval 15"/>
            <p:cNvSpPr/>
            <p:nvPr/>
          </p:nvSpPr>
          <p:spPr bwMode="auto">
            <a:xfrm>
              <a:off x="3800622" y="4671929"/>
              <a:ext cx="3627745" cy="1326262"/>
            </a:xfrm>
            <a:prstGeom prst="ellipse">
              <a:avLst/>
            </a:prstGeom>
            <a:solidFill>
              <a:srgbClr val="002060"/>
            </a:solidFill>
            <a:ln>
              <a:noFill/>
            </a:ln>
            <a:effectLst/>
          </p:spPr>
          <p:txBody>
            <a:bodyPr vert="horz" wrap="square" lIns="0" tIns="0" rIns="0" bIns="0" numCol="1" rtlCol="0" anchor="t" anchorCtr="0" compatLnSpc="1">
              <a:prstTxWarp prst="textNoShape">
                <a:avLst/>
              </a:prstTxWarp>
            </a:bodyPr>
            <a:lstStyle/>
            <a:p>
              <a:pPr algn="ctr"/>
              <a:endParaRPr lang="en-US" sz="1477" dirty="0">
                <a:solidFill>
                  <a:schemeClr val="bg1"/>
                </a:solidFill>
              </a:endParaRPr>
            </a:p>
          </p:txBody>
        </p:sp>
        <p:sp>
          <p:nvSpPr>
            <p:cNvPr id="8" name="Rectangle 7"/>
            <p:cNvSpPr/>
            <p:nvPr/>
          </p:nvSpPr>
          <p:spPr>
            <a:xfrm>
              <a:off x="3958420" y="4683472"/>
              <a:ext cx="3413349" cy="992493"/>
            </a:xfrm>
            <a:prstGeom prst="rect">
              <a:avLst/>
            </a:prstGeom>
          </p:spPr>
          <p:txBody>
            <a:bodyPr wrap="square">
              <a:spAutoFit/>
            </a:bodyPr>
            <a:lstStyle/>
            <a:p>
              <a:pPr algn="ctr"/>
              <a:r>
                <a:rPr lang="en-US" sz="1477" b="1" dirty="0">
                  <a:solidFill>
                    <a:schemeClr val="bg1"/>
                  </a:solidFill>
                </a:rPr>
                <a:t>Location</a:t>
              </a:r>
            </a:p>
            <a:p>
              <a:pPr algn="ctr"/>
              <a:r>
                <a:rPr lang="en-US" sz="1292" dirty="0">
                  <a:solidFill>
                    <a:schemeClr val="bg1"/>
                  </a:solidFill>
                </a:rPr>
                <a:t>Shopping centres &amp; locations where price-conscious shoppers congregate, e.g. adjacent DFO outlets</a:t>
              </a:r>
            </a:p>
          </p:txBody>
        </p:sp>
        <p:cxnSp>
          <p:nvCxnSpPr>
            <p:cNvPr id="33" name="Straight Arrow Connector 32"/>
            <p:cNvCxnSpPr/>
            <p:nvPr/>
          </p:nvCxnSpPr>
          <p:spPr bwMode="auto">
            <a:xfrm>
              <a:off x="5512136" y="4463769"/>
              <a:ext cx="0" cy="208160"/>
            </a:xfrm>
            <a:prstGeom prst="straightConnector1">
              <a:avLst/>
            </a:prstGeom>
            <a:ln w="34925">
              <a:solidFill>
                <a:srgbClr val="00B0F0"/>
              </a:solidFill>
              <a:tailEnd type="triangle"/>
            </a:ln>
          </p:spPr>
          <p:style>
            <a:lnRef idx="1">
              <a:schemeClr val="dk1"/>
            </a:lnRef>
            <a:fillRef idx="0">
              <a:schemeClr val="dk1"/>
            </a:fillRef>
            <a:effectRef idx="0">
              <a:schemeClr val="dk1"/>
            </a:effectRef>
            <a:fontRef idx="minor">
              <a:schemeClr val="tx1"/>
            </a:fontRef>
          </p:style>
        </p:cxnSp>
      </p:grpSp>
      <p:grpSp>
        <p:nvGrpSpPr>
          <p:cNvPr id="13" name="Group 12"/>
          <p:cNvGrpSpPr/>
          <p:nvPr/>
        </p:nvGrpSpPr>
        <p:grpSpPr>
          <a:xfrm>
            <a:off x="800835" y="4131786"/>
            <a:ext cx="3627958" cy="2000039"/>
            <a:chOff x="867571" y="4190351"/>
            <a:chExt cx="3930288" cy="2166709"/>
          </a:xfrm>
        </p:grpSpPr>
        <p:cxnSp>
          <p:nvCxnSpPr>
            <p:cNvPr id="46" name="Straight Arrow Connector 45"/>
            <p:cNvCxnSpPr>
              <a:stCxn id="18" idx="1"/>
              <a:endCxn id="23" idx="7"/>
            </p:cNvCxnSpPr>
            <p:nvPr/>
          </p:nvCxnSpPr>
          <p:spPr bwMode="auto">
            <a:xfrm flipH="1">
              <a:off x="2169111" y="4190351"/>
              <a:ext cx="2628748" cy="1454857"/>
            </a:xfrm>
            <a:prstGeom prst="straightConnector1">
              <a:avLst/>
            </a:prstGeom>
            <a:ln w="34925">
              <a:solidFill>
                <a:srgbClr val="00B0F0"/>
              </a:solidFill>
              <a:tailEnd type="triangle"/>
            </a:ln>
          </p:spPr>
          <p:style>
            <a:lnRef idx="1">
              <a:schemeClr val="dk1"/>
            </a:lnRef>
            <a:fillRef idx="0">
              <a:schemeClr val="dk1"/>
            </a:fillRef>
            <a:effectRef idx="0">
              <a:schemeClr val="dk1"/>
            </a:effectRef>
            <a:fontRef idx="minor">
              <a:schemeClr val="tx1"/>
            </a:fontRef>
          </p:style>
        </p:cxnSp>
        <p:sp>
          <p:nvSpPr>
            <p:cNvPr id="23" name="Oval 22"/>
            <p:cNvSpPr/>
            <p:nvPr/>
          </p:nvSpPr>
          <p:spPr bwMode="auto">
            <a:xfrm>
              <a:off x="867571" y="5523073"/>
              <a:ext cx="1524849" cy="833987"/>
            </a:xfrm>
            <a:prstGeom prst="ellipse">
              <a:avLst/>
            </a:prstGeom>
            <a:solidFill>
              <a:srgbClr val="002060"/>
            </a:solidFill>
            <a:ln>
              <a:noFill/>
            </a:ln>
            <a:effectLst/>
          </p:spPr>
          <p:txBody>
            <a:bodyPr vert="horz" wrap="square" lIns="0" tIns="0" rIns="0" bIns="0" numCol="1" rtlCol="0" anchor="t" anchorCtr="0" compatLnSpc="1">
              <a:prstTxWarp prst="textNoShape">
                <a:avLst/>
              </a:prstTxWarp>
            </a:bodyPr>
            <a:lstStyle/>
            <a:p>
              <a:pPr algn="ctr" defTabSz="844083" fontAlgn="base">
                <a:spcBef>
                  <a:spcPct val="50000"/>
                </a:spcBef>
                <a:spcAft>
                  <a:spcPct val="0"/>
                </a:spcAft>
              </a:pPr>
              <a:r>
                <a:rPr lang="en-US" sz="1477" b="1" dirty="0">
                  <a:solidFill>
                    <a:schemeClr val="bg1"/>
                  </a:solidFill>
                  <a:latin typeface="Verdana" pitchFamily="34" charset="0"/>
                  <a:cs typeface="Arial" charset="0"/>
                </a:rPr>
                <a:t>Price</a:t>
              </a:r>
            </a:p>
            <a:p>
              <a:pPr algn="ctr" defTabSz="844083" fontAlgn="base">
                <a:spcBef>
                  <a:spcPct val="50000"/>
                </a:spcBef>
                <a:spcAft>
                  <a:spcPct val="0"/>
                </a:spcAft>
              </a:pPr>
              <a:r>
                <a:rPr lang="en-US" sz="1477" dirty="0">
                  <a:solidFill>
                    <a:schemeClr val="bg1"/>
                  </a:solidFill>
                </a:rPr>
                <a:t>?</a:t>
              </a:r>
              <a:endParaRPr lang="en-US" sz="1477" dirty="0">
                <a:solidFill>
                  <a:schemeClr val="bg1"/>
                </a:solidFill>
                <a:latin typeface="Verdana" pitchFamily="34" charset="0"/>
                <a:cs typeface="Arial" charset="0"/>
              </a:endParaRPr>
            </a:p>
          </p:txBody>
        </p:sp>
      </p:grpSp>
      <p:grpSp>
        <p:nvGrpSpPr>
          <p:cNvPr id="14" name="Group 13"/>
          <p:cNvGrpSpPr/>
          <p:nvPr/>
        </p:nvGrpSpPr>
        <p:grpSpPr>
          <a:xfrm>
            <a:off x="2301950" y="4131786"/>
            <a:ext cx="2126843" cy="2199570"/>
            <a:chOff x="2493779" y="4190351"/>
            <a:chExt cx="2304080" cy="2382867"/>
          </a:xfrm>
        </p:grpSpPr>
        <p:sp>
          <p:nvSpPr>
            <p:cNvPr id="22" name="Oval 21"/>
            <p:cNvSpPr/>
            <p:nvPr/>
          </p:nvSpPr>
          <p:spPr bwMode="auto">
            <a:xfrm>
              <a:off x="2493779" y="5739231"/>
              <a:ext cx="1767021" cy="833987"/>
            </a:xfrm>
            <a:prstGeom prst="ellipse">
              <a:avLst/>
            </a:prstGeom>
            <a:solidFill>
              <a:srgbClr val="002060"/>
            </a:solidFill>
            <a:ln>
              <a:noFill/>
            </a:ln>
            <a:effectLst/>
          </p:spPr>
          <p:txBody>
            <a:bodyPr vert="horz" wrap="square" lIns="0" tIns="0" rIns="0" bIns="0" numCol="1" rtlCol="0" anchor="t" anchorCtr="0" compatLnSpc="1">
              <a:prstTxWarp prst="textNoShape">
                <a:avLst/>
              </a:prstTxWarp>
            </a:bodyPr>
            <a:lstStyle/>
            <a:p>
              <a:pPr algn="ctr" defTabSz="844083" fontAlgn="base">
                <a:spcBef>
                  <a:spcPct val="50000"/>
                </a:spcBef>
                <a:spcAft>
                  <a:spcPct val="0"/>
                </a:spcAft>
              </a:pPr>
              <a:r>
                <a:rPr lang="en-US" sz="1477" b="1" dirty="0">
                  <a:solidFill>
                    <a:schemeClr val="bg1"/>
                  </a:solidFill>
                  <a:latin typeface="Verdana" pitchFamily="34" charset="0"/>
                  <a:cs typeface="Arial" charset="0"/>
                </a:rPr>
                <a:t>Promotion</a:t>
              </a:r>
            </a:p>
            <a:p>
              <a:pPr algn="ctr" defTabSz="844083" fontAlgn="base">
                <a:spcBef>
                  <a:spcPct val="50000"/>
                </a:spcBef>
                <a:spcAft>
                  <a:spcPct val="0"/>
                </a:spcAft>
              </a:pPr>
              <a:r>
                <a:rPr lang="en-US" sz="1477" dirty="0">
                  <a:solidFill>
                    <a:schemeClr val="bg1"/>
                  </a:solidFill>
                </a:rPr>
                <a:t>?</a:t>
              </a:r>
              <a:endParaRPr lang="en-US" sz="1477" dirty="0">
                <a:solidFill>
                  <a:schemeClr val="bg1"/>
                </a:solidFill>
                <a:latin typeface="Verdana" pitchFamily="34" charset="0"/>
                <a:cs typeface="Arial" charset="0"/>
              </a:endParaRPr>
            </a:p>
          </p:txBody>
        </p:sp>
        <p:cxnSp>
          <p:nvCxnSpPr>
            <p:cNvPr id="50" name="Straight Arrow Connector 49"/>
            <p:cNvCxnSpPr>
              <a:stCxn id="18" idx="1"/>
              <a:endCxn id="22" idx="0"/>
            </p:cNvCxnSpPr>
            <p:nvPr/>
          </p:nvCxnSpPr>
          <p:spPr bwMode="auto">
            <a:xfrm flipH="1">
              <a:off x="3377290" y="4190351"/>
              <a:ext cx="1420569" cy="1548880"/>
            </a:xfrm>
            <a:prstGeom prst="straightConnector1">
              <a:avLst/>
            </a:prstGeom>
            <a:ln w="34925">
              <a:solidFill>
                <a:srgbClr val="00B0F0"/>
              </a:solidFill>
              <a:tailEnd type="triangle"/>
            </a:ln>
          </p:spPr>
          <p:style>
            <a:lnRef idx="1">
              <a:schemeClr val="dk1"/>
            </a:lnRef>
            <a:fillRef idx="0">
              <a:schemeClr val="dk1"/>
            </a:fillRef>
            <a:effectRef idx="0">
              <a:schemeClr val="dk1"/>
            </a:effectRef>
            <a:fontRef idx="minor">
              <a:schemeClr val="tx1"/>
            </a:fontRef>
          </p:style>
        </p:cxnSp>
      </p:grpSp>
      <p:grpSp>
        <p:nvGrpSpPr>
          <p:cNvPr id="25" name="Group 24"/>
          <p:cNvGrpSpPr/>
          <p:nvPr/>
        </p:nvGrpSpPr>
        <p:grpSpPr>
          <a:xfrm>
            <a:off x="5719883" y="4131786"/>
            <a:ext cx="2654430" cy="1479583"/>
            <a:chOff x="6196540" y="4190351"/>
            <a:chExt cx="2875632" cy="1602882"/>
          </a:xfrm>
        </p:grpSpPr>
        <p:sp>
          <p:nvSpPr>
            <p:cNvPr id="21" name="Oval 20"/>
            <p:cNvSpPr/>
            <p:nvPr/>
          </p:nvSpPr>
          <p:spPr bwMode="auto">
            <a:xfrm>
              <a:off x="7547323" y="4959246"/>
              <a:ext cx="1524849" cy="833987"/>
            </a:xfrm>
            <a:prstGeom prst="ellipse">
              <a:avLst/>
            </a:prstGeom>
            <a:solidFill>
              <a:srgbClr val="002060"/>
            </a:solidFill>
            <a:ln>
              <a:noFill/>
            </a:ln>
            <a:effectLst/>
          </p:spPr>
          <p:txBody>
            <a:bodyPr vert="horz" wrap="square" lIns="0" tIns="0" rIns="0" bIns="0" numCol="1" rtlCol="0" anchor="t" anchorCtr="0" compatLnSpc="1">
              <a:prstTxWarp prst="textNoShape">
                <a:avLst/>
              </a:prstTxWarp>
            </a:bodyPr>
            <a:lstStyle/>
            <a:p>
              <a:pPr algn="ctr" defTabSz="844083" fontAlgn="base">
                <a:spcBef>
                  <a:spcPct val="50000"/>
                </a:spcBef>
                <a:spcAft>
                  <a:spcPct val="0"/>
                </a:spcAft>
              </a:pPr>
              <a:r>
                <a:rPr lang="en-US" sz="1477" b="1" dirty="0">
                  <a:solidFill>
                    <a:schemeClr val="bg1"/>
                  </a:solidFill>
                  <a:latin typeface="Verdana" pitchFamily="34" charset="0"/>
                  <a:cs typeface="Arial" charset="0"/>
                </a:rPr>
                <a:t>Physical evidence </a:t>
              </a:r>
              <a:r>
                <a:rPr lang="en-US" sz="1477" dirty="0">
                  <a:solidFill>
                    <a:schemeClr val="bg1"/>
                  </a:solidFill>
                  <a:latin typeface="Verdana" pitchFamily="34" charset="0"/>
                  <a:cs typeface="Arial" charset="0"/>
                </a:rPr>
                <a:t>?</a:t>
              </a:r>
            </a:p>
          </p:txBody>
        </p:sp>
        <p:cxnSp>
          <p:nvCxnSpPr>
            <p:cNvPr id="54" name="Straight Arrow Connector 53"/>
            <p:cNvCxnSpPr>
              <a:stCxn id="18" idx="3"/>
            </p:cNvCxnSpPr>
            <p:nvPr/>
          </p:nvCxnSpPr>
          <p:spPr bwMode="auto">
            <a:xfrm>
              <a:off x="6196540" y="4190351"/>
              <a:ext cx="1433845" cy="925993"/>
            </a:xfrm>
            <a:prstGeom prst="straightConnector1">
              <a:avLst/>
            </a:prstGeom>
            <a:ln w="34925">
              <a:solidFill>
                <a:srgbClr val="00B0F0"/>
              </a:solidFill>
              <a:tailEnd type="triangle"/>
            </a:ln>
          </p:spPr>
          <p:style>
            <a:lnRef idx="1">
              <a:schemeClr val="dk1"/>
            </a:lnRef>
            <a:fillRef idx="0">
              <a:schemeClr val="dk1"/>
            </a:fillRef>
            <a:effectRef idx="0">
              <a:schemeClr val="dk1"/>
            </a:effectRef>
            <a:fontRef idx="minor">
              <a:schemeClr val="tx1"/>
            </a:fontRef>
          </p:style>
        </p:cxnSp>
      </p:grpSp>
      <p:grpSp>
        <p:nvGrpSpPr>
          <p:cNvPr id="19" name="Group 18"/>
          <p:cNvGrpSpPr/>
          <p:nvPr/>
        </p:nvGrpSpPr>
        <p:grpSpPr>
          <a:xfrm>
            <a:off x="5719884" y="4131786"/>
            <a:ext cx="1886543" cy="2177893"/>
            <a:chOff x="6196540" y="4190351"/>
            <a:chExt cx="2043755" cy="2359384"/>
          </a:xfrm>
        </p:grpSpPr>
        <p:sp>
          <p:nvSpPr>
            <p:cNvPr id="24" name="Oval 23"/>
            <p:cNvSpPr/>
            <p:nvPr/>
          </p:nvSpPr>
          <p:spPr bwMode="auto">
            <a:xfrm>
              <a:off x="6663470" y="5715748"/>
              <a:ext cx="1576825" cy="833987"/>
            </a:xfrm>
            <a:prstGeom prst="ellipse">
              <a:avLst/>
            </a:prstGeom>
            <a:solidFill>
              <a:srgbClr val="002060"/>
            </a:solidFill>
            <a:ln>
              <a:noFill/>
            </a:ln>
            <a:effectLst/>
          </p:spPr>
          <p:txBody>
            <a:bodyPr vert="horz" wrap="square" lIns="0" tIns="0" rIns="0" bIns="0" numCol="1" rtlCol="0" anchor="t" anchorCtr="0" compatLnSpc="1">
              <a:prstTxWarp prst="textNoShape">
                <a:avLst/>
              </a:prstTxWarp>
            </a:bodyPr>
            <a:lstStyle/>
            <a:p>
              <a:pPr algn="ctr" defTabSz="844083" fontAlgn="base">
                <a:spcBef>
                  <a:spcPct val="50000"/>
                </a:spcBef>
                <a:spcAft>
                  <a:spcPct val="0"/>
                </a:spcAft>
              </a:pPr>
              <a:r>
                <a:rPr lang="en-US" sz="1477" b="1" dirty="0">
                  <a:solidFill>
                    <a:schemeClr val="bg1"/>
                  </a:solidFill>
                  <a:latin typeface="Verdana" pitchFamily="34" charset="0"/>
                  <a:cs typeface="Arial" charset="0"/>
                </a:rPr>
                <a:t>Process</a:t>
              </a:r>
            </a:p>
            <a:p>
              <a:pPr algn="ctr" defTabSz="844083" fontAlgn="base">
                <a:spcBef>
                  <a:spcPct val="50000"/>
                </a:spcBef>
                <a:spcAft>
                  <a:spcPct val="0"/>
                </a:spcAft>
              </a:pPr>
              <a:r>
                <a:rPr lang="en-US" sz="1477" dirty="0">
                  <a:solidFill>
                    <a:schemeClr val="bg1"/>
                  </a:solidFill>
                </a:rPr>
                <a:t>?</a:t>
              </a:r>
              <a:endParaRPr lang="en-US" sz="1477" dirty="0">
                <a:solidFill>
                  <a:schemeClr val="bg1"/>
                </a:solidFill>
                <a:latin typeface="Verdana" pitchFamily="34" charset="0"/>
                <a:cs typeface="Arial" charset="0"/>
              </a:endParaRPr>
            </a:p>
          </p:txBody>
        </p:sp>
        <p:cxnSp>
          <p:nvCxnSpPr>
            <p:cNvPr id="59" name="Straight Arrow Connector 58"/>
            <p:cNvCxnSpPr>
              <a:stCxn id="18" idx="3"/>
              <a:endCxn id="24" idx="0"/>
            </p:cNvCxnSpPr>
            <p:nvPr/>
          </p:nvCxnSpPr>
          <p:spPr bwMode="auto">
            <a:xfrm>
              <a:off x="6196540" y="4190351"/>
              <a:ext cx="1255343" cy="1525397"/>
            </a:xfrm>
            <a:prstGeom prst="straightConnector1">
              <a:avLst/>
            </a:prstGeom>
            <a:ln w="34925">
              <a:solidFill>
                <a:srgbClr val="00B0F0"/>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727110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500"/>
                                        <p:tgtEl>
                                          <p:spTgt spid="12"/>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500"/>
                                        <p:tgtEl>
                                          <p:spTgt spid="18"/>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ipe(up)">
                                      <p:cBhvr>
                                        <p:cTn id="31" dur="500"/>
                                        <p:tgtEl>
                                          <p:spTgt spid="4"/>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250"/>
                                        <p:tgtEl>
                                          <p:spTgt spid="13"/>
                                        </p:tgtEl>
                                      </p:cBhvr>
                                    </p:animEffect>
                                  </p:childTnLst>
                                </p:cTn>
                              </p:par>
                            </p:childTnLst>
                          </p:cTn>
                        </p:par>
                        <p:par>
                          <p:cTn id="36" fill="hold">
                            <p:stCondLst>
                              <p:cond delay="3750"/>
                            </p:stCondLst>
                            <p:childTnLst>
                              <p:par>
                                <p:cTn id="37" presetID="22" presetClass="entr" presetSubtype="1"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up)">
                                      <p:cBhvr>
                                        <p:cTn id="39" dur="500"/>
                                        <p:tgtEl>
                                          <p:spTgt spid="14"/>
                                        </p:tgtEl>
                                      </p:cBhvr>
                                    </p:animEffect>
                                  </p:childTnLst>
                                </p:cTn>
                              </p:par>
                            </p:childTnLst>
                          </p:cTn>
                        </p:par>
                        <p:par>
                          <p:cTn id="40" fill="hold">
                            <p:stCondLst>
                              <p:cond delay="4250"/>
                            </p:stCondLst>
                            <p:childTnLst>
                              <p:par>
                                <p:cTn id="41" presetID="22" presetClass="entr" presetSubtype="1" fill="hold"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up)">
                                      <p:cBhvr>
                                        <p:cTn id="43" dur="500"/>
                                        <p:tgtEl>
                                          <p:spTgt spid="19"/>
                                        </p:tgtEl>
                                      </p:cBhvr>
                                    </p:animEffect>
                                  </p:childTnLst>
                                </p:cTn>
                              </p:par>
                            </p:childTnLst>
                          </p:cTn>
                        </p:par>
                        <p:par>
                          <p:cTn id="44" fill="hold">
                            <p:stCondLst>
                              <p:cond delay="4750"/>
                            </p:stCondLst>
                            <p:childTnLst>
                              <p:par>
                                <p:cTn id="45" presetID="22" presetClass="entr" presetSubtype="1" fill="hold" nodeType="after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up)">
                                      <p:cBhvr>
                                        <p:cTn id="4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29165" y="317658"/>
            <a:ext cx="8444753" cy="645832"/>
          </a:xfrm>
          <a:prstGeom prst="rect">
            <a:avLst/>
          </a:prstGeom>
          <a:noFill/>
          <a:ln>
            <a:noFill/>
          </a:ln>
        </p:spPr>
        <p:txBody>
          <a:bodyPr lIns="84392" tIns="84392" rIns="84392" bIns="84392" anchor="t" anchorCtr="0"/>
          <a:lstStyle/>
          <a:p>
            <a:pPr>
              <a:spcBef>
                <a:spcPts val="886"/>
              </a:spcBef>
            </a:pPr>
            <a:r>
              <a:rPr lang="en-US" altLang="en-US" sz="3200" b="1" dirty="0">
                <a:solidFill>
                  <a:srgbClr val="007FA3"/>
                </a:solidFill>
                <a:latin typeface="+mj-lt"/>
                <a:cs typeface="Times New Roman"/>
                <a:sym typeface="Times New Roman"/>
              </a:rPr>
              <a:t>Differentiation and positioning</a:t>
            </a:r>
            <a:endParaRPr lang="en-GB" altLang="en-US" sz="3200" b="1" dirty="0">
              <a:solidFill>
                <a:srgbClr val="007FA3"/>
              </a:solidFill>
              <a:latin typeface="+mj-lt"/>
              <a:cs typeface="Times New Roman"/>
              <a:sym typeface="Times New Roman"/>
            </a:endParaRPr>
          </a:p>
        </p:txBody>
      </p:sp>
      <p:sp>
        <p:nvSpPr>
          <p:cNvPr id="8" name="Content Placeholder 10"/>
          <p:cNvSpPr txBox="1">
            <a:spLocks/>
          </p:cNvSpPr>
          <p:nvPr/>
        </p:nvSpPr>
        <p:spPr>
          <a:xfrm>
            <a:off x="364881" y="1227170"/>
            <a:ext cx="8373322" cy="5109556"/>
          </a:xfrm>
          <a:prstGeom prst="rect">
            <a:avLst/>
          </a:prstGeom>
          <a:noFill/>
          <a:ln>
            <a:noFill/>
          </a:ln>
        </p:spPr>
        <p:txBody>
          <a:bodyPr lIns="84392" tIns="84392" rIns="84392" bIns="84392" anchor="t" anchorCtr="0"/>
          <a:lstStyle/>
          <a:p>
            <a:pPr>
              <a:spcBef>
                <a:spcPts val="554"/>
              </a:spcBef>
              <a:spcAft>
                <a:spcPts val="554"/>
              </a:spcAft>
            </a:pPr>
            <a:r>
              <a:rPr lang="en-US" altLang="en-US" sz="2308" b="1" dirty="0">
                <a:solidFill>
                  <a:srgbClr val="00638A"/>
                </a:solidFill>
                <a:ea typeface="Verdana" panose="020B0604030504040204" pitchFamily="34" charset="0"/>
                <a:cs typeface="Verdana" panose="020B0604030504040204" pitchFamily="34" charset="0"/>
              </a:rPr>
              <a:t>Communicating and delivering the chosen position</a:t>
            </a:r>
            <a:endParaRPr lang="en-AU" altLang="en-US" sz="1292" b="1" dirty="0">
              <a:ea typeface="Verdana" panose="020B0604030504040204" pitchFamily="34" charset="0"/>
              <a:cs typeface="Verdana" panose="020B0604030504040204" pitchFamily="34" charset="0"/>
            </a:endParaRPr>
          </a:p>
          <a:p>
            <a:pPr marL="436696" lvl="1" indent="-237398">
              <a:spcBef>
                <a:spcPts val="554"/>
              </a:spcBef>
              <a:spcAft>
                <a:spcPts val="554"/>
              </a:spcAft>
              <a:buClr>
                <a:srgbClr val="00638A"/>
              </a:buClr>
              <a:buFont typeface="Verdana"/>
              <a:buChar char="•"/>
              <a:tabLst>
                <a:tab pos="1688165" algn="l"/>
              </a:tabLst>
            </a:pPr>
            <a:r>
              <a:rPr lang="en-US" sz="1846" dirty="0">
                <a:ea typeface="Verdana" pitchFamily="34" charset="0"/>
                <a:cs typeface="Verdana" pitchFamily="34" charset="0"/>
              </a:rPr>
              <a:t>All the company’s marketing mix efforts must support the positioning strategy. </a:t>
            </a:r>
          </a:p>
          <a:p>
            <a:pPr marL="436696" lvl="1" indent="-237398">
              <a:spcBef>
                <a:spcPts val="554"/>
              </a:spcBef>
              <a:spcAft>
                <a:spcPts val="554"/>
              </a:spcAft>
              <a:buClr>
                <a:srgbClr val="00638A"/>
              </a:buClr>
              <a:buFont typeface="Verdana"/>
              <a:buChar char="•"/>
              <a:tabLst>
                <a:tab pos="1688165" algn="l"/>
              </a:tabLst>
            </a:pPr>
            <a:r>
              <a:rPr lang="en-US" sz="1846" dirty="0">
                <a:ea typeface="Verdana" pitchFamily="34" charset="0"/>
                <a:cs typeface="Verdana" pitchFamily="34" charset="0"/>
              </a:rPr>
              <a:t>Designing the marketing mix involves working out the tactical details of the positioning strategy. </a:t>
            </a:r>
          </a:p>
          <a:p>
            <a:pPr marL="436696" lvl="1" indent="-237398">
              <a:spcBef>
                <a:spcPts val="554"/>
              </a:spcBef>
              <a:spcAft>
                <a:spcPts val="554"/>
              </a:spcAft>
              <a:buClr>
                <a:srgbClr val="00638A"/>
              </a:buClr>
              <a:buFont typeface="Verdana"/>
              <a:buChar char="•"/>
              <a:tabLst>
                <a:tab pos="1688165" algn="l"/>
              </a:tabLst>
            </a:pPr>
            <a:r>
              <a:rPr lang="en-US" sz="1846" dirty="0">
                <a:ea typeface="Verdana" pitchFamily="34" charset="0"/>
                <a:cs typeface="Verdana" pitchFamily="34" charset="0"/>
              </a:rPr>
              <a:t>Companies often find it easier to produce a good positioning strategy than to implement it.</a:t>
            </a:r>
          </a:p>
          <a:p>
            <a:pPr marL="436696" lvl="1" indent="-237398">
              <a:spcBef>
                <a:spcPts val="554"/>
              </a:spcBef>
              <a:spcAft>
                <a:spcPts val="554"/>
              </a:spcAft>
              <a:buClr>
                <a:srgbClr val="00638A"/>
              </a:buClr>
              <a:buFont typeface="Verdana"/>
              <a:buChar char="•"/>
              <a:tabLst>
                <a:tab pos="1688165" algn="l"/>
              </a:tabLst>
            </a:pPr>
            <a:r>
              <a:rPr lang="en-US" sz="1846" dirty="0">
                <a:ea typeface="Verdana" pitchFamily="34" charset="0"/>
                <a:cs typeface="Verdana" pitchFamily="34" charset="0"/>
              </a:rPr>
              <a:t>Establishing or changing a position usually takes a long time. </a:t>
            </a:r>
          </a:p>
          <a:p>
            <a:pPr marL="436696" lvl="1" indent="-237398">
              <a:spcBef>
                <a:spcPts val="554"/>
              </a:spcBef>
              <a:spcAft>
                <a:spcPts val="554"/>
              </a:spcAft>
              <a:buClr>
                <a:srgbClr val="00638A"/>
              </a:buClr>
              <a:buFont typeface="Verdana"/>
              <a:buChar char="•"/>
              <a:tabLst>
                <a:tab pos="1688165" algn="l"/>
              </a:tabLst>
            </a:pPr>
            <a:r>
              <a:rPr lang="en-US" sz="1846" dirty="0">
                <a:ea typeface="Verdana" pitchFamily="34" charset="0"/>
                <a:cs typeface="Verdana" pitchFamily="34" charset="0"/>
              </a:rPr>
              <a:t>The company should avoid abrupt changes that might confuse consumers. </a:t>
            </a:r>
          </a:p>
          <a:p>
            <a:pPr marL="436696" lvl="1" indent="-237398">
              <a:spcBef>
                <a:spcPts val="554"/>
              </a:spcBef>
              <a:spcAft>
                <a:spcPts val="554"/>
              </a:spcAft>
              <a:buClr>
                <a:srgbClr val="00638A"/>
              </a:buClr>
              <a:buFont typeface="Verdana"/>
              <a:buChar char="•"/>
              <a:tabLst>
                <a:tab pos="1688165" algn="l"/>
              </a:tabLst>
            </a:pPr>
            <a:r>
              <a:rPr lang="en-US" sz="1846" dirty="0">
                <a:ea typeface="Verdana" pitchFamily="34" charset="0"/>
                <a:cs typeface="Verdana" pitchFamily="34" charset="0"/>
              </a:rPr>
              <a:t>A product’s position should evolve gradually as it adapts to the ever-changing marketing environment.</a:t>
            </a:r>
          </a:p>
          <a:p>
            <a:pPr marL="764950" lvl="2" indent="-237398">
              <a:spcBef>
                <a:spcPts val="554"/>
              </a:spcBef>
              <a:spcAft>
                <a:spcPts val="554"/>
              </a:spcAft>
              <a:buClr>
                <a:srgbClr val="00638A"/>
              </a:buClr>
              <a:tabLst>
                <a:tab pos="1688165" algn="l"/>
              </a:tabLst>
              <a:defRPr/>
            </a:pPr>
            <a:endParaRPr lang="en-AU" altLang="en-US" sz="1846" dirty="0">
              <a:latin typeface="Verdana" pitchFamily="34" charset="0"/>
              <a:ea typeface="Verdana" pitchFamily="34" charset="0"/>
              <a:cs typeface="Verdana" pitchFamily="34" charset="0"/>
            </a:endParaRPr>
          </a:p>
          <a:p>
            <a:pPr marL="764950" lvl="2" indent="-237398" defTabSz="844083">
              <a:spcBef>
                <a:spcPts val="554"/>
              </a:spcBef>
              <a:spcAft>
                <a:spcPts val="554"/>
              </a:spcAft>
              <a:buClr>
                <a:srgbClr val="00638A"/>
              </a:buClr>
              <a:tabLst>
                <a:tab pos="1688165" algn="l"/>
              </a:tabLst>
              <a:defRPr/>
            </a:pPr>
            <a:endParaRPr lang="en-US" sz="1846" dirty="0"/>
          </a:p>
          <a:p>
            <a:pPr marL="764950" lvl="2" indent="-237398" defTabSz="844083">
              <a:spcBef>
                <a:spcPts val="554"/>
              </a:spcBef>
              <a:spcAft>
                <a:spcPts val="554"/>
              </a:spcAft>
              <a:buClr>
                <a:srgbClr val="00638A"/>
              </a:buClr>
              <a:buFont typeface="Wingdings" pitchFamily="2" charset="2"/>
              <a:buChar char="§"/>
              <a:tabLst>
                <a:tab pos="1688165" algn="l"/>
              </a:tabLst>
              <a:defRPr/>
            </a:pPr>
            <a:endParaRPr lang="en-US" sz="1846" dirty="0"/>
          </a:p>
          <a:p>
            <a:pPr marL="764950" lvl="2" indent="-237398" defTabSz="844083">
              <a:spcBef>
                <a:spcPts val="554"/>
              </a:spcBef>
              <a:spcAft>
                <a:spcPts val="554"/>
              </a:spcAft>
              <a:buClr>
                <a:srgbClr val="00638A"/>
              </a:buClr>
              <a:buFont typeface="Wingdings" pitchFamily="2" charset="2"/>
              <a:buChar char="§"/>
              <a:tabLst>
                <a:tab pos="1688165" algn="l"/>
              </a:tabLst>
              <a:defRPr/>
            </a:pPr>
            <a:endParaRPr lang="en-US" sz="1846" dirty="0">
              <a:ea typeface="ＭＳ Ｐゴシック" pitchFamily="34" charset="-128"/>
            </a:endParaRPr>
          </a:p>
          <a:p>
            <a:pPr marL="764950" lvl="2" indent="-237398" defTabSz="844083">
              <a:spcBef>
                <a:spcPts val="554"/>
              </a:spcBef>
              <a:spcAft>
                <a:spcPts val="554"/>
              </a:spcAft>
              <a:buClr>
                <a:srgbClr val="00638A"/>
              </a:buClr>
              <a:buFont typeface="Wingdings" pitchFamily="2" charset="2"/>
              <a:buChar char="§"/>
              <a:tabLst>
                <a:tab pos="1688165" algn="l"/>
              </a:tabLst>
              <a:defRPr/>
            </a:pPr>
            <a:endParaRPr lang="en-AU" altLang="en-US" sz="1846" dirty="0">
              <a:latin typeface="Verdana" pitchFamily="34" charset="0"/>
              <a:ea typeface="Verdana" pitchFamily="34" charset="0"/>
              <a:cs typeface="Verdana" pitchFamily="34" charset="0"/>
            </a:endParaRPr>
          </a:p>
          <a:p>
            <a:pPr marL="436696" lvl="1" indent="-237398" defTabSz="844083">
              <a:spcBef>
                <a:spcPts val="554"/>
              </a:spcBef>
              <a:spcAft>
                <a:spcPts val="554"/>
              </a:spcAft>
              <a:buClr>
                <a:srgbClr val="00638A"/>
              </a:buClr>
              <a:tabLst>
                <a:tab pos="1688165" algn="l"/>
              </a:tabLst>
              <a:defRPr/>
            </a:pPr>
            <a:endParaRPr lang="en-AU" altLang="en-US" sz="1846"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539568589"/>
      </p:ext>
    </p:extLst>
  </p:cSld>
  <p:clrMapOvr>
    <a:masterClrMapping/>
  </p:clrMapOvr>
</p:sld>
</file>

<file path=ppt/theme/theme1.xml><?xml version="1.0" encoding="utf-8"?>
<a:theme xmlns:a="http://schemas.openxmlformats.org/drawingml/2006/main" name="2_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5583b3fa-365b-4fa2-9885-a560b35483b3}" enabled="1" method="Standard" siteId="{df7f7579-3e9c-4a7e-b844-420280f53859}" contentBits="1" removed="0"/>
</clbl:labelList>
</file>

<file path=docProps/app.xml><?xml version="1.0" encoding="utf-8"?>
<Properties xmlns="http://schemas.openxmlformats.org/officeDocument/2006/extended-properties" xmlns:vt="http://schemas.openxmlformats.org/officeDocument/2006/docPropsVTypes">
  <TotalTime>1219</TotalTime>
  <Words>3370</Words>
  <Application>Microsoft Office PowerPoint</Application>
  <PresentationFormat>On-screen Show (4:3)</PresentationFormat>
  <Paragraphs>333</Paragraphs>
  <Slides>43</Slides>
  <Notes>26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43</vt:i4>
      </vt:variant>
    </vt:vector>
  </HeadingPairs>
  <TitlesOfParts>
    <vt:vector size="55" baseType="lpstr">
      <vt:lpstr>ＭＳ Ｐゴシック</vt:lpstr>
      <vt:lpstr>Arial</vt:lpstr>
      <vt:lpstr>Calibri</vt:lpstr>
      <vt:lpstr>Noto Sans Symbols</vt:lpstr>
      <vt:lpstr>Open Sans</vt:lpstr>
      <vt:lpstr>Symbol</vt:lpstr>
      <vt:lpstr>Times</vt:lpstr>
      <vt:lpstr>Times New Roman</vt:lpstr>
      <vt:lpstr>Verdana</vt:lpstr>
      <vt:lpstr>Wingdings</vt:lpstr>
      <vt:lpstr>2_508 Lecture</vt:lpstr>
      <vt:lpstr>508 Lecture</vt:lpstr>
      <vt:lpstr>Principles of Marketing</vt:lpstr>
      <vt:lpstr>Customer-driven marketing strategy</vt:lpstr>
      <vt:lpstr>PowerPoint Presentation</vt:lpstr>
      <vt:lpstr>PowerPoint Presentation</vt:lpstr>
      <vt:lpstr>The marketing “logic”</vt:lpstr>
      <vt:lpstr>Market targeting</vt:lpstr>
      <vt:lpstr>Market targeting</vt:lpstr>
      <vt:lpstr>Why use segmentation?</vt:lpstr>
      <vt:lpstr>Benefits of Market Segmentation</vt:lpstr>
      <vt:lpstr>PowerPoint Presentation</vt:lpstr>
      <vt:lpstr>The steps in segmenting a market</vt:lpstr>
      <vt:lpstr>Step One: Selecting a market or product category for study</vt:lpstr>
      <vt:lpstr>Stage Two: Select the major bases and variables for segmenting markets</vt:lpstr>
      <vt:lpstr>PowerPoint Presentation</vt:lpstr>
      <vt:lpstr>PowerPoint Presentation</vt:lpstr>
      <vt:lpstr>Step Three: Build a profile of your segment.</vt:lpstr>
      <vt:lpstr>Step Three: Build a profile of your segment.</vt:lpstr>
      <vt:lpstr>Step Three: Build a profile of your segment.</vt:lpstr>
      <vt:lpstr>Requirements for effective segmentation</vt:lpstr>
      <vt:lpstr>Step Four: How to choose a Market-Coverage Strategy</vt:lpstr>
      <vt:lpstr>Figure 6.2</vt:lpstr>
      <vt:lpstr>Market targeting</vt:lpstr>
      <vt:lpstr>Market targeting</vt:lpstr>
      <vt:lpstr>Market targeting</vt:lpstr>
      <vt:lpstr>Market targeting</vt:lpstr>
      <vt:lpstr>Step Five: Positioning strategy</vt:lpstr>
      <vt:lpstr>Positioning strategy</vt:lpstr>
      <vt:lpstr>Importance of positioning in value-driven marketing</vt:lpstr>
      <vt:lpstr>PowerPoint Presentation</vt:lpstr>
      <vt:lpstr>Developing an Effective Positioning Strategy</vt:lpstr>
      <vt:lpstr>Choosing a differentiation and positioning strategy </vt:lpstr>
      <vt:lpstr>PowerPoint Presentation</vt:lpstr>
      <vt:lpstr>Developing a Positioning Statement</vt:lpstr>
      <vt:lpstr>PowerPoint Presentation</vt:lpstr>
      <vt:lpstr>Positioning maps</vt:lpstr>
      <vt:lpstr>Figure 6.3</vt:lpstr>
      <vt:lpstr>Choosing an overall positioning strategy. One common and important aid: The Positioning Map</vt:lpstr>
      <vt:lpstr>Choosing an overall positioning strategy.  Re-positioning</vt:lpstr>
      <vt:lpstr>Another example of a positioning map</vt:lpstr>
      <vt:lpstr>PowerPoint Presentation</vt:lpstr>
      <vt:lpstr>Choosing an overall positioning strategy - another Positioning Map</vt:lpstr>
      <vt:lpstr>Choosing an overall positioning strategy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Marketing</dc:title>
  <dc:creator>Helen Eastwood</dc:creator>
  <cp:lastModifiedBy>Sean Doherty</cp:lastModifiedBy>
  <cp:revision>42</cp:revision>
  <dcterms:created xsi:type="dcterms:W3CDTF">2020-08-26T02:53:07Z</dcterms:created>
  <dcterms:modified xsi:type="dcterms:W3CDTF">2025-11-30T23:21:04Z</dcterms:modified>
</cp:coreProperties>
</file>