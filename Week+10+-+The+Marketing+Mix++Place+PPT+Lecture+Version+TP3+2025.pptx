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 id="2147483659" r:id="rId2"/>
  </p:sldMasterIdLst>
  <p:notesMasterIdLst>
    <p:notesMasterId r:id="rId32"/>
  </p:notesMasterIdLst>
  <p:handoutMasterIdLst>
    <p:handoutMasterId r:id="rId33"/>
  </p:handoutMasterIdLst>
  <p:sldIdLst>
    <p:sldId id="317" r:id="rId3"/>
    <p:sldId id="259" r:id="rId4"/>
    <p:sldId id="697" r:id="rId5"/>
    <p:sldId id="444" r:id="rId6"/>
    <p:sldId id="393" r:id="rId7"/>
    <p:sldId id="399" r:id="rId8"/>
    <p:sldId id="405" r:id="rId9"/>
    <p:sldId id="408" r:id="rId10"/>
    <p:sldId id="610" r:id="rId11"/>
    <p:sldId id="688" r:id="rId12"/>
    <p:sldId id="695" r:id="rId13"/>
    <p:sldId id="412" r:id="rId14"/>
    <p:sldId id="413" r:id="rId15"/>
    <p:sldId id="414" r:id="rId16"/>
    <p:sldId id="415" r:id="rId17"/>
    <p:sldId id="416" r:id="rId18"/>
    <p:sldId id="417" r:id="rId19"/>
    <p:sldId id="418" r:id="rId20"/>
    <p:sldId id="419" r:id="rId21"/>
    <p:sldId id="422" r:id="rId22"/>
    <p:sldId id="423" r:id="rId23"/>
    <p:sldId id="427" r:id="rId24"/>
    <p:sldId id="438" r:id="rId25"/>
    <p:sldId id="439" r:id="rId26"/>
    <p:sldId id="440" r:id="rId27"/>
    <p:sldId id="430" r:id="rId28"/>
    <p:sldId id="696" r:id="rId29"/>
    <p:sldId id="431" r:id="rId30"/>
    <p:sldId id="432" r:id="rId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Leah Cooper" initials="LC" lastIdx="8" clrIdx="7"/>
  <p:cmAuthor id="1" name="Ruchi Sachdev" initials="" lastIdx="8" clrIdx="1"/>
  <p:cmAuthor id="8" name="Helen Eastwood" initials="HE" lastIdx="6" clrIdx="8">
    <p:extLst>
      <p:ext uri="{19B8F6BF-5375-455C-9EA6-DF929625EA0E}">
        <p15:presenceInfo xmlns:p15="http://schemas.microsoft.com/office/powerpoint/2012/main" userId="5aa2ff6742d9cc68" providerId="Windows Liv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Leah Cooper" initials="" lastIdx="1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0036A2"/>
    <a:srgbClr val="002A7E"/>
    <a:srgbClr val="0044CC"/>
    <a:srgbClr val="004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1B4445-E124-4832-9288-116998D1F1F3}" v="4" dt="2026-01-04T22:38:51.811"/>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03" autoAdjust="0"/>
    <p:restoredTop sz="90955" autoAdjust="0"/>
  </p:normalViewPr>
  <p:slideViewPr>
    <p:cSldViewPr snapToGrid="0" snapToObjects="1">
      <p:cViewPr varScale="1">
        <p:scale>
          <a:sx n="97" d="100"/>
          <a:sy n="97" d="100"/>
        </p:scale>
        <p:origin x="1986" y="13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65" d="100"/>
          <a:sy n="65" d="100"/>
        </p:scale>
        <p:origin x="87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Doherty" userId="c798169c-4e9d-40c7-a5f5-4af3192a3352" providerId="ADAL" clId="{7998E8E8-7EF2-45D9-A206-304098AD2052}"/>
    <pc:docChg chg="modSld">
      <pc:chgData name="Sean Doherty" userId="c798169c-4e9d-40c7-a5f5-4af3192a3352" providerId="ADAL" clId="{7998E8E8-7EF2-45D9-A206-304098AD2052}" dt="2026-01-04T22:35:06.158" v="3" actId="20577"/>
      <pc:docMkLst>
        <pc:docMk/>
      </pc:docMkLst>
      <pc:sldChg chg="modSp mod">
        <pc:chgData name="Sean Doherty" userId="c798169c-4e9d-40c7-a5f5-4af3192a3352" providerId="ADAL" clId="{7998E8E8-7EF2-45D9-A206-304098AD2052}" dt="2026-01-04T22:35:06.158" v="3" actId="20577"/>
        <pc:sldMkLst>
          <pc:docMk/>
          <pc:sldMk cId="1676336410" sldId="412"/>
        </pc:sldMkLst>
        <pc:spChg chg="mod">
          <ac:chgData name="Sean Doherty" userId="c798169c-4e9d-40c7-a5f5-4af3192a3352" providerId="ADAL" clId="{7998E8E8-7EF2-45D9-A206-304098AD2052}" dt="2026-01-04T22:35:06.158" v="3" actId="20577"/>
          <ac:spMkLst>
            <pc:docMk/>
            <pc:sldMk cId="1676336410" sldId="412"/>
            <ac:spMk id="3" creationId="{C7697BCC-A93B-4430-8CDA-E7B6FF3D13D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1/5/2026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txBody>
          <a:bodyPr/>
          <a:lstStyle/>
          <a:p>
            <a:endParaRPr lang="en-AU"/>
          </a:p>
        </p:txBody>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756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D7B7A684-F905-3824-EE8C-E779D35811A9}"/>
            </a:ext>
          </a:extLst>
        </p:cNvPr>
        <p:cNvGrpSpPr/>
        <p:nvPr/>
      </p:nvGrpSpPr>
      <p:grpSpPr>
        <a:xfrm>
          <a:off x="0" y="0"/>
          <a:ext cx="0" cy="0"/>
          <a:chOff x="0" y="0"/>
          <a:chExt cx="0" cy="0"/>
        </a:xfrm>
      </p:grpSpPr>
      <p:sp>
        <p:nvSpPr>
          <p:cNvPr id="120" name="Shape 120">
            <a:extLst>
              <a:ext uri="{FF2B5EF4-FFF2-40B4-BE49-F238E27FC236}">
                <a16:creationId xmlns:a16="http://schemas.microsoft.com/office/drawing/2014/main" id="{15526361-214A-957B-EA6E-FC5A17E8B9CE}"/>
              </a:ext>
            </a:extLst>
          </p:cNvPr>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a:extLst>
              <a:ext uri="{FF2B5EF4-FFF2-40B4-BE49-F238E27FC236}">
                <a16:creationId xmlns:a16="http://schemas.microsoft.com/office/drawing/2014/main" id="{3E2C9F49-BAC9-53A0-62AD-1D6D9F8F6A63}"/>
              </a:ext>
            </a:extLst>
          </p:cNvPr>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1054214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3401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flow diagram depicts the following: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Supplier supplies Raw materials to the Manufacturer.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Manufacturer buys Raw materials from Supplier, assembles them, provides Batch and Line continuous process, and finally packs them to deliver them to Distributor and Retailer.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Distributor supplies the same to Retailer and to Agents and brokers, who, in turn supply to the End user.</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Inventory is created at every stage in case of Manufacturer, Distributor, Retailer, and Agents and brokers.</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Pictorial depiction shows a water pipeline leading to End users. </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spcAft>
                <a:spcPts val="1000"/>
              </a:spcAft>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EFTPOS and POS scan data pass through EDI link, JIT system and QRT EDI link in the pipeline.</a:t>
            </a:r>
            <a:endParaRPr lang="en-NZ" sz="1800" dirty="0">
              <a:effectLst/>
              <a:latin typeface="Calibri" panose="020F0502020204030204" pitchFamily="34" charset="0"/>
              <a:ea typeface="Calibri" panose="020F0502020204030204" pitchFamily="34" charset="0"/>
            </a:endParaRPr>
          </a:p>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90795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960418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347657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606066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txBody>
          <a:bodyPr/>
          <a:lstStyle/>
          <a:p>
            <a:endParaRPr lang="en-AU"/>
          </a:p>
        </p:txBody>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i="1" dirty="0">
              <a:ea typeface="ＭＳ Ｐゴシック" panose="020B0600070205080204" pitchFamily="34" charset="-128"/>
              <a:cs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478">
              <a:spcBef>
                <a:spcPct val="30000"/>
              </a:spcBef>
              <a:defRPr sz="1200">
                <a:solidFill>
                  <a:schemeClr val="tx1"/>
                </a:solidFill>
                <a:latin typeface="Verdana" panose="020B0604030504040204" pitchFamily="34" charset="0"/>
                <a:cs typeface="Arial" panose="020B0604020202020204" pitchFamily="34" charset="0"/>
              </a:defRPr>
            </a:lvl1pPr>
            <a:lvl2pPr marL="717661" indent="-276023" defTabSz="915478">
              <a:spcBef>
                <a:spcPct val="30000"/>
              </a:spcBef>
              <a:defRPr sz="1200">
                <a:solidFill>
                  <a:schemeClr val="tx1"/>
                </a:solidFill>
                <a:latin typeface="Verdana" panose="020B0604030504040204" pitchFamily="34" charset="0"/>
                <a:cs typeface="Arial" panose="020B0604020202020204" pitchFamily="34" charset="0"/>
              </a:defRPr>
            </a:lvl2pPr>
            <a:lvl3pPr marL="1104094" indent="-220819" defTabSz="915478">
              <a:spcBef>
                <a:spcPct val="30000"/>
              </a:spcBef>
              <a:defRPr sz="1200">
                <a:solidFill>
                  <a:schemeClr val="tx1"/>
                </a:solidFill>
                <a:latin typeface="Verdana" panose="020B0604030504040204" pitchFamily="34" charset="0"/>
                <a:cs typeface="Arial" panose="020B0604020202020204" pitchFamily="34" charset="0"/>
              </a:defRPr>
            </a:lvl3pPr>
            <a:lvl4pPr marL="1545731" indent="-220819" defTabSz="915478">
              <a:spcBef>
                <a:spcPct val="30000"/>
              </a:spcBef>
              <a:defRPr sz="1200">
                <a:solidFill>
                  <a:schemeClr val="tx1"/>
                </a:solidFill>
                <a:latin typeface="Verdana" panose="020B0604030504040204" pitchFamily="34" charset="0"/>
                <a:cs typeface="Arial" panose="020B0604020202020204" pitchFamily="34" charset="0"/>
              </a:defRPr>
            </a:lvl4pPr>
            <a:lvl5pPr marL="1987369" indent="-220819" defTabSz="915478">
              <a:spcBef>
                <a:spcPct val="30000"/>
              </a:spcBef>
              <a:defRPr sz="1200">
                <a:solidFill>
                  <a:schemeClr val="tx1"/>
                </a:solidFill>
                <a:latin typeface="Verdana" panose="020B0604030504040204" pitchFamily="34" charset="0"/>
                <a:cs typeface="Arial" panose="020B0604020202020204" pitchFamily="34" charset="0"/>
              </a:defRPr>
            </a:lvl5pPr>
            <a:lvl6pPr marL="2429007" indent="-220819" defTabSz="915478" eaLnBrk="0" fontAlgn="base" hangingPunct="0">
              <a:spcBef>
                <a:spcPct val="30000"/>
              </a:spcBef>
              <a:spcAft>
                <a:spcPct val="0"/>
              </a:spcAft>
              <a:defRPr sz="1200">
                <a:solidFill>
                  <a:schemeClr val="tx1"/>
                </a:solidFill>
                <a:latin typeface="Verdana" panose="020B0604030504040204" pitchFamily="34" charset="0"/>
                <a:cs typeface="Arial" panose="020B0604020202020204" pitchFamily="34" charset="0"/>
              </a:defRPr>
            </a:lvl6pPr>
            <a:lvl7pPr marL="2870644" indent="-220819" defTabSz="915478" eaLnBrk="0" fontAlgn="base" hangingPunct="0">
              <a:spcBef>
                <a:spcPct val="30000"/>
              </a:spcBef>
              <a:spcAft>
                <a:spcPct val="0"/>
              </a:spcAft>
              <a:defRPr sz="1200">
                <a:solidFill>
                  <a:schemeClr val="tx1"/>
                </a:solidFill>
                <a:latin typeface="Verdana" panose="020B0604030504040204" pitchFamily="34" charset="0"/>
                <a:cs typeface="Arial" panose="020B0604020202020204" pitchFamily="34" charset="0"/>
              </a:defRPr>
            </a:lvl7pPr>
            <a:lvl8pPr marL="3312282" indent="-220819" defTabSz="915478" eaLnBrk="0" fontAlgn="base" hangingPunct="0">
              <a:spcBef>
                <a:spcPct val="30000"/>
              </a:spcBef>
              <a:spcAft>
                <a:spcPct val="0"/>
              </a:spcAft>
              <a:defRPr sz="1200">
                <a:solidFill>
                  <a:schemeClr val="tx1"/>
                </a:solidFill>
                <a:latin typeface="Verdana" panose="020B0604030504040204" pitchFamily="34" charset="0"/>
                <a:cs typeface="Arial" panose="020B0604020202020204" pitchFamily="34" charset="0"/>
              </a:defRPr>
            </a:lvl8pPr>
            <a:lvl9pPr marL="3753919" indent="-220819" defTabSz="915478" eaLnBrk="0" fontAlgn="base" hangingPunct="0">
              <a:spcBef>
                <a:spcPct val="30000"/>
              </a:spcBef>
              <a:spcAft>
                <a:spcPct val="0"/>
              </a:spcAft>
              <a:defRPr sz="1200">
                <a:solidFill>
                  <a:schemeClr val="tx1"/>
                </a:solidFill>
                <a:latin typeface="Verdana" panose="020B0604030504040204" pitchFamily="34" charset="0"/>
                <a:cs typeface="Arial" panose="020B0604020202020204" pitchFamily="34" charset="0"/>
              </a:defRPr>
            </a:lvl9pPr>
          </a:lstStyle>
          <a:p>
            <a:pPr>
              <a:spcBef>
                <a:spcPct val="0"/>
              </a:spcBef>
            </a:pPr>
            <a:fld id="{AF1095D7-CE09-4B0C-9925-FB048774A864}" type="slidenum">
              <a:rPr lang="en-US" altLang="en-US">
                <a:latin typeface="Arial" panose="020B0604020202020204" pitchFamily="34" charset="0"/>
              </a:rPr>
              <a:pPr>
                <a:spcBef>
                  <a:spcPct val="0"/>
                </a:spcBef>
              </a:pPr>
              <a:t>10</a:t>
            </a:fld>
            <a:endParaRPr lang="en-US" altLang="en-US" dirty="0">
              <a:latin typeface="Arial" panose="020B0604020202020204" pitchFamily="34" charset="0"/>
            </a:endParaRPr>
          </a:p>
        </p:txBody>
      </p:sp>
    </p:spTree>
    <p:extLst>
      <p:ext uri="{BB962C8B-B14F-4D97-AF65-F5344CB8AC3E}">
        <p14:creationId xmlns:p14="http://schemas.microsoft.com/office/powerpoint/2010/main" val="209575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5400">
                <a:solidFill>
                  <a:srgbClr val="000000"/>
                </a:solidFill>
                <a:latin typeface="Arial Narrow" panose="020B0606020202030204" pitchFamily="34" charset="0"/>
              </a:defRPr>
            </a:lvl1pPr>
            <a:lvl2pPr marL="742950" indent="-285750" eaLnBrk="0" hangingPunct="0">
              <a:defRPr sz="5400">
                <a:solidFill>
                  <a:srgbClr val="000000"/>
                </a:solidFill>
                <a:latin typeface="Arial Narrow" panose="020B0606020202030204" pitchFamily="34" charset="0"/>
              </a:defRPr>
            </a:lvl2pPr>
            <a:lvl3pPr marL="1143000" indent="-228600" eaLnBrk="0" hangingPunct="0">
              <a:defRPr sz="5400">
                <a:solidFill>
                  <a:srgbClr val="000000"/>
                </a:solidFill>
                <a:latin typeface="Arial Narrow" panose="020B0606020202030204" pitchFamily="34" charset="0"/>
              </a:defRPr>
            </a:lvl3pPr>
            <a:lvl4pPr marL="1600200" indent="-228600" eaLnBrk="0" hangingPunct="0">
              <a:defRPr sz="5400">
                <a:solidFill>
                  <a:srgbClr val="000000"/>
                </a:solidFill>
                <a:latin typeface="Arial Narrow" panose="020B0606020202030204" pitchFamily="34" charset="0"/>
              </a:defRPr>
            </a:lvl4pPr>
            <a:lvl5pPr marL="2057400" indent="-228600" eaLnBrk="0" hangingPunct="0">
              <a:defRPr sz="5400">
                <a:solidFill>
                  <a:srgbClr val="000000"/>
                </a:solidFill>
                <a:latin typeface="Arial Narrow" panose="020B0606020202030204" pitchFamily="34" charset="0"/>
              </a:defRPr>
            </a:lvl5pPr>
            <a:lvl6pPr marL="2514600" indent="-228600" algn="ctr" eaLnBrk="0" fontAlgn="base" hangingPunct="0">
              <a:lnSpc>
                <a:spcPct val="80000"/>
              </a:lnSpc>
              <a:spcBef>
                <a:spcPct val="0"/>
              </a:spcBef>
              <a:spcAft>
                <a:spcPct val="0"/>
              </a:spcAft>
              <a:defRPr sz="5400">
                <a:solidFill>
                  <a:srgbClr val="000000"/>
                </a:solidFill>
                <a:latin typeface="Arial Narrow" panose="020B0606020202030204" pitchFamily="34" charset="0"/>
              </a:defRPr>
            </a:lvl6pPr>
            <a:lvl7pPr marL="2971800" indent="-228600" algn="ctr" eaLnBrk="0" fontAlgn="base" hangingPunct="0">
              <a:lnSpc>
                <a:spcPct val="80000"/>
              </a:lnSpc>
              <a:spcBef>
                <a:spcPct val="0"/>
              </a:spcBef>
              <a:spcAft>
                <a:spcPct val="0"/>
              </a:spcAft>
              <a:defRPr sz="5400">
                <a:solidFill>
                  <a:srgbClr val="000000"/>
                </a:solidFill>
                <a:latin typeface="Arial Narrow" panose="020B0606020202030204" pitchFamily="34" charset="0"/>
              </a:defRPr>
            </a:lvl7pPr>
            <a:lvl8pPr marL="3429000" indent="-228600" algn="ctr" eaLnBrk="0" fontAlgn="base" hangingPunct="0">
              <a:lnSpc>
                <a:spcPct val="80000"/>
              </a:lnSpc>
              <a:spcBef>
                <a:spcPct val="0"/>
              </a:spcBef>
              <a:spcAft>
                <a:spcPct val="0"/>
              </a:spcAft>
              <a:defRPr sz="5400">
                <a:solidFill>
                  <a:srgbClr val="000000"/>
                </a:solidFill>
                <a:latin typeface="Arial Narrow" panose="020B0606020202030204" pitchFamily="34" charset="0"/>
              </a:defRPr>
            </a:lvl8pPr>
            <a:lvl9pPr marL="3886200" indent="-228600" algn="ctr" eaLnBrk="0" fontAlgn="base" hangingPunct="0">
              <a:lnSpc>
                <a:spcPct val="80000"/>
              </a:lnSpc>
              <a:spcBef>
                <a:spcPct val="0"/>
              </a:spcBef>
              <a:spcAft>
                <a:spcPct val="0"/>
              </a:spcAft>
              <a:defRPr sz="5400">
                <a:solidFill>
                  <a:srgbClr val="000000"/>
                </a:solidFill>
                <a:latin typeface="Arial Narrow" panose="020B0606020202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CC93A58-10DA-4005-A27A-2F459E0AEF76}" type="slidenum">
              <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AU"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7827" name="Rectangle 2"/>
          <p:cNvSpPr>
            <a:spLocks noGrp="1" noRot="1" noChangeAspect="1" noChangeArrowheads="1" noTextEdit="1"/>
          </p:cNvSpPr>
          <p:nvPr>
            <p:ph type="sldImg"/>
          </p:nvPr>
        </p:nvSpPr>
        <p:spPr>
          <a:ln/>
        </p:spPr>
        <p:txBody>
          <a:bodyPr/>
          <a:lstStyle/>
          <a:p>
            <a:endParaRPr lang="en-AU"/>
          </a:p>
        </p:txBody>
      </p:sp>
      <p:sp>
        <p:nvSpPr>
          <p:cNvPr id="77828"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anose="020B0604020202020204" pitchFamily="34" charset="0"/>
              </a:rPr>
              <a:t>Relates to objective 3</a:t>
            </a:r>
            <a:endParaRPr lang="en-AU" altLang="en-US" b="1">
              <a:latin typeface="Arial" panose="020B0604020202020204" pitchFamily="34" charset="0"/>
            </a:endParaRPr>
          </a:p>
        </p:txBody>
      </p:sp>
    </p:spTree>
    <p:extLst>
      <p:ext uri="{BB962C8B-B14F-4D97-AF65-F5344CB8AC3E}">
        <p14:creationId xmlns:p14="http://schemas.microsoft.com/office/powerpoint/2010/main" val="256923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2709363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1695854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Conventional marketing channel progresses through Producer, Wholesaler and Retailer, each of which is depicted as an independent unit, leading to Consumer.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Times New Roman" panose="02020603050405020304" pitchFamily="18" charset="0"/>
                <a:cs typeface="Calibri" panose="020F0502020204030204" pitchFamily="34" charset="0"/>
              </a:rPr>
              <a:t>Vertical marketing system depicts Producer, Wholesaler and Retailer as a single unit to </a:t>
            </a:r>
            <a:r>
              <a:rPr lang="en-AU" sz="1800">
                <a:effectLst/>
                <a:latin typeface="Calibri" panose="020F0502020204030204" pitchFamily="34" charset="0"/>
                <a:ea typeface="Times New Roman" panose="02020603050405020304" pitchFamily="18" charset="0"/>
                <a:cs typeface="Calibri" panose="020F0502020204030204" pitchFamily="34" charset="0"/>
              </a:rPr>
              <a:t>represent , acting </a:t>
            </a:r>
            <a:r>
              <a:rPr lang="en-AU" sz="1800" dirty="0">
                <a:effectLst/>
                <a:latin typeface="Calibri" panose="020F0502020204030204" pitchFamily="34" charset="0"/>
                <a:ea typeface="Times New Roman" panose="02020603050405020304" pitchFamily="18" charset="0"/>
                <a:cs typeface="Calibri" panose="020F0502020204030204" pitchFamily="34" charset="0"/>
              </a:rPr>
              <a:t>as a unified system, leading to Consumer.</a:t>
            </a:r>
            <a:endParaRPr lang="en-NZ" sz="1800" dirty="0">
              <a:effectLst/>
              <a:latin typeface="Calibri" panose="020F0502020204030204" pitchFamily="34" charset="0"/>
              <a:ea typeface="Calibri" panose="020F0502020204030204" pitchFamily="34" charset="0"/>
            </a:endParaRPr>
          </a:p>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0165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999904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Vertical marketing systems (VMSs) are divided into Corporate VMS, Contractual VMS and Administered VMS. </a:t>
            </a: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Contractual VMS is further divided into three types: Wholesaler-sponsored voluntary chains, Retailer cooperatives and Franchise organisations.</a:t>
            </a:r>
            <a:endParaRPr lang="en-NZ" sz="1800" dirty="0">
              <a:effectLst/>
              <a:latin typeface="Calibri" panose="020F0502020204030204" pitchFamily="34" charset="0"/>
              <a:ea typeface="Calibri" panose="020F0502020204030204" pitchFamily="34" charset="0"/>
            </a:endParaRPr>
          </a:p>
          <a:p>
            <a:pPr marL="0" lvl="0" indent="0">
              <a:lnSpc>
                <a:spcPct val="115000"/>
              </a:lnSpc>
              <a:spcBef>
                <a:spcPts val="1800"/>
              </a:spcBef>
              <a:buFont typeface="Arial" panose="020B0604020202020204" pitchFamily="34" charset="0"/>
              <a:buNone/>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marL="0" lvl="0" indent="0">
              <a:lnSpc>
                <a:spcPct val="115000"/>
              </a:lnSpc>
              <a:spcBef>
                <a:spcPts val="1800"/>
              </a:spcBef>
              <a:buFont typeface="Arial" panose="020B0604020202020204" pitchFamily="34" charset="0"/>
              <a:buNone/>
            </a:pPr>
            <a:r>
              <a:rPr lang="en-AU" sz="1800" dirty="0">
                <a:effectLst/>
                <a:latin typeface="Calibri" panose="020F0502020204030204" pitchFamily="34" charset="0"/>
                <a:ea typeface="Times New Roman" panose="02020603050405020304" pitchFamily="18" charset="0"/>
                <a:cs typeface="Calibri" panose="020F0502020204030204" pitchFamily="34" charset="0"/>
              </a:rPr>
              <a:t>Franchise organisations is further divided into Manufacturer-sponsored retailer franchise network, Manufacturer-sponsored wholesaler franchise network and Service-firm-sponsored retailer franchise network.</a:t>
            </a:r>
            <a:endParaRPr lang="en-NZ" sz="1800" dirty="0">
              <a:effectLst/>
              <a:latin typeface="Calibri" panose="020F0502020204030204" pitchFamily="34" charset="0"/>
              <a:ea typeface="Calibri" panose="020F0502020204030204" pitchFamily="34" charset="0"/>
            </a:endParaRPr>
          </a:p>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64369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337814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2302996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2369056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1758838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247298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2091427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549850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125662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510605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805109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txBody>
          <a:bodyPr/>
          <a:lstStyle/>
          <a:p>
            <a:endParaRPr lang="en-AU"/>
          </a:p>
        </p:txBody>
      </p:sp>
    </p:spTree>
    <p:extLst>
      <p:ext uri="{BB962C8B-B14F-4D97-AF65-F5344CB8AC3E}">
        <p14:creationId xmlns:p14="http://schemas.microsoft.com/office/powerpoint/2010/main" val="382654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editable copyright line">
    <p:spTree>
      <p:nvGrpSpPr>
        <p:cNvPr id="1" name="Shape 17"/>
        <p:cNvGrpSpPr/>
        <p:nvPr/>
      </p:nvGrpSpPr>
      <p:grpSpPr>
        <a:xfrm>
          <a:off x="0" y="0"/>
          <a:ext cx="0" cy="0"/>
          <a:chOff x="0" y="0"/>
          <a:chExt cx="0" cy="0"/>
        </a:xfrm>
      </p:grpSpPr>
      <p:sp>
        <p:nvSpPr>
          <p:cNvPr id="18" name="Background"/>
          <p:cNvSpPr/>
          <p:nvPr/>
        </p:nvSpPr>
        <p:spPr>
          <a:xfrm>
            <a:off x="0" y="-9525"/>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1"/>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Copyright line">
            <a:extLst>
              <a:ext uri="{FF2B5EF4-FFF2-40B4-BE49-F238E27FC236}">
                <a16:creationId xmlns:a16="http://schemas.microsoft.com/office/drawing/2014/main" id="{0291B9DA-1DAD-4AB4-94B2-688DFC8B093A}"/>
              </a:ext>
            </a:extLst>
          </p:cNvPr>
          <p:cNvSpPr>
            <a:spLocks noGrp="1"/>
          </p:cNvSpPr>
          <p:nvPr>
            <p:ph type="body" sz="quarter" idx="13"/>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endParaRPr lang="en-US" dirty="0"/>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401267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Opener editable copyright line">
    <p:spTree>
      <p:nvGrpSpPr>
        <p:cNvPr id="1" name="Shape 37"/>
        <p:cNvGrpSpPr/>
        <p:nvPr/>
      </p:nvGrpSpPr>
      <p:grpSpPr>
        <a:xfrm>
          <a:off x="0" y="0"/>
          <a:ext cx="0" cy="0"/>
          <a:chOff x="0" y="0"/>
          <a:chExt cx="0" cy="0"/>
        </a:xfrm>
      </p:grpSpPr>
      <p:sp>
        <p:nvSpPr>
          <p:cNvPr id="38" name="Title"/>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ubtitle"/>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Chapter Number"/>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Chapter title"/>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3" name="Book cover">
            <a:extLst>
              <a:ext uri="{FF2B5EF4-FFF2-40B4-BE49-F238E27FC236}">
                <a16:creationId xmlns:a16="http://schemas.microsoft.com/office/drawing/2014/main" id="{0321E090-1CF7-424F-AB1C-A74C4C5178D1}"/>
              </a:ext>
            </a:extLst>
          </p:cNvPr>
          <p:cNvSpPr>
            <a:spLocks noGrp="1"/>
          </p:cNvSpPr>
          <p:nvPr>
            <p:ph type="pic" sz="quarter" idx="13"/>
          </p:nvPr>
        </p:nvSpPr>
        <p:spPr>
          <a:xfrm>
            <a:off x="457200" y="1600200"/>
            <a:ext cx="4360863" cy="4565650"/>
          </a:xfrm>
        </p:spPr>
        <p:txBody>
          <a:bodyPr/>
          <a:lstStyle/>
          <a:p>
            <a:endParaRPr lang="en-US" dirty="0"/>
          </a:p>
        </p:txBody>
      </p:sp>
      <p:sp>
        <p:nvSpPr>
          <p:cNvPr id="9" name="Copyright line"/>
          <p:cNvSpPr>
            <a:spLocks noGrp="1"/>
          </p:cNvSpPr>
          <p:nvPr>
            <p:ph type="body" sz="quarter" idx="17" hasCustomPrompt="1"/>
          </p:nvPr>
        </p:nvSpPr>
        <p:spPr>
          <a:xfrm>
            <a:off x="1452563" y="6165850"/>
            <a:ext cx="7234237" cy="509704"/>
          </a:xfrm>
        </p:spPr>
        <p:txBody>
          <a:bodyPr vert="horz"/>
          <a:lstStyle>
            <a:lvl1pPr marL="101600" indent="0" algn="r">
              <a:buNone/>
              <a:defRPr sz="1200">
                <a:latin typeface="Verdana"/>
                <a:cs typeface="Verdana"/>
              </a:defRPr>
            </a:lvl1p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a:p>
            <a:pPr lvl="0"/>
            <a:endParaRPr lang="en-US" dirty="0"/>
          </a:p>
        </p:txBody>
      </p:sp>
      <p:sp>
        <p:nvSpPr>
          <p:cNvPr id="4" name="Date"/>
          <p:cNvSpPr>
            <a:spLocks noGrp="1"/>
          </p:cNvSpPr>
          <p:nvPr>
            <p:ph type="dt" idx="14"/>
          </p:nvPr>
        </p:nvSpPr>
        <p:spPr/>
        <p:txBody>
          <a:bodyPr/>
          <a:lstStyle/>
          <a:p>
            <a:endParaRPr lang="en-US" dirty="0"/>
          </a:p>
        </p:txBody>
      </p:sp>
      <p:sp>
        <p:nvSpPr>
          <p:cNvPr id="6" name="Slide Number"/>
          <p:cNvSpPr>
            <a:spLocks noGrp="1"/>
          </p:cNvSpPr>
          <p:nvPr>
            <p:ph type="sldNum" idx="16"/>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95558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441450"/>
            <a:ext cx="8232775" cy="4598988"/>
          </a:xfrm>
        </p:spPr>
        <p:txBody>
          <a:bodyPr/>
          <a:lstStyle>
            <a:lvl1pPr marL="1588" indent="0">
              <a:buNone/>
              <a:defRPr sz="2400"/>
            </a:lvl1pPr>
          </a:lstStyle>
          <a:p>
            <a:pPr lvl="0"/>
            <a:r>
              <a:rPr lang="en-US" dirty="0"/>
              <a:t>Edit Master text styles</a:t>
            </a:r>
          </a:p>
        </p:txBody>
      </p:sp>
      <p:sp>
        <p:nvSpPr>
          <p:cNvPr id="27"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8"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4503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598988"/>
          </a:xfrm>
        </p:spPr>
        <p:txBody>
          <a:bodyPr/>
          <a:lstStyle>
            <a:lvl1pPr marL="360363" indent="-258763">
              <a:defRPr sz="2400"/>
            </a:lvl1pPr>
            <a:lvl2pPr marL="809625" indent="-250825">
              <a:defRPr sz="2400"/>
            </a:lvl2pPr>
            <a:lvl3pPr marL="1260475" indent="-244475">
              <a:defRPr sz="2000"/>
            </a:lvl3pPr>
            <a:lvl4pPr marL="1700213" indent="-227013">
              <a:defRPr sz="2000"/>
            </a:lvl4pPr>
            <a:lvl5pPr marL="2149475" indent="-219075">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Background"/>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Figure number"/>
          <p:cNvSpPr txBox="1">
            <a:spLocks noGrp="1"/>
          </p:cNvSpPr>
          <p:nvPr>
            <p:ph type="title" hasCustomPrompt="1"/>
          </p:nvPr>
        </p:nvSpPr>
        <p:spPr>
          <a:xfrm>
            <a:off x="457200" y="228600"/>
            <a:ext cx="8229600" cy="672657"/>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a:t>
            </a:r>
            <a:endParaRPr dirty="0"/>
          </a:p>
        </p:txBody>
      </p:sp>
      <p:sp>
        <p:nvSpPr>
          <p:cNvPr id="4" name="Figure title"/>
          <p:cNvSpPr>
            <a:spLocks noGrp="1"/>
          </p:cNvSpPr>
          <p:nvPr>
            <p:ph type="body" sz="quarter" idx="14" hasCustomPrompt="1"/>
          </p:nvPr>
        </p:nvSpPr>
        <p:spPr>
          <a:xfrm>
            <a:off x="457200" y="901257"/>
            <a:ext cx="8232775" cy="611631"/>
          </a:xfrm>
        </p:spPr>
        <p:txBody>
          <a:bodyPr vert="horz"/>
          <a:lstStyle>
            <a:lvl1pPr marL="0" indent="0">
              <a:buNone/>
              <a:defRPr sz="2400" b="1">
                <a:solidFill>
                  <a:srgbClr val="007FA3"/>
                </a:solidFill>
              </a:defRPr>
            </a:lvl1pPr>
          </a:lstStyle>
          <a:p>
            <a:pPr lvl="0"/>
            <a:r>
              <a:rPr lang="en-AU" dirty="0"/>
              <a:t>Click to add figure title</a:t>
            </a:r>
          </a:p>
        </p:txBody>
      </p:sp>
      <p:sp>
        <p:nvSpPr>
          <p:cNvPr id="3" name="Picture placeholder">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720546"/>
          </a:xfrm>
        </p:spPr>
        <p:txBody>
          <a:bodyPr/>
          <a:lstStyle/>
          <a:p>
            <a:endParaRPr lang="en-US" dirty="0"/>
          </a:p>
        </p:txBody>
      </p:sp>
      <p:sp>
        <p:nvSpPr>
          <p:cNvPr id="55" name="Figure caption"/>
          <p:cNvSpPr txBox="1">
            <a:spLocks noGrp="1"/>
          </p:cNvSpPr>
          <p:nvPr>
            <p:ph type="body" idx="1" hasCustomPrompt="1"/>
          </p:nvPr>
        </p:nvSpPr>
        <p:spPr>
          <a:xfrm>
            <a:off x="457200" y="5233434"/>
            <a:ext cx="8229600" cy="835904"/>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Figure number and title">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Caption">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5" name="Footer">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ection title"/>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Tex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4978" y="566928"/>
            <a:ext cx="8373208" cy="552892"/>
          </a:xfrm>
        </p:spPr>
        <p:txBody>
          <a:bodyPr/>
          <a:lstStyle>
            <a:lvl1pPr>
              <a:defRPr baseline="0">
                <a:solidFill>
                  <a:srgbClr val="C00000"/>
                </a:solidFill>
              </a:defRPr>
            </a:lvl1pPr>
          </a:lstStyle>
          <a:p>
            <a:r>
              <a:rPr lang="en-US" dirty="0"/>
              <a:t> Managing the product line</a:t>
            </a:r>
            <a:endParaRPr lang="en-GB" dirty="0"/>
          </a:p>
        </p:txBody>
      </p:sp>
      <p:sp>
        <p:nvSpPr>
          <p:cNvPr id="4" name="Rectangle 11"/>
          <p:cNvSpPr>
            <a:spLocks noGrp="1" noChangeArrowheads="1"/>
          </p:cNvSpPr>
          <p:nvPr>
            <p:ph type="sldNum" sz="quarter" idx="10"/>
          </p:nvPr>
        </p:nvSpPr>
        <p:spPr>
          <a:xfrm>
            <a:off x="8811358" y="6678614"/>
            <a:ext cx="332642" cy="179387"/>
          </a:xfrm>
          <a:prstGeom prst="rect">
            <a:avLst/>
          </a:prstGeom>
          <a:ln/>
        </p:spPr>
        <p:txBody>
          <a:bodyPr/>
          <a:lstStyle>
            <a:lvl1pPr>
              <a:defRPr/>
            </a:lvl1pPr>
          </a:lstStyle>
          <a:p>
            <a:pPr>
              <a:defRPr/>
            </a:pPr>
            <a:fld id="{A38E4037-6637-4F58-A3D6-02D940F5DE4F}" type="slidenum">
              <a:rPr lang="en-GB"/>
              <a:pPr>
                <a:defRPr/>
              </a:pPr>
              <a:t>‹#›</a:t>
            </a:fld>
            <a:endParaRPr lang="en-GB" dirty="0"/>
          </a:p>
        </p:txBody>
      </p:sp>
      <p:sp>
        <p:nvSpPr>
          <p:cNvPr id="5" name="Rectangle 27"/>
          <p:cNvSpPr>
            <a:spLocks noGrp="1" noChangeArrowheads="1"/>
          </p:cNvSpPr>
          <p:nvPr>
            <p:ph type="ftr" sz="quarter" idx="11"/>
          </p:nvPr>
        </p:nvSpPr>
        <p:spPr>
          <a:xfrm>
            <a:off x="385397" y="6697664"/>
            <a:ext cx="8253046" cy="160337"/>
          </a:xfrm>
          <a:prstGeom prst="rect">
            <a:avLst/>
          </a:prstGeom>
          <a:ln/>
        </p:spPr>
        <p:txBody>
          <a:bodyPr/>
          <a:lstStyle>
            <a:lvl1pPr>
              <a:defRPr/>
            </a:lvl1pPr>
          </a:lstStyle>
          <a:p>
            <a:pPr>
              <a:defRPr/>
            </a:pPr>
            <a:r>
              <a:rPr lang="en-AU" dirty="0"/>
              <a:t>Copyright ©2015 Pearson Australia (a division of Pearson Australia Group Pty Ltd) – 9781486002696/Armstrong/Principles of Marketing/6</a:t>
            </a:r>
            <a:r>
              <a:rPr lang="en-AU" baseline="30000" dirty="0"/>
              <a:t>th</a:t>
            </a:r>
            <a:r>
              <a:rPr lang="en-AU" dirty="0"/>
              <a:t> edition</a:t>
            </a:r>
          </a:p>
        </p:txBody>
      </p:sp>
    </p:spTree>
    <p:extLst>
      <p:ext uri="{BB962C8B-B14F-4D97-AF65-F5344CB8AC3E}">
        <p14:creationId xmlns:p14="http://schemas.microsoft.com/office/powerpoint/2010/main" val="1392512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1890" y="0"/>
            <a:ext cx="8373208" cy="552892"/>
          </a:xfrm>
        </p:spPr>
        <p:txBody>
          <a:bodyPr/>
          <a:lstStyle>
            <a:lvl1pPr>
              <a:defRPr baseline="0">
                <a:solidFill>
                  <a:srgbClr val="C00000"/>
                </a:solidFill>
              </a:defRPr>
            </a:lvl1pPr>
          </a:lstStyle>
          <a:p>
            <a:r>
              <a:rPr lang="en-US" dirty="0"/>
              <a:t> 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642171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
        <p:nvSpPr>
          <p:cNvPr id="16" name="Shape 16"/>
          <p:cNvSpPr txBox="1"/>
          <p:nvPr/>
        </p:nvSpPr>
        <p:spPr>
          <a:xfrm>
            <a:off x="1524001" y="6229160"/>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endParaRPr lang="en-AU" sz="1200" b="0" i="0" u="none" strike="noStrike" cap="none" dirty="0">
              <a:solidFill>
                <a:schemeClr val="tx1"/>
              </a:solidFill>
              <a:latin typeface="Verdana"/>
              <a:ea typeface="Arial"/>
              <a:cs typeface="Verdana"/>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524916008"/>
      </p:ext>
    </p:extLst>
  </p:cSld>
  <p:clrMap bg1="lt1" tx1="dk1" bg2="dk2" tx2="lt2" accent1="accent1" accent2="accent2" accent3="accent3" accent4="accent4" accent5="accent5" accent6="accent6" hlink="hlink" folHlink="folHlink"/>
  <p:sldLayoutIdLst>
    <p:sldLayoutId id="2147483688" r:id="rId1"/>
    <p:sldLayoutId id="214748368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Text box"/>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Pearson logo"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6" name="Copyright line"/>
          <p:cNvSpPr txBox="1"/>
          <p:nvPr/>
        </p:nvSpPr>
        <p:spPr>
          <a:xfrm>
            <a:off x="1524001" y="6280967"/>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r>
              <a:rPr lang="en-AU" sz="1200" dirty="0">
                <a:solidFill>
                  <a:schemeClr val="tx1"/>
                </a:solidFill>
                <a:ea typeface="Open Sans"/>
                <a:sym typeface="Open Sans"/>
              </a:rPr>
              <a:t>Copyright © 2021 Pearson Australia (a division of Pearson Australia Group Pty Ltd)</a:t>
            </a:r>
          </a:p>
          <a:p>
            <a:pPr marL="0" lvl="0" algn="r">
              <a:spcBef>
                <a:spcPts val="0"/>
              </a:spcBef>
              <a:buClr>
                <a:schemeClr val="lt2"/>
              </a:buClr>
            </a:pPr>
            <a:r>
              <a:rPr lang="en-AU" sz="1200" dirty="0">
                <a:solidFill>
                  <a:schemeClr val="tx1"/>
                </a:solidFill>
                <a:ea typeface="Open Sans"/>
                <a:sym typeface="Open Sans"/>
              </a:rPr>
              <a:t>9781488626203/Armstrong/Principles of Marketing, 8e</a:t>
            </a:r>
            <a:endParaRPr lang="en-AU" sz="1200" dirty="0">
              <a:solidFill>
                <a:schemeClr val="tx1"/>
              </a:solidFill>
            </a:endParaRPr>
          </a:p>
        </p:txBody>
      </p:sp>
      <p:sp>
        <p:nvSpPr>
          <p:cNvPr id="2" name="Footer">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cSld>
  <p:clrMap bg1="lt1" tx1="dk1" bg2="dk2" tx2="lt2" accent1="accent1" accent2="accent2" accent3="accent3" accent4="accent4" accent5="accent5" accent6="accent6" hlink="hlink" folHlink="folHlink"/>
  <p:sldLayoutIdLst>
    <p:sldLayoutId id="2147483689" r:id="rId1"/>
    <p:sldLayoutId id="2147483649" r:id="rId2"/>
    <p:sldLayoutId id="2147483664" r:id="rId3"/>
    <p:sldLayoutId id="2147483671" r:id="rId4"/>
    <p:sldLayoutId id="2147483673" r:id="rId5"/>
    <p:sldLayoutId id="2147483655" r:id="rId6"/>
    <p:sldLayoutId id="2147483656" r:id="rId7"/>
    <p:sldLayoutId id="2147483670" r:id="rId8"/>
    <p:sldLayoutId id="2147483669" r:id="rId9"/>
    <p:sldLayoutId id="2147483657" r:id="rId10"/>
    <p:sldLayoutId id="2147483690" r:id="rId11"/>
    <p:sldLayoutId id="214748369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Marketing</a:t>
            </a:r>
          </a:p>
        </p:txBody>
      </p:sp>
      <p:sp>
        <p:nvSpPr>
          <p:cNvPr id="3" name="Sub heading"/>
          <p:cNvSpPr>
            <a:spLocks noGrp="1"/>
          </p:cNvSpPr>
          <p:nvPr>
            <p:ph type="body" idx="1"/>
          </p:nvPr>
        </p:nvSpPr>
        <p:spPr/>
        <p:txBody>
          <a:bodyPr/>
          <a:lstStyle/>
          <a:p>
            <a:r>
              <a:rPr lang="en-US" sz="2400" dirty="0"/>
              <a:t>8</a:t>
            </a:r>
            <a:r>
              <a:rPr lang="en-US" sz="2400" baseline="30000" dirty="0"/>
              <a:t>th</a:t>
            </a:r>
            <a:r>
              <a:rPr lang="en-US" sz="2400" dirty="0"/>
              <a:t> edition</a:t>
            </a:r>
          </a:p>
        </p:txBody>
      </p:sp>
      <p:sp>
        <p:nvSpPr>
          <p:cNvPr id="5" name="Chapter #"/>
          <p:cNvSpPr>
            <a:spLocks noGrp="1"/>
          </p:cNvSpPr>
          <p:nvPr>
            <p:ph type="body" idx="2"/>
          </p:nvPr>
        </p:nvSpPr>
        <p:spPr>
          <a:xfrm>
            <a:off x="4572000" y="1600200"/>
            <a:ext cx="4114800" cy="1600198"/>
          </a:xfrm>
        </p:spPr>
        <p:txBody>
          <a:bodyPr/>
          <a:lstStyle/>
          <a:p>
            <a:r>
              <a:rPr lang="en-US" dirty="0"/>
              <a:t>Chapter 10</a:t>
            </a:r>
          </a:p>
        </p:txBody>
      </p:sp>
      <p:sp>
        <p:nvSpPr>
          <p:cNvPr id="6" name="Chapter title"/>
          <p:cNvSpPr>
            <a:spLocks noGrp="1"/>
          </p:cNvSpPr>
          <p:nvPr>
            <p:ph type="body" idx="3"/>
          </p:nvPr>
        </p:nvSpPr>
        <p:spPr>
          <a:xfrm>
            <a:off x="4572000" y="3200400"/>
            <a:ext cx="4114800" cy="2925763"/>
          </a:xfrm>
        </p:spPr>
        <p:txBody>
          <a:bodyPr/>
          <a:lstStyle/>
          <a:p>
            <a:r>
              <a:rPr lang="en-US" sz="2400" dirty="0"/>
              <a:t>Placement: Custome</a:t>
            </a:r>
            <a:r>
              <a:rPr lang="en-US" dirty="0"/>
              <a:t>r value fulfilment</a:t>
            </a:r>
            <a:endParaRPr lang="en-US" sz="2400" dirty="0"/>
          </a:p>
        </p:txBody>
      </p:sp>
      <p:sp>
        <p:nvSpPr>
          <p:cNvPr id="7" name="Copyright line"/>
          <p:cNvSpPr>
            <a:spLocks noGrp="1"/>
          </p:cNvSpPr>
          <p:nvPr>
            <p:ph type="body" sz="quarter" idx="17"/>
          </p:nvPr>
        </p:nvSpPr>
        <p:spPr/>
        <p:txBody>
          <a:body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p:txBody>
      </p:sp>
      <p:pic>
        <p:nvPicPr>
          <p:cNvPr id="18" name="Picture 17" descr="Front cover: Principles of marketing 8th edition by Armstrong, Denize, Volkov, Adam, Kotler, Ang, Love, Doherty and van Esch">
            <a:extLst>
              <a:ext uri="{FF2B5EF4-FFF2-40B4-BE49-F238E27FC236}">
                <a16:creationId xmlns:a16="http://schemas.microsoft.com/office/drawing/2014/main" id="{6CA55C66-AF2C-40EA-9858-A7FB2499B473}"/>
              </a:ext>
            </a:extLst>
          </p:cNvPr>
          <p:cNvPicPr>
            <a:picLocks noChangeAspect="1"/>
          </p:cNvPicPr>
          <p:nvPr/>
        </p:nvPicPr>
        <p:blipFill>
          <a:blip r:embed="rId3"/>
          <a:stretch>
            <a:fillRect/>
          </a:stretch>
        </p:blipFill>
        <p:spPr>
          <a:xfrm>
            <a:off x="565665" y="1439257"/>
            <a:ext cx="3692010" cy="4639959"/>
          </a:xfrm>
          <a:prstGeom prst="rect">
            <a:avLst/>
          </a:prstGeom>
        </p:spPr>
      </p:pic>
    </p:spTree>
    <p:extLst>
      <p:ext uri="{BB962C8B-B14F-4D97-AF65-F5344CB8AC3E}">
        <p14:creationId xmlns:p14="http://schemas.microsoft.com/office/powerpoint/2010/main" val="2404558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571210"/>
          </a:xfrm>
        </p:spPr>
        <p:txBody>
          <a:bodyPr/>
          <a:lstStyle/>
          <a:p>
            <a:r>
              <a:rPr lang="en-US" sz="3200" dirty="0"/>
              <a:t>Place</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698092"/>
            <a:ext cx="8229599" cy="4525963"/>
          </a:xfrm>
        </p:spPr>
        <p:txBody>
          <a:bodyPr/>
          <a:lstStyle/>
          <a:p>
            <a:pPr>
              <a:spcBef>
                <a:spcPts val="600"/>
              </a:spcBef>
              <a:spcAft>
                <a:spcPts val="600"/>
              </a:spcAft>
            </a:pPr>
            <a:r>
              <a:rPr lang="en-US" sz="2000" dirty="0"/>
              <a:t>Place (the 3</a:t>
            </a:r>
            <a:r>
              <a:rPr lang="en-US" sz="2000" baseline="30000" dirty="0"/>
              <a:t>rd</a:t>
            </a:r>
            <a:r>
              <a:rPr lang="en-US" sz="2000" dirty="0"/>
              <a:t> P) refers to how a company makes its products or services available to customers. </a:t>
            </a:r>
          </a:p>
          <a:p>
            <a:pPr>
              <a:spcBef>
                <a:spcPts val="600"/>
              </a:spcBef>
              <a:spcAft>
                <a:spcPts val="600"/>
              </a:spcAft>
            </a:pPr>
            <a:r>
              <a:rPr lang="en-US" sz="2000" dirty="0"/>
              <a:t>It is all about </a:t>
            </a:r>
          </a:p>
          <a:p>
            <a:pPr lvl="1">
              <a:spcAft>
                <a:spcPts val="600"/>
              </a:spcAft>
              <a:buFont typeface="Wingdings" panose="05000000000000000000" pitchFamily="2" charset="2"/>
              <a:buChar char="§"/>
            </a:pPr>
            <a:r>
              <a:rPr lang="en-US" sz="2000" b="1" dirty="0"/>
              <a:t>getting the right product, </a:t>
            </a:r>
          </a:p>
          <a:p>
            <a:pPr lvl="1">
              <a:spcAft>
                <a:spcPts val="600"/>
              </a:spcAft>
              <a:buFont typeface="Wingdings" panose="05000000000000000000" pitchFamily="2" charset="2"/>
              <a:buChar char="§"/>
            </a:pPr>
            <a:r>
              <a:rPr lang="en-US" sz="2000" b="1" dirty="0"/>
              <a:t>in the right quantity, </a:t>
            </a:r>
          </a:p>
          <a:p>
            <a:pPr lvl="1">
              <a:spcAft>
                <a:spcPts val="600"/>
              </a:spcAft>
              <a:buFont typeface="Wingdings" panose="05000000000000000000" pitchFamily="2" charset="2"/>
              <a:buChar char="§"/>
            </a:pPr>
            <a:r>
              <a:rPr lang="en-US" sz="2000" b="1" dirty="0"/>
              <a:t>at the right time, and </a:t>
            </a:r>
          </a:p>
          <a:p>
            <a:pPr lvl="1">
              <a:spcAft>
                <a:spcPts val="600"/>
              </a:spcAft>
              <a:buFont typeface="Wingdings" panose="05000000000000000000" pitchFamily="2" charset="2"/>
              <a:buChar char="§"/>
            </a:pPr>
            <a:r>
              <a:rPr lang="en-US" sz="2000" b="1" dirty="0"/>
              <a:t>in the right location</a:t>
            </a:r>
            <a:r>
              <a:rPr lang="en-US" sz="2000" dirty="0"/>
              <a:t> </a:t>
            </a:r>
          </a:p>
          <a:p>
            <a:pPr>
              <a:spcBef>
                <a:spcPts val="600"/>
              </a:spcBef>
              <a:spcAft>
                <a:spcPts val="600"/>
              </a:spcAft>
            </a:pPr>
            <a:r>
              <a:rPr lang="en-US" sz="2000" dirty="0"/>
              <a:t>so, customers can buy it conveniently.</a:t>
            </a:r>
            <a:endParaRPr lang="en-NZ" sz="2000" dirty="0"/>
          </a:p>
          <a:p>
            <a:pPr>
              <a:spcBef>
                <a:spcPts val="600"/>
              </a:spcBef>
              <a:spcAft>
                <a:spcPts val="600"/>
              </a:spcAft>
            </a:pPr>
            <a:r>
              <a:rPr lang="en-US" sz="2000" b="1" dirty="0"/>
              <a:t>Narrow View of Place – Customer Access: </a:t>
            </a:r>
            <a:br>
              <a:rPr lang="en-US" sz="2000" b="1" dirty="0"/>
            </a:br>
            <a:r>
              <a:rPr lang="en-US" sz="2000" dirty="0"/>
              <a:t>This focuses on the final stage of distribution: how and where customers actually obtain the product.</a:t>
            </a:r>
            <a:endParaRPr lang="en-NZ" sz="2000" dirty="0"/>
          </a:p>
          <a:p>
            <a:pPr>
              <a:spcBef>
                <a:spcPts val="600"/>
              </a:spcBef>
              <a:spcAft>
                <a:spcPts val="600"/>
              </a:spcAft>
            </a:pPr>
            <a:r>
              <a:rPr lang="en-US" sz="2000" b="1" dirty="0"/>
              <a:t>Broader View of Place – Supply Chain &amp; Distribution Network: </a:t>
            </a:r>
            <a:r>
              <a:rPr lang="en-US" sz="2000" dirty="0"/>
              <a:t>This expands Place to include all the processes and structures that get the product from producer → distributor → retailer → customer.</a:t>
            </a:r>
            <a:endParaRPr lang="en-NZ"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93448F09-9FB5-D33B-9AC6-820738611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6B537-8CEA-D046-7120-9DF15C6ACD8E}"/>
              </a:ext>
            </a:extLst>
          </p:cNvPr>
          <p:cNvSpPr>
            <a:spLocks noGrp="1"/>
          </p:cNvSpPr>
          <p:nvPr>
            <p:ph type="title"/>
          </p:nvPr>
        </p:nvSpPr>
        <p:spPr/>
        <p:txBody>
          <a:bodyPr/>
          <a:lstStyle/>
          <a:p>
            <a:r>
              <a:rPr lang="en-US" sz="3200" dirty="0"/>
              <a:t>Supply chains and the value delivery network</a:t>
            </a:r>
            <a:endParaRPr lang="en-US" sz="2000" dirty="0"/>
          </a:p>
        </p:txBody>
      </p:sp>
      <p:sp>
        <p:nvSpPr>
          <p:cNvPr id="3" name="Text Placeholder 2">
            <a:extLst>
              <a:ext uri="{FF2B5EF4-FFF2-40B4-BE49-F238E27FC236}">
                <a16:creationId xmlns:a16="http://schemas.microsoft.com/office/drawing/2014/main" id="{F8B64540-BDF1-303A-9193-36BB2F753B32}"/>
              </a:ext>
            </a:extLst>
          </p:cNvPr>
          <p:cNvSpPr>
            <a:spLocks noGrp="1"/>
          </p:cNvSpPr>
          <p:nvPr>
            <p:ph type="body" idx="4294967295"/>
          </p:nvPr>
        </p:nvSpPr>
        <p:spPr>
          <a:xfrm>
            <a:off x="457199" y="1428750"/>
            <a:ext cx="8229599" cy="4525963"/>
          </a:xfrm>
        </p:spPr>
        <p:txBody>
          <a:bodyPr/>
          <a:lstStyle/>
          <a:p>
            <a:pPr>
              <a:spcBef>
                <a:spcPts val="600"/>
              </a:spcBef>
              <a:spcAft>
                <a:spcPts val="600"/>
              </a:spcAft>
            </a:pPr>
            <a:r>
              <a:rPr lang="en-US" sz="2000" dirty="0"/>
              <a:t>A </a:t>
            </a:r>
            <a:r>
              <a:rPr lang="en-US" sz="2000" b="1" dirty="0"/>
              <a:t>supply chain</a:t>
            </a:r>
            <a:r>
              <a:rPr lang="en-US" sz="2000" dirty="0"/>
              <a:t> </a:t>
            </a:r>
            <a:br>
              <a:rPr lang="en-US" sz="2000" dirty="0"/>
            </a:br>
            <a:r>
              <a:rPr lang="en-US" sz="2000" dirty="0"/>
              <a:t>is a system of efficiently and effectively producing, making and getting products to end-users.</a:t>
            </a:r>
          </a:p>
          <a:p>
            <a:pPr lvl="1">
              <a:spcAft>
                <a:spcPts val="600"/>
              </a:spcAft>
              <a:buFont typeface="Wingdings" panose="05000000000000000000" pitchFamily="2" charset="2"/>
              <a:buChar char="§"/>
            </a:pPr>
            <a:r>
              <a:rPr lang="en-US" sz="1800" dirty="0"/>
              <a:t>A supply chain pertains to both physical goods and services.</a:t>
            </a:r>
          </a:p>
          <a:p>
            <a:pPr>
              <a:spcBef>
                <a:spcPts val="600"/>
              </a:spcBef>
              <a:spcAft>
                <a:spcPts val="600"/>
              </a:spcAft>
            </a:pPr>
            <a:r>
              <a:rPr lang="en-NZ" sz="2000" b="1" dirty="0"/>
              <a:t>Supply chain management</a:t>
            </a:r>
            <a:r>
              <a:rPr lang="en-NZ" sz="2000" dirty="0"/>
              <a:t> </a:t>
            </a:r>
            <a:br>
              <a:rPr lang="en-NZ" sz="2000" dirty="0"/>
            </a:br>
            <a:r>
              <a:rPr lang="en-NZ" sz="2000" dirty="0"/>
              <a:t>is the process of managing upstream and downstream value-added flows of materials, final goods and related information among suppliers, the marketing organisation, marketing intermediaries and final consumers.</a:t>
            </a:r>
          </a:p>
          <a:p>
            <a:pPr lvl="1">
              <a:spcAft>
                <a:spcPts val="600"/>
              </a:spcAft>
              <a:buFont typeface="Wingdings" panose="05000000000000000000" pitchFamily="2" charset="2"/>
              <a:buChar char="§"/>
            </a:pPr>
            <a:r>
              <a:rPr lang="en-US" sz="1800" b="1" dirty="0"/>
              <a:t>Marketing logistics </a:t>
            </a:r>
            <a:r>
              <a:rPr lang="en-US" sz="1800" dirty="0"/>
              <a:t>(</a:t>
            </a:r>
            <a:r>
              <a:rPr lang="en-US" sz="1800" b="1" dirty="0"/>
              <a:t>physical distribution</a:t>
            </a:r>
            <a:r>
              <a:rPr lang="en-US" sz="1800" dirty="0"/>
              <a:t>) </a:t>
            </a:r>
            <a:br>
              <a:rPr lang="en-US" sz="1800" dirty="0"/>
            </a:br>
            <a:r>
              <a:rPr lang="en-US" sz="1800" dirty="0"/>
              <a:t>are the tasks involved in planning, implementing and controlling the physical flow of materials, final goods and related information from points of origin to points of consumption to meet customer requirements at a profit.</a:t>
            </a:r>
          </a:p>
          <a:p>
            <a:pPr>
              <a:spcBef>
                <a:spcPts val="600"/>
              </a:spcBef>
              <a:spcAft>
                <a:spcPts val="600"/>
              </a:spcAft>
            </a:pPr>
            <a:endParaRPr lang="en-NZ" sz="2000" dirty="0"/>
          </a:p>
          <a:p>
            <a:pPr>
              <a:spcBef>
                <a:spcPts val="600"/>
              </a:spcBef>
              <a:spcAft>
                <a:spcPts val="600"/>
              </a:spcAft>
            </a:pPr>
            <a:endParaRPr lang="en-NZ" sz="2000" dirty="0"/>
          </a:p>
          <a:p>
            <a:pPr>
              <a:spcBef>
                <a:spcPts val="600"/>
              </a:spcBef>
              <a:spcAft>
                <a:spcPts val="600"/>
              </a:spcAft>
            </a:pPr>
            <a:endParaRPr lang="en-NZ" sz="2000" dirty="0"/>
          </a:p>
        </p:txBody>
      </p:sp>
    </p:spTree>
    <p:extLst>
      <p:ext uri="{BB962C8B-B14F-4D97-AF65-F5344CB8AC3E}">
        <p14:creationId xmlns:p14="http://schemas.microsoft.com/office/powerpoint/2010/main" val="4080161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Supply chains and the value delivery network</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320024"/>
            <a:ext cx="8229599" cy="4525963"/>
          </a:xfrm>
        </p:spPr>
        <p:txBody>
          <a:bodyPr/>
          <a:lstStyle/>
          <a:p>
            <a:r>
              <a:rPr lang="en-US" sz="2000" dirty="0"/>
              <a:t>A </a:t>
            </a:r>
            <a:r>
              <a:rPr lang="en-US" sz="2000" b="1" dirty="0"/>
              <a:t>value delivery network</a:t>
            </a:r>
            <a:r>
              <a:rPr lang="en-US" sz="2000" dirty="0"/>
              <a:t> (VDN) comprises the marketing organisation, suppliers, distributors and, ultimately, customers who partner with each other to improve the performance of the entire system.</a:t>
            </a:r>
          </a:p>
          <a:p>
            <a:r>
              <a:rPr lang="en-US" sz="2000" dirty="0"/>
              <a:t>Importance of a </a:t>
            </a:r>
            <a:r>
              <a:rPr lang="en-US" sz="2000" b="1" dirty="0"/>
              <a:t>Value Delivery Network</a:t>
            </a:r>
            <a:r>
              <a:rPr lang="en-US" sz="2000" dirty="0"/>
              <a:t>:</a:t>
            </a:r>
          </a:p>
          <a:p>
            <a:pPr lvl="1">
              <a:buFont typeface="Wingdings" panose="05000000000000000000" pitchFamily="2" charset="2"/>
              <a:buChar char="§"/>
            </a:pPr>
            <a:r>
              <a:rPr lang="en-US" sz="1800" b="1" dirty="0"/>
              <a:t>Efficiency: </a:t>
            </a:r>
            <a:r>
              <a:rPr lang="en-US" sz="1800" dirty="0"/>
              <a:t>By working closely with all partners in the network, a company can optimize processes, reduce waste, and lower costs.</a:t>
            </a:r>
          </a:p>
          <a:p>
            <a:pPr lvl="1">
              <a:buFont typeface="Wingdings" panose="05000000000000000000" pitchFamily="2" charset="2"/>
              <a:buChar char="§"/>
            </a:pPr>
            <a:r>
              <a:rPr lang="en-US" sz="1800" b="1" dirty="0"/>
              <a:t>Responsiveness: </a:t>
            </a:r>
            <a:r>
              <a:rPr lang="en-US" sz="1800" dirty="0"/>
              <a:t>A well-coordinated VDN can respond more quickly to changes in customer demand or market conditions, ensuring that the company remains competitive.</a:t>
            </a:r>
          </a:p>
          <a:p>
            <a:pPr lvl="1">
              <a:buFont typeface="Wingdings" panose="05000000000000000000" pitchFamily="2" charset="2"/>
              <a:buChar char="§"/>
            </a:pPr>
            <a:r>
              <a:rPr lang="en-US" sz="1800" b="1" dirty="0"/>
              <a:t>Innovation: </a:t>
            </a:r>
            <a:r>
              <a:rPr lang="en-US" sz="1800" dirty="0"/>
              <a:t>Collaboration within the network can lead to new ideas and innovations that improve products, services, or processes.</a:t>
            </a:r>
          </a:p>
          <a:p>
            <a:pPr lvl="1">
              <a:buFont typeface="Wingdings" panose="05000000000000000000" pitchFamily="2" charset="2"/>
              <a:buChar char="§"/>
            </a:pPr>
            <a:r>
              <a:rPr lang="en-US" sz="1800" b="1" dirty="0"/>
              <a:t>Customer Satisfaction: </a:t>
            </a:r>
            <a:r>
              <a:rPr lang="en-US" sz="1800" dirty="0"/>
              <a:t>The ultimate goal of a VDN is to enhance the customer experience, leading to greater customer satisfaction and loyalty.</a:t>
            </a:r>
          </a:p>
          <a:p>
            <a:endParaRPr lang="en-NZ" sz="2000" dirty="0"/>
          </a:p>
        </p:txBody>
      </p:sp>
    </p:spTree>
    <p:extLst>
      <p:ext uri="{BB962C8B-B14F-4D97-AF65-F5344CB8AC3E}">
        <p14:creationId xmlns:p14="http://schemas.microsoft.com/office/powerpoint/2010/main" val="2128746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0781-5AB6-4381-A71E-EBC418F7E8D7}"/>
              </a:ext>
            </a:extLst>
          </p:cNvPr>
          <p:cNvSpPr>
            <a:spLocks noGrp="1"/>
          </p:cNvSpPr>
          <p:nvPr>
            <p:ph type="title"/>
          </p:nvPr>
        </p:nvSpPr>
        <p:spPr>
          <a:xfrm>
            <a:off x="1185862" y="228600"/>
            <a:ext cx="6772275" cy="672657"/>
          </a:xfrm>
        </p:spPr>
        <p:txBody>
          <a:bodyPr/>
          <a:lstStyle/>
          <a:p>
            <a:r>
              <a:rPr lang="en-NZ" sz="3200" dirty="0"/>
              <a:t>Supply chain for a typical product</a:t>
            </a:r>
          </a:p>
        </p:txBody>
      </p:sp>
      <p:pic>
        <p:nvPicPr>
          <p:cNvPr id="9" name="Picture Placeholder 8" descr="A flow diagram depicts the supply chain for a typical product. Full alt text description in Notes.">
            <a:extLst>
              <a:ext uri="{FF2B5EF4-FFF2-40B4-BE49-F238E27FC236}">
                <a16:creationId xmlns:a16="http://schemas.microsoft.com/office/drawing/2014/main" id="{536A93BE-CC45-485F-8A0E-A4E78775D3E4}"/>
              </a:ext>
            </a:extLst>
          </p:cNvPr>
          <p:cNvPicPr>
            <a:picLocks noGrp="1" noChangeAspect="1"/>
          </p:cNvPicPr>
          <p:nvPr>
            <p:ph type="pic" sz="quarter" idx="13"/>
          </p:nvPr>
        </p:nvPicPr>
        <p:blipFill rotWithShape="1">
          <a:blip r:embed="rId3"/>
          <a:srcRect t="975" b="5578"/>
          <a:stretch/>
        </p:blipFill>
        <p:spPr>
          <a:xfrm>
            <a:off x="1280161" y="1573914"/>
            <a:ext cx="6938010" cy="4151575"/>
          </a:xfrm>
        </p:spPr>
      </p:pic>
    </p:spTree>
    <p:extLst>
      <p:ext uri="{BB962C8B-B14F-4D97-AF65-F5344CB8AC3E}">
        <p14:creationId xmlns:p14="http://schemas.microsoft.com/office/powerpoint/2010/main" val="3628545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Supply chains and the value delivery network</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166018"/>
            <a:ext cx="8229599" cy="4525963"/>
          </a:xfrm>
        </p:spPr>
        <p:txBody>
          <a:bodyPr/>
          <a:lstStyle/>
          <a:p>
            <a:pPr marL="101600" indent="0">
              <a:buNone/>
            </a:pPr>
            <a:r>
              <a:rPr lang="en-US" sz="2400" b="1" dirty="0">
                <a:solidFill>
                  <a:srgbClr val="007FA3"/>
                </a:solidFill>
              </a:rPr>
              <a:t>Major logistics functions</a:t>
            </a:r>
          </a:p>
          <a:p>
            <a:r>
              <a:rPr lang="en-US" sz="2000" dirty="0"/>
              <a:t>The main logistics functions include:</a:t>
            </a:r>
          </a:p>
          <a:p>
            <a:pPr lvl="1">
              <a:buFont typeface="Wingdings" panose="05000000000000000000" pitchFamily="2" charset="2"/>
              <a:buChar char="§"/>
            </a:pPr>
            <a:r>
              <a:rPr lang="en-US" sz="2000" dirty="0"/>
              <a:t>Warehousing</a:t>
            </a:r>
          </a:p>
          <a:p>
            <a:pPr lvl="2" indent="-247650">
              <a:buFont typeface="Wingdings" panose="05000000000000000000" pitchFamily="2" charset="2"/>
              <a:buChar char="Ø"/>
            </a:pPr>
            <a:r>
              <a:rPr lang="en-US" sz="1800" dirty="0"/>
              <a:t>Production and consumption cycles rarely match</a:t>
            </a:r>
          </a:p>
          <a:p>
            <a:pPr lvl="1">
              <a:buFont typeface="Wingdings" panose="05000000000000000000" pitchFamily="2" charset="2"/>
              <a:buChar char="§"/>
            </a:pPr>
            <a:r>
              <a:rPr lang="en-US" sz="2000" dirty="0"/>
              <a:t>Inventory management</a:t>
            </a:r>
          </a:p>
          <a:p>
            <a:pPr lvl="2" indent="-247650">
              <a:buFont typeface="Wingdings" panose="05000000000000000000" pitchFamily="2" charset="2"/>
              <a:buChar char="Ø"/>
            </a:pPr>
            <a:r>
              <a:rPr lang="en-US" sz="1800" dirty="0"/>
              <a:t>firms must balance the costs of carrying larger inventories against resulting sales and profits.</a:t>
            </a:r>
          </a:p>
          <a:p>
            <a:pPr lvl="1">
              <a:buFont typeface="Wingdings" panose="05000000000000000000" pitchFamily="2" charset="2"/>
              <a:buChar char="§"/>
            </a:pPr>
            <a:r>
              <a:rPr lang="en-US" sz="2000" dirty="0"/>
              <a:t>Transportation</a:t>
            </a:r>
          </a:p>
          <a:p>
            <a:pPr lvl="2" indent="-247650">
              <a:buFont typeface="Wingdings" panose="05000000000000000000" pitchFamily="2" charset="2"/>
              <a:buChar char="Ø"/>
            </a:pPr>
            <a:r>
              <a:rPr lang="en-US" sz="1800" dirty="0"/>
              <a:t>Planes, trains, trucks, pipeline, ships and the internet</a:t>
            </a:r>
          </a:p>
          <a:p>
            <a:pPr lvl="1">
              <a:buFont typeface="Wingdings" panose="05000000000000000000" pitchFamily="2" charset="2"/>
              <a:buChar char="§"/>
            </a:pPr>
            <a:r>
              <a:rPr lang="en-US" sz="2000" dirty="0"/>
              <a:t>Logistics information management</a:t>
            </a:r>
          </a:p>
          <a:p>
            <a:pPr lvl="2" indent="-247650">
              <a:buFont typeface="Wingdings" panose="05000000000000000000" pitchFamily="2" charset="2"/>
              <a:buChar char="Ø"/>
            </a:pPr>
            <a:r>
              <a:rPr lang="en-US" sz="1800" dirty="0"/>
              <a:t>electronic data interchange (EDI), the digital exchange of data between </a:t>
            </a:r>
            <a:r>
              <a:rPr lang="en-US" sz="1800" dirty="0" err="1"/>
              <a:t>organisations</a:t>
            </a:r>
            <a:endParaRPr lang="en-US" sz="1800" dirty="0"/>
          </a:p>
          <a:p>
            <a:pPr lvl="2" indent="-247650">
              <a:buFont typeface="Wingdings" panose="05000000000000000000" pitchFamily="2" charset="2"/>
              <a:buChar char="Ø"/>
            </a:pPr>
            <a:r>
              <a:rPr lang="en-US" sz="1800" dirty="0"/>
              <a:t>vendor-managed inventory (</a:t>
            </a:r>
            <a:r>
              <a:rPr lang="en-US" sz="1800" dirty="0" err="1"/>
              <a:t>VMI</a:t>
            </a:r>
            <a:r>
              <a:rPr lang="en-US" sz="1800" dirty="0"/>
              <a:t>) systems or continuous inventory replenishment systems. </a:t>
            </a:r>
            <a:endParaRPr lang="en-US" sz="2000" dirty="0"/>
          </a:p>
        </p:txBody>
      </p:sp>
    </p:spTree>
    <p:extLst>
      <p:ext uri="{BB962C8B-B14F-4D97-AF65-F5344CB8AC3E}">
        <p14:creationId xmlns:p14="http://schemas.microsoft.com/office/powerpoint/2010/main" val="878231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The nature of marketing channels and value creation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577811"/>
            <a:ext cx="8229599" cy="4525963"/>
          </a:xfrm>
        </p:spPr>
        <p:txBody>
          <a:bodyPr/>
          <a:lstStyle/>
          <a:p>
            <a:pPr algn="l"/>
            <a:r>
              <a:rPr lang="en-NZ" sz="2000" b="0" i="0" u="none" strike="noStrike" baseline="0" dirty="0">
                <a:latin typeface="+mn-lt"/>
              </a:rPr>
              <a:t>A </a:t>
            </a:r>
            <a:r>
              <a:rPr lang="en-NZ" sz="2000" b="1" i="0" u="none" strike="noStrike" baseline="0" dirty="0">
                <a:latin typeface="+mn-lt"/>
              </a:rPr>
              <a:t>marketing channel </a:t>
            </a:r>
            <a:r>
              <a:rPr lang="en-NZ" sz="2000" b="0" i="0" u="none" strike="noStrike" baseline="0" dirty="0">
                <a:latin typeface="+mn-lt"/>
              </a:rPr>
              <a:t>(or </a:t>
            </a:r>
            <a:r>
              <a:rPr lang="en-NZ" sz="2000" b="1" i="0" u="none" strike="noStrike" baseline="0" dirty="0">
                <a:latin typeface="+mn-lt"/>
              </a:rPr>
              <a:t>distribution channel</a:t>
            </a:r>
            <a:r>
              <a:rPr lang="en-NZ" sz="2000" b="0" i="0" u="none" strike="noStrike" baseline="0" dirty="0">
                <a:latin typeface="+mn-lt"/>
              </a:rPr>
              <a:t>) is a </a:t>
            </a:r>
            <a:r>
              <a:rPr lang="en-NZ" sz="2000" dirty="0">
                <a:latin typeface="+mn-lt"/>
              </a:rPr>
              <a:t>set of interdependent organisations involved in the process of making a product or service available to users.</a:t>
            </a:r>
          </a:p>
          <a:p>
            <a:r>
              <a:rPr lang="en-US" sz="2000" dirty="0">
                <a:solidFill>
                  <a:schemeClr val="tx1"/>
                </a:solidFill>
              </a:rPr>
              <a:t>Marketing channels involve the interaction of intermediaries to bring finished goods and services to the marketplace.</a:t>
            </a:r>
          </a:p>
          <a:p>
            <a:pPr marL="71882" indent="0">
              <a:buNone/>
            </a:pPr>
            <a:endParaRPr lang="en-US" sz="2000" dirty="0">
              <a:solidFill>
                <a:schemeClr val="tx1"/>
              </a:solidFill>
            </a:endParaRPr>
          </a:p>
        </p:txBody>
      </p:sp>
    </p:spTree>
    <p:extLst>
      <p:ext uri="{BB962C8B-B14F-4D97-AF65-F5344CB8AC3E}">
        <p14:creationId xmlns:p14="http://schemas.microsoft.com/office/powerpoint/2010/main" val="41507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The nature of marketing channels and value creation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577811"/>
            <a:ext cx="8229599" cy="4525963"/>
          </a:xfrm>
        </p:spPr>
        <p:txBody>
          <a:bodyPr/>
          <a:lstStyle/>
          <a:p>
            <a:pPr marL="101600" indent="0" algn="l">
              <a:buNone/>
            </a:pPr>
            <a:r>
              <a:rPr lang="en-NZ" sz="2400" b="1" i="0" u="none" strike="noStrike" baseline="0" dirty="0">
                <a:solidFill>
                  <a:srgbClr val="007FA3"/>
                </a:solidFill>
                <a:latin typeface="+mn-lt"/>
              </a:rPr>
              <a:t>Number of channel levels</a:t>
            </a:r>
          </a:p>
          <a:p>
            <a:r>
              <a:rPr lang="en-NZ" sz="2000" dirty="0">
                <a:latin typeface="+mn-lt"/>
              </a:rPr>
              <a:t>A </a:t>
            </a:r>
            <a:r>
              <a:rPr lang="en-NZ" sz="2000" b="1" dirty="0">
                <a:latin typeface="+mn-lt"/>
              </a:rPr>
              <a:t>channel level </a:t>
            </a:r>
            <a:r>
              <a:rPr lang="en-NZ" sz="2000" dirty="0">
                <a:latin typeface="+mn-lt"/>
              </a:rPr>
              <a:t>is a layer of intermediaries who perform some work in bringing the product and its ownership closer to the final buyer.</a:t>
            </a:r>
          </a:p>
          <a:p>
            <a:pPr lvl="1">
              <a:buFont typeface="Wingdings" panose="05000000000000000000" pitchFamily="2" charset="2"/>
              <a:buChar char="§"/>
            </a:pPr>
            <a:r>
              <a:rPr lang="en-NZ" sz="2000" dirty="0">
                <a:solidFill>
                  <a:schemeClr val="tx1"/>
                </a:solidFill>
                <a:latin typeface="+mn-lt"/>
              </a:rPr>
              <a:t>The number of intermediary levels indicates the length of a channel.</a:t>
            </a:r>
          </a:p>
          <a:p>
            <a:r>
              <a:rPr lang="en-US" sz="2000" dirty="0">
                <a:solidFill>
                  <a:schemeClr val="tx1"/>
                </a:solidFill>
              </a:rPr>
              <a:t>A </a:t>
            </a:r>
            <a:r>
              <a:rPr lang="en-US" sz="2000" b="1" dirty="0">
                <a:solidFill>
                  <a:schemeClr val="tx1"/>
                </a:solidFill>
              </a:rPr>
              <a:t>direct marketing channel</a:t>
            </a:r>
            <a:r>
              <a:rPr lang="en-US" sz="2000" dirty="0">
                <a:solidFill>
                  <a:schemeClr val="tx1"/>
                </a:solidFill>
              </a:rPr>
              <a:t> has no intermediary levels.</a:t>
            </a:r>
          </a:p>
          <a:p>
            <a:r>
              <a:rPr lang="en-US" sz="2000" dirty="0">
                <a:solidFill>
                  <a:schemeClr val="tx1"/>
                </a:solidFill>
              </a:rPr>
              <a:t>An </a:t>
            </a:r>
            <a:r>
              <a:rPr lang="en-US" sz="2000" b="1" dirty="0">
                <a:solidFill>
                  <a:schemeClr val="tx1"/>
                </a:solidFill>
              </a:rPr>
              <a:t>indirect marketing channel </a:t>
            </a:r>
            <a:r>
              <a:rPr lang="en-US" sz="2000" dirty="0">
                <a:solidFill>
                  <a:schemeClr val="tx1"/>
                </a:solidFill>
              </a:rPr>
              <a:t>contains one or more intermediary levels.</a:t>
            </a:r>
          </a:p>
        </p:txBody>
      </p:sp>
    </p:spTree>
    <p:extLst>
      <p:ext uri="{BB962C8B-B14F-4D97-AF65-F5344CB8AC3E}">
        <p14:creationId xmlns:p14="http://schemas.microsoft.com/office/powerpoint/2010/main" val="3544429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sosceles Triangle 12"/>
          <p:cNvSpPr/>
          <p:nvPr/>
        </p:nvSpPr>
        <p:spPr bwMode="auto">
          <a:xfrm>
            <a:off x="941740" y="1199090"/>
            <a:ext cx="7011640" cy="5125105"/>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13314" name="Slide Number Placeholder 3"/>
          <p:cNvSpPr>
            <a:spLocks noGrp="1"/>
          </p:cNvSpPr>
          <p:nvPr>
            <p:ph type="sldNum" sz="quarter" idx="10"/>
          </p:nvPr>
        </p:nvSpPr>
        <p:spPr>
          <a:noFill/>
        </p:spPr>
        <p:txBody>
          <a:bodyPr/>
          <a:lstStyle>
            <a:lvl1pPr eaLnBrk="0" hangingPunct="0">
              <a:spcBef>
                <a:spcPct val="20000"/>
              </a:spcBef>
              <a:spcAft>
                <a:spcPct val="20000"/>
              </a:spcAft>
              <a:buSzPct val="80000"/>
              <a:buFont typeface="Verdana" pitchFamily="34" charset="0"/>
              <a:defRPr sz="1846">
                <a:solidFill>
                  <a:schemeClr val="tx1"/>
                </a:solidFill>
                <a:latin typeface="Verdana" pitchFamily="34" charset="0"/>
                <a:cs typeface="Arial" charset="0"/>
              </a:defRPr>
            </a:lvl1pPr>
            <a:lvl2pPr marL="685817" indent="-263776" eaLnBrk="0" hangingPunct="0">
              <a:spcBef>
                <a:spcPct val="20000"/>
              </a:spcBef>
              <a:spcAft>
                <a:spcPct val="20000"/>
              </a:spcAft>
              <a:buSzPct val="80000"/>
              <a:buFont typeface="Verdana" pitchFamily="34" charset="0"/>
              <a:buChar char="•"/>
              <a:defRPr sz="1846">
                <a:solidFill>
                  <a:schemeClr val="tx1"/>
                </a:solidFill>
                <a:latin typeface="Verdana" pitchFamily="34" charset="0"/>
                <a:cs typeface="Arial" charset="0"/>
              </a:defRPr>
            </a:lvl2pPr>
            <a:lvl3pPr marL="1055103" indent="-211021" eaLnBrk="0" hangingPunct="0">
              <a:spcBef>
                <a:spcPct val="20000"/>
              </a:spcBef>
              <a:spcAft>
                <a:spcPct val="20000"/>
              </a:spcAft>
              <a:buSzPct val="80000"/>
              <a:buFont typeface="Verdana" pitchFamily="34" charset="0"/>
              <a:buChar char="•"/>
              <a:defRPr sz="1846">
                <a:solidFill>
                  <a:schemeClr val="tx1"/>
                </a:solidFill>
                <a:latin typeface="Verdana" pitchFamily="34" charset="0"/>
                <a:cs typeface="Arial" charset="0"/>
              </a:defRPr>
            </a:lvl3pPr>
            <a:lvl4pPr marL="1477145" indent="-211021" eaLnBrk="0"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4pPr>
            <a:lvl5pPr marL="1899186" indent="-211021" eaLnBrk="0"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5pPr>
            <a:lvl6pPr marL="2321227"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6pPr>
            <a:lvl7pPr marL="2743269"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7pPr>
            <a:lvl8pPr marL="3165310"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8pPr>
            <a:lvl9pPr marL="3587351"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9pPr>
          </a:lstStyle>
          <a:p>
            <a:pPr eaLnBrk="1" hangingPunct="1">
              <a:spcBef>
                <a:spcPct val="0"/>
              </a:spcBef>
              <a:spcAft>
                <a:spcPct val="0"/>
              </a:spcAft>
              <a:buSzTx/>
              <a:buFontTx/>
              <a:buNone/>
            </a:pPr>
            <a:fld id="{228AF38D-EBB2-4B65-A171-5D19233BF007}" type="slidenum">
              <a:rPr lang="en-GB" altLang="en-US" sz="831">
                <a:solidFill>
                  <a:srgbClr val="4D4D4D"/>
                </a:solidFill>
              </a:rPr>
              <a:pPr eaLnBrk="1" hangingPunct="1">
                <a:spcBef>
                  <a:spcPct val="0"/>
                </a:spcBef>
                <a:spcAft>
                  <a:spcPct val="0"/>
                </a:spcAft>
                <a:buSzTx/>
                <a:buFontTx/>
                <a:buNone/>
              </a:pPr>
              <a:t>9</a:t>
            </a:fld>
            <a:endParaRPr lang="en-GB" altLang="en-US" sz="831">
              <a:solidFill>
                <a:srgbClr val="4D4D4D"/>
              </a:solidFill>
            </a:endParaRPr>
          </a:p>
        </p:txBody>
      </p:sp>
      <p:sp>
        <p:nvSpPr>
          <p:cNvPr id="13315" name="Rectangle 2"/>
          <p:cNvSpPr>
            <a:spLocks noGrp="1" noChangeArrowheads="1"/>
          </p:cNvSpPr>
          <p:nvPr>
            <p:ph type="title"/>
          </p:nvPr>
        </p:nvSpPr>
        <p:spPr>
          <a:xfrm>
            <a:off x="749757" y="730339"/>
            <a:ext cx="7475144" cy="674813"/>
          </a:xfrm>
        </p:spPr>
        <p:txBody>
          <a:bodyPr/>
          <a:lstStyle/>
          <a:p>
            <a:pPr eaLnBrk="1" hangingPunct="1"/>
            <a:r>
              <a:rPr lang="en-GB" altLang="en-US" sz="3200" dirty="0">
                <a:solidFill>
                  <a:srgbClr val="007FA3"/>
                </a:solidFill>
                <a:latin typeface="+mj-lt"/>
              </a:rPr>
              <a:t>Marketing channel options: a simplistic view</a:t>
            </a:r>
          </a:p>
        </p:txBody>
      </p:sp>
      <p:sp>
        <p:nvSpPr>
          <p:cNvPr id="13317" name="Rectangle 27"/>
          <p:cNvSpPr txBox="1">
            <a:spLocks noChangeArrowheads="1"/>
          </p:cNvSpPr>
          <p:nvPr/>
        </p:nvSpPr>
        <p:spPr bwMode="gray">
          <a:xfrm>
            <a:off x="657958" y="6447692"/>
            <a:ext cx="8253046" cy="148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spcBef>
                <a:spcPct val="20000"/>
              </a:spcBef>
              <a:spcAft>
                <a:spcPct val="20000"/>
              </a:spcAft>
              <a:buSzPct val="80000"/>
              <a:buFont typeface="Verdana" pitchFamily="34" charset="0"/>
              <a:defRPr sz="2000">
                <a:solidFill>
                  <a:schemeClr val="tx1"/>
                </a:solidFill>
                <a:latin typeface="Verdana" pitchFamily="34" charset="0"/>
                <a:cs typeface="Arial" charset="0"/>
              </a:defRPr>
            </a:lvl1pPr>
            <a:lvl2pPr marL="358775" indent="-244475"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2pPr>
            <a:lvl3pPr marL="714375" indent="-247650"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3pPr>
            <a:lvl4pPr marL="1066800" indent="-247650"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4pPr>
            <a:lvl5pPr marL="1428750" indent="-257175"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5pPr>
            <a:lvl6pPr marL="18859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6pPr>
            <a:lvl7pPr marL="23431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7pPr>
            <a:lvl8pPr marL="28003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8pPr>
            <a:lvl9pPr marL="32575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9pPr>
          </a:lstStyle>
          <a:p>
            <a:pPr>
              <a:defRPr/>
            </a:pPr>
            <a:r>
              <a:rPr lang="en-AU" sz="738" dirty="0"/>
              <a:t>Copyright ©2015 Pearson Australia (a division of Pearson Australia Group Pty Ltd) – 9781486002696/Armstrong/Principles of Marketing/6e</a:t>
            </a:r>
          </a:p>
          <a:p>
            <a:pPr>
              <a:defRPr/>
            </a:pPr>
            <a:endParaRPr lang="en-AU" sz="738" dirty="0"/>
          </a:p>
        </p:txBody>
      </p:sp>
      <p:sp>
        <p:nvSpPr>
          <p:cNvPr id="21" name="Rounded Rectangle 20"/>
          <p:cNvSpPr/>
          <p:nvPr/>
        </p:nvSpPr>
        <p:spPr bwMode="auto">
          <a:xfrm>
            <a:off x="3087498" y="3170257"/>
            <a:ext cx="3327434" cy="474186"/>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rtlCol="0" anchor="t" anchorCtr="0" compatLnSpc="1">
            <a:prstTxWarp prst="textNoShape">
              <a:avLst/>
            </a:prstTxWarp>
          </a:bodyPr>
          <a:lstStyle/>
          <a:p>
            <a:pPr marL="162662"/>
            <a:r>
              <a:rPr lang="en-US" sz="1292" b="1" dirty="0"/>
              <a:t>Channel length: </a:t>
            </a:r>
            <a:r>
              <a:rPr lang="en-US" sz="1292" dirty="0"/>
              <a:t>The </a:t>
            </a:r>
            <a:r>
              <a:rPr lang="en-US" sz="1292" i="1" dirty="0"/>
              <a:t>number of intermediary levels</a:t>
            </a:r>
            <a:r>
              <a:rPr lang="en-US" sz="1292" dirty="0"/>
              <a:t>.</a:t>
            </a:r>
            <a:endParaRPr lang="en-US" sz="1477" dirty="0">
              <a:solidFill>
                <a:prstClr val="black"/>
              </a:solidFill>
              <a:latin typeface="Verdana" pitchFamily="34" charset="0"/>
              <a:cs typeface="Arial" charset="0"/>
            </a:endParaRPr>
          </a:p>
        </p:txBody>
      </p:sp>
      <p:grpSp>
        <p:nvGrpSpPr>
          <p:cNvPr id="7" name="Group 6"/>
          <p:cNvGrpSpPr/>
          <p:nvPr/>
        </p:nvGrpSpPr>
        <p:grpSpPr>
          <a:xfrm>
            <a:off x="749757" y="1930614"/>
            <a:ext cx="7601386" cy="718494"/>
            <a:chOff x="812236" y="1805749"/>
            <a:chExt cx="8234835" cy="778368"/>
          </a:xfrm>
        </p:grpSpPr>
        <p:sp>
          <p:nvSpPr>
            <p:cNvPr id="8" name="Content Placeholder 7"/>
            <p:cNvSpPr txBox="1">
              <a:spLocks/>
            </p:cNvSpPr>
            <p:nvPr/>
          </p:nvSpPr>
          <p:spPr bwMode="auto">
            <a:xfrm>
              <a:off x="812236" y="1805749"/>
              <a:ext cx="1630850" cy="749424"/>
            </a:xfrm>
            <a:prstGeom prst="flowChartAlternateProcess">
              <a:avLst/>
            </a:prstGeom>
            <a:solidFill>
              <a:srgbClr val="D8EEC0"/>
            </a:solidFill>
            <a:ln w="15875">
              <a:solidFill>
                <a:srgbClr val="619428"/>
              </a:solidFill>
            </a:ln>
            <a:effectLst>
              <a:outerShdw blurRad="50800" dist="762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Manufacturer</a:t>
              </a:r>
              <a:endParaRPr lang="en-US" sz="1292" dirty="0">
                <a:ea typeface="ＭＳ Ｐゴシック" pitchFamily="34" charset="-128"/>
              </a:endParaRPr>
            </a:p>
          </p:txBody>
        </p:sp>
        <p:sp>
          <p:nvSpPr>
            <p:cNvPr id="14" name="Content Placeholder 7"/>
            <p:cNvSpPr txBox="1">
              <a:spLocks/>
            </p:cNvSpPr>
            <p:nvPr/>
          </p:nvSpPr>
          <p:spPr bwMode="auto">
            <a:xfrm>
              <a:off x="2796200" y="1834693"/>
              <a:ext cx="1190499" cy="749424"/>
            </a:xfrm>
            <a:prstGeom prst="flowChartAlternateProcess">
              <a:avLst/>
            </a:prstGeom>
            <a:solidFill>
              <a:srgbClr val="D8EEC0"/>
            </a:solidFill>
            <a:ln w="15875">
              <a:solidFill>
                <a:srgbClr val="619428"/>
              </a:solidFill>
            </a:ln>
            <a:effectLst>
              <a:outerShdw blurRad="50800" dist="762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Channel member</a:t>
              </a:r>
              <a:endParaRPr lang="en-US" sz="1292" dirty="0">
                <a:ea typeface="ＭＳ Ｐゴシック" pitchFamily="34" charset="-128"/>
              </a:endParaRPr>
            </a:p>
          </p:txBody>
        </p:sp>
        <p:sp>
          <p:nvSpPr>
            <p:cNvPr id="16" name="Content Placeholder 7"/>
            <p:cNvSpPr txBox="1">
              <a:spLocks/>
            </p:cNvSpPr>
            <p:nvPr/>
          </p:nvSpPr>
          <p:spPr bwMode="auto">
            <a:xfrm>
              <a:off x="7608171" y="1805749"/>
              <a:ext cx="1438900" cy="749424"/>
            </a:xfrm>
            <a:prstGeom prst="flowChartAlternateProcess">
              <a:avLst/>
            </a:prstGeom>
            <a:solidFill>
              <a:srgbClr val="D8EEC0"/>
            </a:solidFill>
            <a:ln w="15875">
              <a:solidFill>
                <a:srgbClr val="619428"/>
              </a:solidFill>
            </a:ln>
            <a:effectLst>
              <a:outerShdw blurRad="50800" dist="762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Consumer</a:t>
              </a:r>
              <a:endParaRPr lang="en-US" sz="1292" dirty="0">
                <a:ea typeface="ＭＳ Ｐゴシック" pitchFamily="34" charset="-128"/>
              </a:endParaRPr>
            </a:p>
          </p:txBody>
        </p:sp>
        <p:sp>
          <p:nvSpPr>
            <p:cNvPr id="17" name="Content Placeholder 7"/>
            <p:cNvSpPr txBox="1">
              <a:spLocks/>
            </p:cNvSpPr>
            <p:nvPr/>
          </p:nvSpPr>
          <p:spPr bwMode="auto">
            <a:xfrm>
              <a:off x="4426983" y="1834693"/>
              <a:ext cx="1190499" cy="749424"/>
            </a:xfrm>
            <a:prstGeom prst="flowChartAlternateProcess">
              <a:avLst/>
            </a:prstGeom>
            <a:solidFill>
              <a:srgbClr val="D8EEC0"/>
            </a:solidFill>
            <a:ln w="15875">
              <a:solidFill>
                <a:srgbClr val="619428"/>
              </a:solidFill>
            </a:ln>
            <a:effectLst>
              <a:outerShdw blurRad="50800" dist="762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Channel member</a:t>
              </a:r>
              <a:endParaRPr lang="en-US" sz="1292" dirty="0">
                <a:ea typeface="ＭＳ Ｐゴシック" pitchFamily="34" charset="-128"/>
              </a:endParaRPr>
            </a:p>
          </p:txBody>
        </p:sp>
        <p:sp>
          <p:nvSpPr>
            <p:cNvPr id="19" name="Content Placeholder 7"/>
            <p:cNvSpPr txBox="1">
              <a:spLocks/>
            </p:cNvSpPr>
            <p:nvPr/>
          </p:nvSpPr>
          <p:spPr bwMode="auto">
            <a:xfrm>
              <a:off x="6001182" y="1825520"/>
              <a:ext cx="1190499" cy="749424"/>
            </a:xfrm>
            <a:prstGeom prst="flowChartAlternateProcess">
              <a:avLst/>
            </a:prstGeom>
            <a:solidFill>
              <a:srgbClr val="D8EEC0"/>
            </a:solidFill>
            <a:ln w="15875">
              <a:solidFill>
                <a:srgbClr val="619428"/>
              </a:solidFill>
            </a:ln>
            <a:effectLst>
              <a:outerShdw blurRad="50800" dist="762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Channel member</a:t>
              </a:r>
              <a:endParaRPr lang="en-US" sz="1292" dirty="0">
                <a:ea typeface="ＭＳ Ｐゴシック" pitchFamily="34" charset="-128"/>
              </a:endParaRPr>
            </a:p>
          </p:txBody>
        </p:sp>
        <p:sp>
          <p:nvSpPr>
            <p:cNvPr id="5" name="Right Arrow 4"/>
            <p:cNvSpPr/>
            <p:nvPr/>
          </p:nvSpPr>
          <p:spPr bwMode="auto">
            <a:xfrm>
              <a:off x="2467903" y="2075448"/>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38" name="Right Arrow 37"/>
            <p:cNvSpPr/>
            <p:nvPr/>
          </p:nvSpPr>
          <p:spPr bwMode="auto">
            <a:xfrm>
              <a:off x="4096544" y="2075448"/>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39" name="Right Arrow 38"/>
            <p:cNvSpPr/>
            <p:nvPr/>
          </p:nvSpPr>
          <p:spPr bwMode="auto">
            <a:xfrm>
              <a:off x="5648492" y="2075447"/>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40" name="Right Arrow 39"/>
            <p:cNvSpPr/>
            <p:nvPr/>
          </p:nvSpPr>
          <p:spPr bwMode="auto">
            <a:xfrm>
              <a:off x="7221370" y="2067433"/>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grpSp>
        <p:nvGrpSpPr>
          <p:cNvPr id="9" name="Group 8"/>
          <p:cNvGrpSpPr/>
          <p:nvPr/>
        </p:nvGrpSpPr>
        <p:grpSpPr>
          <a:xfrm>
            <a:off x="941740" y="3839014"/>
            <a:ext cx="6780263" cy="691776"/>
            <a:chOff x="1046164" y="3748772"/>
            <a:chExt cx="7345285" cy="749424"/>
          </a:xfrm>
          <a:effectLst>
            <a:outerShdw blurRad="50800" dist="76200" dir="2700000" algn="tl" rotWithShape="0">
              <a:prstClr val="black">
                <a:alpha val="40000"/>
              </a:prstClr>
            </a:outerShdw>
          </a:effectLst>
        </p:grpSpPr>
        <p:sp>
          <p:nvSpPr>
            <p:cNvPr id="18" name="TextBox 17"/>
            <p:cNvSpPr txBox="1"/>
            <p:nvPr/>
          </p:nvSpPr>
          <p:spPr>
            <a:xfrm>
              <a:off x="5736172" y="3884072"/>
              <a:ext cx="2655277" cy="346276"/>
            </a:xfrm>
            <a:prstGeom prst="rect">
              <a:avLst/>
            </a:prstGeom>
            <a:noFill/>
          </p:spPr>
          <p:txBody>
            <a:bodyPr wrap="square" rtlCol="0">
              <a:spAutoFit/>
            </a:bodyPr>
            <a:lstStyle/>
            <a:p>
              <a:pPr algn="ctr"/>
              <a:r>
                <a:rPr lang="en-US" sz="1477" b="1" dirty="0"/>
                <a:t>Direct marketing channel</a:t>
              </a:r>
            </a:p>
          </p:txBody>
        </p:sp>
        <p:sp>
          <p:nvSpPr>
            <p:cNvPr id="23" name="Content Placeholder 7"/>
            <p:cNvSpPr txBox="1">
              <a:spLocks/>
            </p:cNvSpPr>
            <p:nvPr/>
          </p:nvSpPr>
          <p:spPr bwMode="auto">
            <a:xfrm>
              <a:off x="1046164" y="3748772"/>
              <a:ext cx="633167"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M</a:t>
              </a:r>
              <a:endParaRPr lang="en-US" sz="1292" dirty="0">
                <a:ea typeface="ＭＳ Ｐゴシック" pitchFamily="34" charset="-128"/>
              </a:endParaRPr>
            </a:p>
          </p:txBody>
        </p:sp>
        <p:sp>
          <p:nvSpPr>
            <p:cNvPr id="25" name="Content Placeholder 7"/>
            <p:cNvSpPr txBox="1">
              <a:spLocks/>
            </p:cNvSpPr>
            <p:nvPr/>
          </p:nvSpPr>
          <p:spPr bwMode="auto">
            <a:xfrm>
              <a:off x="2490310" y="3766199"/>
              <a:ext cx="539984" cy="731997"/>
            </a:xfrm>
            <a:prstGeom prst="flowChartAlternateProcess">
              <a:avLst/>
            </a:prstGeom>
            <a:solidFill>
              <a:srgbClr val="D8EEC0"/>
            </a:solidFill>
            <a:ln w="15875">
              <a:solidFill>
                <a:srgbClr val="619428"/>
              </a:solidFill>
            </a:ln>
            <a:effectLst>
              <a:outerShdw blurRad="50800" dist="762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a:t>
              </a:r>
              <a:endParaRPr lang="en-US" sz="1292" dirty="0">
                <a:ea typeface="ＭＳ Ｐゴシック" pitchFamily="34" charset="-128"/>
              </a:endParaRPr>
            </a:p>
          </p:txBody>
        </p:sp>
        <p:sp>
          <p:nvSpPr>
            <p:cNvPr id="41" name="Right Arrow 40"/>
            <p:cNvSpPr/>
            <p:nvPr/>
          </p:nvSpPr>
          <p:spPr bwMode="auto">
            <a:xfrm>
              <a:off x="1747716" y="4056505"/>
              <a:ext cx="695370" cy="176604"/>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grpSp>
        <p:nvGrpSpPr>
          <p:cNvPr id="11" name="Group 10"/>
          <p:cNvGrpSpPr/>
          <p:nvPr/>
        </p:nvGrpSpPr>
        <p:grpSpPr>
          <a:xfrm>
            <a:off x="941740" y="4612960"/>
            <a:ext cx="6830164" cy="727965"/>
            <a:chOff x="1046164" y="4596932"/>
            <a:chExt cx="7399344" cy="788629"/>
          </a:xfrm>
          <a:effectLst>
            <a:outerShdw blurRad="50800" dist="76200" dir="2700000" algn="tl" rotWithShape="0">
              <a:prstClr val="black">
                <a:alpha val="40000"/>
              </a:prstClr>
            </a:outerShdw>
          </a:effectLst>
        </p:grpSpPr>
        <p:sp>
          <p:nvSpPr>
            <p:cNvPr id="27" name="Content Placeholder 7"/>
            <p:cNvSpPr txBox="1">
              <a:spLocks/>
            </p:cNvSpPr>
            <p:nvPr/>
          </p:nvSpPr>
          <p:spPr bwMode="auto">
            <a:xfrm>
              <a:off x="1046164" y="4600263"/>
              <a:ext cx="633167"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M</a:t>
              </a:r>
              <a:endParaRPr lang="en-US" sz="1292" dirty="0">
                <a:ea typeface="ＭＳ Ｐゴシック" pitchFamily="34" charset="-128"/>
              </a:endParaRPr>
            </a:p>
          </p:txBody>
        </p:sp>
        <p:sp>
          <p:nvSpPr>
            <p:cNvPr id="28" name="Content Placeholder 7"/>
            <p:cNvSpPr txBox="1">
              <a:spLocks/>
            </p:cNvSpPr>
            <p:nvPr/>
          </p:nvSpPr>
          <p:spPr bwMode="auto">
            <a:xfrm>
              <a:off x="2025106" y="4596932"/>
              <a:ext cx="1190499" cy="788629"/>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Channel member</a:t>
              </a:r>
              <a:endParaRPr lang="en-US" sz="1292" dirty="0">
                <a:ea typeface="ＭＳ Ｐゴシック" pitchFamily="34" charset="-128"/>
              </a:endParaRPr>
            </a:p>
          </p:txBody>
        </p:sp>
        <p:sp>
          <p:nvSpPr>
            <p:cNvPr id="30" name="Content Placeholder 7"/>
            <p:cNvSpPr txBox="1">
              <a:spLocks/>
            </p:cNvSpPr>
            <p:nvPr/>
          </p:nvSpPr>
          <p:spPr bwMode="auto">
            <a:xfrm>
              <a:off x="3596323" y="4600263"/>
              <a:ext cx="584350"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a:t>
              </a:r>
              <a:endParaRPr lang="en-US" sz="1292" dirty="0">
                <a:ea typeface="ＭＳ Ｐゴシック" pitchFamily="34" charset="-128"/>
              </a:endParaRPr>
            </a:p>
          </p:txBody>
        </p:sp>
        <p:sp>
          <p:nvSpPr>
            <p:cNvPr id="36" name="TextBox 35"/>
            <p:cNvSpPr txBox="1"/>
            <p:nvPr/>
          </p:nvSpPr>
          <p:spPr>
            <a:xfrm>
              <a:off x="5790231" y="4715508"/>
              <a:ext cx="2655277" cy="346276"/>
            </a:xfrm>
            <a:prstGeom prst="rect">
              <a:avLst/>
            </a:prstGeom>
            <a:noFill/>
          </p:spPr>
          <p:txBody>
            <a:bodyPr wrap="square" rtlCol="0">
              <a:spAutoFit/>
            </a:bodyPr>
            <a:lstStyle/>
            <a:p>
              <a:pPr algn="ctr"/>
              <a:r>
                <a:rPr lang="en-US" sz="1477" b="1" dirty="0"/>
                <a:t>One-level channel</a:t>
              </a:r>
            </a:p>
          </p:txBody>
        </p:sp>
        <p:sp>
          <p:nvSpPr>
            <p:cNvPr id="42" name="Right Arrow 41"/>
            <p:cNvSpPr/>
            <p:nvPr/>
          </p:nvSpPr>
          <p:spPr bwMode="auto">
            <a:xfrm>
              <a:off x="1709405" y="4876850"/>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43" name="Right Arrow 42"/>
            <p:cNvSpPr/>
            <p:nvPr/>
          </p:nvSpPr>
          <p:spPr bwMode="auto">
            <a:xfrm>
              <a:off x="3261660" y="4874720"/>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grpSp>
        <p:nvGrpSpPr>
          <p:cNvPr id="12" name="Group 11"/>
          <p:cNvGrpSpPr/>
          <p:nvPr/>
        </p:nvGrpSpPr>
        <p:grpSpPr>
          <a:xfrm>
            <a:off x="941740" y="5405255"/>
            <a:ext cx="6854113" cy="738898"/>
            <a:chOff x="1020218" y="5436876"/>
            <a:chExt cx="7425289" cy="800473"/>
          </a:xfrm>
          <a:effectLst>
            <a:outerShdw blurRad="50800" dist="76200" dir="2700000" algn="tl" rotWithShape="0">
              <a:prstClr val="black">
                <a:alpha val="40000"/>
              </a:prstClr>
            </a:outerShdw>
          </a:effectLst>
        </p:grpSpPr>
        <p:sp>
          <p:nvSpPr>
            <p:cNvPr id="29" name="Content Placeholder 7"/>
            <p:cNvSpPr txBox="1">
              <a:spLocks/>
            </p:cNvSpPr>
            <p:nvPr/>
          </p:nvSpPr>
          <p:spPr bwMode="auto">
            <a:xfrm>
              <a:off x="2046118" y="5472750"/>
              <a:ext cx="1190499"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Channel member</a:t>
              </a:r>
              <a:endParaRPr lang="en-US" sz="1292" dirty="0">
                <a:ea typeface="ＭＳ Ｐゴシック" pitchFamily="34" charset="-128"/>
              </a:endParaRPr>
            </a:p>
          </p:txBody>
        </p:sp>
        <p:sp>
          <p:nvSpPr>
            <p:cNvPr id="32" name="Content Placeholder 7"/>
            <p:cNvSpPr txBox="1">
              <a:spLocks/>
            </p:cNvSpPr>
            <p:nvPr/>
          </p:nvSpPr>
          <p:spPr bwMode="auto">
            <a:xfrm>
              <a:off x="1020218" y="5487925"/>
              <a:ext cx="659113"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M</a:t>
              </a:r>
              <a:endParaRPr lang="en-US" sz="1292" dirty="0">
                <a:ea typeface="ＭＳ Ｐゴシック" pitchFamily="34" charset="-128"/>
              </a:endParaRPr>
            </a:p>
          </p:txBody>
        </p:sp>
        <p:sp>
          <p:nvSpPr>
            <p:cNvPr id="33" name="Content Placeholder 7"/>
            <p:cNvSpPr txBox="1">
              <a:spLocks/>
            </p:cNvSpPr>
            <p:nvPr/>
          </p:nvSpPr>
          <p:spPr bwMode="auto">
            <a:xfrm>
              <a:off x="5208762" y="5436876"/>
              <a:ext cx="540723"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a:t>
              </a:r>
              <a:endParaRPr lang="en-US" sz="1292" dirty="0">
                <a:ea typeface="ＭＳ Ｐゴシック" pitchFamily="34" charset="-128"/>
              </a:endParaRPr>
            </a:p>
          </p:txBody>
        </p:sp>
        <p:sp>
          <p:nvSpPr>
            <p:cNvPr id="34" name="Content Placeholder 7"/>
            <p:cNvSpPr txBox="1">
              <a:spLocks/>
            </p:cNvSpPr>
            <p:nvPr/>
          </p:nvSpPr>
          <p:spPr bwMode="auto">
            <a:xfrm>
              <a:off x="3644107" y="5436876"/>
              <a:ext cx="1190499" cy="749424"/>
            </a:xfrm>
            <a:prstGeom prst="flowChartAlternateProcess">
              <a:avLst/>
            </a:prstGeom>
            <a:solidFill>
              <a:srgbClr val="D8EEC0"/>
            </a:solidFill>
            <a:ln w="15875">
              <a:solidFill>
                <a:srgbClr val="619428"/>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tabLst>
                  <a:tab pos="211021" algn="l"/>
                </a:tabLst>
              </a:pPr>
              <a:r>
                <a:rPr lang="en-US" sz="1292" b="1" dirty="0"/>
                <a:t>Channel member</a:t>
              </a:r>
              <a:endParaRPr lang="en-US" sz="1292" dirty="0">
                <a:ea typeface="ＭＳ Ｐゴシック" pitchFamily="34" charset="-128"/>
              </a:endParaRPr>
            </a:p>
          </p:txBody>
        </p:sp>
        <p:sp>
          <p:nvSpPr>
            <p:cNvPr id="37" name="TextBox 36"/>
            <p:cNvSpPr txBox="1"/>
            <p:nvPr/>
          </p:nvSpPr>
          <p:spPr>
            <a:xfrm>
              <a:off x="5790230" y="5693360"/>
              <a:ext cx="2655277" cy="346276"/>
            </a:xfrm>
            <a:prstGeom prst="rect">
              <a:avLst/>
            </a:prstGeom>
            <a:noFill/>
          </p:spPr>
          <p:txBody>
            <a:bodyPr wrap="square" rtlCol="0">
              <a:spAutoFit/>
            </a:bodyPr>
            <a:lstStyle/>
            <a:p>
              <a:pPr algn="ctr"/>
              <a:r>
                <a:rPr lang="en-US" sz="1477" b="1" dirty="0"/>
                <a:t>Two-level channel</a:t>
              </a:r>
            </a:p>
          </p:txBody>
        </p:sp>
        <p:sp>
          <p:nvSpPr>
            <p:cNvPr id="44" name="Right Arrow 43"/>
            <p:cNvSpPr/>
            <p:nvPr/>
          </p:nvSpPr>
          <p:spPr bwMode="auto">
            <a:xfrm>
              <a:off x="1679331" y="5711179"/>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45" name="Right Arrow 44"/>
            <p:cNvSpPr/>
            <p:nvPr/>
          </p:nvSpPr>
          <p:spPr bwMode="auto">
            <a:xfrm>
              <a:off x="3261660" y="5700242"/>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46" name="Right Arrow 45"/>
            <p:cNvSpPr/>
            <p:nvPr/>
          </p:nvSpPr>
          <p:spPr bwMode="auto">
            <a:xfrm>
              <a:off x="4861524" y="5711178"/>
              <a:ext cx="285626" cy="133957"/>
            </a:xfrm>
            <a:prstGeom prst="rightArrow">
              <a:avLst/>
            </a:prstGeom>
            <a:solidFill>
              <a:srgbClr val="006666"/>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sp>
        <p:nvSpPr>
          <p:cNvPr id="47" name="Curved Up Arrow 46"/>
          <p:cNvSpPr/>
          <p:nvPr/>
        </p:nvSpPr>
        <p:spPr bwMode="auto">
          <a:xfrm>
            <a:off x="2823845" y="2701418"/>
            <a:ext cx="3717633" cy="411462"/>
          </a:xfrm>
          <a:prstGeom prst="curvedUpArrow">
            <a:avLst/>
          </a:prstGeom>
          <a:solidFill>
            <a:srgbClr val="008A3E"/>
          </a:solidFill>
          <a:ln>
            <a:solidFill>
              <a:srgbClr val="006666"/>
            </a:solid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Tree>
    <p:extLst>
      <p:ext uri="{BB962C8B-B14F-4D97-AF65-F5344CB8AC3E}">
        <p14:creationId xmlns:p14="http://schemas.microsoft.com/office/powerpoint/2010/main" val="18943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par>
                          <p:cTn id="12" fill="hold">
                            <p:stCondLst>
                              <p:cond delay="1000"/>
                            </p:stCondLst>
                            <p:childTnLst>
                              <p:par>
                                <p:cTn id="13" presetID="22" presetClass="entr" presetSubtype="4" fill="hold" grpId="0" nodeType="afterEffect">
                                  <p:stCondLst>
                                    <p:cond delay="250"/>
                                  </p:stCondLst>
                                  <p:childTnLst>
                                    <p:set>
                                      <p:cBhvr>
                                        <p:cTn id="14" dur="1" fill="hold">
                                          <p:stCondLst>
                                            <p:cond delay="0"/>
                                          </p:stCondLst>
                                        </p:cTn>
                                        <p:tgtEl>
                                          <p:spTgt spid="47"/>
                                        </p:tgtEl>
                                        <p:attrNameLst>
                                          <p:attrName>style.visibility</p:attrName>
                                        </p:attrNameLst>
                                      </p:cBhvr>
                                      <p:to>
                                        <p:strVal val="visible"/>
                                      </p:to>
                                    </p:set>
                                    <p:animEffect transition="in" filter="wipe(down)">
                                      <p:cBhvr>
                                        <p:cTn id="15" dur="500"/>
                                        <p:tgtEl>
                                          <p:spTgt spid="47"/>
                                        </p:tgtEl>
                                      </p:cBhvr>
                                    </p:animEffect>
                                  </p:childTnLst>
                                </p:cTn>
                              </p:par>
                            </p:childTnLst>
                          </p:cTn>
                        </p:par>
                        <p:par>
                          <p:cTn id="16" fill="hold">
                            <p:stCondLst>
                              <p:cond delay="1750"/>
                            </p:stCondLst>
                            <p:childTnLst>
                              <p:par>
                                <p:cTn id="17" presetID="22" presetClass="entr" presetSubtype="8" fill="hold" nodeType="afterEffect">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000"/>
                            </p:stCondLst>
                            <p:childTnLst>
                              <p:par>
                                <p:cTn id="21" presetID="22" presetClass="entr" presetSubtype="8" fill="hold" nodeType="afterEffect">
                                  <p:stCondLst>
                                    <p:cond delay="75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4250"/>
                            </p:stCondLst>
                            <p:childTnLst>
                              <p:par>
                                <p:cTn id="25" presetID="22" presetClass="entr" presetSubtype="8" fill="hold" nodeType="afterEffect">
                                  <p:stCondLst>
                                    <p:cond delay="75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Isosceles Triangle 17"/>
          <p:cNvSpPr/>
          <p:nvPr/>
        </p:nvSpPr>
        <p:spPr bwMode="auto">
          <a:xfrm>
            <a:off x="1137454" y="1150275"/>
            <a:ext cx="7011640" cy="5125105"/>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27650" name="Rectangle 11"/>
          <p:cNvSpPr>
            <a:spLocks noGrp="1" noChangeArrowheads="1"/>
          </p:cNvSpPr>
          <p:nvPr>
            <p:ph type="sldNum" sz="quarter" idx="10"/>
          </p:nvPr>
        </p:nvSpPr>
        <p:spPr>
          <a:xfrm>
            <a:off x="8811358" y="6783389"/>
            <a:ext cx="332642" cy="179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sz="923">
                <a:solidFill>
                  <a:schemeClr val="tx1"/>
                </a:solidFill>
                <a:latin typeface="Verdana" panose="020B0604030504040204" pitchFamily="34" charset="0"/>
                <a:cs typeface="Arial" panose="020B0604020202020204" pitchFamily="34" charset="0"/>
              </a:defRPr>
            </a:lvl1pPr>
            <a:lvl2pPr marL="685817" indent="-263776">
              <a:spcBef>
                <a:spcPct val="50000"/>
              </a:spcBef>
              <a:defRPr sz="923">
                <a:solidFill>
                  <a:schemeClr val="tx1"/>
                </a:solidFill>
                <a:latin typeface="Verdana" panose="020B0604030504040204" pitchFamily="34" charset="0"/>
                <a:cs typeface="Arial" panose="020B0604020202020204" pitchFamily="34" charset="0"/>
              </a:defRPr>
            </a:lvl2pPr>
            <a:lvl3pPr marL="1055103" indent="-211021">
              <a:spcBef>
                <a:spcPct val="50000"/>
              </a:spcBef>
              <a:defRPr sz="923">
                <a:solidFill>
                  <a:schemeClr val="tx1"/>
                </a:solidFill>
                <a:latin typeface="Verdana" panose="020B0604030504040204" pitchFamily="34" charset="0"/>
                <a:cs typeface="Arial" panose="020B0604020202020204" pitchFamily="34" charset="0"/>
              </a:defRPr>
            </a:lvl3pPr>
            <a:lvl4pPr marL="1477145" indent="-211021">
              <a:spcBef>
                <a:spcPct val="50000"/>
              </a:spcBef>
              <a:defRPr sz="923">
                <a:solidFill>
                  <a:schemeClr val="tx1"/>
                </a:solidFill>
                <a:latin typeface="Verdana" panose="020B0604030504040204" pitchFamily="34" charset="0"/>
                <a:cs typeface="Arial" panose="020B0604020202020204" pitchFamily="34" charset="0"/>
              </a:defRPr>
            </a:lvl4pPr>
            <a:lvl5pPr marL="1899186" indent="-211021">
              <a:spcBef>
                <a:spcPct val="50000"/>
              </a:spcBef>
              <a:defRPr sz="923">
                <a:solidFill>
                  <a:schemeClr val="tx1"/>
                </a:solidFill>
                <a:latin typeface="Verdana" panose="020B0604030504040204" pitchFamily="34" charset="0"/>
                <a:cs typeface="Arial" panose="020B0604020202020204" pitchFamily="34" charset="0"/>
              </a:defRPr>
            </a:lvl5pPr>
            <a:lvl6pPr marL="2321227" indent="-211021" eaLnBrk="0" fontAlgn="base" hangingPunct="0">
              <a:spcBef>
                <a:spcPct val="50000"/>
              </a:spcBef>
              <a:spcAft>
                <a:spcPct val="0"/>
              </a:spcAft>
              <a:defRPr sz="923">
                <a:solidFill>
                  <a:schemeClr val="tx1"/>
                </a:solidFill>
                <a:latin typeface="Verdana" panose="020B0604030504040204" pitchFamily="34" charset="0"/>
                <a:cs typeface="Arial" panose="020B0604020202020204" pitchFamily="34" charset="0"/>
              </a:defRPr>
            </a:lvl6pPr>
            <a:lvl7pPr marL="2743269" indent="-211021" eaLnBrk="0" fontAlgn="base" hangingPunct="0">
              <a:spcBef>
                <a:spcPct val="50000"/>
              </a:spcBef>
              <a:spcAft>
                <a:spcPct val="0"/>
              </a:spcAft>
              <a:defRPr sz="923">
                <a:solidFill>
                  <a:schemeClr val="tx1"/>
                </a:solidFill>
                <a:latin typeface="Verdana" panose="020B0604030504040204" pitchFamily="34" charset="0"/>
                <a:cs typeface="Arial" panose="020B0604020202020204" pitchFamily="34" charset="0"/>
              </a:defRPr>
            </a:lvl7pPr>
            <a:lvl8pPr marL="3165310" indent="-211021" eaLnBrk="0" fontAlgn="base" hangingPunct="0">
              <a:spcBef>
                <a:spcPct val="50000"/>
              </a:spcBef>
              <a:spcAft>
                <a:spcPct val="0"/>
              </a:spcAft>
              <a:defRPr sz="923">
                <a:solidFill>
                  <a:schemeClr val="tx1"/>
                </a:solidFill>
                <a:latin typeface="Verdana" panose="020B0604030504040204" pitchFamily="34" charset="0"/>
                <a:cs typeface="Arial" panose="020B0604020202020204" pitchFamily="34" charset="0"/>
              </a:defRPr>
            </a:lvl8pPr>
            <a:lvl9pPr marL="3587351" indent="-211021" eaLnBrk="0" fontAlgn="base" hangingPunct="0">
              <a:spcBef>
                <a:spcPct val="50000"/>
              </a:spcBef>
              <a:spcAft>
                <a:spcPct val="0"/>
              </a:spcAft>
              <a:defRPr sz="923">
                <a:solidFill>
                  <a:schemeClr val="tx1"/>
                </a:solidFill>
                <a:latin typeface="Verdana" panose="020B0604030504040204" pitchFamily="34" charset="0"/>
                <a:cs typeface="Arial" panose="020B0604020202020204" pitchFamily="34" charset="0"/>
              </a:defRPr>
            </a:lvl9pPr>
          </a:lstStyle>
          <a:p>
            <a:pPr>
              <a:spcBef>
                <a:spcPct val="0"/>
              </a:spcBef>
            </a:pPr>
            <a:fld id="{8A909697-256C-4D8E-A019-CF2EC97B71E1}" type="slidenum">
              <a:rPr lang="en-GB" altLang="en-US" sz="831">
                <a:solidFill>
                  <a:srgbClr val="4D4D4D"/>
                </a:solidFill>
              </a:rPr>
              <a:pPr>
                <a:spcBef>
                  <a:spcPct val="0"/>
                </a:spcBef>
              </a:pPr>
              <a:t>10</a:t>
            </a:fld>
            <a:endParaRPr lang="en-GB" altLang="en-US" sz="831" dirty="0">
              <a:solidFill>
                <a:srgbClr val="4D4D4D"/>
              </a:solidFill>
            </a:endParaRPr>
          </a:p>
        </p:txBody>
      </p:sp>
      <p:sp>
        <p:nvSpPr>
          <p:cNvPr id="27652" name="Title 1"/>
          <p:cNvSpPr>
            <a:spLocks noGrp="1"/>
          </p:cNvSpPr>
          <p:nvPr>
            <p:ph type="title"/>
          </p:nvPr>
        </p:nvSpPr>
        <p:spPr>
          <a:xfrm>
            <a:off x="259801" y="983667"/>
            <a:ext cx="8481849" cy="393787"/>
          </a:xfrm>
        </p:spPr>
        <p:txBody>
          <a:bodyPr anchor="t"/>
          <a:lstStyle/>
          <a:p>
            <a:pPr marL="101600" eaLnBrk="1" hangingPunct="1">
              <a:spcBef>
                <a:spcPts val="1500"/>
              </a:spcBef>
              <a:buSzPct val="100000"/>
            </a:pPr>
            <a:r>
              <a:rPr lang="en-US" altLang="en-US" sz="2000" dirty="0">
                <a:solidFill>
                  <a:srgbClr val="007FA3"/>
                </a:solidFill>
                <a:latin typeface="+mn-lt"/>
                <a:cs typeface="Arial"/>
                <a:sym typeface="Arial"/>
              </a:rPr>
              <a:t>Marketing Intermediaries/Service Providers - Marketing channel member functions</a:t>
            </a:r>
          </a:p>
        </p:txBody>
      </p:sp>
      <p:sp>
        <p:nvSpPr>
          <p:cNvPr id="10" name="Content Placeholder 7"/>
          <p:cNvSpPr txBox="1">
            <a:spLocks/>
          </p:cNvSpPr>
          <p:nvPr/>
        </p:nvSpPr>
        <p:spPr bwMode="auto">
          <a:xfrm>
            <a:off x="784978" y="1691221"/>
            <a:ext cx="7663754" cy="578736"/>
          </a:xfrm>
          <a:prstGeom prst="flowChartAlternateProcess">
            <a:avLst/>
          </a:prstGeom>
          <a:solidFill>
            <a:srgbClr val="009E47"/>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58265" indent="0"/>
            <a:r>
              <a:rPr lang="en-US" sz="1846" b="1" dirty="0">
                <a:solidFill>
                  <a:schemeClr val="bg1"/>
                </a:solidFill>
              </a:rPr>
              <a:t>Channel members add value by performing a variety of functions:</a:t>
            </a:r>
          </a:p>
        </p:txBody>
      </p:sp>
      <p:sp>
        <p:nvSpPr>
          <p:cNvPr id="15" name="Content Placeholder 7"/>
          <p:cNvSpPr txBox="1">
            <a:spLocks/>
          </p:cNvSpPr>
          <p:nvPr/>
        </p:nvSpPr>
        <p:spPr bwMode="auto">
          <a:xfrm>
            <a:off x="932470" y="5863972"/>
            <a:ext cx="7406695" cy="377015"/>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rPr>
              <a:t>Risk-taking: </a:t>
            </a:r>
            <a:r>
              <a:rPr lang="en-US" sz="1477" dirty="0">
                <a:latin typeface="Verdana" panose="020B0604030504040204" pitchFamily="34" charset="0"/>
              </a:rPr>
              <a:t>assuming the risk of carrying inventory and channel work</a:t>
            </a:r>
          </a:p>
        </p:txBody>
      </p:sp>
      <p:sp>
        <p:nvSpPr>
          <p:cNvPr id="16" name="Content Placeholder 7"/>
          <p:cNvSpPr txBox="1">
            <a:spLocks/>
          </p:cNvSpPr>
          <p:nvPr/>
        </p:nvSpPr>
        <p:spPr bwMode="auto">
          <a:xfrm>
            <a:off x="916239" y="2872736"/>
            <a:ext cx="7422927" cy="476910"/>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rPr>
              <a:t>Promotion: </a:t>
            </a:r>
            <a:r>
              <a:rPr lang="en-US" sz="1477" dirty="0">
                <a:latin typeface="Verdana" panose="020B0604030504040204" pitchFamily="34" charset="0"/>
              </a:rPr>
              <a:t>developing &amp; spreading persuasive communications about an offer</a:t>
            </a:r>
            <a:endParaRPr lang="en-US" sz="1477" i="1" dirty="0">
              <a:latin typeface="Verdana" panose="020B0604030504040204" pitchFamily="34" charset="0"/>
            </a:endParaRPr>
          </a:p>
        </p:txBody>
      </p:sp>
      <p:sp>
        <p:nvSpPr>
          <p:cNvPr id="17" name="Content Placeholder 7"/>
          <p:cNvSpPr txBox="1">
            <a:spLocks/>
          </p:cNvSpPr>
          <p:nvPr/>
        </p:nvSpPr>
        <p:spPr bwMode="auto">
          <a:xfrm>
            <a:off x="916239" y="2370254"/>
            <a:ext cx="7422927" cy="436918"/>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rPr>
              <a:t>Information: </a:t>
            </a:r>
            <a:r>
              <a:rPr lang="en-US" sz="1477" dirty="0">
                <a:latin typeface="Verdana" panose="020B0604030504040204" pitchFamily="34" charset="0"/>
              </a:rPr>
              <a:t>gathering &amp; distributing marketing research &amp; intelligence</a:t>
            </a:r>
          </a:p>
        </p:txBody>
      </p:sp>
      <p:sp>
        <p:nvSpPr>
          <p:cNvPr id="13" name="Content Placeholder 7"/>
          <p:cNvSpPr txBox="1">
            <a:spLocks/>
          </p:cNvSpPr>
          <p:nvPr/>
        </p:nvSpPr>
        <p:spPr bwMode="auto">
          <a:xfrm>
            <a:off x="932470" y="3427837"/>
            <a:ext cx="7406695" cy="388405"/>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rPr>
              <a:t>Contact</a:t>
            </a:r>
            <a:r>
              <a:rPr lang="en-US" sz="1662" dirty="0">
                <a:latin typeface="Verdana" panose="020B0604030504040204" pitchFamily="34" charset="0"/>
              </a:rPr>
              <a:t>: f</a:t>
            </a:r>
            <a:r>
              <a:rPr lang="en-US" sz="1477" dirty="0">
                <a:latin typeface="Verdana" panose="020B0604030504040204" pitchFamily="34" charset="0"/>
              </a:rPr>
              <a:t>inding &amp; communicating with prospective buyers</a:t>
            </a:r>
            <a:endParaRPr lang="en-US" sz="1477" i="1" dirty="0">
              <a:latin typeface="Verdana" panose="020B0604030504040204" pitchFamily="34" charset="0"/>
            </a:endParaRPr>
          </a:p>
        </p:txBody>
      </p:sp>
      <p:sp>
        <p:nvSpPr>
          <p:cNvPr id="14" name="Content Placeholder 7"/>
          <p:cNvSpPr txBox="1">
            <a:spLocks/>
          </p:cNvSpPr>
          <p:nvPr/>
        </p:nvSpPr>
        <p:spPr bwMode="auto">
          <a:xfrm>
            <a:off x="940586" y="3894433"/>
            <a:ext cx="7398580" cy="388405"/>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ea typeface="Verdana" panose="020B0604030504040204" pitchFamily="34" charset="0"/>
              </a:rPr>
              <a:t>Matching: </a:t>
            </a:r>
            <a:r>
              <a:rPr lang="en-US" sz="1477" dirty="0">
                <a:latin typeface="Verdana" panose="020B0604030504040204" pitchFamily="34" charset="0"/>
                <a:ea typeface="Verdana" panose="020B0604030504040204" pitchFamily="34" charset="0"/>
              </a:rPr>
              <a:t>shaping &amp; fitting the offer to buyers’ needs</a:t>
            </a:r>
          </a:p>
        </p:txBody>
      </p:sp>
      <p:sp>
        <p:nvSpPr>
          <p:cNvPr id="19" name="Content Placeholder 7"/>
          <p:cNvSpPr txBox="1">
            <a:spLocks/>
          </p:cNvSpPr>
          <p:nvPr/>
        </p:nvSpPr>
        <p:spPr bwMode="auto">
          <a:xfrm>
            <a:off x="940586" y="4384786"/>
            <a:ext cx="7398580" cy="388405"/>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ea typeface="Verdana" panose="020B0604030504040204" pitchFamily="34" charset="0"/>
              </a:rPr>
              <a:t>Negotiation: </a:t>
            </a:r>
            <a:r>
              <a:rPr lang="en-US" sz="1477" dirty="0">
                <a:latin typeface="Verdana" panose="020B0604030504040204" pitchFamily="34" charset="0"/>
                <a:ea typeface="Verdana" panose="020B0604030504040204" pitchFamily="34" charset="0"/>
              </a:rPr>
              <a:t>reaching an agreement on price and terms</a:t>
            </a:r>
          </a:p>
        </p:txBody>
      </p:sp>
      <p:sp>
        <p:nvSpPr>
          <p:cNvPr id="20" name="Content Placeholder 7"/>
          <p:cNvSpPr txBox="1">
            <a:spLocks/>
          </p:cNvSpPr>
          <p:nvPr/>
        </p:nvSpPr>
        <p:spPr bwMode="auto">
          <a:xfrm>
            <a:off x="940586" y="4844871"/>
            <a:ext cx="7398580" cy="388405"/>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ea typeface="Verdana" panose="020B0604030504040204" pitchFamily="34" charset="0"/>
              </a:rPr>
              <a:t>Physical distribution: </a:t>
            </a:r>
            <a:r>
              <a:rPr lang="en-US" sz="1477" dirty="0">
                <a:latin typeface="Verdana" panose="020B0604030504040204" pitchFamily="34" charset="0"/>
                <a:ea typeface="Verdana" panose="020B0604030504040204" pitchFamily="34" charset="0"/>
              </a:rPr>
              <a:t>transporting &amp; storing goods</a:t>
            </a:r>
          </a:p>
        </p:txBody>
      </p:sp>
      <p:sp>
        <p:nvSpPr>
          <p:cNvPr id="21" name="Content Placeholder 7"/>
          <p:cNvSpPr txBox="1">
            <a:spLocks/>
          </p:cNvSpPr>
          <p:nvPr/>
        </p:nvSpPr>
        <p:spPr bwMode="auto">
          <a:xfrm>
            <a:off x="916239" y="5329556"/>
            <a:ext cx="7422927" cy="471261"/>
          </a:xfrm>
          <a:prstGeom prst="flowChartAlternateProcess">
            <a:avLst/>
          </a:prstGeom>
          <a:solidFill>
            <a:srgbClr val="C7E6A4"/>
          </a:solidFill>
          <a:ln w="15875">
            <a:solidFill>
              <a:schemeClr val="tx1"/>
            </a:solidFill>
          </a:ln>
          <a:effectLst>
            <a:outerShdw blurRad="50800" dist="1016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11021" indent="0"/>
            <a:r>
              <a:rPr lang="en-US" sz="1662" b="1" dirty="0">
                <a:latin typeface="Verdana" panose="020B0604030504040204" pitchFamily="34" charset="0"/>
                <a:ea typeface="Verdana" panose="020B0604030504040204" pitchFamily="34" charset="0"/>
              </a:rPr>
              <a:t>Financing: </a:t>
            </a:r>
            <a:r>
              <a:rPr lang="en-US" sz="1477" dirty="0">
                <a:latin typeface="Verdana" panose="020B0604030504040204" pitchFamily="34" charset="0"/>
                <a:ea typeface="Verdana" panose="020B0604030504040204" pitchFamily="34" charset="0"/>
              </a:rPr>
              <a:t>providing &amp; using funds to cover cost of channel work</a:t>
            </a:r>
          </a:p>
        </p:txBody>
      </p:sp>
      <p:sp>
        <p:nvSpPr>
          <p:cNvPr id="22" name="Title 1">
            <a:extLst>
              <a:ext uri="{FF2B5EF4-FFF2-40B4-BE49-F238E27FC236}">
                <a16:creationId xmlns:a16="http://schemas.microsoft.com/office/drawing/2014/main" id="{249096BD-DD93-4997-94FF-C6AD8EC11F4C}"/>
              </a:ext>
            </a:extLst>
          </p:cNvPr>
          <p:cNvSpPr txBox="1">
            <a:spLocks/>
          </p:cNvSpPr>
          <p:nvPr/>
        </p:nvSpPr>
        <p:spPr>
          <a:xfrm>
            <a:off x="385926" y="91946"/>
            <a:ext cx="8229600" cy="1097279"/>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400" b="1" i="0" u="none" strike="noStrike" cap="none" baseline="0">
                <a:solidFill>
                  <a:srgbClr val="C00000"/>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200" dirty="0">
                <a:solidFill>
                  <a:srgbClr val="007FA3"/>
                </a:solidFill>
                <a:latin typeface="+mj-lt"/>
              </a:rPr>
              <a:t>The nature of marketing channels and value creation</a:t>
            </a:r>
          </a:p>
        </p:txBody>
      </p:sp>
    </p:spTree>
    <p:extLst>
      <p:ext uri="{BB962C8B-B14F-4D97-AF65-F5344CB8AC3E}">
        <p14:creationId xmlns:p14="http://schemas.microsoft.com/office/powerpoint/2010/main" val="107450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500"/>
                                        <p:tgtEl>
                                          <p:spTgt spid="20"/>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up)">
                                      <p:cBhvr>
                                        <p:cTn id="31" dur="500"/>
                                        <p:tgtEl>
                                          <p:spTgt spid="21"/>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3" grpId="0" animBg="1"/>
      <p:bldP spid="14"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a:xfrm>
            <a:off x="400766" y="269457"/>
            <a:ext cx="8342468" cy="482617"/>
          </a:xfrm>
        </p:spPr>
        <p:txBody>
          <a:bodyPr/>
          <a:lstStyle/>
          <a:p>
            <a:r>
              <a:rPr lang="en-US" altLang="en-US" sz="3200" dirty="0">
                <a:solidFill>
                  <a:srgbClr val="007FA3"/>
                </a:solidFill>
                <a:latin typeface="+mj-lt"/>
              </a:rPr>
              <a:t>The Importance of Marketing Channels</a:t>
            </a:r>
            <a:endParaRPr lang="en-AU" altLang="en-US" sz="3200" dirty="0">
              <a:solidFill>
                <a:srgbClr val="007FA3"/>
              </a:solidFill>
              <a:latin typeface="+mj-lt"/>
            </a:endParaRPr>
          </a:p>
        </p:txBody>
      </p:sp>
      <p:sp>
        <p:nvSpPr>
          <p:cNvPr id="5123" name="Rectangle 5"/>
          <p:cNvSpPr>
            <a:spLocks noGrp="1" noChangeArrowheads="1"/>
          </p:cNvSpPr>
          <p:nvPr>
            <p:ph type="body" idx="1"/>
          </p:nvPr>
        </p:nvSpPr>
        <p:spPr>
          <a:xfrm>
            <a:off x="539809" y="968432"/>
            <a:ext cx="8342467" cy="4555255"/>
          </a:xfrm>
        </p:spPr>
        <p:txBody>
          <a:bodyPr/>
          <a:lstStyle/>
          <a:p>
            <a:pPr marL="101600" indent="0">
              <a:buNone/>
              <a:defRPr/>
            </a:pPr>
            <a:r>
              <a:rPr lang="en-GB" sz="2000" b="1" dirty="0">
                <a:solidFill>
                  <a:srgbClr val="007FA3"/>
                </a:solidFill>
              </a:rPr>
              <a:t>Advantages of using intermediaries instead of selling direct:</a:t>
            </a:r>
          </a:p>
          <a:p>
            <a:pPr marL="342900" lvl="1" indent="-342900">
              <a:spcBef>
                <a:spcPts val="554"/>
              </a:spcBef>
              <a:spcAft>
                <a:spcPts val="554"/>
              </a:spcAft>
              <a:buFont typeface="Arial" panose="020B0604020202020204" pitchFamily="34" charset="0"/>
              <a:buChar char="•"/>
              <a:defRPr/>
            </a:pPr>
            <a:r>
              <a:rPr lang="en-US" sz="2000" dirty="0">
                <a:cs typeface="Times New Roman" pitchFamily="18" charset="0"/>
              </a:rPr>
              <a:t>Wider Market Reach</a:t>
            </a:r>
          </a:p>
          <a:p>
            <a:pPr marL="742950" lvl="2" indent="-342900">
              <a:spcBef>
                <a:spcPts val="554"/>
              </a:spcBef>
              <a:spcAft>
                <a:spcPts val="554"/>
              </a:spcAft>
              <a:buFont typeface="Wingdings" panose="05000000000000000000" pitchFamily="2" charset="2"/>
              <a:buChar char="§"/>
              <a:defRPr/>
            </a:pPr>
            <a:r>
              <a:rPr lang="en-US" sz="1800" dirty="0">
                <a:cs typeface="Times New Roman" pitchFamily="18" charset="0"/>
              </a:rPr>
              <a:t>Access to Broader Customer Base</a:t>
            </a:r>
            <a:endParaRPr lang="en-US" sz="2000" dirty="0">
              <a:cs typeface="Times New Roman" pitchFamily="18" charset="0"/>
            </a:endParaRPr>
          </a:p>
          <a:p>
            <a:pPr marL="742950" lvl="2" indent="-342900">
              <a:spcBef>
                <a:spcPts val="554"/>
              </a:spcBef>
              <a:spcAft>
                <a:spcPts val="554"/>
              </a:spcAft>
              <a:buFont typeface="Wingdings" panose="05000000000000000000" pitchFamily="2" charset="2"/>
              <a:buChar char="§"/>
              <a:defRPr/>
            </a:pPr>
            <a:r>
              <a:rPr lang="en-US" sz="1800" dirty="0">
                <a:cs typeface="Times New Roman" pitchFamily="18" charset="0"/>
              </a:rPr>
              <a:t>Geographical Expansion</a:t>
            </a:r>
          </a:p>
          <a:p>
            <a:pPr marL="342900" lvl="1" indent="-342900">
              <a:spcBef>
                <a:spcPts val="554"/>
              </a:spcBef>
              <a:spcAft>
                <a:spcPts val="554"/>
              </a:spcAft>
              <a:buFont typeface="Arial" panose="020B0604020202020204" pitchFamily="34" charset="0"/>
              <a:buChar char="•"/>
              <a:defRPr/>
            </a:pPr>
            <a:r>
              <a:rPr lang="en-US" sz="2000" dirty="0">
                <a:cs typeface="Times New Roman" pitchFamily="18" charset="0"/>
              </a:rPr>
              <a:t>Cost Efficiency</a:t>
            </a:r>
          </a:p>
          <a:p>
            <a:pPr marL="742950" lvl="2" indent="-342900">
              <a:spcBef>
                <a:spcPts val="554"/>
              </a:spcBef>
              <a:spcAft>
                <a:spcPts val="554"/>
              </a:spcAft>
              <a:buFont typeface="Wingdings" panose="05000000000000000000" pitchFamily="2" charset="2"/>
              <a:buChar char="§"/>
              <a:defRPr/>
            </a:pPr>
            <a:r>
              <a:rPr lang="en-US" sz="1800" dirty="0">
                <a:cs typeface="Times New Roman" pitchFamily="18" charset="0"/>
              </a:rPr>
              <a:t>Lower Distribution Costs</a:t>
            </a:r>
          </a:p>
          <a:p>
            <a:pPr marL="742950" lvl="2" indent="-342900">
              <a:spcBef>
                <a:spcPts val="554"/>
              </a:spcBef>
              <a:spcAft>
                <a:spcPts val="554"/>
              </a:spcAft>
              <a:buFont typeface="Wingdings" panose="05000000000000000000" pitchFamily="2" charset="2"/>
              <a:buChar char="§"/>
              <a:defRPr/>
            </a:pPr>
            <a:r>
              <a:rPr lang="en-US" sz="1800" dirty="0">
                <a:cs typeface="Times New Roman" pitchFamily="18" charset="0"/>
              </a:rPr>
              <a:t>Reduced Capital Investment</a:t>
            </a:r>
          </a:p>
          <a:p>
            <a:pPr marL="342900" lvl="1" indent="-342900">
              <a:spcBef>
                <a:spcPts val="554"/>
              </a:spcBef>
              <a:spcAft>
                <a:spcPts val="554"/>
              </a:spcAft>
              <a:buFont typeface="Arial" panose="020B0604020202020204" pitchFamily="34" charset="0"/>
              <a:buChar char="•"/>
              <a:defRPr/>
            </a:pPr>
            <a:r>
              <a:rPr lang="en-US" sz="2000" dirty="0">
                <a:cs typeface="Times New Roman" pitchFamily="18" charset="0"/>
              </a:rPr>
              <a:t>Intermediaries have contacts, experience, </a:t>
            </a:r>
            <a:r>
              <a:rPr lang="en-US" sz="2000" dirty="0" err="1">
                <a:cs typeface="Times New Roman" pitchFamily="18" charset="0"/>
              </a:rPr>
              <a:t>specialisation</a:t>
            </a:r>
            <a:r>
              <a:rPr lang="en-US" sz="2000" dirty="0">
                <a:cs typeface="Times New Roman" pitchFamily="18" charset="0"/>
              </a:rPr>
              <a:t> and scale of operation, and can do it cheaper and better.</a:t>
            </a:r>
          </a:p>
          <a:p>
            <a:pPr marL="342900" lvl="1" indent="-342900">
              <a:spcBef>
                <a:spcPts val="554"/>
              </a:spcBef>
              <a:spcAft>
                <a:spcPts val="554"/>
              </a:spcAft>
              <a:buFont typeface="Arial" panose="020B0604020202020204" pitchFamily="34" charset="0"/>
              <a:buChar char="•"/>
              <a:defRPr/>
            </a:pPr>
            <a:r>
              <a:rPr lang="en-AU" sz="2000" dirty="0">
                <a:cs typeface="Times New Roman" pitchFamily="18" charset="0"/>
              </a:rPr>
              <a:t>Many suppliers lack the financial resources to carry out direct</a:t>
            </a:r>
            <a:br>
              <a:rPr lang="en-AU" sz="2000" dirty="0">
                <a:cs typeface="Times New Roman" pitchFamily="18" charset="0"/>
              </a:rPr>
            </a:br>
            <a:r>
              <a:rPr lang="en-AU" sz="2000" dirty="0">
                <a:cs typeface="Times New Roman" pitchFamily="18" charset="0"/>
              </a:rPr>
              <a:t>marketing to their customers.</a:t>
            </a:r>
          </a:p>
          <a:p>
            <a:pPr marL="342900" lvl="1" indent="-342900">
              <a:spcBef>
                <a:spcPts val="554"/>
              </a:spcBef>
              <a:spcAft>
                <a:spcPts val="554"/>
              </a:spcAft>
              <a:buFont typeface="Arial" panose="020B0604020202020204" pitchFamily="34" charset="0"/>
              <a:buChar char="•"/>
              <a:defRPr/>
            </a:pPr>
            <a:r>
              <a:rPr lang="en-AU" sz="2000" dirty="0">
                <a:cs typeface="Times New Roman" pitchFamily="18" charset="0"/>
              </a:rPr>
              <a:t>Many customers want </a:t>
            </a:r>
            <a:r>
              <a:rPr lang="en-AU" sz="2000" u="sng" dirty="0">
                <a:cs typeface="Times New Roman" pitchFamily="18" charset="0"/>
              </a:rPr>
              <a:t>personal interaction </a:t>
            </a:r>
            <a:r>
              <a:rPr lang="en-AU" sz="2000" dirty="0">
                <a:cs typeface="Times New Roman" pitchFamily="18" charset="0"/>
              </a:rPr>
              <a:t>before buying large items</a:t>
            </a:r>
            <a:r>
              <a:rPr lang="en-GB" sz="2000" dirty="0"/>
              <a:t>.</a:t>
            </a:r>
          </a:p>
        </p:txBody>
      </p:sp>
      <p:pic>
        <p:nvPicPr>
          <p:cNvPr id="583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719" y="1919554"/>
            <a:ext cx="3553557" cy="1992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4847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590874"/>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639097"/>
            <a:ext cx="8229599" cy="4525963"/>
          </a:xfrm>
        </p:spPr>
        <p:txBody>
          <a:bodyPr/>
          <a:lstStyle/>
          <a:p>
            <a:pPr marL="101600" indent="0" algn="l">
              <a:buNone/>
            </a:pPr>
            <a:r>
              <a:rPr lang="en-NZ" sz="2400" b="1" i="0" u="none" strike="noStrike" baseline="0" dirty="0">
                <a:solidFill>
                  <a:srgbClr val="007FA3"/>
                </a:solidFill>
                <a:latin typeface="+mn-lt"/>
              </a:rPr>
              <a:t>Channel behaviour</a:t>
            </a:r>
          </a:p>
          <a:p>
            <a:pPr algn="l"/>
            <a:r>
              <a:rPr lang="en-NZ" sz="2000" dirty="0">
                <a:solidFill>
                  <a:schemeClr val="tx1"/>
                </a:solidFill>
              </a:rPr>
              <a:t>Ideally all channel firms should work together smoothly.</a:t>
            </a:r>
          </a:p>
          <a:p>
            <a:pPr algn="l"/>
            <a:r>
              <a:rPr lang="en-US" sz="2000" b="1" dirty="0">
                <a:solidFill>
                  <a:schemeClr val="tx1"/>
                </a:solidFill>
              </a:rPr>
              <a:t>Channel conflict </a:t>
            </a:r>
            <a:br>
              <a:rPr lang="en-US" sz="2000" b="1" dirty="0">
                <a:solidFill>
                  <a:schemeClr val="tx1"/>
                </a:solidFill>
              </a:rPr>
            </a:br>
            <a:r>
              <a:rPr lang="en-US" sz="2000" dirty="0">
                <a:solidFill>
                  <a:schemeClr val="tx1"/>
                </a:solidFill>
              </a:rPr>
              <a:t>is disagreement among marketing channel members on goals, roles and rewards – that is, on who should do what and for what rewards. </a:t>
            </a:r>
          </a:p>
          <a:p>
            <a:pPr lvl="1">
              <a:buFont typeface="Wingdings" panose="05000000000000000000" pitchFamily="2" charset="2"/>
              <a:buChar char="§"/>
            </a:pPr>
            <a:r>
              <a:rPr lang="en-US" sz="1800" dirty="0">
                <a:solidFill>
                  <a:schemeClr val="tx1"/>
                </a:solidFill>
              </a:rPr>
              <a:t>between different sales channels within the same organisation or </a:t>
            </a:r>
          </a:p>
          <a:p>
            <a:pPr lvl="1">
              <a:buFont typeface="Wingdings" panose="05000000000000000000" pitchFamily="2" charset="2"/>
              <a:buChar char="§"/>
            </a:pPr>
            <a:r>
              <a:rPr lang="en-US" sz="1800" dirty="0">
                <a:solidFill>
                  <a:schemeClr val="tx1"/>
                </a:solidFill>
              </a:rPr>
              <a:t>between the organisation and its channel partners, such as distributors, retailers, or agents. </a:t>
            </a:r>
          </a:p>
          <a:p>
            <a:pPr marL="901700" lvl="1" indent="-342900">
              <a:buFont typeface="+mj-lt"/>
              <a:buAutoNum type="arabicPeriod"/>
            </a:pPr>
            <a:r>
              <a:rPr lang="en-US" sz="1800" b="1" dirty="0">
                <a:solidFill>
                  <a:schemeClr val="tx1"/>
                </a:solidFill>
              </a:rPr>
              <a:t>Horizontal conflict </a:t>
            </a:r>
            <a:r>
              <a:rPr lang="en-US" sz="1800" dirty="0">
                <a:solidFill>
                  <a:schemeClr val="tx1"/>
                </a:solidFill>
              </a:rPr>
              <a:t>is conflict between firms at the same channel level. </a:t>
            </a:r>
          </a:p>
          <a:p>
            <a:pPr marL="1258888" lvl="2" indent="-242888">
              <a:buFont typeface="Wingdings" panose="05000000000000000000" pitchFamily="2" charset="2"/>
              <a:buChar char="Ø"/>
            </a:pPr>
            <a:r>
              <a:rPr lang="en-US" dirty="0">
                <a:solidFill>
                  <a:schemeClr val="tx1"/>
                </a:solidFill>
              </a:rPr>
              <a:t>Two retailers selling the same product might engage in a price war, leading to reduced profitability for both.</a:t>
            </a:r>
          </a:p>
          <a:p>
            <a:pPr marL="901700" lvl="1" indent="-342900">
              <a:buFont typeface="+mj-lt"/>
              <a:buAutoNum type="arabicPeriod"/>
            </a:pPr>
            <a:r>
              <a:rPr lang="en-US" sz="1800" b="1" dirty="0">
                <a:solidFill>
                  <a:schemeClr val="tx1"/>
                </a:solidFill>
              </a:rPr>
              <a:t>Vertical conflict </a:t>
            </a:r>
            <a:r>
              <a:rPr lang="en-US" sz="1800" dirty="0">
                <a:solidFill>
                  <a:schemeClr val="tx1"/>
                </a:solidFill>
              </a:rPr>
              <a:t>is conflict between different levels of the same channel. </a:t>
            </a:r>
          </a:p>
          <a:p>
            <a:pPr marL="1258888" lvl="2" indent="-242888">
              <a:buFont typeface="Wingdings" panose="05000000000000000000" pitchFamily="2" charset="2"/>
              <a:buChar char="Ø"/>
            </a:pPr>
            <a:r>
              <a:rPr lang="en-US" dirty="0">
                <a:solidFill>
                  <a:schemeClr val="tx1"/>
                </a:solidFill>
              </a:rPr>
              <a:t>A manufacturer decides to sell directly to consumers online, bypassing its traditional retail partners. </a:t>
            </a:r>
          </a:p>
        </p:txBody>
      </p:sp>
    </p:spTree>
    <p:extLst>
      <p:ext uri="{BB962C8B-B14F-4D97-AF65-F5344CB8AC3E}">
        <p14:creationId xmlns:p14="http://schemas.microsoft.com/office/powerpoint/2010/main" val="1676336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235974" y="215372"/>
            <a:ext cx="8681884" cy="640034"/>
          </a:xfrm>
        </p:spPr>
        <p:txBody>
          <a:bodyPr/>
          <a:lstStyle/>
          <a:p>
            <a:r>
              <a:rPr lang="en-US" sz="3200" dirty="0"/>
              <a:t>Distribution Channel Structure</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235975" y="855406"/>
            <a:ext cx="8681883" cy="4525963"/>
          </a:xfrm>
        </p:spPr>
        <p:txBody>
          <a:bodyPr/>
          <a:lstStyle/>
          <a:p>
            <a:pPr marL="101600" indent="0">
              <a:buNone/>
            </a:pPr>
            <a:r>
              <a:rPr lang="en-US" b="1" dirty="0"/>
              <a:t>Conventional Marketing Channel</a:t>
            </a:r>
          </a:p>
          <a:p>
            <a:r>
              <a:rPr lang="en-US" dirty="0"/>
              <a:t>A conventional channel is a </a:t>
            </a:r>
            <a:r>
              <a:rPr lang="en-US" b="1" dirty="0"/>
              <a:t>traditional, independent system</a:t>
            </a:r>
            <a:r>
              <a:rPr lang="en-US" dirty="0"/>
              <a:t> of manufacturers, wholesalers, and retailers. Each member acts as a </a:t>
            </a:r>
            <a:r>
              <a:rPr lang="en-US" b="1" dirty="0"/>
              <a:t>separate business</a:t>
            </a:r>
            <a:r>
              <a:rPr lang="en-US" dirty="0"/>
              <a:t>, aiming to maximize its own profits, sometimes at the expense of overall channel efficiency.</a:t>
            </a:r>
          </a:p>
          <a:p>
            <a:r>
              <a:rPr lang="en-US" b="1" dirty="0"/>
              <a:t>Characteristics:</a:t>
            </a:r>
            <a:endParaRPr lang="en-US" dirty="0"/>
          </a:p>
          <a:p>
            <a:pPr lvl="1">
              <a:buFont typeface="Wingdings" panose="05000000000000000000" pitchFamily="2" charset="2"/>
              <a:buChar char="§"/>
            </a:pPr>
            <a:r>
              <a:rPr lang="en-US" sz="1400" dirty="0"/>
              <a:t>Loose relationships between channel members.</a:t>
            </a:r>
          </a:p>
          <a:p>
            <a:pPr lvl="1">
              <a:buFont typeface="Wingdings" panose="05000000000000000000" pitchFamily="2" charset="2"/>
              <a:buChar char="§"/>
            </a:pPr>
            <a:r>
              <a:rPr lang="en-US" sz="1400" dirty="0"/>
              <a:t>Each member has its own goals and strategies.</a:t>
            </a:r>
          </a:p>
          <a:p>
            <a:pPr lvl="1">
              <a:buFont typeface="Wingdings" panose="05000000000000000000" pitchFamily="2" charset="2"/>
              <a:buChar char="§"/>
            </a:pPr>
            <a:r>
              <a:rPr lang="en-US" sz="1400" dirty="0"/>
              <a:t>Coordination is limited.</a:t>
            </a:r>
          </a:p>
          <a:p>
            <a:pPr lvl="1">
              <a:buFont typeface="Wingdings" panose="05000000000000000000" pitchFamily="2" charset="2"/>
              <a:buChar char="§"/>
            </a:pPr>
            <a:r>
              <a:rPr lang="en-US" sz="1400" dirty="0"/>
              <a:t>Conflicts can arise (e.g., retailers demanding lower wholesale prices, wholesalers demanding higher margins).</a:t>
            </a:r>
          </a:p>
          <a:p>
            <a:pPr marL="101600" indent="0">
              <a:buNone/>
            </a:pPr>
            <a:r>
              <a:rPr lang="en-US" b="1" dirty="0"/>
              <a:t>Vertical Marketing System (VMS)</a:t>
            </a:r>
          </a:p>
          <a:p>
            <a:r>
              <a:rPr lang="en-US" dirty="0"/>
              <a:t> VMS is a </a:t>
            </a:r>
            <a:r>
              <a:rPr lang="en-US" b="1" dirty="0"/>
              <a:t>coordinated distribution system</a:t>
            </a:r>
            <a:r>
              <a:rPr lang="en-US" dirty="0"/>
              <a:t> where the manufacturer, wholesaler, and retailer work together as a </a:t>
            </a:r>
            <a:r>
              <a:rPr lang="en-US" b="1" dirty="0"/>
              <a:t>unified system</a:t>
            </a:r>
            <a:r>
              <a:rPr lang="en-US" dirty="0"/>
              <a:t>. This reduces conflict and increases efficiency.</a:t>
            </a:r>
          </a:p>
          <a:p>
            <a:r>
              <a:rPr lang="en-US" b="1" dirty="0"/>
              <a:t>Characteristics:</a:t>
            </a:r>
            <a:endParaRPr lang="en-US" dirty="0"/>
          </a:p>
          <a:p>
            <a:pPr lvl="1">
              <a:buFont typeface="Wingdings" panose="05000000000000000000" pitchFamily="2" charset="2"/>
              <a:buChar char="§"/>
            </a:pPr>
            <a:r>
              <a:rPr lang="en-US" sz="1400" dirty="0"/>
              <a:t>Greater coordination and control.</a:t>
            </a:r>
          </a:p>
          <a:p>
            <a:pPr lvl="1">
              <a:buFont typeface="Wingdings" panose="05000000000000000000" pitchFamily="2" charset="2"/>
              <a:buChar char="§"/>
            </a:pPr>
            <a:r>
              <a:rPr lang="en-US" sz="1400" dirty="0"/>
              <a:t>Focus on overall efficiency and profit, not just individual margins.</a:t>
            </a:r>
          </a:p>
          <a:p>
            <a:pPr lvl="1">
              <a:buFont typeface="Wingdings" panose="05000000000000000000" pitchFamily="2" charset="2"/>
              <a:buChar char="§"/>
            </a:pPr>
            <a:r>
              <a:rPr lang="en-US" sz="1400" dirty="0"/>
              <a:t>Reduces duplication of effort and conflict.</a:t>
            </a:r>
          </a:p>
          <a:p>
            <a:pPr marL="101600" indent="0" algn="l">
              <a:buNone/>
            </a:pPr>
            <a:endParaRPr lang="en-US" sz="2000" dirty="0">
              <a:solidFill>
                <a:schemeClr val="tx1"/>
              </a:solidFill>
            </a:endParaRPr>
          </a:p>
          <a:p>
            <a:pPr marL="101600" indent="0" algn="l">
              <a:buNone/>
            </a:pPr>
            <a:endParaRPr lang="en-US" sz="2000" dirty="0">
              <a:solidFill>
                <a:schemeClr val="tx1"/>
              </a:solidFill>
            </a:endParaRPr>
          </a:p>
          <a:p>
            <a:pPr marL="101600" indent="0" algn="l">
              <a:buNone/>
            </a:pPr>
            <a:endParaRPr lang="en-US" sz="2000" dirty="0">
              <a:solidFill>
                <a:schemeClr val="tx1"/>
              </a:solidFill>
            </a:endParaRPr>
          </a:p>
        </p:txBody>
      </p:sp>
    </p:spTree>
    <p:extLst>
      <p:ext uri="{BB962C8B-B14F-4D97-AF65-F5344CB8AC3E}">
        <p14:creationId xmlns:p14="http://schemas.microsoft.com/office/powerpoint/2010/main" val="3281361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FF338-592F-4DD1-B8A1-97E3A4DB9223}"/>
              </a:ext>
            </a:extLst>
          </p:cNvPr>
          <p:cNvSpPr>
            <a:spLocks noGrp="1"/>
          </p:cNvSpPr>
          <p:nvPr>
            <p:ph type="title"/>
          </p:nvPr>
        </p:nvSpPr>
        <p:spPr>
          <a:xfrm>
            <a:off x="457200" y="346917"/>
            <a:ext cx="8229600" cy="672657"/>
          </a:xfrm>
        </p:spPr>
        <p:txBody>
          <a:bodyPr anchor="b">
            <a:noAutofit/>
          </a:bodyPr>
          <a:lstStyle/>
          <a:p>
            <a:pPr>
              <a:lnSpc>
                <a:spcPct val="90000"/>
              </a:lnSpc>
            </a:pPr>
            <a:r>
              <a:rPr lang="en-NZ" sz="3200" dirty="0"/>
              <a:t>A conventional marketing channel versus a vertical marketing system</a:t>
            </a:r>
          </a:p>
        </p:txBody>
      </p:sp>
      <p:pic>
        <p:nvPicPr>
          <p:cNvPr id="7" name="Picture Placeholder 6" descr="Two flowcharts compare a conventional marketing channel and a vertical marketing system. Full alt text description in Notes.">
            <a:extLst>
              <a:ext uri="{FF2B5EF4-FFF2-40B4-BE49-F238E27FC236}">
                <a16:creationId xmlns:a16="http://schemas.microsoft.com/office/drawing/2014/main" id="{5D2E080A-EAEF-4FE1-A360-508B52BDB4B9}"/>
              </a:ext>
            </a:extLst>
          </p:cNvPr>
          <p:cNvPicPr>
            <a:picLocks noGrp="1" noChangeAspect="1"/>
          </p:cNvPicPr>
          <p:nvPr>
            <p:ph type="pic" sz="quarter" idx="13"/>
          </p:nvPr>
        </p:nvPicPr>
        <p:blipFill rotWithShape="1">
          <a:blip r:embed="rId3"/>
          <a:srcRect t="107" b="292"/>
          <a:stretch/>
        </p:blipFill>
        <p:spPr>
          <a:xfrm>
            <a:off x="1685925" y="1019574"/>
            <a:ext cx="5772150" cy="5297111"/>
          </a:xfrm>
        </p:spPr>
      </p:pic>
    </p:spTree>
    <p:extLst>
      <p:ext uri="{BB962C8B-B14F-4D97-AF65-F5344CB8AC3E}">
        <p14:creationId xmlns:p14="http://schemas.microsoft.com/office/powerpoint/2010/main" val="1670511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34423"/>
            <a:ext cx="8229600" cy="803804"/>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577811"/>
            <a:ext cx="8229599" cy="4525963"/>
          </a:xfrm>
        </p:spPr>
        <p:txBody>
          <a:bodyPr/>
          <a:lstStyle/>
          <a:p>
            <a:pPr marL="101600" indent="0" algn="l">
              <a:buNone/>
            </a:pPr>
            <a:r>
              <a:rPr lang="en-NZ" sz="2400" b="1" i="0" u="none" strike="noStrike" baseline="0" dirty="0">
                <a:solidFill>
                  <a:srgbClr val="007FA3"/>
                </a:solidFill>
                <a:latin typeface="+mn-lt"/>
              </a:rPr>
              <a:t>Vertical marketing systems (cont.)</a:t>
            </a:r>
          </a:p>
          <a:p>
            <a:pPr algn="l"/>
            <a:r>
              <a:rPr lang="en-US" sz="2000" dirty="0">
                <a:solidFill>
                  <a:schemeClr val="tx1"/>
                </a:solidFill>
              </a:rPr>
              <a:t>There are three main types of VMS:</a:t>
            </a:r>
          </a:p>
          <a:p>
            <a:pPr lvl="1">
              <a:buFont typeface="Wingdings" panose="05000000000000000000" pitchFamily="2" charset="2"/>
              <a:buChar char="§"/>
            </a:pPr>
            <a:r>
              <a:rPr lang="en-US" sz="1800" dirty="0">
                <a:solidFill>
                  <a:schemeClr val="tx1"/>
                </a:solidFill>
              </a:rPr>
              <a:t>corporate VMS</a:t>
            </a:r>
          </a:p>
          <a:p>
            <a:pPr lvl="1">
              <a:buFont typeface="Wingdings" panose="05000000000000000000" pitchFamily="2" charset="2"/>
              <a:buChar char="§"/>
            </a:pPr>
            <a:r>
              <a:rPr lang="en-US" sz="1800" dirty="0">
                <a:solidFill>
                  <a:schemeClr val="tx1"/>
                </a:solidFill>
              </a:rPr>
              <a:t>contractual VMS</a:t>
            </a:r>
          </a:p>
          <a:p>
            <a:pPr lvl="1">
              <a:buFont typeface="Wingdings" panose="05000000000000000000" pitchFamily="2" charset="2"/>
              <a:buChar char="§"/>
            </a:pPr>
            <a:r>
              <a:rPr lang="en-US" sz="1800" dirty="0">
                <a:solidFill>
                  <a:schemeClr val="tx1"/>
                </a:solidFill>
              </a:rPr>
              <a:t>administered VMS.</a:t>
            </a:r>
          </a:p>
          <a:p>
            <a:r>
              <a:rPr lang="en-US" sz="2000" dirty="0">
                <a:solidFill>
                  <a:schemeClr val="tx1"/>
                </a:solidFill>
              </a:rPr>
              <a:t>Each type of VMS uses a different means of setting leadership and power in the channel.</a:t>
            </a:r>
          </a:p>
          <a:p>
            <a:pPr marL="101600" indent="0" algn="l">
              <a:buNone/>
            </a:pPr>
            <a:endParaRPr lang="en-US" sz="2000" dirty="0">
              <a:solidFill>
                <a:schemeClr val="tx1"/>
              </a:solidFill>
            </a:endParaRPr>
          </a:p>
          <a:p>
            <a:pPr marL="101600" indent="0" algn="l">
              <a:buNone/>
            </a:pPr>
            <a:endParaRPr lang="en-US" sz="2000" dirty="0">
              <a:solidFill>
                <a:schemeClr val="tx1"/>
              </a:solidFill>
            </a:endParaRPr>
          </a:p>
        </p:txBody>
      </p:sp>
    </p:spTree>
    <p:extLst>
      <p:ext uri="{BB962C8B-B14F-4D97-AF65-F5344CB8AC3E}">
        <p14:creationId xmlns:p14="http://schemas.microsoft.com/office/powerpoint/2010/main" val="2113517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F0CB7-4033-4200-98F5-18505650C5BB}"/>
              </a:ext>
            </a:extLst>
          </p:cNvPr>
          <p:cNvSpPr>
            <a:spLocks noGrp="1"/>
          </p:cNvSpPr>
          <p:nvPr>
            <p:ph type="title"/>
          </p:nvPr>
        </p:nvSpPr>
        <p:spPr>
          <a:xfrm>
            <a:off x="457200" y="476250"/>
            <a:ext cx="8229600" cy="672657"/>
          </a:xfrm>
        </p:spPr>
        <p:txBody>
          <a:bodyPr/>
          <a:lstStyle/>
          <a:p>
            <a:r>
              <a:rPr lang="en-NZ" sz="3200" dirty="0"/>
              <a:t>The main types of vertical marketing systems</a:t>
            </a:r>
          </a:p>
        </p:txBody>
      </p:sp>
      <p:pic>
        <p:nvPicPr>
          <p:cNvPr id="8" name="Picture Placeholder 7" descr="A flowchart shows the main types of vertical marketing systems. Full alt text description in Notes.">
            <a:extLst>
              <a:ext uri="{FF2B5EF4-FFF2-40B4-BE49-F238E27FC236}">
                <a16:creationId xmlns:a16="http://schemas.microsoft.com/office/drawing/2014/main" id="{096FA462-CC38-450A-91BC-28FE7E6F945F}"/>
              </a:ext>
            </a:extLst>
          </p:cNvPr>
          <p:cNvPicPr>
            <a:picLocks noGrp="1" noChangeAspect="1"/>
          </p:cNvPicPr>
          <p:nvPr>
            <p:ph type="pic" sz="quarter" idx="13"/>
          </p:nvPr>
        </p:nvPicPr>
        <p:blipFill rotWithShape="1">
          <a:blip r:embed="rId3"/>
          <a:srcRect t="782" b="826"/>
          <a:stretch/>
        </p:blipFill>
        <p:spPr>
          <a:xfrm>
            <a:off x="2043953" y="1021975"/>
            <a:ext cx="7100047" cy="5106119"/>
          </a:xfrm>
        </p:spPr>
      </p:pic>
    </p:spTree>
    <p:extLst>
      <p:ext uri="{BB962C8B-B14F-4D97-AF65-F5344CB8AC3E}">
        <p14:creationId xmlns:p14="http://schemas.microsoft.com/office/powerpoint/2010/main" val="3398647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822854"/>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577811"/>
            <a:ext cx="8229599" cy="4525963"/>
          </a:xfrm>
        </p:spPr>
        <p:txBody>
          <a:bodyPr/>
          <a:lstStyle/>
          <a:p>
            <a:pPr marL="101600" indent="0" algn="l">
              <a:buNone/>
            </a:pPr>
            <a:r>
              <a:rPr lang="en-NZ" sz="2400" b="1" i="0" u="none" strike="noStrike" baseline="0" dirty="0">
                <a:solidFill>
                  <a:srgbClr val="007FA3"/>
                </a:solidFill>
                <a:latin typeface="+mn-lt"/>
              </a:rPr>
              <a:t>Vertical marketing systems (cont.)</a:t>
            </a:r>
          </a:p>
          <a:p>
            <a:pPr marL="101600" indent="0">
              <a:buNone/>
            </a:pPr>
            <a:r>
              <a:rPr lang="en-US" sz="2200" b="1" dirty="0">
                <a:solidFill>
                  <a:srgbClr val="00B0F0"/>
                </a:solidFill>
              </a:rPr>
              <a:t>Corporate VMS</a:t>
            </a:r>
          </a:p>
          <a:p>
            <a:r>
              <a:rPr lang="en-US" sz="2000" dirty="0">
                <a:solidFill>
                  <a:schemeClr val="tx1"/>
                </a:solidFill>
              </a:rPr>
              <a:t>A </a:t>
            </a:r>
            <a:r>
              <a:rPr lang="en-US" sz="2000" b="1" dirty="0">
                <a:solidFill>
                  <a:schemeClr val="tx1"/>
                </a:solidFill>
              </a:rPr>
              <a:t>corporate VMS</a:t>
            </a:r>
            <a:r>
              <a:rPr lang="en-US" sz="2000" dirty="0">
                <a:solidFill>
                  <a:schemeClr val="tx1"/>
                </a:solidFill>
              </a:rPr>
              <a:t> </a:t>
            </a:r>
            <a:br>
              <a:rPr lang="en-US" sz="2000" dirty="0">
                <a:solidFill>
                  <a:schemeClr val="tx1"/>
                </a:solidFill>
              </a:rPr>
            </a:br>
            <a:r>
              <a:rPr lang="en-US" sz="2000" dirty="0">
                <a:solidFill>
                  <a:schemeClr val="tx1"/>
                </a:solidFill>
              </a:rPr>
              <a:t>is a vertical marketing system that combines successive stages of production and distribution under single ownership; channel leadership is established through common ownership.</a:t>
            </a:r>
          </a:p>
          <a:p>
            <a:pPr marL="101600" indent="0" algn="l">
              <a:buNone/>
            </a:pPr>
            <a:endParaRPr lang="en-US" sz="2000" dirty="0">
              <a:solidFill>
                <a:schemeClr val="tx1"/>
              </a:solidFill>
            </a:endParaRPr>
          </a:p>
          <a:p>
            <a:pPr marL="101600" indent="0" algn="l">
              <a:buNone/>
            </a:pPr>
            <a:endParaRPr lang="en-US" sz="2000" dirty="0">
              <a:solidFill>
                <a:schemeClr val="tx1"/>
              </a:solidFill>
            </a:endParaRPr>
          </a:p>
        </p:txBody>
      </p:sp>
    </p:spTree>
    <p:extLst>
      <p:ext uri="{BB962C8B-B14F-4D97-AF65-F5344CB8AC3E}">
        <p14:creationId xmlns:p14="http://schemas.microsoft.com/office/powerpoint/2010/main" val="2880893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88168"/>
            <a:ext cx="8229600" cy="947222"/>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035389"/>
            <a:ext cx="8229599" cy="4525963"/>
          </a:xfrm>
        </p:spPr>
        <p:txBody>
          <a:bodyPr/>
          <a:lstStyle/>
          <a:p>
            <a:pPr marL="101600" indent="0" algn="l">
              <a:buNone/>
            </a:pPr>
            <a:r>
              <a:rPr lang="en-NZ" sz="2400" b="1" i="0" u="none" strike="noStrike" baseline="0" dirty="0">
                <a:solidFill>
                  <a:srgbClr val="007FA3"/>
                </a:solidFill>
                <a:latin typeface="+mn-lt"/>
              </a:rPr>
              <a:t>Vertical marketing systems (cont.)</a:t>
            </a:r>
          </a:p>
          <a:p>
            <a:pPr marL="101600" indent="0">
              <a:buNone/>
            </a:pPr>
            <a:r>
              <a:rPr lang="en-US" sz="2200" b="1" dirty="0">
                <a:solidFill>
                  <a:srgbClr val="00B0F0"/>
                </a:solidFill>
              </a:rPr>
              <a:t>Contractual VMS</a:t>
            </a:r>
          </a:p>
          <a:p>
            <a:r>
              <a:rPr lang="en-US" sz="2000" dirty="0">
                <a:solidFill>
                  <a:schemeClr val="tx1"/>
                </a:solidFill>
              </a:rPr>
              <a:t>A </a:t>
            </a:r>
            <a:r>
              <a:rPr lang="en-US" sz="2000" b="1" dirty="0">
                <a:solidFill>
                  <a:schemeClr val="tx1"/>
                </a:solidFill>
              </a:rPr>
              <a:t>contractual VMS</a:t>
            </a:r>
            <a:r>
              <a:rPr lang="en-US" sz="2000" dirty="0">
                <a:solidFill>
                  <a:schemeClr val="tx1"/>
                </a:solidFill>
              </a:rPr>
              <a:t> is a vertical marketing system in which independent firms at different levels of production and distribution join through contracts.</a:t>
            </a:r>
          </a:p>
          <a:p>
            <a:r>
              <a:rPr lang="en-US" sz="2000" dirty="0">
                <a:solidFill>
                  <a:schemeClr val="tx1"/>
                </a:solidFill>
              </a:rPr>
              <a:t>The franchise organisation is the most common type of contractual VMS. There are three forms of franchise:</a:t>
            </a:r>
          </a:p>
          <a:p>
            <a:pPr lvl="1">
              <a:buFont typeface="Wingdings" panose="05000000000000000000" pitchFamily="2" charset="2"/>
              <a:buChar char="§"/>
            </a:pPr>
            <a:r>
              <a:rPr lang="en-US" sz="1800" b="1" dirty="0">
                <a:solidFill>
                  <a:schemeClr val="tx1"/>
                </a:solidFill>
              </a:rPr>
              <a:t>manufacturer-sponsored retailer franchise networks</a:t>
            </a:r>
            <a:br>
              <a:rPr lang="en-US" sz="1800" dirty="0">
                <a:solidFill>
                  <a:schemeClr val="tx1"/>
                </a:solidFill>
              </a:rPr>
            </a:br>
            <a:r>
              <a:rPr lang="en-US" sz="1800" dirty="0">
                <a:solidFill>
                  <a:schemeClr val="tx1"/>
                </a:solidFill>
              </a:rPr>
              <a:t>e.g., Car Industry – Manufacturers such as Ford, Honda licenses dealers to sell their cars</a:t>
            </a:r>
          </a:p>
          <a:p>
            <a:pPr lvl="1">
              <a:buFont typeface="Wingdings" panose="05000000000000000000" pitchFamily="2" charset="2"/>
              <a:buChar char="§"/>
            </a:pPr>
            <a:r>
              <a:rPr lang="en-US" sz="1800" b="1" dirty="0">
                <a:solidFill>
                  <a:schemeClr val="tx1"/>
                </a:solidFill>
              </a:rPr>
              <a:t>manufacturer-sponsored wholesaler franchise networks</a:t>
            </a:r>
            <a:br>
              <a:rPr lang="en-US" sz="1800" dirty="0">
                <a:solidFill>
                  <a:schemeClr val="tx1"/>
                </a:solidFill>
              </a:rPr>
            </a:br>
            <a:r>
              <a:rPr lang="en-US" sz="1800" dirty="0">
                <a:solidFill>
                  <a:schemeClr val="tx1"/>
                </a:solidFill>
              </a:rPr>
              <a:t>e.g., soft-drink industry – Coca Cola licenses bottlers such as </a:t>
            </a:r>
            <a:r>
              <a:rPr lang="en-US" sz="1800" dirty="0" err="1">
                <a:solidFill>
                  <a:schemeClr val="tx1"/>
                </a:solidFill>
              </a:rPr>
              <a:t>CCA</a:t>
            </a:r>
            <a:endParaRPr lang="en-US" sz="1800" dirty="0">
              <a:solidFill>
                <a:schemeClr val="tx1"/>
              </a:solidFill>
            </a:endParaRPr>
          </a:p>
          <a:p>
            <a:pPr lvl="1">
              <a:buFont typeface="Wingdings" panose="05000000000000000000" pitchFamily="2" charset="2"/>
              <a:buChar char="§"/>
            </a:pPr>
            <a:r>
              <a:rPr lang="en-US" sz="1800" b="1" dirty="0">
                <a:solidFill>
                  <a:schemeClr val="tx1"/>
                </a:solidFill>
              </a:rPr>
              <a:t>service-firm-sponsored franchise networks.</a:t>
            </a:r>
            <a:br>
              <a:rPr lang="en-US" sz="1800" b="1" dirty="0">
                <a:solidFill>
                  <a:schemeClr val="tx1"/>
                </a:solidFill>
              </a:rPr>
            </a:br>
            <a:r>
              <a:rPr lang="en-US" sz="1800" dirty="0">
                <a:solidFill>
                  <a:schemeClr val="tx1"/>
                </a:solidFill>
              </a:rPr>
              <a:t>Licenses a network of retailers to bring its service to consumers – car rental, food service business</a:t>
            </a:r>
          </a:p>
          <a:p>
            <a:endParaRPr lang="en-US" sz="20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1547044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714346"/>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051338"/>
            <a:ext cx="8229599" cy="4525963"/>
          </a:xfrm>
        </p:spPr>
        <p:txBody>
          <a:bodyPr/>
          <a:lstStyle/>
          <a:p>
            <a:pPr marL="101600" indent="0" algn="l">
              <a:buNone/>
            </a:pPr>
            <a:r>
              <a:rPr lang="en-NZ" sz="2400" b="1" i="0" u="none" strike="noStrike" baseline="0" dirty="0">
                <a:solidFill>
                  <a:srgbClr val="007FA3"/>
                </a:solidFill>
                <a:latin typeface="+mn-lt"/>
              </a:rPr>
              <a:t>Vertical marketing systems (cont.)</a:t>
            </a:r>
          </a:p>
          <a:p>
            <a:pPr marL="101600" indent="0">
              <a:buNone/>
            </a:pPr>
            <a:r>
              <a:rPr lang="en-US" sz="2200" b="1" dirty="0">
                <a:solidFill>
                  <a:srgbClr val="00B0F0"/>
                </a:solidFill>
              </a:rPr>
              <a:t>Administered VMS</a:t>
            </a:r>
          </a:p>
          <a:p>
            <a:r>
              <a:rPr lang="en-US" sz="2000" dirty="0">
                <a:solidFill>
                  <a:schemeClr val="tx1"/>
                </a:solidFill>
              </a:rPr>
              <a:t>An </a:t>
            </a:r>
            <a:r>
              <a:rPr lang="en-US" sz="2000" b="1" dirty="0">
                <a:solidFill>
                  <a:schemeClr val="tx1"/>
                </a:solidFill>
              </a:rPr>
              <a:t>administered VMS</a:t>
            </a:r>
            <a:r>
              <a:rPr lang="en-US" sz="2000" dirty="0">
                <a:solidFill>
                  <a:schemeClr val="tx1"/>
                </a:solidFill>
              </a:rPr>
              <a:t> is a vertical marketing system that coordinates successive stages of production and distribution, not through common ownership but through the size and power of one of the parties.</a:t>
            </a:r>
          </a:p>
          <a:p>
            <a:r>
              <a:rPr lang="en-US" sz="2000" dirty="0">
                <a:solidFill>
                  <a:schemeClr val="tx1"/>
                </a:solidFill>
              </a:rPr>
              <a:t>Contractual arrangements would be quite wide-ranging covering price, displays, shelf space and locations, promotions</a:t>
            </a:r>
          </a:p>
          <a:p>
            <a:r>
              <a:rPr lang="en-US" sz="2000" dirty="0">
                <a:solidFill>
                  <a:schemeClr val="tx1"/>
                </a:solidFill>
              </a:rPr>
              <a:t>Arnott’s, Panasonic, Unilever, Kraft etc can use the popularity of their products to negotiated favourable conditions/outcomes with retailers </a:t>
            </a:r>
          </a:p>
          <a:p>
            <a:r>
              <a:rPr lang="en-US" sz="2000" dirty="0">
                <a:solidFill>
                  <a:schemeClr val="tx1"/>
                </a:solidFill>
              </a:rPr>
              <a:t>Large retailers (Coles, Woolies, Aldi) can exert strong influence on smaller manufacturers or to demand manufacturers to make house brands</a:t>
            </a:r>
          </a:p>
        </p:txBody>
      </p:sp>
    </p:spTree>
    <p:extLst>
      <p:ext uri="{BB962C8B-B14F-4D97-AF65-F5344CB8AC3E}">
        <p14:creationId xmlns:p14="http://schemas.microsoft.com/office/powerpoint/2010/main" val="3202993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889529"/>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577811"/>
            <a:ext cx="8229599" cy="4525963"/>
          </a:xfrm>
        </p:spPr>
        <p:txBody>
          <a:bodyPr/>
          <a:lstStyle/>
          <a:p>
            <a:pPr marL="101600" indent="0" algn="l">
              <a:buNone/>
            </a:pPr>
            <a:r>
              <a:rPr lang="en-NZ" sz="2400" b="1" i="0" u="none" strike="noStrike" baseline="0" dirty="0">
                <a:solidFill>
                  <a:srgbClr val="007FA3"/>
                </a:solidFill>
                <a:latin typeface="+mn-lt"/>
              </a:rPr>
              <a:t>Horizontal marketing systems</a:t>
            </a:r>
          </a:p>
          <a:p>
            <a:r>
              <a:rPr lang="en-US" sz="2000" dirty="0">
                <a:solidFill>
                  <a:schemeClr val="tx1"/>
                </a:solidFill>
              </a:rPr>
              <a:t>A </a:t>
            </a:r>
            <a:r>
              <a:rPr lang="en-US" sz="2000" b="1" dirty="0">
                <a:solidFill>
                  <a:schemeClr val="tx1"/>
                </a:solidFill>
              </a:rPr>
              <a:t>horizontal marketing system</a:t>
            </a:r>
            <a:r>
              <a:rPr lang="en-US" sz="2000" dirty="0">
                <a:solidFill>
                  <a:schemeClr val="tx1"/>
                </a:solidFill>
              </a:rPr>
              <a:t> is a channel arrangement in which two or more companies at one level join to follow a new marketing opportunity.</a:t>
            </a:r>
          </a:p>
          <a:p>
            <a:pPr lvl="1">
              <a:buFont typeface="Wingdings" panose="05000000000000000000" pitchFamily="2" charset="2"/>
              <a:buChar char="§"/>
            </a:pPr>
            <a:r>
              <a:rPr lang="en-US" sz="1800" dirty="0">
                <a:solidFill>
                  <a:schemeClr val="tx1"/>
                </a:solidFill>
              </a:rPr>
              <a:t>Companies may join forces with non-competitors (News Corp and Telstra – Foxtel) or with competitors (Qantas and numerous airlines – developing Oneworld alliance).</a:t>
            </a:r>
          </a:p>
          <a:p>
            <a:pPr lvl="1"/>
            <a:endParaRPr lang="en-US" sz="2000" dirty="0">
              <a:solidFill>
                <a:schemeClr val="tx1"/>
              </a:solidFill>
            </a:endParaRPr>
          </a:p>
          <a:p>
            <a:pPr lvl="1"/>
            <a:endParaRPr lang="en-US" sz="2000" dirty="0">
              <a:solidFill>
                <a:schemeClr val="tx1"/>
              </a:solidFill>
            </a:endParaRPr>
          </a:p>
          <a:p>
            <a:pPr lvl="1"/>
            <a:endParaRPr lang="en-US" sz="2000" dirty="0">
              <a:solidFill>
                <a:schemeClr val="tx1"/>
              </a:solidFill>
            </a:endParaRPr>
          </a:p>
        </p:txBody>
      </p:sp>
    </p:spTree>
    <p:extLst>
      <p:ext uri="{BB962C8B-B14F-4D97-AF65-F5344CB8AC3E}">
        <p14:creationId xmlns:p14="http://schemas.microsoft.com/office/powerpoint/2010/main" val="3732570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793748"/>
          </a:xfrm>
        </p:spPr>
        <p:txBody>
          <a:bodyPr/>
          <a:lstStyle/>
          <a:p>
            <a:r>
              <a:rPr lang="en-US" sz="3200" dirty="0"/>
              <a:t>Channel behaviour and organisation</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322918"/>
            <a:ext cx="8229599" cy="4525963"/>
          </a:xfrm>
        </p:spPr>
        <p:txBody>
          <a:bodyPr/>
          <a:lstStyle/>
          <a:p>
            <a:pPr marL="101600" indent="0" algn="l">
              <a:buNone/>
            </a:pPr>
            <a:r>
              <a:rPr lang="en-NZ" sz="2400" b="1" i="0" u="none" strike="noStrike" baseline="0" dirty="0">
                <a:solidFill>
                  <a:srgbClr val="007FA3"/>
                </a:solidFill>
                <a:latin typeface="+mn-lt"/>
              </a:rPr>
              <a:t>Multichannel distribution systems</a:t>
            </a:r>
          </a:p>
          <a:p>
            <a:r>
              <a:rPr lang="en-US" sz="2000" dirty="0">
                <a:solidFill>
                  <a:schemeClr val="tx1"/>
                </a:solidFill>
              </a:rPr>
              <a:t>A </a:t>
            </a:r>
            <a:r>
              <a:rPr lang="en-US" sz="2000" b="1" dirty="0">
                <a:solidFill>
                  <a:schemeClr val="tx1"/>
                </a:solidFill>
              </a:rPr>
              <a:t>multichannel distribution system</a:t>
            </a:r>
            <a:r>
              <a:rPr lang="en-US" sz="2000" dirty="0">
                <a:solidFill>
                  <a:schemeClr val="tx1"/>
                </a:solidFill>
              </a:rPr>
              <a:t> occurs when a single firm sets up two or more marketing channels to reach one or more marketing segments.</a:t>
            </a:r>
          </a:p>
          <a:p>
            <a:r>
              <a:rPr lang="en-NZ" sz="2000" dirty="0">
                <a:solidFill>
                  <a:schemeClr val="tx1"/>
                </a:solidFill>
              </a:rPr>
              <a:t>Marketers using such multichannel:</a:t>
            </a:r>
          </a:p>
          <a:p>
            <a:pPr lvl="1">
              <a:buFont typeface="Wingdings" panose="05000000000000000000" pitchFamily="2" charset="2"/>
              <a:buChar char="§"/>
            </a:pPr>
            <a:r>
              <a:rPr lang="en-NZ" sz="1800" dirty="0">
                <a:solidFill>
                  <a:schemeClr val="tx1"/>
                </a:solidFill>
              </a:rPr>
              <a:t>gain sales with each new channel</a:t>
            </a:r>
          </a:p>
          <a:p>
            <a:pPr lvl="1">
              <a:buFont typeface="Wingdings" panose="05000000000000000000" pitchFamily="2" charset="2"/>
              <a:buChar char="§"/>
            </a:pPr>
            <a:r>
              <a:rPr lang="en-NZ" sz="1800" dirty="0">
                <a:solidFill>
                  <a:schemeClr val="tx1"/>
                </a:solidFill>
              </a:rPr>
              <a:t>also, risk offending existing channels.</a:t>
            </a:r>
            <a:endParaRPr lang="en-US" sz="2000" dirty="0">
              <a:solidFill>
                <a:schemeClr val="tx1"/>
              </a:solidFill>
            </a:endParaRPr>
          </a:p>
        </p:txBody>
      </p:sp>
    </p:spTree>
    <p:extLst>
      <p:ext uri="{BB962C8B-B14F-4D97-AF65-F5344CB8AC3E}">
        <p14:creationId xmlns:p14="http://schemas.microsoft.com/office/powerpoint/2010/main" val="2421664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255639" y="175945"/>
            <a:ext cx="8681884" cy="718694"/>
          </a:xfrm>
        </p:spPr>
        <p:txBody>
          <a:bodyPr/>
          <a:lstStyle/>
          <a:p>
            <a:r>
              <a:rPr lang="en-US" sz="3200" dirty="0"/>
              <a:t>Distribution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255639" y="874878"/>
            <a:ext cx="8681884" cy="5012713"/>
          </a:xfrm>
        </p:spPr>
        <p:txBody>
          <a:bodyPr/>
          <a:lstStyle/>
          <a:p>
            <a:pPr marL="101600" indent="0">
              <a:spcBef>
                <a:spcPts val="300"/>
              </a:spcBef>
              <a:spcAft>
                <a:spcPts val="300"/>
              </a:spcAft>
              <a:buNone/>
            </a:pPr>
            <a:r>
              <a:rPr lang="en-NZ" sz="2400" b="1" dirty="0">
                <a:solidFill>
                  <a:srgbClr val="007FA3"/>
                </a:solidFill>
                <a:latin typeface="+mn-lt"/>
              </a:rPr>
              <a:t>Identifying major channel alternatives</a:t>
            </a:r>
          </a:p>
          <a:p>
            <a:pPr>
              <a:spcBef>
                <a:spcPts val="300"/>
              </a:spcBef>
              <a:spcAft>
                <a:spcPts val="300"/>
              </a:spcAft>
            </a:pPr>
            <a:r>
              <a:rPr lang="en-NZ" sz="2000" dirty="0">
                <a:solidFill>
                  <a:schemeClr val="tx1"/>
                </a:solidFill>
                <a:latin typeface="+mn-lt"/>
              </a:rPr>
              <a:t>Companies can use three strategies to determine the number of channel members to use at each level:</a:t>
            </a:r>
          </a:p>
          <a:p>
            <a:pPr marL="901700" lvl="2" indent="-285750">
              <a:spcBef>
                <a:spcPts val="300"/>
              </a:spcBef>
              <a:spcAft>
                <a:spcPts val="300"/>
              </a:spcAft>
              <a:buClr>
                <a:srgbClr val="00638A"/>
              </a:buClr>
              <a:buFont typeface="Wingdings" panose="05000000000000000000" pitchFamily="2" charset="2"/>
              <a:buChar char="§"/>
              <a:tabLst>
                <a:tab pos="1828800" algn="l"/>
              </a:tabLst>
            </a:pPr>
            <a:r>
              <a:rPr lang="en-US" altLang="en-US" sz="1800" b="1" dirty="0">
                <a:ea typeface="Verdana" pitchFamily="34" charset="0"/>
                <a:cs typeface="Verdana" pitchFamily="34" charset="0"/>
                <a:sym typeface="Arial"/>
              </a:rPr>
              <a:t>Intensive distribution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Companies stock their products in as many outlets as possible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Many consumer-goods companies distribute this way </a:t>
            </a:r>
          </a:p>
          <a:p>
            <a:pPr marL="901700" lvl="2" indent="-285750">
              <a:spcBef>
                <a:spcPts val="300"/>
              </a:spcBef>
              <a:spcAft>
                <a:spcPts val="300"/>
              </a:spcAft>
              <a:buClr>
                <a:srgbClr val="00638A"/>
              </a:buClr>
              <a:buFont typeface="Wingdings" panose="05000000000000000000" pitchFamily="2" charset="2"/>
              <a:buChar char="§"/>
              <a:tabLst>
                <a:tab pos="1828800" algn="l"/>
              </a:tabLst>
            </a:pPr>
            <a:r>
              <a:rPr lang="en-US" altLang="en-US" sz="1800" b="1" dirty="0">
                <a:ea typeface="Verdana" pitchFamily="34" charset="0"/>
              </a:rPr>
              <a:t>Exclusive distribution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Only a limited number of dealers have exclusive right to distribute in their territories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Often used for luxury brands </a:t>
            </a:r>
          </a:p>
          <a:p>
            <a:pPr marL="901700" lvl="2" indent="-285750">
              <a:spcBef>
                <a:spcPts val="300"/>
              </a:spcBef>
              <a:spcAft>
                <a:spcPts val="300"/>
              </a:spcAft>
              <a:buClr>
                <a:srgbClr val="00638A"/>
              </a:buClr>
              <a:buFont typeface="Wingdings" panose="05000000000000000000" pitchFamily="2" charset="2"/>
              <a:buChar char="§"/>
              <a:tabLst>
                <a:tab pos="1828800" algn="l"/>
              </a:tabLst>
            </a:pPr>
            <a:r>
              <a:rPr lang="en-US" altLang="en-US" sz="1800" b="1" dirty="0">
                <a:ea typeface="Verdana" pitchFamily="34" charset="0"/>
              </a:rPr>
              <a:t>Selective distribution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In between Intensive and Exclusive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Companies use more than one but fewer than all intermediaries </a:t>
            </a:r>
          </a:p>
          <a:p>
            <a:pPr marL="1285875" lvl="3" indent="-257175">
              <a:spcBef>
                <a:spcPts val="300"/>
              </a:spcBef>
              <a:spcAft>
                <a:spcPts val="300"/>
              </a:spcAft>
              <a:buClr>
                <a:srgbClr val="00638A"/>
              </a:buClr>
              <a:buFont typeface="Wingdings" pitchFamily="2" charset="2"/>
              <a:buChar char="§"/>
              <a:tabLst>
                <a:tab pos="1828800" algn="l"/>
              </a:tabLst>
              <a:defRPr/>
            </a:pPr>
            <a:r>
              <a:rPr lang="en-US" altLang="en-US" sz="1800" kern="0" dirty="0">
                <a:solidFill>
                  <a:srgbClr val="000000"/>
                </a:solidFill>
                <a:ea typeface="Verdana" pitchFamily="34" charset="0"/>
                <a:cs typeface="Verdana" pitchFamily="34" charset="0"/>
                <a:sym typeface="Arial"/>
              </a:rPr>
              <a:t>Many shopping products use this form </a:t>
            </a:r>
          </a:p>
          <a:p>
            <a:pPr lvl="1">
              <a:spcBef>
                <a:spcPts val="300"/>
              </a:spcBef>
              <a:spcAft>
                <a:spcPts val="300"/>
              </a:spcAft>
            </a:pPr>
            <a:endParaRPr lang="en-NZ" sz="2000" dirty="0">
              <a:solidFill>
                <a:schemeClr val="tx1"/>
              </a:solidFill>
              <a:latin typeface="+mn-lt"/>
            </a:endParaRPr>
          </a:p>
        </p:txBody>
      </p:sp>
    </p:spTree>
    <p:extLst>
      <p:ext uri="{BB962C8B-B14F-4D97-AF65-F5344CB8AC3E}">
        <p14:creationId xmlns:p14="http://schemas.microsoft.com/office/powerpoint/2010/main" val="782828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20371"/>
          </a:xfrm>
        </p:spPr>
        <p:txBody>
          <a:bodyPr/>
          <a:lstStyle/>
          <a:p>
            <a:r>
              <a:rPr lang="en-US" sz="3200" dirty="0"/>
              <a:t>Wholesaling</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8" y="869888"/>
            <a:ext cx="8229599" cy="4525963"/>
          </a:xfrm>
        </p:spPr>
        <p:txBody>
          <a:bodyPr/>
          <a:lstStyle/>
          <a:p>
            <a:r>
              <a:rPr lang="en-NZ" sz="2000" b="1" dirty="0">
                <a:solidFill>
                  <a:schemeClr val="tx1"/>
                </a:solidFill>
                <a:latin typeface="+mn-lt"/>
              </a:rPr>
              <a:t>Wholesaling </a:t>
            </a:r>
            <a:r>
              <a:rPr lang="en-NZ" sz="2000" dirty="0">
                <a:solidFill>
                  <a:schemeClr val="tx1"/>
                </a:solidFill>
                <a:latin typeface="+mn-lt"/>
              </a:rPr>
              <a:t>includes all the activities involved in selling goods and services to those buying for resale or business use.</a:t>
            </a:r>
          </a:p>
          <a:p>
            <a:r>
              <a:rPr lang="en-NZ" sz="2000" dirty="0">
                <a:solidFill>
                  <a:schemeClr val="tx1"/>
                </a:solidFill>
                <a:latin typeface="+mn-lt"/>
              </a:rPr>
              <a:t>A </a:t>
            </a:r>
            <a:r>
              <a:rPr lang="en-NZ" sz="2000" b="1" dirty="0">
                <a:solidFill>
                  <a:schemeClr val="tx1"/>
                </a:solidFill>
                <a:latin typeface="+mn-lt"/>
              </a:rPr>
              <a:t>wholesaler</a:t>
            </a:r>
            <a:r>
              <a:rPr lang="en-NZ" sz="2000" dirty="0">
                <a:solidFill>
                  <a:schemeClr val="tx1"/>
                </a:solidFill>
                <a:latin typeface="+mn-lt"/>
              </a:rPr>
              <a:t> is a firm engaged primarily in wholesaling activity.</a:t>
            </a:r>
          </a:p>
          <a:p>
            <a:r>
              <a:rPr lang="en-NZ" sz="2000" b="1" dirty="0">
                <a:solidFill>
                  <a:schemeClr val="tx1"/>
                </a:solidFill>
                <a:latin typeface="+mn-lt"/>
              </a:rPr>
              <a:t>Wholesalers</a:t>
            </a:r>
            <a:r>
              <a:rPr lang="en-NZ" sz="2000" dirty="0">
                <a:solidFill>
                  <a:schemeClr val="tx1"/>
                </a:solidFill>
                <a:latin typeface="+mn-lt"/>
              </a:rPr>
              <a:t> add value by performing one or more channel functions:</a:t>
            </a:r>
          </a:p>
          <a:p>
            <a:pPr lvl="1">
              <a:lnSpc>
                <a:spcPct val="90000"/>
              </a:lnSpc>
              <a:buFont typeface="Wingdings" panose="05000000000000000000" pitchFamily="2" charset="2"/>
              <a:buChar char="§"/>
            </a:pPr>
            <a:r>
              <a:rPr lang="en-NZ" sz="2000" dirty="0">
                <a:solidFill>
                  <a:schemeClr val="tx1"/>
                </a:solidFill>
                <a:latin typeface="+mn-lt"/>
              </a:rPr>
              <a:t>selling and promoting</a:t>
            </a:r>
          </a:p>
          <a:p>
            <a:pPr lvl="1">
              <a:lnSpc>
                <a:spcPct val="90000"/>
              </a:lnSpc>
              <a:buFont typeface="Wingdings" panose="05000000000000000000" pitchFamily="2" charset="2"/>
              <a:buChar char="§"/>
            </a:pPr>
            <a:r>
              <a:rPr lang="en-NZ" sz="2000" dirty="0">
                <a:solidFill>
                  <a:schemeClr val="tx1"/>
                </a:solidFill>
                <a:latin typeface="+mn-lt"/>
              </a:rPr>
              <a:t>buying and assortment building</a:t>
            </a:r>
          </a:p>
          <a:p>
            <a:pPr lvl="1">
              <a:lnSpc>
                <a:spcPct val="90000"/>
              </a:lnSpc>
              <a:buFont typeface="Wingdings" panose="05000000000000000000" pitchFamily="2" charset="2"/>
              <a:buChar char="§"/>
            </a:pPr>
            <a:r>
              <a:rPr lang="en-NZ" sz="2000" dirty="0">
                <a:solidFill>
                  <a:schemeClr val="tx1"/>
                </a:solidFill>
                <a:latin typeface="+mn-lt"/>
              </a:rPr>
              <a:t>bulk breaking</a:t>
            </a:r>
          </a:p>
          <a:p>
            <a:pPr lvl="1">
              <a:lnSpc>
                <a:spcPct val="90000"/>
              </a:lnSpc>
              <a:buFont typeface="Wingdings" panose="05000000000000000000" pitchFamily="2" charset="2"/>
              <a:buChar char="§"/>
            </a:pPr>
            <a:r>
              <a:rPr lang="en-NZ" sz="2000" dirty="0">
                <a:solidFill>
                  <a:schemeClr val="tx1"/>
                </a:solidFill>
                <a:latin typeface="+mn-lt"/>
              </a:rPr>
              <a:t>warehousing</a:t>
            </a:r>
          </a:p>
          <a:p>
            <a:pPr lvl="1">
              <a:lnSpc>
                <a:spcPct val="90000"/>
              </a:lnSpc>
              <a:buFont typeface="Wingdings" panose="05000000000000000000" pitchFamily="2" charset="2"/>
              <a:buChar char="§"/>
            </a:pPr>
            <a:r>
              <a:rPr lang="en-NZ" sz="2000" dirty="0">
                <a:solidFill>
                  <a:schemeClr val="tx1"/>
                </a:solidFill>
                <a:latin typeface="+mn-lt"/>
              </a:rPr>
              <a:t>transportation</a:t>
            </a:r>
          </a:p>
          <a:p>
            <a:pPr lvl="1">
              <a:lnSpc>
                <a:spcPct val="90000"/>
              </a:lnSpc>
              <a:buFont typeface="Wingdings" panose="05000000000000000000" pitchFamily="2" charset="2"/>
              <a:buChar char="§"/>
            </a:pPr>
            <a:r>
              <a:rPr lang="en-NZ" sz="2000" dirty="0">
                <a:solidFill>
                  <a:schemeClr val="tx1"/>
                </a:solidFill>
                <a:latin typeface="+mn-lt"/>
              </a:rPr>
              <a:t>financing</a:t>
            </a:r>
          </a:p>
          <a:p>
            <a:pPr lvl="1">
              <a:lnSpc>
                <a:spcPct val="90000"/>
              </a:lnSpc>
              <a:buFont typeface="Wingdings" panose="05000000000000000000" pitchFamily="2" charset="2"/>
              <a:buChar char="§"/>
            </a:pPr>
            <a:r>
              <a:rPr lang="en-NZ" sz="2000" dirty="0">
                <a:solidFill>
                  <a:schemeClr val="tx1"/>
                </a:solidFill>
                <a:latin typeface="+mn-lt"/>
              </a:rPr>
              <a:t>risk bearing</a:t>
            </a:r>
          </a:p>
          <a:p>
            <a:pPr lvl="1">
              <a:lnSpc>
                <a:spcPct val="90000"/>
              </a:lnSpc>
              <a:buFont typeface="Wingdings" panose="05000000000000000000" pitchFamily="2" charset="2"/>
              <a:buChar char="§"/>
            </a:pPr>
            <a:r>
              <a:rPr lang="en-NZ" sz="2000" dirty="0">
                <a:solidFill>
                  <a:schemeClr val="tx1"/>
                </a:solidFill>
                <a:latin typeface="+mn-lt"/>
              </a:rPr>
              <a:t>management services and advice.</a:t>
            </a:r>
          </a:p>
          <a:p>
            <a:endParaRPr lang="en-NZ" sz="2000" dirty="0">
              <a:solidFill>
                <a:schemeClr val="tx1"/>
              </a:solidFill>
              <a:latin typeface="+mn-lt"/>
            </a:endParaRPr>
          </a:p>
          <a:p>
            <a:pPr marL="101600" indent="0">
              <a:buNone/>
            </a:pPr>
            <a:endParaRPr lang="en-NZ" sz="2000" dirty="0">
              <a:solidFill>
                <a:schemeClr val="tx1"/>
              </a:solidFill>
              <a:latin typeface="+mn-lt"/>
            </a:endParaRPr>
          </a:p>
          <a:p>
            <a:pPr marL="101600" indent="0">
              <a:buNone/>
            </a:pPr>
            <a:endParaRPr lang="en-NZ" sz="2000" dirty="0">
              <a:solidFill>
                <a:schemeClr val="tx1"/>
              </a:solidFill>
              <a:latin typeface="+mn-lt"/>
            </a:endParaRPr>
          </a:p>
          <a:p>
            <a:pPr marL="558800" lvl="1" indent="0">
              <a:buNone/>
            </a:pPr>
            <a:endParaRPr lang="en-NZ" sz="2000" dirty="0">
              <a:solidFill>
                <a:schemeClr val="tx1"/>
              </a:solidFill>
              <a:latin typeface="+mn-lt"/>
            </a:endParaRPr>
          </a:p>
        </p:txBody>
      </p:sp>
    </p:spTree>
    <p:extLst>
      <p:ext uri="{BB962C8B-B14F-4D97-AF65-F5344CB8AC3E}">
        <p14:creationId xmlns:p14="http://schemas.microsoft.com/office/powerpoint/2010/main" val="61070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649868"/>
          </a:xfrm>
        </p:spPr>
        <p:txBody>
          <a:bodyPr/>
          <a:lstStyle/>
          <a:p>
            <a:r>
              <a:rPr lang="en-US" sz="3200" dirty="0"/>
              <a:t>Wholesaling</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8" y="1046869"/>
            <a:ext cx="8229599" cy="4525963"/>
          </a:xfrm>
        </p:spPr>
        <p:txBody>
          <a:bodyPr/>
          <a:lstStyle/>
          <a:p>
            <a:pPr marL="101600" indent="0">
              <a:buNone/>
            </a:pPr>
            <a:r>
              <a:rPr lang="en-NZ" sz="2400" b="1" dirty="0">
                <a:solidFill>
                  <a:srgbClr val="007FA3"/>
                </a:solidFill>
                <a:latin typeface="+mn-lt"/>
              </a:rPr>
              <a:t>Types of wholesalers</a:t>
            </a:r>
          </a:p>
          <a:p>
            <a:r>
              <a:rPr lang="en-NZ" sz="2000" dirty="0">
                <a:solidFill>
                  <a:schemeClr val="tx1"/>
                </a:solidFill>
                <a:latin typeface="+mn-lt"/>
              </a:rPr>
              <a:t>Wholesalers fall into three main groups:</a:t>
            </a:r>
          </a:p>
          <a:p>
            <a:pPr lvl="1">
              <a:buFont typeface="Wingdings" panose="05000000000000000000" pitchFamily="2" charset="2"/>
              <a:buChar char="§"/>
            </a:pPr>
            <a:r>
              <a:rPr lang="en-NZ" sz="2000" dirty="0">
                <a:solidFill>
                  <a:schemeClr val="tx1"/>
                </a:solidFill>
                <a:latin typeface="+mn-lt"/>
              </a:rPr>
              <a:t>merchant wholesalers</a:t>
            </a:r>
          </a:p>
          <a:p>
            <a:pPr lvl="1">
              <a:buFont typeface="Wingdings" panose="05000000000000000000" pitchFamily="2" charset="2"/>
              <a:buChar char="§"/>
            </a:pPr>
            <a:r>
              <a:rPr lang="en-NZ" sz="2000" dirty="0">
                <a:solidFill>
                  <a:schemeClr val="tx1"/>
                </a:solidFill>
                <a:latin typeface="+mn-lt"/>
              </a:rPr>
              <a:t>agents and brokers</a:t>
            </a:r>
          </a:p>
          <a:p>
            <a:pPr lvl="1">
              <a:buFont typeface="Wingdings" panose="05000000000000000000" pitchFamily="2" charset="2"/>
              <a:buChar char="§"/>
            </a:pPr>
            <a:r>
              <a:rPr lang="en-NZ" sz="2000" dirty="0">
                <a:solidFill>
                  <a:schemeClr val="tx1"/>
                </a:solidFill>
                <a:latin typeface="+mn-lt"/>
              </a:rPr>
              <a:t>manufacturers’ sales branches and offices.</a:t>
            </a:r>
          </a:p>
        </p:txBody>
      </p:sp>
    </p:spTree>
    <p:extLst>
      <p:ext uri="{BB962C8B-B14F-4D97-AF65-F5344CB8AC3E}">
        <p14:creationId xmlns:p14="http://schemas.microsoft.com/office/powerpoint/2010/main" val="1270683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DAD59-2093-4ABC-9CD3-4F051C64822F}"/>
              </a:ext>
            </a:extLst>
          </p:cNvPr>
          <p:cNvSpPr>
            <a:spLocks noGrp="1"/>
          </p:cNvSpPr>
          <p:nvPr>
            <p:ph type="title"/>
          </p:nvPr>
        </p:nvSpPr>
        <p:spPr/>
        <p:txBody>
          <a:bodyPr/>
          <a:lstStyle/>
          <a:p>
            <a:r>
              <a:rPr lang="en-NZ" sz="3200" dirty="0"/>
              <a:t>Main types of wholesalers</a:t>
            </a:r>
          </a:p>
        </p:txBody>
      </p:sp>
      <p:sp>
        <p:nvSpPr>
          <p:cNvPr id="4" name="Picture Placeholder 3">
            <a:extLst>
              <a:ext uri="{FF2B5EF4-FFF2-40B4-BE49-F238E27FC236}">
                <a16:creationId xmlns:a16="http://schemas.microsoft.com/office/drawing/2014/main" id="{F7ECEA1C-5495-4343-95EE-3E7F064CB082}"/>
              </a:ext>
            </a:extLst>
          </p:cNvPr>
          <p:cNvSpPr>
            <a:spLocks noGrp="1"/>
          </p:cNvSpPr>
          <p:nvPr>
            <p:ph type="pic" sz="quarter" idx="13"/>
          </p:nvPr>
        </p:nvSpPr>
        <p:spPr/>
        <p:txBody>
          <a:bodyPr/>
          <a:lstStyle/>
          <a:p>
            <a:endParaRPr lang="en-AU"/>
          </a:p>
        </p:txBody>
      </p:sp>
      <p:graphicFrame>
        <p:nvGraphicFramePr>
          <p:cNvPr id="6" name="Table 6">
            <a:extLst>
              <a:ext uri="{FF2B5EF4-FFF2-40B4-BE49-F238E27FC236}">
                <a16:creationId xmlns:a16="http://schemas.microsoft.com/office/drawing/2014/main" id="{C431A9BD-213C-4B54-B862-882F63CCCCF4}"/>
              </a:ext>
            </a:extLst>
          </p:cNvPr>
          <p:cNvGraphicFramePr>
            <a:graphicFrameLocks noGrp="1"/>
          </p:cNvGraphicFramePr>
          <p:nvPr>
            <p:extLst>
              <p:ext uri="{D42A27DB-BD31-4B8C-83A1-F6EECF244321}">
                <p14:modId xmlns:p14="http://schemas.microsoft.com/office/powerpoint/2010/main" val="2493481936"/>
              </p:ext>
            </p:extLst>
          </p:nvPr>
        </p:nvGraphicFramePr>
        <p:xfrm>
          <a:off x="435935" y="1132359"/>
          <a:ext cx="8247691" cy="4765550"/>
        </p:xfrm>
        <a:graphic>
          <a:graphicData uri="http://schemas.openxmlformats.org/drawingml/2006/table">
            <a:tbl>
              <a:tblPr firstRow="1" bandRow="1">
                <a:tableStyleId>{1FECB4D8-DB02-4DC6-A0A2-4F2EBAE1DC90}</a:tableStyleId>
              </a:tblPr>
              <a:tblGrid>
                <a:gridCol w="2108483">
                  <a:extLst>
                    <a:ext uri="{9D8B030D-6E8A-4147-A177-3AD203B41FA5}">
                      <a16:colId xmlns:a16="http://schemas.microsoft.com/office/drawing/2014/main" val="3093484919"/>
                    </a:ext>
                  </a:extLst>
                </a:gridCol>
                <a:gridCol w="1868557">
                  <a:extLst>
                    <a:ext uri="{9D8B030D-6E8A-4147-A177-3AD203B41FA5}">
                      <a16:colId xmlns:a16="http://schemas.microsoft.com/office/drawing/2014/main" val="1609487437"/>
                    </a:ext>
                  </a:extLst>
                </a:gridCol>
                <a:gridCol w="4270651">
                  <a:extLst>
                    <a:ext uri="{9D8B030D-6E8A-4147-A177-3AD203B41FA5}">
                      <a16:colId xmlns:a16="http://schemas.microsoft.com/office/drawing/2014/main" val="3201919293"/>
                    </a:ext>
                  </a:extLst>
                </a:gridCol>
              </a:tblGrid>
              <a:tr h="370840">
                <a:tc>
                  <a:txBody>
                    <a:bodyPr/>
                    <a:lstStyle/>
                    <a:p>
                      <a:r>
                        <a:rPr lang="en-NZ" dirty="0"/>
                        <a:t>Type</a:t>
                      </a:r>
                    </a:p>
                  </a:txBody>
                  <a:tcPr/>
                </a:tc>
                <a:tc>
                  <a:txBody>
                    <a:bodyPr/>
                    <a:lstStyle/>
                    <a:p>
                      <a:endParaRPr lang="en-NZ" dirty="0"/>
                    </a:p>
                  </a:txBody>
                  <a:tcPr/>
                </a:tc>
                <a:tc>
                  <a:txBody>
                    <a:bodyPr/>
                    <a:lstStyle/>
                    <a:p>
                      <a:r>
                        <a:rPr lang="en-NZ" dirty="0"/>
                        <a:t>Examples</a:t>
                      </a:r>
                    </a:p>
                  </a:txBody>
                  <a:tcPr/>
                </a:tc>
                <a:extLst>
                  <a:ext uri="{0D108BD9-81ED-4DB2-BD59-A6C34878D82A}">
                    <a16:rowId xmlns:a16="http://schemas.microsoft.com/office/drawing/2014/main" val="20474806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Merchant wholesalers</a:t>
                      </a:r>
                    </a:p>
                  </a:txBody>
                  <a:tcPr>
                    <a:lnB w="12700" cap="flat" cmpd="sng" algn="ctr">
                      <a:noFill/>
                      <a:prstDash val="solid"/>
                      <a:round/>
                      <a:headEnd type="none" w="med" len="med"/>
                      <a:tailEnd type="none" w="med" len="med"/>
                    </a:lnB>
                    <a:solidFill>
                      <a:schemeClr val="accent3">
                        <a:lumMod val="20000"/>
                        <a:lumOff val="80000"/>
                      </a:schemeClr>
                    </a:solidFill>
                  </a:tcPr>
                </a:tc>
                <a:tc gridSpan="2">
                  <a:txBody>
                    <a:bodyPr/>
                    <a:lstStyle/>
                    <a:p>
                      <a:r>
                        <a:rPr lang="en-NZ" b="0" dirty="0"/>
                        <a:t>Independently owned businesses that take title to the merchandise they handle</a:t>
                      </a:r>
                    </a:p>
                  </a:txBody>
                  <a:tcPr>
                    <a:solidFill>
                      <a:schemeClr val="accent3">
                        <a:lumMod val="20000"/>
                        <a:lumOff val="80000"/>
                      </a:schemeClr>
                    </a:solidFill>
                  </a:tcPr>
                </a:tc>
                <a:tc hMerge="1">
                  <a:txBody>
                    <a:bodyPr/>
                    <a:lstStyle/>
                    <a:p>
                      <a:endParaRPr lang="en-NZ" b="0" dirty="0"/>
                    </a:p>
                  </a:txBody>
                  <a:tcPr>
                    <a:solidFill>
                      <a:schemeClr val="accent3">
                        <a:lumMod val="20000"/>
                        <a:lumOff val="80000"/>
                      </a:schemeClr>
                    </a:solidFill>
                  </a:tcPr>
                </a:tc>
                <a:extLst>
                  <a:ext uri="{0D108BD9-81ED-4DB2-BD59-A6C34878D82A}">
                    <a16:rowId xmlns:a16="http://schemas.microsoft.com/office/drawing/2014/main" val="1795026429"/>
                  </a:ext>
                </a:extLst>
              </a:tr>
              <a:tr h="370840">
                <a:tc>
                  <a:txBody>
                    <a:bodyPr/>
                    <a:lstStyle/>
                    <a:p>
                      <a:endParaRPr lang="en-NZ"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Full-service wholesalers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a:t>Wholesale merchants; Industrial distributors</a:t>
                      </a:r>
                      <a:endParaRPr lang="en-NZ" b="1" dirty="0"/>
                    </a:p>
                  </a:txBody>
                  <a:tcPr/>
                </a:tc>
                <a:extLst>
                  <a:ext uri="{0D108BD9-81ED-4DB2-BD59-A6C34878D82A}">
                    <a16:rowId xmlns:a16="http://schemas.microsoft.com/office/drawing/2014/main" val="1126338993"/>
                  </a:ext>
                </a:extLst>
              </a:tr>
              <a:tr h="370840">
                <a:tc>
                  <a:txBody>
                    <a:bodyPr/>
                    <a:lstStyle/>
                    <a:p>
                      <a:endParaRPr lang="en-NZ" dirty="0"/>
                    </a:p>
                  </a:txBody>
                  <a:tcPr>
                    <a:lnT w="12700" cap="flat" cmpd="sng" algn="ctr">
                      <a:noFill/>
                      <a:prstDash val="solid"/>
                      <a:round/>
                      <a:headEnd type="none" w="med" len="med"/>
                      <a:tailEnd type="none" w="med" len="med"/>
                    </a:lnT>
                    <a:solidFill>
                      <a:schemeClr val="accent3">
                        <a:lumMod val="20000"/>
                        <a:lumOff val="80000"/>
                      </a:schemeClr>
                    </a:solidFill>
                  </a:tcPr>
                </a:tc>
                <a:tc>
                  <a:txBody>
                    <a:bodyPr/>
                    <a:lstStyle/>
                    <a:p>
                      <a:r>
                        <a:rPr lang="en-NZ" b="1" dirty="0"/>
                        <a:t>Limited-service wholesalers</a:t>
                      </a:r>
                      <a:endParaRPr lang="en-NZ" dirty="0"/>
                    </a:p>
                  </a:txBody>
                  <a:tcPr/>
                </a:tc>
                <a:tc>
                  <a:txBody>
                    <a:bodyPr/>
                    <a:lstStyle/>
                    <a:p>
                      <a:r>
                        <a:rPr lang="en-NZ" dirty="0"/>
                        <a:t>Cash-and-carry wholesalers; Truck wholesalers; Rack jobbers; Producers’ cooperatives; Mail-order or web wholesalers</a:t>
                      </a:r>
                    </a:p>
                  </a:txBody>
                  <a:tcPr/>
                </a:tc>
                <a:extLst>
                  <a:ext uri="{0D108BD9-81ED-4DB2-BD59-A6C34878D82A}">
                    <a16:rowId xmlns:a16="http://schemas.microsoft.com/office/drawing/2014/main" val="1975891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Brokers and agents</a:t>
                      </a:r>
                    </a:p>
                  </a:txBody>
                  <a:tcPr>
                    <a:lnB w="12700" cap="flat" cmpd="sng" algn="ctr">
                      <a:noFill/>
                      <a:prstDash val="solid"/>
                      <a:round/>
                      <a:headEnd type="none" w="med" len="med"/>
                      <a:tailEnd type="none" w="med" len="med"/>
                    </a:lnB>
                    <a:solidFill>
                      <a:schemeClr val="accent3">
                        <a:lumMod val="20000"/>
                        <a:lumOff val="80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Do not take title to goods; perform only a few functions</a:t>
                      </a:r>
                    </a:p>
                  </a:txBody>
                  <a:tcPr>
                    <a:solidFill>
                      <a:schemeClr val="accent3">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Z" dirty="0"/>
                    </a:p>
                  </a:txBody>
                  <a:tcPr>
                    <a:solidFill>
                      <a:schemeClr val="accent3">
                        <a:lumMod val="20000"/>
                        <a:lumOff val="80000"/>
                      </a:schemeClr>
                    </a:solidFill>
                  </a:tcPr>
                </a:tc>
                <a:extLst>
                  <a:ext uri="{0D108BD9-81ED-4DB2-BD59-A6C34878D82A}">
                    <a16:rowId xmlns:a16="http://schemas.microsoft.com/office/drawing/2014/main" val="38942187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Z"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Brokers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a:t>Food broker; Real estate broker; Insurance broker</a:t>
                      </a:r>
                      <a:endParaRPr lang="en-NZ" b="1" dirty="0"/>
                    </a:p>
                  </a:txBody>
                  <a:tcPr/>
                </a:tc>
                <a:extLst>
                  <a:ext uri="{0D108BD9-81ED-4DB2-BD59-A6C34878D82A}">
                    <a16:rowId xmlns:a16="http://schemas.microsoft.com/office/drawing/2014/main" val="107276638"/>
                  </a:ext>
                </a:extLst>
              </a:tr>
              <a:tr h="370840">
                <a:tc>
                  <a:txBody>
                    <a:bodyPr/>
                    <a:lstStyle/>
                    <a:p>
                      <a:endParaRPr lang="en-NZ" dirty="0"/>
                    </a:p>
                  </a:txBody>
                  <a:tcPr>
                    <a:lnT w="12700" cap="flat" cmpd="sng" algn="ctr">
                      <a:noFill/>
                      <a:prstDash val="solid"/>
                      <a:round/>
                      <a:headEnd type="none" w="med" len="med"/>
                      <a:tailEnd type="none" w="med" len="med"/>
                    </a:lnT>
                    <a:solidFill>
                      <a:schemeClr val="accent3">
                        <a:lumMod val="20000"/>
                        <a:lumOff val="80000"/>
                      </a:schemeClr>
                    </a:solidFill>
                  </a:tcPr>
                </a:tc>
                <a:tc>
                  <a:txBody>
                    <a:bodyPr/>
                    <a:lstStyle/>
                    <a:p>
                      <a:r>
                        <a:rPr lang="en-NZ" b="1" dirty="0"/>
                        <a:t>Agents</a:t>
                      </a:r>
                    </a:p>
                  </a:txBody>
                  <a:tcPr/>
                </a:tc>
                <a:tc>
                  <a:txBody>
                    <a:bodyPr/>
                    <a:lstStyle/>
                    <a:p>
                      <a:r>
                        <a:rPr lang="en-NZ"/>
                        <a:t>Manufacturers’ agents; Selling agents; Purchasing agents; Commission merchants</a:t>
                      </a:r>
                      <a:endParaRPr lang="en-NZ" b="1" dirty="0"/>
                    </a:p>
                  </a:txBody>
                  <a:tcPr/>
                </a:tc>
                <a:extLst>
                  <a:ext uri="{0D108BD9-81ED-4DB2-BD59-A6C34878D82A}">
                    <a16:rowId xmlns:a16="http://schemas.microsoft.com/office/drawing/2014/main" val="1431981011"/>
                  </a:ext>
                </a:extLst>
              </a:tr>
              <a:tr h="330710">
                <a:tc rowSpan="2">
                  <a:txBody>
                    <a:bodyPr/>
                    <a:lstStyle/>
                    <a:p>
                      <a:r>
                        <a:rPr lang="en-NZ" b="1" dirty="0"/>
                        <a:t>Manufacturers’ sales branches and offices</a:t>
                      </a:r>
                    </a:p>
                  </a:txBody>
                  <a:tcPr>
                    <a:lnB w="12700" cap="flat" cmpd="sng" algn="ctr">
                      <a:noFill/>
                      <a:prstDash val="solid"/>
                      <a:round/>
                      <a:headEnd type="none" w="med" len="med"/>
                      <a:tailEnd type="none" w="med" len="med"/>
                    </a:lnB>
                    <a:solidFill>
                      <a:schemeClr val="accent3">
                        <a:lumMod val="20000"/>
                        <a:lumOff val="80000"/>
                      </a:schemeClr>
                    </a:solidFill>
                  </a:tcPr>
                </a:tc>
                <a:tc gridSpan="2">
                  <a:txBody>
                    <a:bodyPr/>
                    <a:lstStyle/>
                    <a:p>
                      <a:r>
                        <a:rPr lang="en-NZ" b="0" dirty="0"/>
                        <a:t>Wholesaling operations conducted by sellers or buyers themselves</a:t>
                      </a:r>
                      <a:endParaRPr lang="en-NZ" b="1" dirty="0"/>
                    </a:p>
                  </a:txBody>
                  <a:tcPr>
                    <a:solidFill>
                      <a:schemeClr val="accent3">
                        <a:lumMod val="20000"/>
                        <a:lumOff val="80000"/>
                      </a:schemeClr>
                    </a:solidFill>
                  </a:tcPr>
                </a:tc>
                <a:tc hMerge="1">
                  <a:txBody>
                    <a:bodyPr/>
                    <a:lstStyle/>
                    <a:p>
                      <a:endParaRPr lang="en-NZ" b="1" dirty="0"/>
                    </a:p>
                  </a:txBody>
                  <a:tcPr>
                    <a:solidFill>
                      <a:schemeClr val="accent3">
                        <a:lumMod val="20000"/>
                        <a:lumOff val="80000"/>
                      </a:schemeClr>
                    </a:solidFill>
                  </a:tcPr>
                </a:tc>
                <a:extLst>
                  <a:ext uri="{0D108BD9-81ED-4DB2-BD59-A6C34878D82A}">
                    <a16:rowId xmlns:a16="http://schemas.microsoft.com/office/drawing/2014/main" val="1728246556"/>
                  </a:ext>
                </a:extLst>
              </a:tr>
              <a:tr h="370840">
                <a:tc vMerge="1">
                  <a:txBody>
                    <a:bodyPr/>
                    <a:lstStyle/>
                    <a:p>
                      <a:endParaRPr lang="en-NZ"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Sales branches and offices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In industries such as timber; car equipment and parts</a:t>
                      </a:r>
                    </a:p>
                  </a:txBody>
                  <a:tcPr/>
                </a:tc>
                <a:extLst>
                  <a:ext uri="{0D108BD9-81ED-4DB2-BD59-A6C34878D82A}">
                    <a16:rowId xmlns:a16="http://schemas.microsoft.com/office/drawing/2014/main" val="2365909031"/>
                  </a:ext>
                </a:extLst>
              </a:tr>
              <a:tr h="370840">
                <a:tc>
                  <a:txBody>
                    <a:bodyPr/>
                    <a:lstStyle/>
                    <a:p>
                      <a:endParaRPr lang="en-NZ" b="1" dirty="0"/>
                    </a:p>
                  </a:txBody>
                  <a:tcPr>
                    <a:lnT w="12700" cap="flat" cmpd="sng" algn="ctr">
                      <a:noFill/>
                      <a:prstDash val="solid"/>
                      <a:round/>
                      <a:headEnd type="none" w="med" len="med"/>
                      <a:tailEnd type="none" w="med" len="med"/>
                    </a:lnT>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Purchasing offices</a:t>
                      </a:r>
                    </a:p>
                  </a:txBody>
                  <a:tcPr/>
                </a:tc>
                <a:tc>
                  <a:txBody>
                    <a:bodyPr/>
                    <a:lstStyle/>
                    <a:p>
                      <a:r>
                        <a:rPr lang="en-NZ" dirty="0"/>
                        <a:t>Similar role to broker or agent but part of the buyer’s organisation</a:t>
                      </a:r>
                    </a:p>
                  </a:txBody>
                  <a:tcPr/>
                </a:tc>
                <a:extLst>
                  <a:ext uri="{0D108BD9-81ED-4DB2-BD59-A6C34878D82A}">
                    <a16:rowId xmlns:a16="http://schemas.microsoft.com/office/drawing/2014/main" val="1940404912"/>
                  </a:ext>
                </a:extLst>
              </a:tr>
            </a:tbl>
          </a:graphicData>
        </a:graphic>
      </p:graphicFrame>
    </p:spTree>
    <p:extLst>
      <p:ext uri="{BB962C8B-B14F-4D97-AF65-F5344CB8AC3E}">
        <p14:creationId xmlns:p14="http://schemas.microsoft.com/office/powerpoint/2010/main" val="3725940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186813" y="127819"/>
            <a:ext cx="8760542" cy="1042220"/>
          </a:xfrm>
        </p:spPr>
        <p:txBody>
          <a:bodyPr/>
          <a:lstStyle/>
          <a:p>
            <a:r>
              <a:rPr lang="en-US" sz="3200" dirty="0"/>
              <a:t>Retailing: Connecting brands with consumers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186813" y="1042220"/>
            <a:ext cx="8760542" cy="5003964"/>
          </a:xfrm>
        </p:spPr>
        <p:txBody>
          <a:bodyPr/>
          <a:lstStyle/>
          <a:p>
            <a:pPr marL="101600" indent="0">
              <a:spcBef>
                <a:spcPts val="600"/>
              </a:spcBef>
              <a:spcAft>
                <a:spcPts val="600"/>
              </a:spcAft>
              <a:buNone/>
            </a:pPr>
            <a:r>
              <a:rPr lang="en-NZ" sz="2000" dirty="0">
                <a:solidFill>
                  <a:schemeClr val="tx1"/>
                </a:solidFill>
                <a:latin typeface="+mn-lt"/>
              </a:rPr>
              <a:t>Refers to all activities involved in selling goods or services directly to final consumers for their personal, non-business use.</a:t>
            </a:r>
          </a:p>
          <a:p>
            <a:pPr marL="101600" indent="0">
              <a:spcBef>
                <a:spcPts val="600"/>
              </a:spcBef>
              <a:spcAft>
                <a:spcPts val="600"/>
              </a:spcAft>
              <a:buNone/>
            </a:pPr>
            <a:r>
              <a:rPr lang="en-NZ" sz="2000" b="1" dirty="0">
                <a:solidFill>
                  <a:schemeClr val="tx1"/>
                </a:solidFill>
                <a:latin typeface="+mn-lt"/>
              </a:rPr>
              <a:t>Shopper marketing</a:t>
            </a:r>
          </a:p>
          <a:p>
            <a:pPr marL="101600" indent="0">
              <a:spcBef>
                <a:spcPts val="600"/>
              </a:spcBef>
              <a:spcAft>
                <a:spcPts val="600"/>
              </a:spcAft>
              <a:buNone/>
            </a:pPr>
            <a:r>
              <a:rPr lang="en-US" sz="2000" dirty="0"/>
              <a:t>Shopper marketing is about influencing customers </a:t>
            </a:r>
            <a:r>
              <a:rPr lang="en-US" sz="2000" b="1" dirty="0"/>
              <a:t>along their path to purchase</a:t>
            </a:r>
            <a:r>
              <a:rPr lang="en-US" sz="2000" dirty="0"/>
              <a:t> — from when they start thinking about buying, up to the moment they decide which product to take home (or add to their online cart).</a:t>
            </a:r>
          </a:p>
          <a:p>
            <a:pPr>
              <a:spcBef>
                <a:spcPts val="600"/>
              </a:spcBef>
              <a:spcAft>
                <a:spcPts val="600"/>
              </a:spcAft>
            </a:pPr>
            <a:r>
              <a:rPr lang="en-US" sz="1800" dirty="0"/>
              <a:t>It’s not just about advertising a brand, but about shaping behaviour at the point of decision.</a:t>
            </a:r>
          </a:p>
          <a:p>
            <a:pPr>
              <a:spcBef>
                <a:spcPts val="600"/>
              </a:spcBef>
              <a:spcAft>
                <a:spcPts val="600"/>
              </a:spcAft>
            </a:pPr>
            <a:r>
              <a:rPr lang="en-US" sz="1800" dirty="0"/>
              <a:t>Traditionally this meant </a:t>
            </a:r>
            <a:r>
              <a:rPr lang="en-US" sz="1800" b="1" dirty="0"/>
              <a:t>in-store tactics</a:t>
            </a:r>
            <a:r>
              <a:rPr lang="en-US" sz="1800" dirty="0"/>
              <a:t> like shelf displays, signage, and special offers.</a:t>
            </a:r>
          </a:p>
          <a:p>
            <a:pPr>
              <a:spcBef>
                <a:spcPts val="600"/>
              </a:spcBef>
              <a:spcAft>
                <a:spcPts val="600"/>
              </a:spcAft>
            </a:pPr>
            <a:r>
              <a:rPr lang="en-US" sz="1800" dirty="0"/>
              <a:t>Today, it includes </a:t>
            </a:r>
            <a:r>
              <a:rPr lang="en-US" sz="1800" b="1" dirty="0"/>
              <a:t>digital environments</a:t>
            </a:r>
            <a:r>
              <a:rPr lang="en-US" sz="1800" dirty="0"/>
              <a:t> like e-commerce product pages, sponsored search results, mobile coupons, or targeted social ads.</a:t>
            </a:r>
          </a:p>
          <a:p>
            <a:pPr>
              <a:spcBef>
                <a:spcPts val="600"/>
              </a:spcBef>
              <a:spcAft>
                <a:spcPts val="600"/>
              </a:spcAft>
            </a:pPr>
            <a:r>
              <a:rPr lang="en-US" sz="1800" dirty="0"/>
              <a:t>The goal is to understand </a:t>
            </a:r>
            <a:r>
              <a:rPr lang="en-US" sz="1800" b="1" dirty="0"/>
              <a:t>how shoppers think and act in real buying situations</a:t>
            </a:r>
            <a:r>
              <a:rPr lang="en-US" sz="1800" dirty="0"/>
              <a:t>, then use promotions, messages, or product placement to guide their choice.</a:t>
            </a:r>
          </a:p>
        </p:txBody>
      </p:sp>
    </p:spTree>
    <p:extLst>
      <p:ext uri="{BB962C8B-B14F-4D97-AF65-F5344CB8AC3E}">
        <p14:creationId xmlns:p14="http://schemas.microsoft.com/office/powerpoint/2010/main" val="2607809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275303" y="215371"/>
            <a:ext cx="8662219" cy="860954"/>
          </a:xfrm>
        </p:spPr>
        <p:txBody>
          <a:bodyPr/>
          <a:lstStyle/>
          <a:p>
            <a:r>
              <a:rPr lang="en-US" sz="3200" dirty="0"/>
              <a:t>Retailing: Connecting brands with consumers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275303" y="821649"/>
            <a:ext cx="8662219" cy="5003964"/>
          </a:xfrm>
        </p:spPr>
        <p:txBody>
          <a:bodyPr/>
          <a:lstStyle/>
          <a:p>
            <a:pPr marL="101600" indent="0">
              <a:spcBef>
                <a:spcPts val="600"/>
              </a:spcBef>
              <a:spcAft>
                <a:spcPts val="600"/>
              </a:spcAft>
              <a:buNone/>
            </a:pPr>
            <a:r>
              <a:rPr lang="en-NZ" sz="2000" b="1" dirty="0">
                <a:solidFill>
                  <a:schemeClr val="tx1"/>
                </a:solidFill>
                <a:latin typeface="+mn-lt"/>
              </a:rPr>
              <a:t>Omni-channel retailing</a:t>
            </a:r>
          </a:p>
          <a:p>
            <a:pPr marL="101600" indent="0">
              <a:spcBef>
                <a:spcPts val="600"/>
              </a:spcBef>
              <a:spcAft>
                <a:spcPts val="600"/>
              </a:spcAft>
              <a:buNone/>
            </a:pPr>
            <a:r>
              <a:rPr lang="en-US" sz="2000" dirty="0"/>
              <a:t>Omnichannel retailing is about creating a </a:t>
            </a:r>
            <a:r>
              <a:rPr lang="en-US" sz="2000" b="1" dirty="0"/>
              <a:t>seamless shopping experience across all channels</a:t>
            </a:r>
            <a:r>
              <a:rPr lang="en-US" sz="2000" dirty="0"/>
              <a:t> — physical stores, websites, mobile apps, social media, and even marketplaces like Amazon.</a:t>
            </a:r>
          </a:p>
          <a:p>
            <a:pPr>
              <a:spcBef>
                <a:spcPts val="600"/>
              </a:spcBef>
              <a:spcAft>
                <a:spcPts val="600"/>
              </a:spcAft>
            </a:pPr>
            <a:r>
              <a:rPr lang="en-US" sz="1800" dirty="0"/>
              <a:t>Customers don’t shop in a straight line anymore — they move between online and offline touchpoints.</a:t>
            </a:r>
          </a:p>
          <a:p>
            <a:pPr>
              <a:spcBef>
                <a:spcPts val="600"/>
              </a:spcBef>
              <a:spcAft>
                <a:spcPts val="600"/>
              </a:spcAft>
            </a:pPr>
            <a:r>
              <a:rPr lang="en-US" sz="1800" dirty="0"/>
              <a:t>Omnichannel ensures they get a </a:t>
            </a:r>
            <a:r>
              <a:rPr lang="en-US" sz="1800" b="1" dirty="0"/>
              <a:t>consistent, connected experience</a:t>
            </a:r>
            <a:r>
              <a:rPr lang="en-US" sz="1800" dirty="0"/>
              <a:t> no matter where they engage.</a:t>
            </a:r>
          </a:p>
          <a:p>
            <a:pPr>
              <a:spcBef>
                <a:spcPts val="600"/>
              </a:spcBef>
              <a:spcAft>
                <a:spcPts val="600"/>
              </a:spcAft>
            </a:pPr>
            <a:r>
              <a:rPr lang="en-US" sz="1800" dirty="0"/>
              <a:t>It requires integration of </a:t>
            </a:r>
            <a:r>
              <a:rPr lang="en-US" sz="1800" b="1" dirty="0"/>
              <a:t>technology, logistics, and customer service</a:t>
            </a:r>
            <a:r>
              <a:rPr lang="en-US" sz="1800" dirty="0"/>
              <a:t>, so a shopper can:</a:t>
            </a:r>
          </a:p>
          <a:p>
            <a:pPr lvl="1">
              <a:spcAft>
                <a:spcPts val="600"/>
              </a:spcAft>
              <a:buFont typeface="Wingdings" panose="05000000000000000000" pitchFamily="2" charset="2"/>
              <a:buChar char="§"/>
            </a:pPr>
            <a:r>
              <a:rPr lang="en-US" dirty="0"/>
              <a:t>Browse online → pick up in store (click-and-collect).</a:t>
            </a:r>
          </a:p>
          <a:p>
            <a:pPr lvl="1">
              <a:spcAft>
                <a:spcPts val="600"/>
              </a:spcAft>
              <a:buFont typeface="Wingdings" panose="05000000000000000000" pitchFamily="2" charset="2"/>
              <a:buChar char="§"/>
            </a:pPr>
            <a:r>
              <a:rPr lang="en-US" dirty="0"/>
              <a:t>Buy in store → reorder online later.</a:t>
            </a:r>
          </a:p>
          <a:p>
            <a:pPr lvl="1">
              <a:spcAft>
                <a:spcPts val="600"/>
              </a:spcAft>
              <a:buFont typeface="Wingdings" panose="05000000000000000000" pitchFamily="2" charset="2"/>
              <a:buChar char="§"/>
            </a:pPr>
            <a:r>
              <a:rPr lang="en-US" dirty="0"/>
              <a:t>Check store stock through the app before visiting.</a:t>
            </a:r>
          </a:p>
          <a:p>
            <a:pPr>
              <a:spcBef>
                <a:spcPts val="600"/>
              </a:spcBef>
              <a:spcAft>
                <a:spcPts val="600"/>
              </a:spcAft>
            </a:pPr>
            <a:r>
              <a:rPr lang="en-US" sz="1800" dirty="0"/>
              <a:t>It’s less about promotions and more about </a:t>
            </a:r>
            <a:r>
              <a:rPr lang="en-US" sz="1800" b="1" dirty="0"/>
              <a:t>making the shopping journey smooth, flexible, and convenient</a:t>
            </a:r>
            <a:r>
              <a:rPr lang="en-US" sz="1800" dirty="0"/>
              <a:t>.</a:t>
            </a:r>
          </a:p>
        </p:txBody>
      </p:sp>
    </p:spTree>
    <p:extLst>
      <p:ext uri="{BB962C8B-B14F-4D97-AF65-F5344CB8AC3E}">
        <p14:creationId xmlns:p14="http://schemas.microsoft.com/office/powerpoint/2010/main" val="1650941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571210"/>
          </a:xfrm>
        </p:spPr>
        <p:txBody>
          <a:bodyPr/>
          <a:lstStyle/>
          <a:p>
            <a:r>
              <a:rPr lang="en-US" sz="3200" dirty="0"/>
              <a:t>Retailing</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0" y="811163"/>
            <a:ext cx="8229599" cy="4525963"/>
          </a:xfrm>
        </p:spPr>
        <p:txBody>
          <a:bodyPr/>
          <a:lstStyle/>
          <a:p>
            <a:pPr marL="101600" indent="0">
              <a:buNone/>
            </a:pPr>
            <a:r>
              <a:rPr lang="en-NZ" sz="2400" b="1" dirty="0">
                <a:solidFill>
                  <a:srgbClr val="007FA3"/>
                </a:solidFill>
                <a:latin typeface="+mn-lt"/>
              </a:rPr>
              <a:t>Retailing: Connecting brands with consumers</a:t>
            </a:r>
          </a:p>
          <a:p>
            <a:pPr marL="101600" indent="0">
              <a:buNone/>
            </a:pPr>
            <a:r>
              <a:rPr lang="en-NZ" sz="2200" b="1" dirty="0">
                <a:solidFill>
                  <a:srgbClr val="00B0F0"/>
                </a:solidFill>
                <a:latin typeface="+mn-lt"/>
              </a:rPr>
              <a:t>Types of retailers</a:t>
            </a:r>
          </a:p>
          <a:p>
            <a:r>
              <a:rPr lang="en-NZ" sz="2000" dirty="0">
                <a:solidFill>
                  <a:schemeClr val="tx1"/>
                </a:solidFill>
                <a:latin typeface="+mn-lt"/>
              </a:rPr>
              <a:t>Retailers can be classified by:</a:t>
            </a:r>
          </a:p>
          <a:p>
            <a:pPr lvl="1">
              <a:buFont typeface="Wingdings" panose="05000000000000000000" pitchFamily="2" charset="2"/>
              <a:buChar char="§"/>
            </a:pPr>
            <a:r>
              <a:rPr lang="en-NZ" sz="1800" dirty="0">
                <a:solidFill>
                  <a:schemeClr val="tx1"/>
                </a:solidFill>
                <a:latin typeface="+mn-lt"/>
              </a:rPr>
              <a:t>amount of service offered (e.g. self-service, limited service and full service)</a:t>
            </a:r>
          </a:p>
          <a:p>
            <a:pPr lvl="1">
              <a:buFont typeface="Wingdings" panose="05000000000000000000" pitchFamily="2" charset="2"/>
              <a:buChar char="§"/>
            </a:pPr>
            <a:r>
              <a:rPr lang="en-NZ" sz="1800" dirty="0">
                <a:solidFill>
                  <a:schemeClr val="tx1"/>
                </a:solidFill>
                <a:latin typeface="+mn-lt"/>
              </a:rPr>
              <a:t>product line sold (e.g. length and breadth of their product assortments; ‘product line’ can be a service (e.g. hotel, bank)</a:t>
            </a:r>
          </a:p>
          <a:p>
            <a:pPr lvl="1">
              <a:buFont typeface="Wingdings" panose="05000000000000000000" pitchFamily="2" charset="2"/>
              <a:buChar char="§"/>
            </a:pPr>
            <a:r>
              <a:rPr lang="en-NZ" sz="1800" dirty="0">
                <a:solidFill>
                  <a:schemeClr val="tx1"/>
                </a:solidFill>
                <a:latin typeface="+mn-lt"/>
              </a:rPr>
              <a:t>relative prices charged (e.g. discount store, warehouse clubs)</a:t>
            </a:r>
          </a:p>
          <a:p>
            <a:pPr lvl="1">
              <a:buFont typeface="Wingdings" panose="05000000000000000000" pitchFamily="2" charset="2"/>
              <a:buChar char="§"/>
            </a:pPr>
            <a:r>
              <a:rPr lang="en-NZ" sz="1800" dirty="0">
                <a:solidFill>
                  <a:schemeClr val="tx1"/>
                </a:solidFill>
                <a:latin typeface="+mn-lt"/>
              </a:rPr>
              <a:t>how they are organised (e.g. corporate chains, voluntary chains, retailer cooperatives, franchise organisations).</a:t>
            </a:r>
            <a:endParaRPr lang="en-NZ" sz="1800" dirty="0">
              <a:solidFill>
                <a:schemeClr val="tx1"/>
              </a:solidFill>
              <a:highlight>
                <a:srgbClr val="FF00FF"/>
              </a:highlight>
              <a:latin typeface="+mn-lt"/>
            </a:endParaRPr>
          </a:p>
        </p:txBody>
      </p:sp>
    </p:spTree>
    <p:extLst>
      <p:ext uri="{BB962C8B-B14F-4D97-AF65-F5344CB8AC3E}">
        <p14:creationId xmlns:p14="http://schemas.microsoft.com/office/powerpoint/2010/main" val="4029298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7062-C6A8-467F-9866-D70E90A06410}"/>
              </a:ext>
            </a:extLst>
          </p:cNvPr>
          <p:cNvSpPr>
            <a:spLocks noGrp="1"/>
          </p:cNvSpPr>
          <p:nvPr>
            <p:ph type="title"/>
          </p:nvPr>
        </p:nvSpPr>
        <p:spPr>
          <a:xfrm>
            <a:off x="460375" y="125530"/>
            <a:ext cx="8229600" cy="672657"/>
          </a:xfrm>
        </p:spPr>
        <p:txBody>
          <a:bodyPr/>
          <a:lstStyle/>
          <a:p>
            <a:r>
              <a:rPr lang="en-NZ" sz="3200" dirty="0"/>
              <a:t>Major store retailer types</a:t>
            </a:r>
          </a:p>
        </p:txBody>
      </p:sp>
      <p:sp>
        <p:nvSpPr>
          <p:cNvPr id="4" name="Picture Placeholder 3">
            <a:extLst>
              <a:ext uri="{FF2B5EF4-FFF2-40B4-BE49-F238E27FC236}">
                <a16:creationId xmlns:a16="http://schemas.microsoft.com/office/drawing/2014/main" id="{E8E288C3-4F5F-4AF2-AD10-F6A17B47426B}"/>
              </a:ext>
            </a:extLst>
          </p:cNvPr>
          <p:cNvSpPr>
            <a:spLocks noGrp="1"/>
          </p:cNvSpPr>
          <p:nvPr>
            <p:ph type="pic" sz="quarter" idx="13"/>
          </p:nvPr>
        </p:nvSpPr>
        <p:spPr/>
        <p:txBody>
          <a:bodyPr/>
          <a:lstStyle/>
          <a:p>
            <a:endParaRPr lang="en-AU"/>
          </a:p>
        </p:txBody>
      </p:sp>
      <p:sp>
        <p:nvSpPr>
          <p:cNvPr id="5" name="Text Placeholder 4">
            <a:extLst>
              <a:ext uri="{FF2B5EF4-FFF2-40B4-BE49-F238E27FC236}">
                <a16:creationId xmlns:a16="http://schemas.microsoft.com/office/drawing/2014/main" id="{3A64F2CC-4339-49BB-8844-323CDDEE3313}"/>
              </a:ext>
            </a:extLst>
          </p:cNvPr>
          <p:cNvSpPr>
            <a:spLocks noGrp="1"/>
          </p:cNvSpPr>
          <p:nvPr>
            <p:ph type="body" idx="1"/>
          </p:nvPr>
        </p:nvSpPr>
        <p:spPr/>
        <p:txBody>
          <a:bodyPr/>
          <a:lstStyle/>
          <a:p>
            <a:endParaRPr lang="en-NZ"/>
          </a:p>
        </p:txBody>
      </p:sp>
      <p:graphicFrame>
        <p:nvGraphicFramePr>
          <p:cNvPr id="6" name="Table 6">
            <a:extLst>
              <a:ext uri="{FF2B5EF4-FFF2-40B4-BE49-F238E27FC236}">
                <a16:creationId xmlns:a16="http://schemas.microsoft.com/office/drawing/2014/main" id="{8F36B387-DB4B-46B9-B2C1-EDCAC8DE9B02}"/>
              </a:ext>
            </a:extLst>
          </p:cNvPr>
          <p:cNvGraphicFramePr>
            <a:graphicFrameLocks noGrp="1"/>
          </p:cNvGraphicFramePr>
          <p:nvPr>
            <p:extLst>
              <p:ext uri="{D42A27DB-BD31-4B8C-83A1-F6EECF244321}">
                <p14:modId xmlns:p14="http://schemas.microsoft.com/office/powerpoint/2010/main" val="2743835385"/>
              </p:ext>
            </p:extLst>
          </p:nvPr>
        </p:nvGraphicFramePr>
        <p:xfrm>
          <a:off x="457200" y="901257"/>
          <a:ext cx="8402896" cy="5369560"/>
        </p:xfrm>
        <a:graphic>
          <a:graphicData uri="http://schemas.openxmlformats.org/drawingml/2006/table">
            <a:tbl>
              <a:tblPr firstRow="1" bandRow="1">
                <a:tableStyleId>{1FECB4D8-DB02-4DC6-A0A2-4F2EBAE1DC90}</a:tableStyleId>
              </a:tblPr>
              <a:tblGrid>
                <a:gridCol w="1374775">
                  <a:extLst>
                    <a:ext uri="{9D8B030D-6E8A-4147-A177-3AD203B41FA5}">
                      <a16:colId xmlns:a16="http://schemas.microsoft.com/office/drawing/2014/main" val="3539212014"/>
                    </a:ext>
                  </a:extLst>
                </a:gridCol>
                <a:gridCol w="5355771">
                  <a:extLst>
                    <a:ext uri="{9D8B030D-6E8A-4147-A177-3AD203B41FA5}">
                      <a16:colId xmlns:a16="http://schemas.microsoft.com/office/drawing/2014/main" val="1424304243"/>
                    </a:ext>
                  </a:extLst>
                </a:gridCol>
                <a:gridCol w="1672350">
                  <a:extLst>
                    <a:ext uri="{9D8B030D-6E8A-4147-A177-3AD203B41FA5}">
                      <a16:colId xmlns:a16="http://schemas.microsoft.com/office/drawing/2014/main" val="3497673304"/>
                    </a:ext>
                  </a:extLst>
                </a:gridCol>
              </a:tblGrid>
              <a:tr h="370840">
                <a:tc>
                  <a:txBody>
                    <a:bodyPr/>
                    <a:lstStyle/>
                    <a:p>
                      <a:r>
                        <a:rPr lang="en-NZ" dirty="0"/>
                        <a:t>Type</a:t>
                      </a:r>
                    </a:p>
                  </a:txBody>
                  <a:tcPr/>
                </a:tc>
                <a:tc>
                  <a:txBody>
                    <a:bodyPr/>
                    <a:lstStyle/>
                    <a:p>
                      <a:r>
                        <a:rPr lang="en-NZ" dirty="0"/>
                        <a:t>Description</a:t>
                      </a:r>
                    </a:p>
                  </a:txBody>
                  <a:tcPr/>
                </a:tc>
                <a:tc>
                  <a:txBody>
                    <a:bodyPr/>
                    <a:lstStyle/>
                    <a:p>
                      <a:r>
                        <a:rPr lang="en-NZ" dirty="0"/>
                        <a:t>Examples</a:t>
                      </a:r>
                    </a:p>
                  </a:txBody>
                  <a:tcPr/>
                </a:tc>
                <a:extLst>
                  <a:ext uri="{0D108BD9-81ED-4DB2-BD59-A6C34878D82A}">
                    <a16:rowId xmlns:a16="http://schemas.microsoft.com/office/drawing/2014/main" val="3810281408"/>
                  </a:ext>
                </a:extLst>
              </a:tr>
              <a:tr h="370840">
                <a:tc>
                  <a:txBody>
                    <a:bodyPr/>
                    <a:lstStyle/>
                    <a:p>
                      <a:r>
                        <a:rPr lang="en-NZ" b="1" dirty="0"/>
                        <a:t>Speciality stores</a:t>
                      </a:r>
                    </a:p>
                  </a:txBody>
                  <a:tcPr/>
                </a:tc>
                <a:tc>
                  <a:txBody>
                    <a:bodyPr/>
                    <a:lstStyle/>
                    <a:p>
                      <a:r>
                        <a:rPr lang="en-NZ" sz="1400" b="0" i="0" u="none" strike="noStrike" cap="none" baseline="0" dirty="0">
                          <a:solidFill>
                            <a:schemeClr val="dk1"/>
                          </a:solidFill>
                          <a:latin typeface="+mn-lt"/>
                          <a:ea typeface="+mn-ea"/>
                          <a:cs typeface="+mn-cs"/>
                          <a:sym typeface="Arial"/>
                        </a:rPr>
                        <a:t>Carry a narrow product line with a deep assortment, e.g. apparel stores, sporting-goods stores, furniture stores, florists, bookstores.</a:t>
                      </a:r>
                      <a:endParaRPr lang="en-NZ" dirty="0"/>
                    </a:p>
                  </a:txBody>
                  <a:tcPr/>
                </a:tc>
                <a:tc>
                  <a:txBody>
                    <a:bodyPr/>
                    <a:lstStyle/>
                    <a:p>
                      <a:pPr lvl="1" algn="l"/>
                      <a:r>
                        <a:rPr lang="en-NZ" sz="1400" dirty="0"/>
                        <a:t>The Athletes Foot, JB Hi-Fi</a:t>
                      </a:r>
                    </a:p>
                  </a:txBody>
                  <a:tcPr/>
                </a:tc>
                <a:extLst>
                  <a:ext uri="{0D108BD9-81ED-4DB2-BD59-A6C34878D82A}">
                    <a16:rowId xmlns:a16="http://schemas.microsoft.com/office/drawing/2014/main" val="1049380398"/>
                  </a:ext>
                </a:extLst>
              </a:tr>
              <a:tr h="370840">
                <a:tc>
                  <a:txBody>
                    <a:bodyPr/>
                    <a:lstStyle/>
                    <a:p>
                      <a:r>
                        <a:rPr lang="en-NZ" b="1" dirty="0"/>
                        <a:t>Department stores</a:t>
                      </a:r>
                    </a:p>
                  </a:txBody>
                  <a:tcPr/>
                </a:tc>
                <a:tc>
                  <a:txBody>
                    <a:bodyPr/>
                    <a:lstStyle/>
                    <a:p>
                      <a:r>
                        <a:rPr lang="en-NZ" dirty="0"/>
                        <a:t>Carry several production lines (e.g. clothing, home furnishings, household goods) with each line operated as a separate department.</a:t>
                      </a:r>
                    </a:p>
                  </a:txBody>
                  <a:tcPr/>
                </a:tc>
                <a:tc>
                  <a:txBody>
                    <a:bodyPr/>
                    <a:lstStyle/>
                    <a:p>
                      <a:r>
                        <a:rPr lang="en-NZ" dirty="0"/>
                        <a:t>David Jones, Myers</a:t>
                      </a:r>
                    </a:p>
                  </a:txBody>
                  <a:tcPr/>
                </a:tc>
                <a:extLst>
                  <a:ext uri="{0D108BD9-81ED-4DB2-BD59-A6C34878D82A}">
                    <a16:rowId xmlns:a16="http://schemas.microsoft.com/office/drawing/2014/main" val="1377678553"/>
                  </a:ext>
                </a:extLst>
              </a:tr>
              <a:tr h="370840">
                <a:tc>
                  <a:txBody>
                    <a:bodyPr/>
                    <a:lstStyle/>
                    <a:p>
                      <a:r>
                        <a:rPr lang="en-NZ" b="1" dirty="0"/>
                        <a:t>Supermarkets</a:t>
                      </a:r>
                    </a:p>
                  </a:txBody>
                  <a:tcPr/>
                </a:tc>
                <a:tc>
                  <a:txBody>
                    <a:bodyPr/>
                    <a:lstStyle/>
                    <a:p>
                      <a:r>
                        <a:rPr lang="en-NZ" dirty="0"/>
                        <a:t>Relatively large, low-cost, low-margin, high-volume, self-service operations carrying grocery and household products.</a:t>
                      </a:r>
                    </a:p>
                  </a:txBody>
                  <a:tcPr/>
                </a:tc>
                <a:tc>
                  <a:txBody>
                    <a:bodyPr/>
                    <a:lstStyle/>
                    <a:p>
                      <a:r>
                        <a:rPr lang="en-NZ" dirty="0"/>
                        <a:t>Coles, Woollies, Aldi</a:t>
                      </a:r>
                    </a:p>
                  </a:txBody>
                  <a:tcPr/>
                </a:tc>
                <a:extLst>
                  <a:ext uri="{0D108BD9-81ED-4DB2-BD59-A6C34878D82A}">
                    <a16:rowId xmlns:a16="http://schemas.microsoft.com/office/drawing/2014/main" val="2609587936"/>
                  </a:ext>
                </a:extLst>
              </a:tr>
              <a:tr h="370840">
                <a:tc>
                  <a:txBody>
                    <a:bodyPr/>
                    <a:lstStyle/>
                    <a:p>
                      <a:r>
                        <a:rPr lang="en-NZ" b="1" dirty="0"/>
                        <a:t>Convenience stores</a:t>
                      </a:r>
                    </a:p>
                  </a:txBody>
                  <a:tcPr/>
                </a:tc>
                <a:tc>
                  <a:txBody>
                    <a:bodyPr/>
                    <a:lstStyle/>
                    <a:p>
                      <a:r>
                        <a:rPr lang="en-NZ" dirty="0"/>
                        <a:t>Relatively small stores located near residential areas, open long hours 7 days a week and carrying a limited line of high-turnover products at slightly higher prices.</a:t>
                      </a:r>
                    </a:p>
                  </a:txBody>
                  <a:tcPr/>
                </a:tc>
                <a:tc>
                  <a:txBody>
                    <a:bodyPr/>
                    <a:lstStyle/>
                    <a:p>
                      <a:r>
                        <a:rPr lang="en-NZ" dirty="0"/>
                        <a:t>7-Eleven, Coles Express</a:t>
                      </a:r>
                    </a:p>
                  </a:txBody>
                  <a:tcPr/>
                </a:tc>
                <a:extLst>
                  <a:ext uri="{0D108BD9-81ED-4DB2-BD59-A6C34878D82A}">
                    <a16:rowId xmlns:a16="http://schemas.microsoft.com/office/drawing/2014/main" val="1093817579"/>
                  </a:ext>
                </a:extLst>
              </a:tr>
              <a:tr h="370840">
                <a:tc>
                  <a:txBody>
                    <a:bodyPr/>
                    <a:lstStyle/>
                    <a:p>
                      <a:r>
                        <a:rPr lang="en-NZ" b="1" dirty="0"/>
                        <a:t>Discount stores</a:t>
                      </a:r>
                    </a:p>
                  </a:txBody>
                  <a:tcPr/>
                </a:tc>
                <a:tc>
                  <a:txBody>
                    <a:bodyPr/>
                    <a:lstStyle/>
                    <a:p>
                      <a:r>
                        <a:rPr lang="en-NZ" sz="1400" b="0" i="0" u="none" strike="noStrike" cap="none" baseline="0" dirty="0">
                          <a:solidFill>
                            <a:schemeClr val="dk1"/>
                          </a:solidFill>
                          <a:latin typeface="+mn-lt"/>
                          <a:ea typeface="+mn-ea"/>
                          <a:cs typeface="+mn-cs"/>
                          <a:sym typeface="Arial"/>
                        </a:rPr>
                        <a:t>Carry standard merchandise sold at lower prices with lower margins and higher volumes.</a:t>
                      </a:r>
                      <a:endParaRPr lang="en-NZ" dirty="0"/>
                    </a:p>
                  </a:txBody>
                  <a:tcPr/>
                </a:tc>
                <a:tc>
                  <a:txBody>
                    <a:bodyPr/>
                    <a:lstStyle/>
                    <a:p>
                      <a:r>
                        <a:rPr lang="en-NZ" dirty="0"/>
                        <a:t>Big W, Kmart, Target</a:t>
                      </a:r>
                    </a:p>
                  </a:txBody>
                  <a:tcPr/>
                </a:tc>
                <a:extLst>
                  <a:ext uri="{0D108BD9-81ED-4DB2-BD59-A6C34878D82A}">
                    <a16:rowId xmlns:a16="http://schemas.microsoft.com/office/drawing/2014/main" val="2244032463"/>
                  </a:ext>
                </a:extLst>
              </a:tr>
              <a:tr h="370840">
                <a:tc>
                  <a:txBody>
                    <a:bodyPr/>
                    <a:lstStyle/>
                    <a:p>
                      <a:r>
                        <a:rPr lang="en-NZ" b="1" dirty="0"/>
                        <a:t>Mass merchants</a:t>
                      </a:r>
                    </a:p>
                  </a:txBody>
                  <a:tcPr/>
                </a:tc>
                <a:tc>
                  <a:txBody>
                    <a:bodyPr/>
                    <a:lstStyle/>
                    <a:p>
                      <a:r>
                        <a:rPr lang="en-NZ" sz="1400" b="0" i="0" u="none" strike="noStrike" cap="none" baseline="0" dirty="0">
                          <a:solidFill>
                            <a:schemeClr val="dk1"/>
                          </a:solidFill>
                          <a:latin typeface="+mn-lt"/>
                          <a:ea typeface="+mn-ea"/>
                          <a:cs typeface="+mn-cs"/>
                          <a:sym typeface="Arial"/>
                        </a:rPr>
                        <a:t>Carry a large assortment of home and home-improvement merchandise, including DIY hardware items.</a:t>
                      </a:r>
                      <a:endParaRPr lang="en-NZ" dirty="0"/>
                    </a:p>
                  </a:txBody>
                  <a:tcPr/>
                </a:tc>
                <a:tc>
                  <a:txBody>
                    <a:bodyPr/>
                    <a:lstStyle/>
                    <a:p>
                      <a:r>
                        <a:rPr lang="en-NZ" dirty="0"/>
                        <a:t>Mitre 10, Retravision</a:t>
                      </a:r>
                    </a:p>
                  </a:txBody>
                  <a:tcPr/>
                </a:tc>
                <a:extLst>
                  <a:ext uri="{0D108BD9-81ED-4DB2-BD59-A6C34878D82A}">
                    <a16:rowId xmlns:a16="http://schemas.microsoft.com/office/drawing/2014/main" val="3992059928"/>
                  </a:ext>
                </a:extLst>
              </a:tr>
              <a:tr h="370840">
                <a:tc>
                  <a:txBody>
                    <a:bodyPr/>
                    <a:lstStyle/>
                    <a:p>
                      <a:r>
                        <a:rPr lang="en-NZ" b="1" dirty="0"/>
                        <a:t>Off-price retailers</a:t>
                      </a:r>
                    </a:p>
                  </a:txBody>
                  <a:tcPr/>
                </a:tc>
                <a:tc>
                  <a:txBody>
                    <a:bodyPr/>
                    <a:lstStyle/>
                    <a:p>
                      <a:r>
                        <a:rPr lang="en-NZ" sz="1400" b="0" i="0" u="none" strike="noStrike" cap="none" baseline="0" dirty="0">
                          <a:solidFill>
                            <a:schemeClr val="dk1"/>
                          </a:solidFill>
                          <a:latin typeface="+mn-lt"/>
                          <a:ea typeface="+mn-ea"/>
                          <a:cs typeface="+mn-cs"/>
                          <a:sym typeface="Arial"/>
                        </a:rPr>
                        <a:t>Sell merchandise bought at less-than-regular wholesale prices and sold at less than retail prices (e.g. leftover goods, seconds, overruns).</a:t>
                      </a:r>
                      <a:endParaRPr lang="en-NZ" dirty="0"/>
                    </a:p>
                  </a:txBody>
                  <a:tcPr/>
                </a:tc>
                <a:tc>
                  <a:txBody>
                    <a:bodyPr/>
                    <a:lstStyle/>
                    <a:p>
                      <a:r>
                        <a:rPr lang="en-NZ" dirty="0"/>
                        <a:t>Costco, Metcash</a:t>
                      </a:r>
                    </a:p>
                  </a:txBody>
                  <a:tcPr/>
                </a:tc>
                <a:extLst>
                  <a:ext uri="{0D108BD9-81ED-4DB2-BD59-A6C34878D82A}">
                    <a16:rowId xmlns:a16="http://schemas.microsoft.com/office/drawing/2014/main" val="799832689"/>
                  </a:ext>
                </a:extLst>
              </a:tr>
              <a:tr h="370840">
                <a:tc>
                  <a:txBody>
                    <a:bodyPr/>
                    <a:lstStyle/>
                    <a:p>
                      <a:r>
                        <a:rPr lang="en-NZ" b="1" dirty="0"/>
                        <a:t>Superstores</a:t>
                      </a:r>
                    </a:p>
                  </a:txBody>
                  <a:tcPr/>
                </a:tc>
                <a:tc>
                  <a:txBody>
                    <a:bodyPr/>
                    <a:lstStyle/>
                    <a:p>
                      <a:r>
                        <a:rPr lang="en-NZ" sz="1400" b="0" i="0" u="none" strike="noStrike" cap="none" baseline="0" dirty="0">
                          <a:solidFill>
                            <a:schemeClr val="dk1"/>
                          </a:solidFill>
                          <a:latin typeface="+mn-lt"/>
                          <a:ea typeface="+mn-ea"/>
                          <a:cs typeface="+mn-cs"/>
                          <a:sym typeface="Arial"/>
                        </a:rPr>
                        <a:t>Very large stores traditionally aimed at meeting consumers’ total needs for routinely purchased food and non-food items</a:t>
                      </a:r>
                      <a:endParaRPr lang="en-NZ" dirty="0"/>
                    </a:p>
                  </a:txBody>
                  <a:tcPr/>
                </a:tc>
                <a:tc>
                  <a:txBody>
                    <a:bodyPr/>
                    <a:lstStyle/>
                    <a:p>
                      <a:r>
                        <a:rPr lang="en-NZ" dirty="0"/>
                        <a:t>Bunnings, Ikea</a:t>
                      </a:r>
                    </a:p>
                  </a:txBody>
                  <a:tcPr/>
                </a:tc>
                <a:extLst>
                  <a:ext uri="{0D108BD9-81ED-4DB2-BD59-A6C34878D82A}">
                    <a16:rowId xmlns:a16="http://schemas.microsoft.com/office/drawing/2014/main" val="2276341392"/>
                  </a:ext>
                </a:extLst>
              </a:tr>
            </a:tbl>
          </a:graphicData>
        </a:graphic>
      </p:graphicFrame>
    </p:spTree>
    <p:extLst>
      <p:ext uri="{BB962C8B-B14F-4D97-AF65-F5344CB8AC3E}">
        <p14:creationId xmlns:p14="http://schemas.microsoft.com/office/powerpoint/2010/main" val="2275094686"/>
      </p:ext>
    </p:extLst>
  </p:cSld>
  <p:clrMapOvr>
    <a:masterClrMapping/>
  </p:clrMapOvr>
</p:sld>
</file>

<file path=ppt/theme/theme1.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5583b3fa-365b-4fa2-9885-a560b35483b3}" enabled="1" method="Standard" siteId="{df7f7579-3e9c-4a7e-b844-420280f53859}" removed="0"/>
</clbl:labelList>
</file>

<file path=docProps/app.xml><?xml version="1.0" encoding="utf-8"?>
<Properties xmlns="http://schemas.openxmlformats.org/officeDocument/2006/extended-properties" xmlns:vt="http://schemas.openxmlformats.org/officeDocument/2006/docPropsVTypes">
  <TotalTime>2189</TotalTime>
  <Words>2734</Words>
  <Application>Microsoft Office PowerPoint</Application>
  <PresentationFormat>On-screen Show (4:3)</PresentationFormat>
  <Paragraphs>289</Paragraphs>
  <Slides>29</Slides>
  <Notes>26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ＭＳ Ｐゴシック</vt:lpstr>
      <vt:lpstr>Arial</vt:lpstr>
      <vt:lpstr>Calibri</vt:lpstr>
      <vt:lpstr>Noto Sans Symbols</vt:lpstr>
      <vt:lpstr>Open Sans</vt:lpstr>
      <vt:lpstr>Symbol</vt:lpstr>
      <vt:lpstr>Times New Roman</vt:lpstr>
      <vt:lpstr>Verdana</vt:lpstr>
      <vt:lpstr>Wingdings</vt:lpstr>
      <vt:lpstr>2_508 Lecture</vt:lpstr>
      <vt:lpstr>508 Lecture</vt:lpstr>
      <vt:lpstr>Principles of Marketing</vt:lpstr>
      <vt:lpstr>Place</vt:lpstr>
      <vt:lpstr>Supply chains and the value delivery network</vt:lpstr>
      <vt:lpstr>Supply chains and the value delivery network</vt:lpstr>
      <vt:lpstr>Supply chain for a typical product</vt:lpstr>
      <vt:lpstr>Supply chains and the value delivery network</vt:lpstr>
      <vt:lpstr>The nature of marketing channels and value creation</vt:lpstr>
      <vt:lpstr>The nature of marketing channels and value creation</vt:lpstr>
      <vt:lpstr>Marketing channel options: a simplistic view</vt:lpstr>
      <vt:lpstr>Marketing Intermediaries/Service Providers - Marketing channel member functions</vt:lpstr>
      <vt:lpstr>The Importance of Marketing Channels</vt:lpstr>
      <vt:lpstr>Channel behaviour and organisation</vt:lpstr>
      <vt:lpstr>Distribution Channel Structure</vt:lpstr>
      <vt:lpstr>A conventional marketing channel versus a vertical marketing system</vt:lpstr>
      <vt:lpstr>Channel behaviour and organisation</vt:lpstr>
      <vt:lpstr>The main types of vertical marketing systems</vt:lpstr>
      <vt:lpstr>Channel behaviour and organisation</vt:lpstr>
      <vt:lpstr>Channel behaviour and organisation</vt:lpstr>
      <vt:lpstr>Channel behaviour and organisation</vt:lpstr>
      <vt:lpstr>Channel behaviour and organisation</vt:lpstr>
      <vt:lpstr>Channel behaviour and organisation</vt:lpstr>
      <vt:lpstr>Distribution Strategies</vt:lpstr>
      <vt:lpstr>Wholesaling</vt:lpstr>
      <vt:lpstr>Wholesaling</vt:lpstr>
      <vt:lpstr>Main types of wholesalers</vt:lpstr>
      <vt:lpstr>Retailing: Connecting brands with consumers</vt:lpstr>
      <vt:lpstr>Retailing: Connecting brands with consumers</vt:lpstr>
      <vt:lpstr>Retailing</vt:lpstr>
      <vt:lpstr>Major store retailer types</vt:lpstr>
    </vt:vector>
  </TitlesOfParts>
  <Company>Pearson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The marketplace and customers: Analysing the environment</dc:title>
  <dc:subject>Principles of marketing 8e</dc:subject>
  <dc:creator>Armstrong, Denize, Volkov, Adam, Kotler, Ang, Love, Doherty and van Esch</dc:creator>
  <cp:keywords>Marketing</cp:keywords>
  <cp:lastModifiedBy>Sean Doherty</cp:lastModifiedBy>
  <cp:revision>137</cp:revision>
  <dcterms:created xsi:type="dcterms:W3CDTF">2020-07-29T22:18:10Z</dcterms:created>
  <dcterms:modified xsi:type="dcterms:W3CDTF">2026-01-04T22:39:00Z</dcterms:modified>
</cp:coreProperties>
</file>