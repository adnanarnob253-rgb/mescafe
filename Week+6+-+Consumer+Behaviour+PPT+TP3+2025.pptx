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6" r:id="rId1"/>
    <p:sldMasterId id="2147483659" r:id="rId2"/>
  </p:sldMasterIdLst>
  <p:notesMasterIdLst>
    <p:notesMasterId r:id="rId31"/>
  </p:notesMasterIdLst>
  <p:handoutMasterIdLst>
    <p:handoutMasterId r:id="rId32"/>
  </p:handoutMasterIdLst>
  <p:sldIdLst>
    <p:sldId id="317" r:id="rId3"/>
    <p:sldId id="259" r:id="rId4"/>
    <p:sldId id="513" r:id="rId5"/>
    <p:sldId id="393" r:id="rId6"/>
    <p:sldId id="328" r:id="rId7"/>
    <p:sldId id="394" r:id="rId8"/>
    <p:sldId id="396" r:id="rId9"/>
    <p:sldId id="395" r:id="rId10"/>
    <p:sldId id="514" r:id="rId11"/>
    <p:sldId id="515" r:id="rId12"/>
    <p:sldId id="397" r:id="rId13"/>
    <p:sldId id="399" r:id="rId14"/>
    <p:sldId id="401" r:id="rId15"/>
    <p:sldId id="402" r:id="rId16"/>
    <p:sldId id="405" r:id="rId17"/>
    <p:sldId id="406" r:id="rId18"/>
    <p:sldId id="404" r:id="rId19"/>
    <p:sldId id="408" r:id="rId20"/>
    <p:sldId id="410" r:id="rId21"/>
    <p:sldId id="463" r:id="rId22"/>
    <p:sldId id="322" r:id="rId23"/>
    <p:sldId id="507" r:id="rId24"/>
    <p:sldId id="508" r:id="rId25"/>
    <p:sldId id="509" r:id="rId26"/>
    <p:sldId id="512" r:id="rId27"/>
    <p:sldId id="505" r:id="rId28"/>
    <p:sldId id="510" r:id="rId29"/>
    <p:sldId id="511" r:id="rId30"/>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7" name="Leah Cooper" initials="LC" lastIdx="8" clrIdx="7"/>
  <p:cmAuthor id="1" name="Ruchi Sachdev" initials="" lastIdx="8" clrIdx="1"/>
  <p:cmAuthor id="8" name="Helen Eastwood" initials="HE" lastIdx="1" clrIdx="8">
    <p:extLst>
      <p:ext uri="{19B8F6BF-5375-455C-9EA6-DF929625EA0E}">
        <p15:presenceInfo xmlns:p15="http://schemas.microsoft.com/office/powerpoint/2012/main" userId="5aa2ff6742d9cc68" providerId="Windows Live"/>
      </p:ext>
    </p:extLst>
  </p:cmAuthor>
  <p:cmAuthor id="2" name="Sarah Reusché" initials="" lastIdx="13" clrIdx="2"/>
  <p:cmAuthor id="3" name="Nitin Shankar" initials="" lastIdx="6" clrIdx="3"/>
  <p:cmAuthor id="4" name="Kristen Flathman" initials="" lastIdx="1" clrIdx="4"/>
  <p:cmAuthor id="5" name="Ben Schroeter" initials="" lastIdx="0" clrIdx="5"/>
  <p:cmAuthor id="6" name="Leah Cooper" initials="" lastIdx="17" clrIdx="6"/>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6A2"/>
    <a:srgbClr val="007FA3"/>
    <a:srgbClr val="002A7E"/>
    <a:srgbClr val="0044CC"/>
    <a:srgbClr val="004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159" autoAdjust="0"/>
    <p:restoredTop sz="90717" autoAdjust="0"/>
  </p:normalViewPr>
  <p:slideViewPr>
    <p:cSldViewPr snapToGrid="0" snapToObjects="1">
      <p:cViewPr varScale="1">
        <p:scale>
          <a:sx n="97" d="100"/>
          <a:sy n="97" d="100"/>
        </p:scale>
        <p:origin x="2010" y="72"/>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3346"/>
    </p:cViewPr>
  </p:sorterViewPr>
  <p:notesViewPr>
    <p:cSldViewPr snapToGrid="0" snapToObjects="1">
      <p:cViewPr varScale="1">
        <p:scale>
          <a:sx n="65" d="100"/>
          <a:sy n="65" d="100"/>
        </p:scale>
        <p:origin x="874" y="3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commentAuthors" Target="commentAuthor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handoutMaster" Target="handoutMasters/handoutMaster1.xml"/><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94325AF-DA9F-4DCE-96A7-F72020A63B18}" type="doc">
      <dgm:prSet loTypeId="urn:microsoft.com/office/officeart/2005/8/layout/vList5" loCatId="list" qsTypeId="urn:microsoft.com/office/officeart/2005/8/quickstyle/simple1" qsCatId="simple" csTypeId="urn:microsoft.com/office/officeart/2005/8/colors/colorful5" csCatId="colorful" phldr="1"/>
      <dgm:spPr/>
      <dgm:t>
        <a:bodyPr/>
        <a:lstStyle/>
        <a:p>
          <a:endParaRPr lang="en-AU"/>
        </a:p>
      </dgm:t>
    </dgm:pt>
    <dgm:pt modelId="{F0C0A242-011C-429A-AEDE-97A08752CCF3}">
      <dgm:prSet phldrT="[Text]" custT="1"/>
      <dgm:spPr>
        <a:solidFill>
          <a:schemeClr val="bg1">
            <a:lumMod val="50000"/>
          </a:schemeClr>
        </a:solidFill>
      </dgm:spPr>
      <dgm:t>
        <a:bodyPr/>
        <a:lstStyle/>
        <a:p>
          <a:r>
            <a:rPr lang="en-AU" sz="1800" b="0" dirty="0">
              <a:solidFill>
                <a:srgbClr val="000000"/>
              </a:solidFill>
            </a:rPr>
            <a:t>Personal computers</a:t>
          </a:r>
        </a:p>
      </dgm:t>
    </dgm:pt>
    <dgm:pt modelId="{F85BFC10-E130-4088-8ED2-5EB2BF52D464}" type="parTrans" cxnId="{338334B0-6669-4EE9-A9EE-D091C616D5C6}">
      <dgm:prSet/>
      <dgm:spPr/>
      <dgm:t>
        <a:bodyPr/>
        <a:lstStyle/>
        <a:p>
          <a:endParaRPr lang="en-AU" sz="1800" b="0">
            <a:solidFill>
              <a:srgbClr val="000000"/>
            </a:solidFill>
          </a:endParaRPr>
        </a:p>
      </dgm:t>
    </dgm:pt>
    <dgm:pt modelId="{D8AE390F-5745-4BEF-95F2-EA71A7D61D8B}" type="sibTrans" cxnId="{338334B0-6669-4EE9-A9EE-D091C616D5C6}">
      <dgm:prSet/>
      <dgm:spPr/>
      <dgm:t>
        <a:bodyPr/>
        <a:lstStyle/>
        <a:p>
          <a:endParaRPr lang="en-AU" sz="1800" b="0">
            <a:solidFill>
              <a:srgbClr val="000000"/>
            </a:solidFill>
          </a:endParaRPr>
        </a:p>
      </dgm:t>
    </dgm:pt>
    <dgm:pt modelId="{DD291FF7-5A59-42AA-94DC-D97BA2CDFF5B}">
      <dgm:prSet phldrT="[Text]" custT="1"/>
      <dgm:spPr>
        <a:ln>
          <a:solidFill>
            <a:srgbClr val="000000">
              <a:alpha val="90000"/>
            </a:srgbClr>
          </a:solidFill>
        </a:ln>
      </dgm:spPr>
      <dgm:t>
        <a:bodyPr/>
        <a:lstStyle/>
        <a:p>
          <a:r>
            <a:rPr lang="en-AU" sz="1800" b="0" dirty="0">
              <a:solidFill>
                <a:srgbClr val="000000"/>
              </a:solidFill>
            </a:rPr>
            <a:t>Speed, price, type of display, laptop versus desktop</a:t>
          </a:r>
        </a:p>
      </dgm:t>
    </dgm:pt>
    <dgm:pt modelId="{DFD6D0EC-0408-471C-8C4F-5E8D0FF1377E}" type="parTrans" cxnId="{F5507081-7851-4672-AA2B-F4D01F2571FE}">
      <dgm:prSet/>
      <dgm:spPr/>
      <dgm:t>
        <a:bodyPr/>
        <a:lstStyle/>
        <a:p>
          <a:endParaRPr lang="en-AU" sz="1800" b="0">
            <a:solidFill>
              <a:srgbClr val="000000"/>
            </a:solidFill>
          </a:endParaRPr>
        </a:p>
      </dgm:t>
    </dgm:pt>
    <dgm:pt modelId="{3920F89B-FE2B-41B9-BA74-8BE5EB6C89F9}" type="sibTrans" cxnId="{F5507081-7851-4672-AA2B-F4D01F2571FE}">
      <dgm:prSet/>
      <dgm:spPr/>
      <dgm:t>
        <a:bodyPr/>
        <a:lstStyle/>
        <a:p>
          <a:endParaRPr lang="en-AU" sz="1800" b="0">
            <a:solidFill>
              <a:srgbClr val="000000"/>
            </a:solidFill>
          </a:endParaRPr>
        </a:p>
      </dgm:t>
    </dgm:pt>
    <dgm:pt modelId="{907555A0-E041-403D-B609-6E571ADA847B}">
      <dgm:prSet phldrT="[Text]" custT="1"/>
      <dgm:spPr/>
      <dgm:t>
        <a:bodyPr/>
        <a:lstStyle/>
        <a:p>
          <a:r>
            <a:rPr lang="en-AU" sz="1800" b="0" dirty="0">
              <a:solidFill>
                <a:srgbClr val="000000"/>
              </a:solidFill>
            </a:rPr>
            <a:t>Watches</a:t>
          </a:r>
        </a:p>
      </dgm:t>
    </dgm:pt>
    <dgm:pt modelId="{CBEE4D84-28E3-41C8-8045-C1E6AB93C46E}" type="parTrans" cxnId="{0E1906F1-EB9B-43E3-BEFB-9F1ADD6AE523}">
      <dgm:prSet/>
      <dgm:spPr/>
      <dgm:t>
        <a:bodyPr/>
        <a:lstStyle/>
        <a:p>
          <a:endParaRPr lang="en-AU" sz="1800" b="0">
            <a:solidFill>
              <a:srgbClr val="000000"/>
            </a:solidFill>
          </a:endParaRPr>
        </a:p>
      </dgm:t>
    </dgm:pt>
    <dgm:pt modelId="{2A9B1202-7261-4365-82D1-7334B8773639}" type="sibTrans" cxnId="{0E1906F1-EB9B-43E3-BEFB-9F1ADD6AE523}">
      <dgm:prSet/>
      <dgm:spPr/>
      <dgm:t>
        <a:bodyPr/>
        <a:lstStyle/>
        <a:p>
          <a:endParaRPr lang="en-AU" sz="1800" b="0">
            <a:solidFill>
              <a:srgbClr val="000000"/>
            </a:solidFill>
          </a:endParaRPr>
        </a:p>
      </dgm:t>
    </dgm:pt>
    <dgm:pt modelId="{CEC93EDC-9B4E-436E-B291-7493E4AEB766}">
      <dgm:prSet phldrT="[Text]" custT="1"/>
      <dgm:spPr>
        <a:ln>
          <a:solidFill>
            <a:srgbClr val="000000">
              <a:alpha val="90000"/>
            </a:srgbClr>
          </a:solidFill>
        </a:ln>
      </dgm:spPr>
      <dgm:t>
        <a:bodyPr/>
        <a:lstStyle/>
        <a:p>
          <a:r>
            <a:rPr lang="en-AU" sz="1800" b="0" dirty="0">
              <a:solidFill>
                <a:srgbClr val="000000"/>
              </a:solidFill>
            </a:rPr>
            <a:t>Size, water resistance, alarms, wrist band</a:t>
          </a:r>
        </a:p>
      </dgm:t>
    </dgm:pt>
    <dgm:pt modelId="{353B185E-6B41-4B07-A925-F9F76AF183F6}" type="parTrans" cxnId="{E6CCA24E-F749-4918-8E61-0AC5046D629D}">
      <dgm:prSet/>
      <dgm:spPr/>
      <dgm:t>
        <a:bodyPr/>
        <a:lstStyle/>
        <a:p>
          <a:endParaRPr lang="en-AU" sz="1800" b="0">
            <a:solidFill>
              <a:srgbClr val="000000"/>
            </a:solidFill>
          </a:endParaRPr>
        </a:p>
      </dgm:t>
    </dgm:pt>
    <dgm:pt modelId="{83D89EEB-F693-4C87-8E0E-907A82DA6F56}" type="sibTrans" cxnId="{E6CCA24E-F749-4918-8E61-0AC5046D629D}">
      <dgm:prSet/>
      <dgm:spPr/>
      <dgm:t>
        <a:bodyPr/>
        <a:lstStyle/>
        <a:p>
          <a:endParaRPr lang="en-AU" sz="1800" b="0">
            <a:solidFill>
              <a:srgbClr val="000000"/>
            </a:solidFill>
          </a:endParaRPr>
        </a:p>
      </dgm:t>
    </dgm:pt>
    <dgm:pt modelId="{4F6130A3-F745-47B0-872E-6A95926A7404}">
      <dgm:prSet phldrT="[Text]" custT="1"/>
      <dgm:spPr/>
      <dgm:t>
        <a:bodyPr/>
        <a:lstStyle/>
        <a:p>
          <a:r>
            <a:rPr lang="en-AU" sz="1800" b="0" dirty="0">
              <a:solidFill>
                <a:srgbClr val="000000"/>
              </a:solidFill>
            </a:rPr>
            <a:t>Frozen dinner</a:t>
          </a:r>
        </a:p>
      </dgm:t>
    </dgm:pt>
    <dgm:pt modelId="{CEDD9768-9831-4F95-9C40-EA8FCECA6086}" type="parTrans" cxnId="{56AADF39-6796-48B6-A25E-AA53DC068D33}">
      <dgm:prSet/>
      <dgm:spPr/>
      <dgm:t>
        <a:bodyPr/>
        <a:lstStyle/>
        <a:p>
          <a:endParaRPr lang="en-AU" sz="1800" b="0">
            <a:solidFill>
              <a:srgbClr val="000000"/>
            </a:solidFill>
          </a:endParaRPr>
        </a:p>
      </dgm:t>
    </dgm:pt>
    <dgm:pt modelId="{C8AF084E-C271-460C-9238-246A8D98D649}" type="sibTrans" cxnId="{56AADF39-6796-48B6-A25E-AA53DC068D33}">
      <dgm:prSet/>
      <dgm:spPr/>
      <dgm:t>
        <a:bodyPr/>
        <a:lstStyle/>
        <a:p>
          <a:endParaRPr lang="en-AU" sz="1800" b="0">
            <a:solidFill>
              <a:srgbClr val="000000"/>
            </a:solidFill>
          </a:endParaRPr>
        </a:p>
      </dgm:t>
    </dgm:pt>
    <dgm:pt modelId="{27304361-21BD-4A72-8D35-C09874E680E0}">
      <dgm:prSet phldrT="[Text]" custT="1"/>
      <dgm:spPr>
        <a:ln>
          <a:solidFill>
            <a:srgbClr val="000000">
              <a:alpha val="90000"/>
            </a:srgbClr>
          </a:solidFill>
        </a:ln>
      </dgm:spPr>
      <dgm:t>
        <a:bodyPr/>
        <a:lstStyle/>
        <a:p>
          <a:r>
            <a:rPr lang="en-AU" sz="1800" b="0" dirty="0">
              <a:solidFill>
                <a:srgbClr val="000000"/>
              </a:solidFill>
            </a:rPr>
            <a:t>Taste, size, preparation requirements, kilojoule count</a:t>
          </a:r>
        </a:p>
      </dgm:t>
    </dgm:pt>
    <dgm:pt modelId="{7062E587-0587-4877-972A-572DEB0E62B7}" type="parTrans" cxnId="{9F1836F0-C33F-46F5-9176-AE3976CB48E4}">
      <dgm:prSet/>
      <dgm:spPr/>
      <dgm:t>
        <a:bodyPr/>
        <a:lstStyle/>
        <a:p>
          <a:endParaRPr lang="en-AU" sz="1800" b="0">
            <a:solidFill>
              <a:srgbClr val="000000"/>
            </a:solidFill>
          </a:endParaRPr>
        </a:p>
      </dgm:t>
    </dgm:pt>
    <dgm:pt modelId="{DF5C08AE-6AEC-428A-BA5E-EDF9B2ED1AD1}" type="sibTrans" cxnId="{9F1836F0-C33F-46F5-9176-AE3976CB48E4}">
      <dgm:prSet/>
      <dgm:spPr/>
      <dgm:t>
        <a:bodyPr/>
        <a:lstStyle/>
        <a:p>
          <a:endParaRPr lang="en-AU" sz="1800" b="0">
            <a:solidFill>
              <a:srgbClr val="000000"/>
            </a:solidFill>
          </a:endParaRPr>
        </a:p>
      </dgm:t>
    </dgm:pt>
    <dgm:pt modelId="{A3112A5C-B88D-492D-9E77-217B213BF5F2}">
      <dgm:prSet phldrT="[Text]" custT="1"/>
      <dgm:spPr/>
      <dgm:t>
        <a:bodyPr/>
        <a:lstStyle/>
        <a:p>
          <a:r>
            <a:rPr lang="en-AU" sz="1800" b="0" dirty="0">
              <a:solidFill>
                <a:srgbClr val="000000"/>
              </a:solidFill>
            </a:rPr>
            <a:t>Paper towels</a:t>
          </a:r>
        </a:p>
      </dgm:t>
    </dgm:pt>
    <dgm:pt modelId="{0DF77FC6-03ED-45F7-B18C-BA5D54FBD634}" type="parTrans" cxnId="{C2518F9A-791D-4775-AD81-37E3565A8C37}">
      <dgm:prSet/>
      <dgm:spPr/>
      <dgm:t>
        <a:bodyPr/>
        <a:lstStyle/>
        <a:p>
          <a:endParaRPr lang="en-AU" sz="1800" b="0">
            <a:solidFill>
              <a:srgbClr val="000000"/>
            </a:solidFill>
          </a:endParaRPr>
        </a:p>
      </dgm:t>
    </dgm:pt>
    <dgm:pt modelId="{28F7A52B-E783-4323-9BAA-A278D37BFBD4}" type="sibTrans" cxnId="{C2518F9A-791D-4775-AD81-37E3565A8C37}">
      <dgm:prSet/>
      <dgm:spPr/>
      <dgm:t>
        <a:bodyPr/>
        <a:lstStyle/>
        <a:p>
          <a:endParaRPr lang="en-AU" sz="1800" b="0">
            <a:solidFill>
              <a:srgbClr val="000000"/>
            </a:solidFill>
          </a:endParaRPr>
        </a:p>
      </dgm:t>
    </dgm:pt>
    <dgm:pt modelId="{9D4043A4-92B6-4E8F-9E9C-9F21B424A1D5}">
      <dgm:prSet phldrT="[Text]" custT="1"/>
      <dgm:spPr>
        <a:ln>
          <a:solidFill>
            <a:srgbClr val="000000">
              <a:alpha val="90000"/>
            </a:srgbClr>
          </a:solidFill>
        </a:ln>
      </dgm:spPr>
      <dgm:t>
        <a:bodyPr/>
        <a:lstStyle/>
        <a:p>
          <a:r>
            <a:rPr lang="en-AU" sz="1800" b="0" dirty="0">
              <a:solidFill>
                <a:srgbClr val="000000"/>
              </a:solidFill>
            </a:rPr>
            <a:t>Strength, colour, design, absorbency, price</a:t>
          </a:r>
        </a:p>
      </dgm:t>
    </dgm:pt>
    <dgm:pt modelId="{04B17CB3-FD71-4D52-B447-7844F906132C}" type="parTrans" cxnId="{810149D0-DBD5-44AA-A397-E3AAFE0F9B90}">
      <dgm:prSet/>
      <dgm:spPr/>
      <dgm:t>
        <a:bodyPr/>
        <a:lstStyle/>
        <a:p>
          <a:endParaRPr lang="en-AU" sz="1800" b="0">
            <a:solidFill>
              <a:srgbClr val="000000"/>
            </a:solidFill>
          </a:endParaRPr>
        </a:p>
      </dgm:t>
    </dgm:pt>
    <dgm:pt modelId="{B34B2F8E-BA90-40A9-88E0-9E0E93184B1E}" type="sibTrans" cxnId="{810149D0-DBD5-44AA-A397-E3AAFE0F9B90}">
      <dgm:prSet/>
      <dgm:spPr/>
      <dgm:t>
        <a:bodyPr/>
        <a:lstStyle/>
        <a:p>
          <a:endParaRPr lang="en-AU" sz="1800" b="0">
            <a:solidFill>
              <a:srgbClr val="000000"/>
            </a:solidFill>
          </a:endParaRPr>
        </a:p>
      </dgm:t>
    </dgm:pt>
    <dgm:pt modelId="{5B305143-154B-490D-8A0D-463C114F0D7B}" type="pres">
      <dgm:prSet presAssocID="{994325AF-DA9F-4DCE-96A7-F72020A63B18}" presName="Name0" presStyleCnt="0">
        <dgm:presLayoutVars>
          <dgm:dir/>
          <dgm:animLvl val="lvl"/>
          <dgm:resizeHandles val="exact"/>
        </dgm:presLayoutVars>
      </dgm:prSet>
      <dgm:spPr/>
    </dgm:pt>
    <dgm:pt modelId="{E2DBE7B1-C4DE-4D97-98A9-93084661514A}" type="pres">
      <dgm:prSet presAssocID="{F0C0A242-011C-429A-AEDE-97A08752CCF3}" presName="linNode" presStyleCnt="0"/>
      <dgm:spPr/>
    </dgm:pt>
    <dgm:pt modelId="{ED6B026B-A7EA-44D6-9FAD-8B7F35A3B9BF}" type="pres">
      <dgm:prSet presAssocID="{F0C0A242-011C-429A-AEDE-97A08752CCF3}" presName="parentText" presStyleLbl="node1" presStyleIdx="0" presStyleCnt="4">
        <dgm:presLayoutVars>
          <dgm:chMax val="1"/>
          <dgm:bulletEnabled val="1"/>
        </dgm:presLayoutVars>
      </dgm:prSet>
      <dgm:spPr/>
    </dgm:pt>
    <dgm:pt modelId="{45D66AE9-0926-4499-8C3C-FBF68C7841E5}" type="pres">
      <dgm:prSet presAssocID="{F0C0A242-011C-429A-AEDE-97A08752CCF3}" presName="descendantText" presStyleLbl="alignAccFollowNode1" presStyleIdx="0" presStyleCnt="4">
        <dgm:presLayoutVars>
          <dgm:bulletEnabled val="1"/>
        </dgm:presLayoutVars>
      </dgm:prSet>
      <dgm:spPr/>
    </dgm:pt>
    <dgm:pt modelId="{754B57D4-146C-44EB-9CBE-3756B3BBC68B}" type="pres">
      <dgm:prSet presAssocID="{D8AE390F-5745-4BEF-95F2-EA71A7D61D8B}" presName="sp" presStyleCnt="0"/>
      <dgm:spPr/>
    </dgm:pt>
    <dgm:pt modelId="{3C8750A5-158D-4EEB-8547-6098FACCDE8F}" type="pres">
      <dgm:prSet presAssocID="{907555A0-E041-403D-B609-6E571ADA847B}" presName="linNode" presStyleCnt="0"/>
      <dgm:spPr/>
    </dgm:pt>
    <dgm:pt modelId="{FA7EEDD1-FB6C-48BB-84AD-E285ECB8CAD1}" type="pres">
      <dgm:prSet presAssocID="{907555A0-E041-403D-B609-6E571ADA847B}" presName="parentText" presStyleLbl="node1" presStyleIdx="1" presStyleCnt="4">
        <dgm:presLayoutVars>
          <dgm:chMax val="1"/>
          <dgm:bulletEnabled val="1"/>
        </dgm:presLayoutVars>
      </dgm:prSet>
      <dgm:spPr/>
    </dgm:pt>
    <dgm:pt modelId="{90AA50B2-537C-44C5-B182-06F3547382E4}" type="pres">
      <dgm:prSet presAssocID="{907555A0-E041-403D-B609-6E571ADA847B}" presName="descendantText" presStyleLbl="alignAccFollowNode1" presStyleIdx="1" presStyleCnt="4">
        <dgm:presLayoutVars>
          <dgm:bulletEnabled val="1"/>
        </dgm:presLayoutVars>
      </dgm:prSet>
      <dgm:spPr/>
    </dgm:pt>
    <dgm:pt modelId="{28879058-8F7B-4136-B1F3-07576964837D}" type="pres">
      <dgm:prSet presAssocID="{2A9B1202-7261-4365-82D1-7334B8773639}" presName="sp" presStyleCnt="0"/>
      <dgm:spPr/>
    </dgm:pt>
    <dgm:pt modelId="{17923728-2C4E-44AD-89DB-89D8CD3A22BA}" type="pres">
      <dgm:prSet presAssocID="{4F6130A3-F745-47B0-872E-6A95926A7404}" presName="linNode" presStyleCnt="0"/>
      <dgm:spPr/>
    </dgm:pt>
    <dgm:pt modelId="{9FD8CDCE-0A6A-41F3-8C4A-66725B32D8F9}" type="pres">
      <dgm:prSet presAssocID="{4F6130A3-F745-47B0-872E-6A95926A7404}" presName="parentText" presStyleLbl="node1" presStyleIdx="2" presStyleCnt="4">
        <dgm:presLayoutVars>
          <dgm:chMax val="1"/>
          <dgm:bulletEnabled val="1"/>
        </dgm:presLayoutVars>
      </dgm:prSet>
      <dgm:spPr/>
    </dgm:pt>
    <dgm:pt modelId="{628BE702-A051-48A5-B0DA-65118D908B30}" type="pres">
      <dgm:prSet presAssocID="{4F6130A3-F745-47B0-872E-6A95926A7404}" presName="descendantText" presStyleLbl="alignAccFollowNode1" presStyleIdx="2" presStyleCnt="4">
        <dgm:presLayoutVars>
          <dgm:bulletEnabled val="1"/>
        </dgm:presLayoutVars>
      </dgm:prSet>
      <dgm:spPr/>
    </dgm:pt>
    <dgm:pt modelId="{BBB9DAB1-B0D9-448D-8225-2775CAE70FE9}" type="pres">
      <dgm:prSet presAssocID="{C8AF084E-C271-460C-9238-246A8D98D649}" presName="sp" presStyleCnt="0"/>
      <dgm:spPr/>
    </dgm:pt>
    <dgm:pt modelId="{E70B0F59-A158-4993-95DE-40B9ED87AC64}" type="pres">
      <dgm:prSet presAssocID="{A3112A5C-B88D-492D-9E77-217B213BF5F2}" presName="linNode" presStyleCnt="0"/>
      <dgm:spPr/>
    </dgm:pt>
    <dgm:pt modelId="{D0DFEE8A-5A13-4A80-90B0-682C4AC81B35}" type="pres">
      <dgm:prSet presAssocID="{A3112A5C-B88D-492D-9E77-217B213BF5F2}" presName="parentText" presStyleLbl="node1" presStyleIdx="3" presStyleCnt="4">
        <dgm:presLayoutVars>
          <dgm:chMax val="1"/>
          <dgm:bulletEnabled val="1"/>
        </dgm:presLayoutVars>
      </dgm:prSet>
      <dgm:spPr/>
    </dgm:pt>
    <dgm:pt modelId="{A7842EA4-BF17-4CC2-905C-17A2C80B64B1}" type="pres">
      <dgm:prSet presAssocID="{A3112A5C-B88D-492D-9E77-217B213BF5F2}" presName="descendantText" presStyleLbl="alignAccFollowNode1" presStyleIdx="3" presStyleCnt="4">
        <dgm:presLayoutVars>
          <dgm:bulletEnabled val="1"/>
        </dgm:presLayoutVars>
      </dgm:prSet>
      <dgm:spPr/>
    </dgm:pt>
  </dgm:ptLst>
  <dgm:cxnLst>
    <dgm:cxn modelId="{C4463327-BEB3-42B0-B96B-500E424E6E3A}" type="presOf" srcId="{907555A0-E041-403D-B609-6E571ADA847B}" destId="{FA7EEDD1-FB6C-48BB-84AD-E285ECB8CAD1}" srcOrd="0" destOrd="0" presId="urn:microsoft.com/office/officeart/2005/8/layout/vList5"/>
    <dgm:cxn modelId="{AB113F2A-0163-4005-A118-A024F1734334}" type="presOf" srcId="{994325AF-DA9F-4DCE-96A7-F72020A63B18}" destId="{5B305143-154B-490D-8A0D-463C114F0D7B}" srcOrd="0" destOrd="0" presId="urn:microsoft.com/office/officeart/2005/8/layout/vList5"/>
    <dgm:cxn modelId="{56AADF39-6796-48B6-A25E-AA53DC068D33}" srcId="{994325AF-DA9F-4DCE-96A7-F72020A63B18}" destId="{4F6130A3-F745-47B0-872E-6A95926A7404}" srcOrd="2" destOrd="0" parTransId="{CEDD9768-9831-4F95-9C40-EA8FCECA6086}" sibTransId="{C8AF084E-C271-460C-9238-246A8D98D649}"/>
    <dgm:cxn modelId="{E6CCA24E-F749-4918-8E61-0AC5046D629D}" srcId="{907555A0-E041-403D-B609-6E571ADA847B}" destId="{CEC93EDC-9B4E-436E-B291-7493E4AEB766}" srcOrd="0" destOrd="0" parTransId="{353B185E-6B41-4B07-A925-F9F76AF183F6}" sibTransId="{83D89EEB-F693-4C87-8E0E-907A82DA6F56}"/>
    <dgm:cxn modelId="{93204D7B-BFCC-4E64-A502-944CBC97FD3E}" type="presOf" srcId="{CEC93EDC-9B4E-436E-B291-7493E4AEB766}" destId="{90AA50B2-537C-44C5-B182-06F3547382E4}" srcOrd="0" destOrd="0" presId="urn:microsoft.com/office/officeart/2005/8/layout/vList5"/>
    <dgm:cxn modelId="{79CF8B7F-E7DB-4EB1-8276-EDDB2C73EDFC}" type="presOf" srcId="{9D4043A4-92B6-4E8F-9E9C-9F21B424A1D5}" destId="{A7842EA4-BF17-4CC2-905C-17A2C80B64B1}" srcOrd="0" destOrd="0" presId="urn:microsoft.com/office/officeart/2005/8/layout/vList5"/>
    <dgm:cxn modelId="{F5507081-7851-4672-AA2B-F4D01F2571FE}" srcId="{F0C0A242-011C-429A-AEDE-97A08752CCF3}" destId="{DD291FF7-5A59-42AA-94DC-D97BA2CDFF5B}" srcOrd="0" destOrd="0" parTransId="{DFD6D0EC-0408-471C-8C4F-5E8D0FF1377E}" sibTransId="{3920F89B-FE2B-41B9-BA74-8BE5EB6C89F9}"/>
    <dgm:cxn modelId="{C8ED628F-4412-4462-A6B3-8D6200FFAA12}" type="presOf" srcId="{F0C0A242-011C-429A-AEDE-97A08752CCF3}" destId="{ED6B026B-A7EA-44D6-9FAD-8B7F35A3B9BF}" srcOrd="0" destOrd="0" presId="urn:microsoft.com/office/officeart/2005/8/layout/vList5"/>
    <dgm:cxn modelId="{703A8593-4045-41B8-9DF5-1357F67241D1}" type="presOf" srcId="{27304361-21BD-4A72-8D35-C09874E680E0}" destId="{628BE702-A051-48A5-B0DA-65118D908B30}" srcOrd="0" destOrd="0" presId="urn:microsoft.com/office/officeart/2005/8/layout/vList5"/>
    <dgm:cxn modelId="{C2518F9A-791D-4775-AD81-37E3565A8C37}" srcId="{994325AF-DA9F-4DCE-96A7-F72020A63B18}" destId="{A3112A5C-B88D-492D-9E77-217B213BF5F2}" srcOrd="3" destOrd="0" parTransId="{0DF77FC6-03ED-45F7-B18C-BA5D54FBD634}" sibTransId="{28F7A52B-E783-4323-9BAA-A278D37BFBD4}"/>
    <dgm:cxn modelId="{338334B0-6669-4EE9-A9EE-D091C616D5C6}" srcId="{994325AF-DA9F-4DCE-96A7-F72020A63B18}" destId="{F0C0A242-011C-429A-AEDE-97A08752CCF3}" srcOrd="0" destOrd="0" parTransId="{F85BFC10-E130-4088-8ED2-5EB2BF52D464}" sibTransId="{D8AE390F-5745-4BEF-95F2-EA71A7D61D8B}"/>
    <dgm:cxn modelId="{00F2D5C9-A1C9-4F75-BC36-71979BEB710C}" type="presOf" srcId="{4F6130A3-F745-47B0-872E-6A95926A7404}" destId="{9FD8CDCE-0A6A-41F3-8C4A-66725B32D8F9}" srcOrd="0" destOrd="0" presId="urn:microsoft.com/office/officeart/2005/8/layout/vList5"/>
    <dgm:cxn modelId="{810149D0-DBD5-44AA-A397-E3AAFE0F9B90}" srcId="{A3112A5C-B88D-492D-9E77-217B213BF5F2}" destId="{9D4043A4-92B6-4E8F-9E9C-9F21B424A1D5}" srcOrd="0" destOrd="0" parTransId="{04B17CB3-FD71-4D52-B447-7844F906132C}" sibTransId="{B34B2F8E-BA90-40A9-88E0-9E0E93184B1E}"/>
    <dgm:cxn modelId="{BD2204D4-2E98-4652-B820-C1C16F54923B}" type="presOf" srcId="{DD291FF7-5A59-42AA-94DC-D97BA2CDFF5B}" destId="{45D66AE9-0926-4499-8C3C-FBF68C7841E5}" srcOrd="0" destOrd="0" presId="urn:microsoft.com/office/officeart/2005/8/layout/vList5"/>
    <dgm:cxn modelId="{9176C7E9-2660-48F9-B066-A9E0A2FD67C1}" type="presOf" srcId="{A3112A5C-B88D-492D-9E77-217B213BF5F2}" destId="{D0DFEE8A-5A13-4A80-90B0-682C4AC81B35}" srcOrd="0" destOrd="0" presId="urn:microsoft.com/office/officeart/2005/8/layout/vList5"/>
    <dgm:cxn modelId="{9F1836F0-C33F-46F5-9176-AE3976CB48E4}" srcId="{4F6130A3-F745-47B0-872E-6A95926A7404}" destId="{27304361-21BD-4A72-8D35-C09874E680E0}" srcOrd="0" destOrd="0" parTransId="{7062E587-0587-4877-972A-572DEB0E62B7}" sibTransId="{DF5C08AE-6AEC-428A-BA5E-EDF9B2ED1AD1}"/>
    <dgm:cxn modelId="{0E1906F1-EB9B-43E3-BEFB-9F1ADD6AE523}" srcId="{994325AF-DA9F-4DCE-96A7-F72020A63B18}" destId="{907555A0-E041-403D-B609-6E571ADA847B}" srcOrd="1" destOrd="0" parTransId="{CBEE4D84-28E3-41C8-8045-C1E6AB93C46E}" sibTransId="{2A9B1202-7261-4365-82D1-7334B8773639}"/>
    <dgm:cxn modelId="{465945B7-D618-45DC-AB5B-9592A66CB033}" type="presParOf" srcId="{5B305143-154B-490D-8A0D-463C114F0D7B}" destId="{E2DBE7B1-C4DE-4D97-98A9-93084661514A}" srcOrd="0" destOrd="0" presId="urn:microsoft.com/office/officeart/2005/8/layout/vList5"/>
    <dgm:cxn modelId="{18AAAA50-CB86-413E-B001-55FCDB6F4546}" type="presParOf" srcId="{E2DBE7B1-C4DE-4D97-98A9-93084661514A}" destId="{ED6B026B-A7EA-44D6-9FAD-8B7F35A3B9BF}" srcOrd="0" destOrd="0" presId="urn:microsoft.com/office/officeart/2005/8/layout/vList5"/>
    <dgm:cxn modelId="{EF3BFED2-21B2-45B5-910B-B5D5EC80A2BB}" type="presParOf" srcId="{E2DBE7B1-C4DE-4D97-98A9-93084661514A}" destId="{45D66AE9-0926-4499-8C3C-FBF68C7841E5}" srcOrd="1" destOrd="0" presId="urn:microsoft.com/office/officeart/2005/8/layout/vList5"/>
    <dgm:cxn modelId="{A065712D-317E-4922-998F-AD3631B6BB04}" type="presParOf" srcId="{5B305143-154B-490D-8A0D-463C114F0D7B}" destId="{754B57D4-146C-44EB-9CBE-3756B3BBC68B}" srcOrd="1" destOrd="0" presId="urn:microsoft.com/office/officeart/2005/8/layout/vList5"/>
    <dgm:cxn modelId="{80F32780-2572-45E3-B510-7B4169BCE3D4}" type="presParOf" srcId="{5B305143-154B-490D-8A0D-463C114F0D7B}" destId="{3C8750A5-158D-4EEB-8547-6098FACCDE8F}" srcOrd="2" destOrd="0" presId="urn:microsoft.com/office/officeart/2005/8/layout/vList5"/>
    <dgm:cxn modelId="{C1DC7866-F5B1-4E84-B26F-06C621A3A155}" type="presParOf" srcId="{3C8750A5-158D-4EEB-8547-6098FACCDE8F}" destId="{FA7EEDD1-FB6C-48BB-84AD-E285ECB8CAD1}" srcOrd="0" destOrd="0" presId="urn:microsoft.com/office/officeart/2005/8/layout/vList5"/>
    <dgm:cxn modelId="{D42FD595-075A-4D3E-8230-3EFB4AF8B1C7}" type="presParOf" srcId="{3C8750A5-158D-4EEB-8547-6098FACCDE8F}" destId="{90AA50B2-537C-44C5-B182-06F3547382E4}" srcOrd="1" destOrd="0" presId="urn:microsoft.com/office/officeart/2005/8/layout/vList5"/>
    <dgm:cxn modelId="{8A53788C-072B-4FC6-8B24-E76AC4140DB0}" type="presParOf" srcId="{5B305143-154B-490D-8A0D-463C114F0D7B}" destId="{28879058-8F7B-4136-B1F3-07576964837D}" srcOrd="3" destOrd="0" presId="urn:microsoft.com/office/officeart/2005/8/layout/vList5"/>
    <dgm:cxn modelId="{86AED924-094A-4E5C-BBB6-18FD75ED5C35}" type="presParOf" srcId="{5B305143-154B-490D-8A0D-463C114F0D7B}" destId="{17923728-2C4E-44AD-89DB-89D8CD3A22BA}" srcOrd="4" destOrd="0" presId="urn:microsoft.com/office/officeart/2005/8/layout/vList5"/>
    <dgm:cxn modelId="{C694760F-88DF-470B-B08B-06A6D5045C8D}" type="presParOf" srcId="{17923728-2C4E-44AD-89DB-89D8CD3A22BA}" destId="{9FD8CDCE-0A6A-41F3-8C4A-66725B32D8F9}" srcOrd="0" destOrd="0" presId="urn:microsoft.com/office/officeart/2005/8/layout/vList5"/>
    <dgm:cxn modelId="{CFA47046-305F-4F79-891E-BA4767F5953E}" type="presParOf" srcId="{17923728-2C4E-44AD-89DB-89D8CD3A22BA}" destId="{628BE702-A051-48A5-B0DA-65118D908B30}" srcOrd="1" destOrd="0" presId="urn:microsoft.com/office/officeart/2005/8/layout/vList5"/>
    <dgm:cxn modelId="{F7A87E4F-A452-4A9D-85D4-38C7C85DA38E}" type="presParOf" srcId="{5B305143-154B-490D-8A0D-463C114F0D7B}" destId="{BBB9DAB1-B0D9-448D-8225-2775CAE70FE9}" srcOrd="5" destOrd="0" presId="urn:microsoft.com/office/officeart/2005/8/layout/vList5"/>
    <dgm:cxn modelId="{AD055593-A0D9-4AEF-88DE-27CECE76AB4B}" type="presParOf" srcId="{5B305143-154B-490D-8A0D-463C114F0D7B}" destId="{E70B0F59-A158-4993-95DE-40B9ED87AC64}" srcOrd="6" destOrd="0" presId="urn:microsoft.com/office/officeart/2005/8/layout/vList5"/>
    <dgm:cxn modelId="{464D6CE6-37BC-4E8D-B697-1E40DC06E2FB}" type="presParOf" srcId="{E70B0F59-A158-4993-95DE-40B9ED87AC64}" destId="{D0DFEE8A-5A13-4A80-90B0-682C4AC81B35}" srcOrd="0" destOrd="0" presId="urn:microsoft.com/office/officeart/2005/8/layout/vList5"/>
    <dgm:cxn modelId="{EFD7FB39-E821-46F3-83EE-EEEF8A4D5917}" type="presParOf" srcId="{E70B0F59-A158-4993-95DE-40B9ED87AC64}" destId="{A7842EA4-BF17-4CC2-905C-17A2C80B64B1}"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D66AE9-0926-4499-8C3C-FBF68C7841E5}">
      <dsp:nvSpPr>
        <dsp:cNvPr id="0" name=""/>
        <dsp:cNvSpPr/>
      </dsp:nvSpPr>
      <dsp:spPr>
        <a:xfrm rot="5400000">
          <a:off x="5269492" y="-2146859"/>
          <a:ext cx="848578" cy="5358853"/>
        </a:xfrm>
        <a:prstGeom prst="round2SameRect">
          <a:avLst/>
        </a:prstGeom>
        <a:solidFill>
          <a:schemeClr val="accent5">
            <a:tint val="40000"/>
            <a:alpha val="90000"/>
            <a:hueOff val="0"/>
            <a:satOff val="0"/>
            <a:lumOff val="0"/>
            <a:alphaOff val="0"/>
          </a:schemeClr>
        </a:solidFill>
        <a:ln w="25400" cap="flat" cmpd="sng" algn="ctr">
          <a:solidFill>
            <a:srgbClr val="000000">
              <a:alpha val="90000"/>
            </a:srgb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en-AU" sz="1800" b="0" kern="1200" dirty="0">
              <a:solidFill>
                <a:srgbClr val="000000"/>
              </a:solidFill>
            </a:rPr>
            <a:t>Speed, price, type of display, laptop versus desktop</a:t>
          </a:r>
        </a:p>
      </dsp:txBody>
      <dsp:txXfrm rot="-5400000">
        <a:off x="3014355" y="149702"/>
        <a:ext cx="5317429" cy="765730"/>
      </dsp:txXfrm>
    </dsp:sp>
    <dsp:sp modelId="{ED6B026B-A7EA-44D6-9FAD-8B7F35A3B9BF}">
      <dsp:nvSpPr>
        <dsp:cNvPr id="0" name=""/>
        <dsp:cNvSpPr/>
      </dsp:nvSpPr>
      <dsp:spPr>
        <a:xfrm>
          <a:off x="0" y="2205"/>
          <a:ext cx="3014354" cy="1060723"/>
        </a:xfrm>
        <a:prstGeom prst="roundRect">
          <a:avLst/>
        </a:prstGeom>
        <a:solidFill>
          <a:schemeClr val="bg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en-AU" sz="1800" b="0" kern="1200" dirty="0">
              <a:solidFill>
                <a:srgbClr val="000000"/>
              </a:solidFill>
            </a:rPr>
            <a:t>Personal computers</a:t>
          </a:r>
        </a:p>
      </dsp:txBody>
      <dsp:txXfrm>
        <a:off x="51780" y="53985"/>
        <a:ext cx="2910794" cy="957163"/>
      </dsp:txXfrm>
    </dsp:sp>
    <dsp:sp modelId="{90AA50B2-537C-44C5-B182-06F3547382E4}">
      <dsp:nvSpPr>
        <dsp:cNvPr id="0" name=""/>
        <dsp:cNvSpPr/>
      </dsp:nvSpPr>
      <dsp:spPr>
        <a:xfrm rot="5400000">
          <a:off x="5269492" y="-1033100"/>
          <a:ext cx="848578" cy="5358853"/>
        </a:xfrm>
        <a:prstGeom prst="round2SameRect">
          <a:avLst/>
        </a:prstGeom>
        <a:solidFill>
          <a:schemeClr val="accent5">
            <a:tint val="40000"/>
            <a:alpha val="90000"/>
            <a:hueOff val="-2493802"/>
            <a:satOff val="-6239"/>
            <a:lumOff val="476"/>
            <a:alphaOff val="0"/>
          </a:schemeClr>
        </a:solidFill>
        <a:ln w="25400" cap="flat" cmpd="sng" algn="ctr">
          <a:solidFill>
            <a:srgbClr val="000000">
              <a:alpha val="90000"/>
            </a:srgb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en-AU" sz="1800" b="0" kern="1200" dirty="0">
              <a:solidFill>
                <a:srgbClr val="000000"/>
              </a:solidFill>
            </a:rPr>
            <a:t>Size, water resistance, alarms, wrist band</a:t>
          </a:r>
        </a:p>
      </dsp:txBody>
      <dsp:txXfrm rot="-5400000">
        <a:off x="3014355" y="1263461"/>
        <a:ext cx="5317429" cy="765730"/>
      </dsp:txXfrm>
    </dsp:sp>
    <dsp:sp modelId="{FA7EEDD1-FB6C-48BB-84AD-E285ECB8CAD1}">
      <dsp:nvSpPr>
        <dsp:cNvPr id="0" name=""/>
        <dsp:cNvSpPr/>
      </dsp:nvSpPr>
      <dsp:spPr>
        <a:xfrm>
          <a:off x="0" y="1115964"/>
          <a:ext cx="3014354" cy="1060723"/>
        </a:xfrm>
        <a:prstGeom prst="roundRect">
          <a:avLst/>
        </a:prstGeom>
        <a:solidFill>
          <a:schemeClr val="accent5">
            <a:hueOff val="-2630035"/>
            <a:satOff val="-22989"/>
            <a:lumOff val="522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en-AU" sz="1800" b="0" kern="1200" dirty="0">
              <a:solidFill>
                <a:srgbClr val="000000"/>
              </a:solidFill>
            </a:rPr>
            <a:t>Watches</a:t>
          </a:r>
        </a:p>
      </dsp:txBody>
      <dsp:txXfrm>
        <a:off x="51780" y="1167744"/>
        <a:ext cx="2910794" cy="957163"/>
      </dsp:txXfrm>
    </dsp:sp>
    <dsp:sp modelId="{628BE702-A051-48A5-B0DA-65118D908B30}">
      <dsp:nvSpPr>
        <dsp:cNvPr id="0" name=""/>
        <dsp:cNvSpPr/>
      </dsp:nvSpPr>
      <dsp:spPr>
        <a:xfrm rot="5400000">
          <a:off x="5269492" y="80659"/>
          <a:ext cx="848578" cy="5358853"/>
        </a:xfrm>
        <a:prstGeom prst="round2SameRect">
          <a:avLst/>
        </a:prstGeom>
        <a:solidFill>
          <a:schemeClr val="accent5">
            <a:tint val="40000"/>
            <a:alpha val="90000"/>
            <a:hueOff val="-4987603"/>
            <a:satOff val="-12478"/>
            <a:lumOff val="951"/>
            <a:alphaOff val="0"/>
          </a:schemeClr>
        </a:solidFill>
        <a:ln w="25400" cap="flat" cmpd="sng" algn="ctr">
          <a:solidFill>
            <a:srgbClr val="000000">
              <a:alpha val="90000"/>
            </a:srgb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en-AU" sz="1800" b="0" kern="1200" dirty="0">
              <a:solidFill>
                <a:srgbClr val="000000"/>
              </a:solidFill>
            </a:rPr>
            <a:t>Taste, size, preparation requirements, kilojoule count</a:t>
          </a:r>
        </a:p>
      </dsp:txBody>
      <dsp:txXfrm rot="-5400000">
        <a:off x="3014355" y="2377220"/>
        <a:ext cx="5317429" cy="765730"/>
      </dsp:txXfrm>
    </dsp:sp>
    <dsp:sp modelId="{9FD8CDCE-0A6A-41F3-8C4A-66725B32D8F9}">
      <dsp:nvSpPr>
        <dsp:cNvPr id="0" name=""/>
        <dsp:cNvSpPr/>
      </dsp:nvSpPr>
      <dsp:spPr>
        <a:xfrm>
          <a:off x="0" y="2229724"/>
          <a:ext cx="3014354" cy="1060723"/>
        </a:xfrm>
        <a:prstGeom prst="roundRect">
          <a:avLst/>
        </a:prstGeom>
        <a:solidFill>
          <a:schemeClr val="accent5">
            <a:hueOff val="-5260070"/>
            <a:satOff val="-45977"/>
            <a:lumOff val="1045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en-AU" sz="1800" b="0" kern="1200" dirty="0">
              <a:solidFill>
                <a:srgbClr val="000000"/>
              </a:solidFill>
            </a:rPr>
            <a:t>Frozen dinner</a:t>
          </a:r>
        </a:p>
      </dsp:txBody>
      <dsp:txXfrm>
        <a:off x="51780" y="2281504"/>
        <a:ext cx="2910794" cy="957163"/>
      </dsp:txXfrm>
    </dsp:sp>
    <dsp:sp modelId="{A7842EA4-BF17-4CC2-905C-17A2C80B64B1}">
      <dsp:nvSpPr>
        <dsp:cNvPr id="0" name=""/>
        <dsp:cNvSpPr/>
      </dsp:nvSpPr>
      <dsp:spPr>
        <a:xfrm rot="5400000">
          <a:off x="5269492" y="1194418"/>
          <a:ext cx="848578" cy="5358853"/>
        </a:xfrm>
        <a:prstGeom prst="round2SameRect">
          <a:avLst/>
        </a:prstGeom>
        <a:solidFill>
          <a:schemeClr val="accent5">
            <a:tint val="40000"/>
            <a:alpha val="90000"/>
            <a:hueOff val="-7481405"/>
            <a:satOff val="-18717"/>
            <a:lumOff val="1427"/>
            <a:alphaOff val="0"/>
          </a:schemeClr>
        </a:solidFill>
        <a:ln w="25400" cap="flat" cmpd="sng" algn="ctr">
          <a:solidFill>
            <a:srgbClr val="000000">
              <a:alpha val="90000"/>
            </a:srgb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en-AU" sz="1800" b="0" kern="1200" dirty="0">
              <a:solidFill>
                <a:srgbClr val="000000"/>
              </a:solidFill>
            </a:rPr>
            <a:t>Strength, colour, design, absorbency, price</a:t>
          </a:r>
        </a:p>
      </dsp:txBody>
      <dsp:txXfrm rot="-5400000">
        <a:off x="3014355" y="3490979"/>
        <a:ext cx="5317429" cy="765730"/>
      </dsp:txXfrm>
    </dsp:sp>
    <dsp:sp modelId="{D0DFEE8A-5A13-4A80-90B0-682C4AC81B35}">
      <dsp:nvSpPr>
        <dsp:cNvPr id="0" name=""/>
        <dsp:cNvSpPr/>
      </dsp:nvSpPr>
      <dsp:spPr>
        <a:xfrm>
          <a:off x="0" y="3343483"/>
          <a:ext cx="3014354" cy="1060723"/>
        </a:xfrm>
        <a:prstGeom prst="roundRect">
          <a:avLst/>
        </a:prstGeom>
        <a:solidFill>
          <a:schemeClr val="accent5">
            <a:hueOff val="-7890104"/>
            <a:satOff val="-68966"/>
            <a:lumOff val="15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en-AU" sz="1800" b="0" kern="1200" dirty="0">
              <a:solidFill>
                <a:srgbClr val="000000"/>
              </a:solidFill>
            </a:rPr>
            <a:t>Paper towels</a:t>
          </a:r>
        </a:p>
      </dsp:txBody>
      <dsp:txXfrm>
        <a:off x="51780" y="3395263"/>
        <a:ext cx="2910794" cy="957163"/>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11/21/2025</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8375636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dirty="0"/>
          </a:p>
        </p:txBody>
      </p:sp>
      <p:sp>
        <p:nvSpPr>
          <p:cNvPr id="121" name="Shape 12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dirty="0"/>
          </a:p>
        </p:txBody>
      </p:sp>
      <p:sp>
        <p:nvSpPr>
          <p:cNvPr id="121" name="Shape 12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860136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15000"/>
              </a:lnSpc>
              <a:spcBef>
                <a:spcPts val="1500"/>
              </a:spcBef>
              <a:spcAft>
                <a:spcPts val="1000"/>
              </a:spcAft>
            </a:pPr>
            <a:r>
              <a:rPr lang="en-AU" sz="1800" dirty="0">
                <a:effectLst/>
                <a:latin typeface="Calibri" panose="020F0502020204030204" pitchFamily="34" charset="0"/>
                <a:ea typeface="Times New Roman" panose="02020603050405020304" pitchFamily="18" charset="0"/>
                <a:cs typeface="Calibri" panose="020F0502020204030204" pitchFamily="34" charset="0"/>
              </a:rPr>
              <a:t>The model shows three components which point from one to another as follows: Environment; Buyer's black box; Buyer responses. </a:t>
            </a:r>
            <a:r>
              <a:rPr lang="en-AU"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Each of these components has subcomponents, displayed in boxes below: </a:t>
            </a:r>
            <a:endParaRPr lang="en-NZ" sz="1800" dirty="0">
              <a:effectLst/>
              <a:latin typeface="Calibri" panose="020F0502020204030204" pitchFamily="34" charset="0"/>
              <a:ea typeface="Calibri" panose="020F0502020204030204" pitchFamily="34" charset="0"/>
            </a:endParaRPr>
          </a:p>
          <a:p>
            <a:pPr>
              <a:lnSpc>
                <a:spcPct val="115000"/>
              </a:lnSpc>
              <a:spcAft>
                <a:spcPts val="1000"/>
              </a:spcAft>
            </a:pPr>
            <a:r>
              <a:rPr lang="en-AU"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endParaRPr lang="en-NZ" sz="1800" dirty="0">
              <a:effectLst/>
              <a:latin typeface="Calibri" panose="020F0502020204030204" pitchFamily="34" charset="0"/>
              <a:ea typeface="Calibri" panose="020F0502020204030204" pitchFamily="34" charset="0"/>
            </a:endParaRPr>
          </a:p>
          <a:p>
            <a:pPr>
              <a:lnSpc>
                <a:spcPct val="115000"/>
              </a:lnSpc>
              <a:spcAft>
                <a:spcPts val="1000"/>
              </a:spcAft>
            </a:pPr>
            <a:r>
              <a:rPr lang="en-AU"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Environment: Marketing stimuli and other stimuli. </a:t>
            </a:r>
            <a:endParaRPr lang="en-NZ" sz="1800" dirty="0">
              <a:effectLst/>
              <a:latin typeface="Calibri" panose="020F0502020204030204" pitchFamily="34" charset="0"/>
              <a:ea typeface="Calibri" panose="020F0502020204030204" pitchFamily="34" charset="0"/>
            </a:endParaRPr>
          </a:p>
          <a:p>
            <a:pPr marL="342900" lvl="0" indent="-342900">
              <a:lnSpc>
                <a:spcPct val="115000"/>
              </a:lnSpc>
              <a:buFont typeface="Symbol" panose="05050102010706020507" pitchFamily="18" charset="2"/>
              <a:buChar char=""/>
            </a:pPr>
            <a:r>
              <a:rPr lang="en-AU"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Under Marketing stimuli are the following: Product; Price; Place; Promotion. </a:t>
            </a:r>
            <a:endParaRPr lang="en-NZ" sz="1800" dirty="0">
              <a:effectLst/>
              <a:latin typeface="Calibri" panose="020F0502020204030204" pitchFamily="34" charset="0"/>
              <a:ea typeface="Calibri" panose="020F0502020204030204" pitchFamily="34" charset="0"/>
            </a:endParaRPr>
          </a:p>
          <a:p>
            <a:pPr marL="342900" lvl="0" indent="-342900">
              <a:lnSpc>
                <a:spcPct val="115000"/>
              </a:lnSpc>
              <a:spcAft>
                <a:spcPts val="1000"/>
              </a:spcAft>
              <a:buFont typeface="Symbol" panose="05050102010706020507" pitchFamily="18" charset="2"/>
              <a:buChar char=""/>
            </a:pPr>
            <a:r>
              <a:rPr lang="en-AU"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Under Other stimuli are the following: Economic; Technological; Social; Cultural. </a:t>
            </a:r>
            <a:endParaRPr lang="en-NZ" sz="1800" dirty="0">
              <a:effectLst/>
              <a:latin typeface="Calibri" panose="020F0502020204030204" pitchFamily="34" charset="0"/>
              <a:ea typeface="Calibri" panose="020F0502020204030204" pitchFamily="34" charset="0"/>
            </a:endParaRPr>
          </a:p>
          <a:p>
            <a:pPr>
              <a:lnSpc>
                <a:spcPct val="115000"/>
              </a:lnSpc>
              <a:spcBef>
                <a:spcPts val="1500"/>
              </a:spcBef>
              <a:spcAft>
                <a:spcPts val="1000"/>
              </a:spcAft>
            </a:pPr>
            <a:endParaRPr lang="en-AU" sz="1800" dirty="0">
              <a:effectLst/>
              <a:latin typeface="Calibri" panose="020F0502020204030204" pitchFamily="34" charset="0"/>
              <a:ea typeface="Times New Roman" panose="02020603050405020304" pitchFamily="18" charset="0"/>
              <a:cs typeface="Calibri" panose="020F0502020204030204" pitchFamily="34" charset="0"/>
            </a:endParaRPr>
          </a:p>
          <a:p>
            <a:pPr>
              <a:lnSpc>
                <a:spcPct val="115000"/>
              </a:lnSpc>
              <a:spcBef>
                <a:spcPts val="1500"/>
              </a:spcBef>
              <a:spcAft>
                <a:spcPts val="1000"/>
              </a:spcAft>
            </a:pPr>
            <a:r>
              <a:rPr lang="en-AU" sz="1800" dirty="0">
                <a:effectLst/>
                <a:latin typeface="Calibri" panose="020F0502020204030204" pitchFamily="34" charset="0"/>
                <a:ea typeface="Times New Roman" panose="02020603050405020304" pitchFamily="18" charset="0"/>
                <a:cs typeface="Calibri" panose="020F0502020204030204" pitchFamily="34" charset="0"/>
              </a:rPr>
              <a:t>Buyer’s black box includes Buyer’s characteristics and Buyer’s decision process. </a:t>
            </a:r>
            <a:endParaRPr lang="en-NZ" sz="1800" dirty="0">
              <a:effectLst/>
              <a:latin typeface="Calibri" panose="020F0502020204030204" pitchFamily="34" charset="0"/>
              <a:ea typeface="Calibri" panose="020F0502020204030204" pitchFamily="34" charset="0"/>
            </a:endParaRPr>
          </a:p>
          <a:p>
            <a:pPr>
              <a:lnSpc>
                <a:spcPct val="115000"/>
              </a:lnSpc>
              <a:spcBef>
                <a:spcPts val="1500"/>
              </a:spcBef>
              <a:spcAft>
                <a:spcPts val="1000"/>
              </a:spcAft>
            </a:pPr>
            <a:endParaRPr lang="en-AU" sz="1800" dirty="0">
              <a:effectLst/>
              <a:latin typeface="Calibri" panose="020F0502020204030204" pitchFamily="34" charset="0"/>
              <a:ea typeface="Times New Roman" panose="02020603050405020304" pitchFamily="18" charset="0"/>
              <a:cs typeface="Calibri" panose="020F0502020204030204" pitchFamily="34" charset="0"/>
            </a:endParaRPr>
          </a:p>
          <a:p>
            <a:pPr>
              <a:lnSpc>
                <a:spcPct val="115000"/>
              </a:lnSpc>
              <a:spcBef>
                <a:spcPts val="1500"/>
              </a:spcBef>
              <a:spcAft>
                <a:spcPts val="1000"/>
              </a:spcAft>
            </a:pPr>
            <a:r>
              <a:rPr lang="en-AU" sz="1800" dirty="0">
                <a:effectLst/>
                <a:latin typeface="Calibri" panose="020F0502020204030204" pitchFamily="34" charset="0"/>
                <a:ea typeface="Times New Roman" panose="02020603050405020304" pitchFamily="18" charset="0"/>
                <a:cs typeface="Calibri" panose="020F0502020204030204" pitchFamily="34" charset="0"/>
              </a:rPr>
              <a:t>Buyer responses includes the following:</a:t>
            </a:r>
            <a:endParaRPr lang="en-NZ" sz="1800" dirty="0">
              <a:effectLst/>
              <a:latin typeface="Calibri" panose="020F0502020204030204" pitchFamily="34" charset="0"/>
              <a:ea typeface="Calibri" panose="020F0502020204030204" pitchFamily="34" charset="0"/>
            </a:endParaRPr>
          </a:p>
          <a:p>
            <a:pPr marL="342900" lvl="0" indent="-342900">
              <a:lnSpc>
                <a:spcPct val="115000"/>
              </a:lnSpc>
              <a:spcBef>
                <a:spcPts val="1500"/>
              </a:spcBef>
              <a:buFont typeface="Symbol" panose="05050102010706020507" pitchFamily="18" charset="2"/>
              <a:buChar char=""/>
            </a:pPr>
            <a:r>
              <a:rPr lang="en-AU" sz="1800" dirty="0">
                <a:effectLst/>
                <a:latin typeface="Calibri" panose="020F0502020204030204" pitchFamily="34" charset="0"/>
                <a:ea typeface="Times New Roman" panose="02020603050405020304" pitchFamily="18" charset="0"/>
                <a:cs typeface="Calibri" panose="020F0502020204030204" pitchFamily="34" charset="0"/>
              </a:rPr>
              <a:t>Buying attitudes and preference</a:t>
            </a:r>
            <a:endParaRPr lang="en-NZ" sz="1800" dirty="0">
              <a:effectLst/>
              <a:latin typeface="Calibri" panose="020F0502020204030204" pitchFamily="34" charset="0"/>
              <a:ea typeface="Calibri" panose="020F0502020204030204" pitchFamily="34" charset="0"/>
            </a:endParaRPr>
          </a:p>
          <a:p>
            <a:pPr marL="342900" lvl="0" indent="-342900">
              <a:lnSpc>
                <a:spcPct val="115000"/>
              </a:lnSpc>
              <a:spcBef>
                <a:spcPts val="1500"/>
              </a:spcBef>
              <a:spcAft>
                <a:spcPts val="1000"/>
              </a:spcAft>
              <a:buFont typeface="Symbol" panose="05050102010706020507" pitchFamily="18" charset="2"/>
              <a:buChar char=""/>
            </a:pPr>
            <a:r>
              <a:rPr lang="en-AU" sz="1800" dirty="0">
                <a:effectLst/>
                <a:latin typeface="Calibri" panose="020F0502020204030204" pitchFamily="34" charset="0"/>
                <a:ea typeface="Times New Roman" panose="02020603050405020304" pitchFamily="18" charset="0"/>
                <a:cs typeface="Calibri" panose="020F0502020204030204" pitchFamily="34" charset="0"/>
              </a:rPr>
              <a:t>Purchase behaviour: what the buyer buys, when, where and how much</a:t>
            </a:r>
            <a:endParaRPr lang="en-NZ" sz="1800" dirty="0">
              <a:effectLst/>
              <a:latin typeface="Calibri" panose="020F0502020204030204" pitchFamily="34" charset="0"/>
              <a:ea typeface="Calibri" panose="020F0502020204030204" pitchFamily="34" charset="0"/>
            </a:endParaRPr>
          </a:p>
          <a:p>
            <a:pPr marL="342900" marR="0" lvl="0" indent="-342900" algn="l" defTabSz="457200" rtl="0" eaLnBrk="1" latinLnBrk="0" hangingPunct="1">
              <a:lnSpc>
                <a:spcPct val="115000"/>
              </a:lnSpc>
              <a:spcBef>
                <a:spcPts val="1500"/>
              </a:spcBef>
              <a:buFont typeface="Symbol" panose="05050102010706020507" pitchFamily="18" charset="2"/>
              <a:buChar char=""/>
            </a:pPr>
            <a:r>
              <a:rPr lang="en-AU" sz="1800" b="0" i="0" u="none" strike="noStrike" kern="1200" cap="none" dirty="0">
                <a:solidFill>
                  <a:schemeClr val="dk1"/>
                </a:solidFill>
                <a:effectLst/>
                <a:latin typeface="Calibri" panose="020F0502020204030204" pitchFamily="34" charset="0"/>
                <a:ea typeface="Times New Roman" panose="02020603050405020304" pitchFamily="18" charset="0"/>
                <a:cs typeface="Calibri" panose="020F0502020204030204" pitchFamily="34" charset="0"/>
                <a:sym typeface="Arial"/>
              </a:rPr>
              <a:t>Brand engagements and relationships. </a:t>
            </a:r>
            <a:endParaRPr lang="en-NZ" sz="1800" b="0" i="0" u="none" strike="noStrike" kern="1200" cap="none" dirty="0">
              <a:solidFill>
                <a:schemeClr val="dk1"/>
              </a:solidFill>
              <a:effectLst/>
              <a:latin typeface="Calibri" panose="020F0502020204030204" pitchFamily="34" charset="0"/>
              <a:cs typeface="Calibri" panose="020F0502020204030204" pitchFamily="34" charset="0"/>
              <a:sym typeface="Arial"/>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1431658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dirty="0"/>
          </a:p>
        </p:txBody>
      </p:sp>
      <p:sp>
        <p:nvSpPr>
          <p:cNvPr id="121" name="Shape 12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250038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15000"/>
              </a:lnSpc>
              <a:spcAft>
                <a:spcPts val="1000"/>
              </a:spcAft>
            </a:pPr>
            <a:r>
              <a:rPr lang="en-AU"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The illustration shows five boxes of decreasing sizes depicted from left to right. The first four boxes list four categories of influencing factors, while the last box is labelled as ‘Buyer’.</a:t>
            </a:r>
            <a:endParaRPr lang="en-NZ" sz="1800" dirty="0">
              <a:effectLst/>
              <a:latin typeface="Calibri" panose="020F0502020204030204" pitchFamily="34" charset="0"/>
              <a:ea typeface="Calibri" panose="020F0502020204030204" pitchFamily="34" charset="0"/>
            </a:endParaRPr>
          </a:p>
          <a:p>
            <a:pPr>
              <a:lnSpc>
                <a:spcPct val="115000"/>
              </a:lnSpc>
              <a:spcAft>
                <a:spcPts val="1000"/>
              </a:spcAft>
            </a:pPr>
            <a:r>
              <a:rPr lang="en-AU"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endParaRPr lang="en-NZ" sz="1800" dirty="0">
              <a:effectLst/>
              <a:latin typeface="Calibri" panose="020F0502020204030204" pitchFamily="34" charset="0"/>
              <a:ea typeface="Calibri" panose="020F0502020204030204" pitchFamily="34" charset="0"/>
            </a:endParaRPr>
          </a:p>
          <a:p>
            <a:pPr>
              <a:lnSpc>
                <a:spcPct val="115000"/>
              </a:lnSpc>
              <a:spcAft>
                <a:spcPts val="1000"/>
              </a:spcAft>
            </a:pPr>
            <a:r>
              <a:rPr lang="en-AU"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The influencing factors are depicted as follows:</a:t>
            </a:r>
            <a:endParaRPr lang="en-NZ" sz="1800" dirty="0">
              <a:effectLst/>
              <a:latin typeface="Calibri" panose="020F0502020204030204" pitchFamily="34" charset="0"/>
              <a:ea typeface="Calibri" panose="020F0502020204030204" pitchFamily="34" charset="0"/>
            </a:endParaRPr>
          </a:p>
          <a:p>
            <a:pPr marL="342900" lvl="0" indent="-342900">
              <a:lnSpc>
                <a:spcPct val="115000"/>
              </a:lnSpc>
              <a:spcBef>
                <a:spcPts val="1500"/>
              </a:spcBef>
              <a:buFont typeface="Symbol" panose="05050102010706020507" pitchFamily="18" charset="2"/>
              <a:buChar char=""/>
            </a:pPr>
            <a:r>
              <a:rPr lang="en-AU"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Cultural: Culture, Subculture and Social class. </a:t>
            </a:r>
            <a:endParaRPr lang="en-NZ" sz="1800" dirty="0">
              <a:effectLst/>
              <a:latin typeface="Calibri" panose="020F0502020204030204" pitchFamily="34" charset="0"/>
              <a:ea typeface="Calibri" panose="020F0502020204030204" pitchFamily="34" charset="0"/>
            </a:endParaRPr>
          </a:p>
          <a:p>
            <a:pPr marL="342900" lvl="0" indent="-342900">
              <a:lnSpc>
                <a:spcPct val="115000"/>
              </a:lnSpc>
              <a:spcBef>
                <a:spcPts val="1500"/>
              </a:spcBef>
              <a:buFont typeface="Symbol" panose="05050102010706020507" pitchFamily="18" charset="2"/>
              <a:buChar char=""/>
            </a:pPr>
            <a:r>
              <a:rPr lang="en-AU"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Social: Groups and social networks, Family, and Roles and status. </a:t>
            </a:r>
            <a:endParaRPr lang="en-NZ" sz="1800" dirty="0">
              <a:effectLst/>
              <a:latin typeface="Calibri" panose="020F0502020204030204" pitchFamily="34" charset="0"/>
              <a:ea typeface="Calibri" panose="020F0502020204030204" pitchFamily="34" charset="0"/>
            </a:endParaRPr>
          </a:p>
          <a:p>
            <a:pPr marL="342900" lvl="0" indent="-342900">
              <a:lnSpc>
                <a:spcPct val="115000"/>
              </a:lnSpc>
              <a:spcBef>
                <a:spcPts val="1500"/>
              </a:spcBef>
              <a:buFont typeface="Symbol" panose="05050102010706020507" pitchFamily="18" charset="2"/>
              <a:buChar char=""/>
            </a:pPr>
            <a:r>
              <a:rPr lang="en-AU"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Personal: Age and life-cycle stage, Occupation, Economic situation, Lifestyle, and Personality and self-concept. </a:t>
            </a:r>
            <a:endParaRPr lang="en-NZ" sz="1800" dirty="0">
              <a:effectLst/>
              <a:latin typeface="Calibri" panose="020F0502020204030204" pitchFamily="34" charset="0"/>
              <a:ea typeface="Calibri" panose="020F0502020204030204" pitchFamily="34" charset="0"/>
            </a:endParaRPr>
          </a:p>
          <a:p>
            <a:pPr marL="342900" lvl="0" indent="-342900">
              <a:lnSpc>
                <a:spcPct val="115000"/>
              </a:lnSpc>
              <a:spcBef>
                <a:spcPts val="1500"/>
              </a:spcBef>
              <a:buFont typeface="Symbol" panose="05050102010706020507" pitchFamily="18" charset="2"/>
              <a:buChar char=""/>
            </a:pPr>
            <a:r>
              <a:rPr lang="en-AU"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Psychological: Motivation, Perception, Learning, and Beliefs and attitudes. </a:t>
            </a:r>
            <a:endParaRPr lang="en-NZ" sz="1800" dirty="0">
              <a:effectLst/>
              <a:latin typeface="Calibri" panose="020F0502020204030204" pitchFamily="34" charset="0"/>
              <a:ea typeface="Calibri" panose="020F0502020204030204" pitchFamily="34"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7993099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dirty="0"/>
          </a:p>
        </p:txBody>
      </p:sp>
      <p:sp>
        <p:nvSpPr>
          <p:cNvPr id="121" name="Shape 12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34657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67E5094C-5D9B-0B60-053E-11BA4BE0D34C}"/>
            </a:ext>
          </a:extLst>
        </p:cNvPr>
        <p:cNvGrpSpPr/>
        <p:nvPr/>
      </p:nvGrpSpPr>
      <p:grpSpPr>
        <a:xfrm>
          <a:off x="0" y="0"/>
          <a:ext cx="0" cy="0"/>
          <a:chOff x="0" y="0"/>
          <a:chExt cx="0" cy="0"/>
        </a:xfrm>
      </p:grpSpPr>
      <p:sp>
        <p:nvSpPr>
          <p:cNvPr id="120" name="Shape 120">
            <a:extLst>
              <a:ext uri="{FF2B5EF4-FFF2-40B4-BE49-F238E27FC236}">
                <a16:creationId xmlns:a16="http://schemas.microsoft.com/office/drawing/2014/main" id="{ABAD5A74-68F3-6B45-5DB2-32C047632960}"/>
              </a:ext>
            </a:extLst>
          </p:cNvPr>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dirty="0"/>
          </a:p>
        </p:txBody>
      </p:sp>
      <p:sp>
        <p:nvSpPr>
          <p:cNvPr id="121" name="Shape 121">
            <a:extLst>
              <a:ext uri="{FF2B5EF4-FFF2-40B4-BE49-F238E27FC236}">
                <a16:creationId xmlns:a16="http://schemas.microsoft.com/office/drawing/2014/main" id="{4A1ED564-A8DC-66E6-3A6A-80DB629737FE}"/>
              </a:ext>
            </a:extLst>
          </p:cNvPr>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559842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8A6F7E19-C10A-7D6F-A1E8-51D2DA6DE17E}"/>
            </a:ext>
          </a:extLst>
        </p:cNvPr>
        <p:cNvGrpSpPr/>
        <p:nvPr/>
      </p:nvGrpSpPr>
      <p:grpSpPr>
        <a:xfrm>
          <a:off x="0" y="0"/>
          <a:ext cx="0" cy="0"/>
          <a:chOff x="0" y="0"/>
          <a:chExt cx="0" cy="0"/>
        </a:xfrm>
      </p:grpSpPr>
      <p:sp>
        <p:nvSpPr>
          <p:cNvPr id="120" name="Shape 120">
            <a:extLst>
              <a:ext uri="{FF2B5EF4-FFF2-40B4-BE49-F238E27FC236}">
                <a16:creationId xmlns:a16="http://schemas.microsoft.com/office/drawing/2014/main" id="{848C7F4E-FDBC-B151-AB68-FAD9DE4621C5}"/>
              </a:ext>
            </a:extLst>
          </p:cNvPr>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dirty="0"/>
          </a:p>
        </p:txBody>
      </p:sp>
      <p:sp>
        <p:nvSpPr>
          <p:cNvPr id="121" name="Shape 121">
            <a:extLst>
              <a:ext uri="{FF2B5EF4-FFF2-40B4-BE49-F238E27FC236}">
                <a16:creationId xmlns:a16="http://schemas.microsoft.com/office/drawing/2014/main" id="{D23C7BDF-8475-1E2E-B743-3250A7E9B0F3}"/>
              </a:ext>
            </a:extLst>
          </p:cNvPr>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639278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dirty="0"/>
          </a:p>
        </p:txBody>
      </p:sp>
      <p:sp>
        <p:nvSpPr>
          <p:cNvPr id="121" name="Shape 12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443234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dirty="0"/>
          </a:p>
        </p:txBody>
      </p:sp>
      <p:sp>
        <p:nvSpPr>
          <p:cNvPr id="121" name="Shape 12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978798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dirty="0"/>
          </a:p>
        </p:txBody>
      </p:sp>
      <p:sp>
        <p:nvSpPr>
          <p:cNvPr id="121" name="Shape 12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527057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dirty="0"/>
          </a:p>
        </p:txBody>
      </p:sp>
      <p:sp>
        <p:nvSpPr>
          <p:cNvPr id="121" name="Shape 12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68862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dirty="0"/>
          </a:p>
        </p:txBody>
      </p:sp>
      <p:sp>
        <p:nvSpPr>
          <p:cNvPr id="121" name="Shape 12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94555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dirty="0"/>
          </a:p>
        </p:txBody>
      </p:sp>
      <p:sp>
        <p:nvSpPr>
          <p:cNvPr id="121" name="Shape 12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742140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15000"/>
              </a:lnSpc>
              <a:spcBef>
                <a:spcPts val="1500"/>
              </a:spcBef>
              <a:spcAft>
                <a:spcPts val="1000"/>
              </a:spcAft>
            </a:pPr>
            <a:r>
              <a:rPr lang="en-AU"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The five needs depicted from bottom to top of the pyramid are as follows:</a:t>
            </a:r>
            <a:endParaRPr lang="en-NZ" sz="1800" dirty="0">
              <a:effectLst/>
              <a:latin typeface="Calibri" panose="020F0502020204030204" pitchFamily="34" charset="0"/>
              <a:ea typeface="Calibri" panose="020F0502020204030204" pitchFamily="34" charset="0"/>
            </a:endParaRPr>
          </a:p>
          <a:p>
            <a:pPr marL="342900" lvl="0" indent="-342900">
              <a:lnSpc>
                <a:spcPct val="115000"/>
              </a:lnSpc>
              <a:spcBef>
                <a:spcPts val="1500"/>
              </a:spcBef>
              <a:buFont typeface="Symbol" panose="05050102010706020507" pitchFamily="18" charset="2"/>
              <a:buChar char=""/>
            </a:pPr>
            <a:r>
              <a:rPr lang="en-AU"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Physiological needs: Hunger, thirst</a:t>
            </a:r>
            <a:endParaRPr lang="en-NZ" sz="1800" dirty="0">
              <a:effectLst/>
              <a:latin typeface="Calibri" panose="020F0502020204030204" pitchFamily="34" charset="0"/>
              <a:ea typeface="Calibri" panose="020F0502020204030204" pitchFamily="34" charset="0"/>
            </a:endParaRPr>
          </a:p>
          <a:p>
            <a:pPr marL="342900" lvl="0" indent="-342900">
              <a:lnSpc>
                <a:spcPct val="115000"/>
              </a:lnSpc>
              <a:spcBef>
                <a:spcPts val="1500"/>
              </a:spcBef>
              <a:buFont typeface="Symbol" panose="05050102010706020507" pitchFamily="18" charset="2"/>
              <a:buChar char=""/>
            </a:pPr>
            <a:r>
              <a:rPr lang="en-AU"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Safety needs: Security, protection</a:t>
            </a:r>
            <a:endParaRPr lang="en-NZ" sz="1800" dirty="0">
              <a:effectLst/>
              <a:latin typeface="Calibri" panose="020F0502020204030204" pitchFamily="34" charset="0"/>
              <a:ea typeface="Calibri" panose="020F0502020204030204" pitchFamily="34" charset="0"/>
            </a:endParaRPr>
          </a:p>
          <a:p>
            <a:pPr marL="342900" lvl="0" indent="-342900">
              <a:lnSpc>
                <a:spcPct val="115000"/>
              </a:lnSpc>
              <a:spcBef>
                <a:spcPts val="1500"/>
              </a:spcBef>
              <a:buFont typeface="Symbol" panose="05050102010706020507" pitchFamily="18" charset="2"/>
              <a:buChar char=""/>
            </a:pPr>
            <a:r>
              <a:rPr lang="en-AU"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Social needs: Sense of belonging, love</a:t>
            </a:r>
            <a:endParaRPr lang="en-NZ" sz="1800" dirty="0">
              <a:effectLst/>
              <a:latin typeface="Calibri" panose="020F0502020204030204" pitchFamily="34" charset="0"/>
              <a:ea typeface="Calibri" panose="020F0502020204030204" pitchFamily="34" charset="0"/>
            </a:endParaRPr>
          </a:p>
          <a:p>
            <a:pPr marL="342900" lvl="0" indent="-342900">
              <a:lnSpc>
                <a:spcPct val="115000"/>
              </a:lnSpc>
              <a:spcBef>
                <a:spcPts val="1500"/>
              </a:spcBef>
              <a:spcAft>
                <a:spcPts val="1000"/>
              </a:spcAft>
              <a:buFont typeface="Symbol" panose="05050102010706020507" pitchFamily="18" charset="2"/>
              <a:buChar char=""/>
            </a:pPr>
            <a:r>
              <a:rPr lang="en-AU"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Esteem needs: Self-esteem, recognition, status</a:t>
            </a:r>
            <a:endParaRPr lang="en-NZ" sz="1800" dirty="0">
              <a:effectLst/>
              <a:latin typeface="Calibri" panose="020F0502020204030204" pitchFamily="34" charset="0"/>
              <a:ea typeface="Calibri" panose="020F0502020204030204" pitchFamily="34" charset="0"/>
            </a:endParaRPr>
          </a:p>
          <a:p>
            <a:pPr marL="342900" marR="0" lvl="0" indent="-342900" algn="l" defTabSz="457200" rtl="0" eaLnBrk="1" latinLnBrk="0" hangingPunct="1">
              <a:lnSpc>
                <a:spcPct val="115000"/>
              </a:lnSpc>
              <a:spcBef>
                <a:spcPts val="1500"/>
              </a:spcBef>
              <a:spcAft>
                <a:spcPts val="1000"/>
              </a:spcAft>
              <a:buFont typeface="Symbol" panose="05050102010706020507" pitchFamily="18" charset="2"/>
              <a:buChar char=""/>
            </a:pPr>
            <a:r>
              <a:rPr lang="en-AU" sz="1800" b="0" i="0" u="none" strike="noStrike" kern="1200" cap="none"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sym typeface="Arial"/>
              </a:rPr>
              <a:t>Self-actualisation needs: Self-development and realisation</a:t>
            </a:r>
            <a:endParaRPr lang="en-NZ" sz="1800" b="0" i="0" u="none" strike="noStrike" kern="1200" cap="none" dirty="0">
              <a:solidFill>
                <a:srgbClr val="000000"/>
              </a:solidFill>
              <a:effectLst/>
              <a:latin typeface="Calibri" panose="020F0502020204030204" pitchFamily="34" charset="0"/>
              <a:cs typeface="Calibri" panose="020F0502020204030204" pitchFamily="34" charset="0"/>
              <a:sym typeface="Arial"/>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6048515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dirty="0"/>
          </a:p>
        </p:txBody>
      </p:sp>
      <p:sp>
        <p:nvSpPr>
          <p:cNvPr id="121" name="Shape 12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412624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dirty="0"/>
          </a:p>
        </p:txBody>
      </p:sp>
      <p:sp>
        <p:nvSpPr>
          <p:cNvPr id="121" name="Shape 12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046433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CD495A2-D953-43A2-9F6D-6C328EAB6007}" type="slidenum">
              <a:rPr lang="en-AU" altLang="en-US"/>
              <a:t>21</a:t>
            </a:fld>
            <a:endParaRPr lang="en-AU" altLang="en-US"/>
          </a:p>
        </p:txBody>
      </p:sp>
      <p:sp>
        <p:nvSpPr>
          <p:cNvPr id="46083" name="Rectangle 2"/>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608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US" altLang="en-US"/>
          </a:p>
        </p:txBody>
      </p:sp>
    </p:spTree>
    <p:extLst>
      <p:ext uri="{BB962C8B-B14F-4D97-AF65-F5344CB8AC3E}">
        <p14:creationId xmlns:p14="http://schemas.microsoft.com/office/powerpoint/2010/main" val="16999800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dirty="0"/>
          </a:p>
        </p:txBody>
      </p:sp>
      <p:sp>
        <p:nvSpPr>
          <p:cNvPr id="121" name="Shape 12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0849132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dirty="0"/>
          </a:p>
        </p:txBody>
      </p:sp>
      <p:sp>
        <p:nvSpPr>
          <p:cNvPr id="121" name="Shape 12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447756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dirty="0"/>
          </a:p>
        </p:txBody>
      </p:sp>
      <p:sp>
        <p:nvSpPr>
          <p:cNvPr id="121" name="Shape 12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43220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dirty="0"/>
          </a:p>
        </p:txBody>
      </p:sp>
      <p:sp>
        <p:nvSpPr>
          <p:cNvPr id="121" name="Shape 12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8948784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dirty="0"/>
          </a:p>
        </p:txBody>
      </p:sp>
      <p:sp>
        <p:nvSpPr>
          <p:cNvPr id="121" name="Shape 12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672060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editable copyright line">
    <p:spTree>
      <p:nvGrpSpPr>
        <p:cNvPr id="1" name="Shape 17"/>
        <p:cNvGrpSpPr/>
        <p:nvPr/>
      </p:nvGrpSpPr>
      <p:grpSpPr>
        <a:xfrm>
          <a:off x="0" y="0"/>
          <a:ext cx="0" cy="0"/>
          <a:chOff x="0" y="0"/>
          <a:chExt cx="0" cy="0"/>
        </a:xfrm>
      </p:grpSpPr>
      <p:sp>
        <p:nvSpPr>
          <p:cNvPr id="18" name="Background"/>
          <p:cNvSpPr/>
          <p:nvPr/>
        </p:nvSpPr>
        <p:spPr>
          <a:xfrm>
            <a:off x="0" y="-9525"/>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1"/>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Subtitle"/>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1" name="Footer"/>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100" b="0" i="0" u="none" strike="noStrike" kern="0" cap="none" spc="0" normalizeH="0" baseline="0" noProof="0" dirty="0">
              <a:ln>
                <a:noFill/>
              </a:ln>
              <a:solidFill>
                <a:srgbClr val="000000"/>
              </a:solidFill>
              <a:effectLst/>
              <a:uLnTx/>
              <a:uFillTx/>
              <a:latin typeface="Arial"/>
              <a:cs typeface="Arial"/>
              <a:sym typeface="Arial"/>
            </a:endParaRPr>
          </a:p>
        </p:txBody>
      </p:sp>
      <p:sp>
        <p:nvSpPr>
          <p:cNvPr id="3" name="Copyright line">
            <a:extLst>
              <a:ext uri="{FF2B5EF4-FFF2-40B4-BE49-F238E27FC236}">
                <a16:creationId xmlns:a16="http://schemas.microsoft.com/office/drawing/2014/main" id="{0291B9DA-1DAD-4AB4-94B2-688DFC8B093A}"/>
              </a:ext>
            </a:extLst>
          </p:cNvPr>
          <p:cNvSpPr>
            <a:spLocks noGrp="1"/>
          </p:cNvSpPr>
          <p:nvPr>
            <p:ph type="body" sz="quarter" idx="13"/>
          </p:nvPr>
        </p:nvSpPr>
        <p:spPr>
          <a:xfrm>
            <a:off x="1494693" y="6407662"/>
            <a:ext cx="7194635" cy="334534"/>
          </a:xfrm>
        </p:spPr>
        <p:txBody>
          <a:bodyPr/>
          <a:lstStyle>
            <a:lvl1pPr marL="101600" indent="0" algn="r">
              <a:buNone/>
              <a:defRPr sz="1200">
                <a:latin typeface="Verdana" panose="020B0604030504040204" pitchFamily="34" charset="0"/>
                <a:ea typeface="Verdana" panose="020B0604030504040204" pitchFamily="34" charset="0"/>
                <a:cs typeface="Verdana" panose="020B0604030504040204" pitchFamily="34" charset="0"/>
              </a:defRPr>
            </a:lvl1pPr>
            <a:lvl2pPr>
              <a:defRPr sz="1200">
                <a:latin typeface="Verdana" panose="020B0604030504040204" pitchFamily="34" charset="0"/>
                <a:ea typeface="Verdana" panose="020B0604030504040204" pitchFamily="34" charset="0"/>
                <a:cs typeface="Verdana" panose="020B0604030504040204" pitchFamily="34" charset="0"/>
              </a:defRPr>
            </a:lvl2pPr>
            <a:lvl3pPr>
              <a:defRPr sz="1200">
                <a:latin typeface="Verdana" panose="020B0604030504040204" pitchFamily="34" charset="0"/>
                <a:ea typeface="Verdana" panose="020B0604030504040204" pitchFamily="34" charset="0"/>
                <a:cs typeface="Verdana" panose="020B0604030504040204" pitchFamily="34" charset="0"/>
              </a:defRPr>
            </a:lvl3pPr>
            <a:lvl4pPr>
              <a:defRPr sz="1200">
                <a:latin typeface="Verdana" panose="020B0604030504040204" pitchFamily="34" charset="0"/>
                <a:ea typeface="Verdana" panose="020B0604030504040204" pitchFamily="34" charset="0"/>
                <a:cs typeface="Verdana" panose="020B0604030504040204" pitchFamily="34" charset="0"/>
              </a:defRPr>
            </a:lvl4pPr>
            <a:lvl5pPr>
              <a:defRPr sz="1200">
                <a:latin typeface="Verdana" panose="020B0604030504040204" pitchFamily="34" charset="0"/>
                <a:ea typeface="Verdana" panose="020B0604030504040204" pitchFamily="34" charset="0"/>
                <a:cs typeface="Verdana" panose="020B0604030504040204" pitchFamily="34" charset="0"/>
              </a:defRPr>
            </a:lvl5pPr>
          </a:lstStyle>
          <a:p>
            <a:pPr lvl="0"/>
            <a:endParaRPr lang="en-US" dirty="0"/>
          </a:p>
        </p:txBody>
      </p:sp>
      <p:sp>
        <p:nvSpPr>
          <p:cNvPr id="22" name="Date"/>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lide #"/>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3401267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hapter Opener editable copyright line">
    <p:spTree>
      <p:nvGrpSpPr>
        <p:cNvPr id="1" name="Shape 37"/>
        <p:cNvGrpSpPr/>
        <p:nvPr/>
      </p:nvGrpSpPr>
      <p:grpSpPr>
        <a:xfrm>
          <a:off x="0" y="0"/>
          <a:ext cx="0" cy="0"/>
          <a:chOff x="0" y="0"/>
          <a:chExt cx="0" cy="0"/>
        </a:xfrm>
      </p:grpSpPr>
      <p:sp>
        <p:nvSpPr>
          <p:cNvPr id="38" name="Title"/>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Subtitle"/>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0" name="Chapter Number"/>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dirty="0"/>
          </a:p>
        </p:txBody>
      </p:sp>
      <p:sp>
        <p:nvSpPr>
          <p:cNvPr id="41" name="Chapter title"/>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dirty="0"/>
          </a:p>
        </p:txBody>
      </p:sp>
      <p:sp>
        <p:nvSpPr>
          <p:cNvPr id="3" name="Book cover">
            <a:extLst>
              <a:ext uri="{FF2B5EF4-FFF2-40B4-BE49-F238E27FC236}">
                <a16:creationId xmlns:a16="http://schemas.microsoft.com/office/drawing/2014/main" id="{0321E090-1CF7-424F-AB1C-A74C4C5178D1}"/>
              </a:ext>
            </a:extLst>
          </p:cNvPr>
          <p:cNvSpPr>
            <a:spLocks noGrp="1"/>
          </p:cNvSpPr>
          <p:nvPr>
            <p:ph type="pic" sz="quarter" idx="13"/>
          </p:nvPr>
        </p:nvSpPr>
        <p:spPr>
          <a:xfrm>
            <a:off x="457200" y="1600200"/>
            <a:ext cx="4360863" cy="4565650"/>
          </a:xfrm>
        </p:spPr>
        <p:txBody>
          <a:bodyPr/>
          <a:lstStyle/>
          <a:p>
            <a:endParaRPr lang="en-US" dirty="0"/>
          </a:p>
        </p:txBody>
      </p:sp>
      <p:sp>
        <p:nvSpPr>
          <p:cNvPr id="9" name="Copyright line"/>
          <p:cNvSpPr>
            <a:spLocks noGrp="1"/>
          </p:cNvSpPr>
          <p:nvPr>
            <p:ph type="body" sz="quarter" idx="17" hasCustomPrompt="1"/>
          </p:nvPr>
        </p:nvSpPr>
        <p:spPr>
          <a:xfrm>
            <a:off x="1452563" y="6165850"/>
            <a:ext cx="7234237" cy="509704"/>
          </a:xfrm>
        </p:spPr>
        <p:txBody>
          <a:bodyPr vert="horz"/>
          <a:lstStyle>
            <a:lvl1pPr marL="101600" indent="0" algn="r">
              <a:buNone/>
              <a:defRPr sz="1200">
                <a:latin typeface="Verdana"/>
                <a:cs typeface="Verdana"/>
              </a:defRPr>
            </a:lvl1pPr>
          </a:lstStyle>
          <a:p>
            <a:pPr marL="0" lvl="0">
              <a:spcBef>
                <a:spcPts val="0"/>
              </a:spcBef>
              <a:buClr>
                <a:schemeClr val="lt2"/>
              </a:buClr>
            </a:pPr>
            <a:r>
              <a:rPr lang="en-AU" dirty="0">
                <a:solidFill>
                  <a:schemeClr val="tx1"/>
                </a:solidFill>
                <a:ea typeface="Open Sans"/>
                <a:sym typeface="Open Sans"/>
              </a:rPr>
              <a:t>Copyright © 2021 Pearson Australia (a division of Pearson Australia Group Pty Ltd)</a:t>
            </a:r>
          </a:p>
          <a:p>
            <a:pPr marL="0" lvl="0">
              <a:spcBef>
                <a:spcPts val="0"/>
              </a:spcBef>
              <a:buClr>
                <a:schemeClr val="lt2"/>
              </a:buClr>
            </a:pPr>
            <a:r>
              <a:rPr lang="en-AU" dirty="0">
                <a:solidFill>
                  <a:schemeClr val="tx1"/>
                </a:solidFill>
                <a:ea typeface="Open Sans"/>
                <a:sym typeface="Open Sans"/>
              </a:rPr>
              <a:t>9781488626203/Armstrong/Principles of Marketing, 8e</a:t>
            </a:r>
            <a:endParaRPr lang="en-AU" dirty="0">
              <a:solidFill>
                <a:schemeClr val="tx1"/>
              </a:solidFill>
            </a:endParaRPr>
          </a:p>
          <a:p>
            <a:pPr lvl="0"/>
            <a:endParaRPr lang="en-US" dirty="0"/>
          </a:p>
        </p:txBody>
      </p:sp>
      <p:sp>
        <p:nvSpPr>
          <p:cNvPr id="4" name="Date"/>
          <p:cNvSpPr>
            <a:spLocks noGrp="1"/>
          </p:cNvSpPr>
          <p:nvPr>
            <p:ph type="dt" idx="14"/>
          </p:nvPr>
        </p:nvSpPr>
        <p:spPr/>
        <p:txBody>
          <a:bodyPr/>
          <a:lstStyle/>
          <a:p>
            <a:endParaRPr lang="en-US" dirty="0"/>
          </a:p>
        </p:txBody>
      </p:sp>
      <p:sp>
        <p:nvSpPr>
          <p:cNvPr id="6" name="Slide Number"/>
          <p:cNvSpPr>
            <a:spLocks noGrp="1"/>
          </p:cNvSpPr>
          <p:nvPr>
            <p:ph type="sldNum" idx="16"/>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955586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Shape 24"/>
        <p:cNvGrpSpPr/>
        <p:nvPr/>
      </p:nvGrpSpPr>
      <p:grpSpPr>
        <a:xfrm>
          <a:off x="0" y="0"/>
          <a:ext cx="0" cy="0"/>
          <a:chOff x="0" y="0"/>
          <a:chExt cx="0" cy="0"/>
        </a:xfrm>
      </p:grpSpPr>
      <p:sp>
        <p:nvSpPr>
          <p:cNvPr id="25" name="Title"/>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a:extLst>
              <a:ext uri="{FF2B5EF4-FFF2-40B4-BE49-F238E27FC236}">
                <a16:creationId xmlns:a16="http://schemas.microsoft.com/office/drawing/2014/main" id="{00F45AE3-EB76-41DE-97B2-CFE79B73D3C6}"/>
              </a:ext>
            </a:extLst>
          </p:cNvPr>
          <p:cNvSpPr>
            <a:spLocks noGrp="1"/>
          </p:cNvSpPr>
          <p:nvPr>
            <p:ph sz="quarter" idx="13" hasCustomPrompt="1"/>
          </p:nvPr>
        </p:nvSpPr>
        <p:spPr>
          <a:xfrm>
            <a:off x="457200" y="1441450"/>
            <a:ext cx="8232775" cy="4598988"/>
          </a:xfrm>
        </p:spPr>
        <p:txBody>
          <a:bodyPr/>
          <a:lstStyle>
            <a:lvl1pPr marL="1588" indent="0">
              <a:buNone/>
              <a:defRPr sz="2400"/>
            </a:lvl1pPr>
          </a:lstStyle>
          <a:p>
            <a:pPr lvl="0"/>
            <a:r>
              <a:rPr lang="en-US" dirty="0"/>
              <a:t>Edit Master text styles</a:t>
            </a:r>
          </a:p>
        </p:txBody>
      </p:sp>
      <p:sp>
        <p:nvSpPr>
          <p:cNvPr id="27" name="Footer"/>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28" name="Date"/>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29" name="Slide numbe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9450342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Shape 24"/>
        <p:cNvGrpSpPr/>
        <p:nvPr/>
      </p:nvGrpSpPr>
      <p:grpSpPr>
        <a:xfrm>
          <a:off x="0" y="0"/>
          <a:ext cx="0" cy="0"/>
          <a:chOff x="0" y="0"/>
          <a:chExt cx="0" cy="0"/>
        </a:xfrm>
      </p:grpSpPr>
      <p:sp>
        <p:nvSpPr>
          <p:cNvPr id="25" name="Title"/>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a:extLst>
              <a:ext uri="{FF2B5EF4-FFF2-40B4-BE49-F238E27FC236}">
                <a16:creationId xmlns:a16="http://schemas.microsoft.com/office/drawing/2014/main" id="{00F45AE3-EB76-41DE-97B2-CFE79B73D3C6}"/>
              </a:ext>
            </a:extLst>
          </p:cNvPr>
          <p:cNvSpPr>
            <a:spLocks noGrp="1"/>
          </p:cNvSpPr>
          <p:nvPr>
            <p:ph sz="quarter" idx="13"/>
          </p:nvPr>
        </p:nvSpPr>
        <p:spPr>
          <a:xfrm>
            <a:off x="457200" y="1441450"/>
            <a:ext cx="8232775" cy="4598988"/>
          </a:xfrm>
        </p:spPr>
        <p:txBody>
          <a:bodyPr/>
          <a:lstStyle>
            <a:lvl1pPr marL="360363" indent="-258763">
              <a:defRPr sz="2400"/>
            </a:lvl1pPr>
            <a:lvl2pPr marL="809625" indent="-250825">
              <a:defRPr sz="2400"/>
            </a:lvl2pPr>
            <a:lvl3pPr marL="1260475" indent="-244475">
              <a:defRPr sz="2000"/>
            </a:lvl3pPr>
            <a:lvl4pPr marL="1700213" indent="-227013">
              <a:defRPr sz="2000"/>
            </a:lvl4pPr>
            <a:lvl5pPr marL="2149475" indent="-219075">
              <a:defRPr sz="16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Shape 17"/>
        <p:cNvGrpSpPr/>
        <p:nvPr/>
      </p:nvGrpSpPr>
      <p:grpSpPr>
        <a:xfrm>
          <a:off x="0" y="0"/>
          <a:ext cx="0" cy="0"/>
          <a:chOff x="0" y="0"/>
          <a:chExt cx="0" cy="0"/>
        </a:xfrm>
      </p:grpSpPr>
      <p:sp>
        <p:nvSpPr>
          <p:cNvPr id="18" name="Background"/>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Subtitle"/>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1" name="Footer"/>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100" b="0" i="0" u="none" strike="noStrike" kern="0" cap="none" spc="0" normalizeH="0" baseline="0" noProof="0" dirty="0">
              <a:ln>
                <a:noFill/>
              </a:ln>
              <a:solidFill>
                <a:srgbClr val="000000"/>
              </a:solidFill>
              <a:effectLst/>
              <a:uLnTx/>
              <a:uFillTx/>
              <a:latin typeface="Arial"/>
              <a:cs typeface="Arial"/>
              <a:sym typeface="Arial"/>
            </a:endParaRPr>
          </a:p>
        </p:txBody>
      </p:sp>
      <p:sp>
        <p:nvSpPr>
          <p:cNvPr id="22" name="Date"/>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lide numbe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42159409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Figure number"/>
          <p:cNvSpPr txBox="1">
            <a:spLocks noGrp="1"/>
          </p:cNvSpPr>
          <p:nvPr>
            <p:ph type="title" hasCustomPrompt="1"/>
          </p:nvPr>
        </p:nvSpPr>
        <p:spPr>
          <a:xfrm>
            <a:off x="457200" y="228600"/>
            <a:ext cx="8229600" cy="672657"/>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a:t>
            </a:r>
            <a:endParaRPr dirty="0"/>
          </a:p>
        </p:txBody>
      </p:sp>
      <p:sp>
        <p:nvSpPr>
          <p:cNvPr id="4" name="Figure title"/>
          <p:cNvSpPr>
            <a:spLocks noGrp="1"/>
          </p:cNvSpPr>
          <p:nvPr>
            <p:ph type="body" sz="quarter" idx="14" hasCustomPrompt="1"/>
          </p:nvPr>
        </p:nvSpPr>
        <p:spPr>
          <a:xfrm>
            <a:off x="457200" y="901257"/>
            <a:ext cx="8232775" cy="611631"/>
          </a:xfrm>
        </p:spPr>
        <p:txBody>
          <a:bodyPr vert="horz"/>
          <a:lstStyle>
            <a:lvl1pPr marL="0" indent="0">
              <a:buNone/>
              <a:defRPr sz="2400" b="1">
                <a:solidFill>
                  <a:srgbClr val="007FA3"/>
                </a:solidFill>
              </a:defRPr>
            </a:lvl1pPr>
          </a:lstStyle>
          <a:p>
            <a:pPr lvl="0"/>
            <a:r>
              <a:rPr lang="en-AU" dirty="0"/>
              <a:t>Click to add figure title</a:t>
            </a:r>
          </a:p>
        </p:txBody>
      </p:sp>
      <p:sp>
        <p:nvSpPr>
          <p:cNvPr id="3" name="Picture placeholder">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12888"/>
            <a:ext cx="8232775" cy="3720546"/>
          </a:xfrm>
        </p:spPr>
        <p:txBody>
          <a:bodyPr/>
          <a:lstStyle/>
          <a:p>
            <a:endParaRPr lang="en-US" dirty="0"/>
          </a:p>
        </p:txBody>
      </p:sp>
      <p:sp>
        <p:nvSpPr>
          <p:cNvPr id="55" name="Figure caption"/>
          <p:cNvSpPr txBox="1">
            <a:spLocks noGrp="1"/>
          </p:cNvSpPr>
          <p:nvPr>
            <p:ph type="body" idx="1" hasCustomPrompt="1"/>
          </p:nvPr>
        </p:nvSpPr>
        <p:spPr>
          <a:xfrm>
            <a:off x="457200" y="5233434"/>
            <a:ext cx="8229600" cy="835904"/>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6" name="Footer"/>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7" name="Date"/>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lide numbe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Figure + Caption Layout">
    <p:spTree>
      <p:nvGrpSpPr>
        <p:cNvPr id="1" name=""/>
        <p:cNvGrpSpPr/>
        <p:nvPr/>
      </p:nvGrpSpPr>
      <p:grpSpPr>
        <a:xfrm>
          <a:off x="0" y="0"/>
          <a:ext cx="0" cy="0"/>
          <a:chOff x="0" y="0"/>
          <a:chExt cx="0" cy="0"/>
        </a:xfrm>
      </p:grpSpPr>
      <p:sp>
        <p:nvSpPr>
          <p:cNvPr id="2" name="Figure number and title">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a:extLst>
              <a:ext uri="{FF2B5EF4-FFF2-40B4-BE49-F238E27FC236}">
                <a16:creationId xmlns:a16="http://schemas.microsoft.com/office/drawing/2014/main" id="{9E6B7D3D-89C9-4133-8D8A-D779EB3D311D}"/>
              </a:ext>
            </a:extLst>
          </p:cNvPr>
          <p:cNvSpPr>
            <a:spLocks noGrp="1"/>
          </p:cNvSpPr>
          <p:nvPr>
            <p:ph sz="quarter" idx="13"/>
          </p:nvPr>
        </p:nvSpPr>
        <p:spPr>
          <a:xfrm>
            <a:off x="457200" y="1481138"/>
            <a:ext cx="4484688" cy="4408487"/>
          </a:xfrm>
        </p:spPr>
        <p:txBody>
          <a:bodyPr/>
          <a:lstStyle/>
          <a:p>
            <a:pPr lvl="0"/>
            <a:r>
              <a:rPr lang="en-US" dirty="0"/>
              <a:t>Edit Master text styles</a:t>
            </a:r>
          </a:p>
        </p:txBody>
      </p:sp>
      <p:sp>
        <p:nvSpPr>
          <p:cNvPr id="9" name="Picture Placeholder">
            <a:extLst>
              <a:ext uri="{FF2B5EF4-FFF2-40B4-BE49-F238E27FC236}">
                <a16:creationId xmlns:a16="http://schemas.microsoft.com/office/drawing/2014/main" id="{F95A3C12-C176-4C2E-9820-6A6035C43AF5}"/>
              </a:ext>
            </a:extLst>
          </p:cNvPr>
          <p:cNvSpPr>
            <a:spLocks noGrp="1"/>
          </p:cNvSpPr>
          <p:nvPr>
            <p:ph type="pic" sz="quarter" idx="14"/>
          </p:nvPr>
        </p:nvSpPr>
        <p:spPr>
          <a:xfrm>
            <a:off x="5192713" y="1481138"/>
            <a:ext cx="3592512" cy="3754437"/>
          </a:xfrm>
        </p:spPr>
        <p:txBody>
          <a:bodyPr/>
          <a:lstStyle/>
          <a:p>
            <a:endParaRPr lang="en-US" dirty="0"/>
          </a:p>
        </p:txBody>
      </p:sp>
      <p:sp>
        <p:nvSpPr>
          <p:cNvPr id="11" name="Caption">
            <a:extLst>
              <a:ext uri="{FF2B5EF4-FFF2-40B4-BE49-F238E27FC236}">
                <a16:creationId xmlns:a16="http://schemas.microsoft.com/office/drawing/2014/main" id="{F059F1CC-D06F-4B10-B166-6D6F2C786A37}"/>
              </a:ext>
            </a:extLst>
          </p:cNvPr>
          <p:cNvSpPr>
            <a:spLocks noGrp="1"/>
          </p:cNvSpPr>
          <p:nvPr>
            <p:ph type="body" sz="quarter" idx="15" hasCustomPrompt="1"/>
          </p:nvPr>
        </p:nvSpPr>
        <p:spPr>
          <a:xfrm>
            <a:off x="5192713" y="5399088"/>
            <a:ext cx="3592512" cy="490537"/>
          </a:xfrm>
        </p:spPr>
        <p:txBody>
          <a:bodyPr/>
          <a:lstStyle>
            <a:lvl1pPr marL="101600" indent="0">
              <a:buNone/>
              <a:defRPr sz="1200"/>
            </a:lvl1pPr>
          </a:lstStyle>
          <a:p>
            <a:pPr lvl="0"/>
            <a:r>
              <a:rPr lang="en-US" dirty="0"/>
              <a:t>Caption</a:t>
            </a:r>
          </a:p>
        </p:txBody>
      </p:sp>
      <p:sp>
        <p:nvSpPr>
          <p:cNvPr id="5" name="Footer">
            <a:extLst>
              <a:ext uri="{FF2B5EF4-FFF2-40B4-BE49-F238E27FC236}">
                <a16:creationId xmlns:a16="http://schemas.microsoft.com/office/drawing/2014/main" id="{A6FA6EBD-95B8-4957-AE05-FC01EF65059B}"/>
              </a:ext>
            </a:extLst>
          </p:cNvPr>
          <p:cNvSpPr>
            <a:spLocks noGrp="1"/>
          </p:cNvSpPr>
          <p:nvPr>
            <p:ph type="ftr" sz="quarter" idx="12"/>
          </p:nvPr>
        </p:nvSpPr>
        <p:spPr/>
        <p:txBody>
          <a:bodyPr/>
          <a:lstStyle/>
          <a:p>
            <a:endParaRPr lang="en-US" dirty="0"/>
          </a:p>
        </p:txBody>
      </p:sp>
      <p:sp>
        <p:nvSpPr>
          <p:cNvPr id="3" name="Date">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Section title"/>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Tex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1" name="Footer"/>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2" name="Date"/>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3" name="Slide numbe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Title Only">
    <p:spTree>
      <p:nvGrpSpPr>
        <p:cNvPr id="1" name="Shape 74"/>
        <p:cNvGrpSpPr/>
        <p:nvPr/>
      </p:nvGrpSpPr>
      <p:grpSpPr>
        <a:xfrm>
          <a:off x="0" y="0"/>
          <a:ext cx="0" cy="0"/>
          <a:chOff x="0" y="0"/>
          <a:chExt cx="0" cy="0"/>
        </a:xfrm>
      </p:grpSpPr>
      <p:sp>
        <p:nvSpPr>
          <p:cNvPr id="75" name="Title"/>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76" name="Footer"/>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7" name="Date"/>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8" name="Slide numbe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065091D3-E16C-46AB-9A90-0F52CA812534}"/>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957388"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22325" y="2643044"/>
            <a:ext cx="1957388"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22325" y="3613151"/>
            <a:ext cx="1957388"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6729412" y="1681163"/>
            <a:ext cx="1957388"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6729413" y="2651910"/>
            <a:ext cx="1957387"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6729413" y="3613151"/>
            <a:ext cx="1957387" cy="627063"/>
          </a:xfrm>
        </p:spPr>
        <p:txBody>
          <a:bodyPr/>
          <a:lstStyle>
            <a:lvl1pPr marL="101600" indent="0">
              <a:buNone/>
              <a:defRPr/>
            </a:lvl1pPr>
          </a:lstStyle>
          <a:p>
            <a:pPr lvl="0"/>
            <a:r>
              <a:rPr lang="en-US" dirty="0"/>
              <a:t>Label 6</a:t>
            </a:r>
          </a:p>
        </p:txBody>
      </p:sp>
      <p:sp>
        <p:nvSpPr>
          <p:cNvPr id="5" name="Footer">
            <a:extLst>
              <a:ext uri="{FF2B5EF4-FFF2-40B4-BE49-F238E27FC236}">
                <a16:creationId xmlns:a16="http://schemas.microsoft.com/office/drawing/2014/main" id="{237B7866-709E-4B26-BCD7-5CF284C134CA}"/>
              </a:ext>
            </a:extLst>
          </p:cNvPr>
          <p:cNvSpPr>
            <a:spLocks noGrp="1"/>
          </p:cNvSpPr>
          <p:nvPr>
            <p:ph type="ftr" sz="quarter" idx="12"/>
          </p:nvPr>
        </p:nvSpPr>
        <p:spPr/>
        <p:txBody>
          <a:bodyPr/>
          <a:lstStyle/>
          <a:p>
            <a:endParaRPr lang="en-US" dirty="0"/>
          </a:p>
        </p:txBody>
      </p:sp>
      <p:sp>
        <p:nvSpPr>
          <p:cNvPr id="3" name="Date">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p>
        </p:txBody>
      </p:sp>
      <p:sp>
        <p:nvSpPr>
          <p:cNvPr id="4" name="Slide number">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5" name="Footer">
            <a:extLst>
              <a:ext uri="{FF2B5EF4-FFF2-40B4-BE49-F238E27FC236}">
                <a16:creationId xmlns:a16="http://schemas.microsoft.com/office/drawing/2014/main" id="{E2476705-5AD3-4E05-9DCF-CA01EBF96B12}"/>
              </a:ext>
            </a:extLst>
          </p:cNvPr>
          <p:cNvSpPr>
            <a:spLocks noGrp="1"/>
          </p:cNvSpPr>
          <p:nvPr>
            <p:ph type="ftr" sz="quarter" idx="12"/>
          </p:nvPr>
        </p:nvSpPr>
        <p:spPr/>
        <p:txBody>
          <a:bodyPr/>
          <a:lstStyle/>
          <a:p>
            <a:endParaRPr lang="en-US" dirty="0"/>
          </a:p>
        </p:txBody>
      </p:sp>
      <p:sp>
        <p:nvSpPr>
          <p:cNvPr id="3" name="Date">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p>
        </p:txBody>
      </p:sp>
      <p:sp>
        <p:nvSpPr>
          <p:cNvPr id="4" name="Slide number">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Blank">
    <p:spTree>
      <p:nvGrpSpPr>
        <p:cNvPr id="1" name="Shape 79"/>
        <p:cNvGrpSpPr/>
        <p:nvPr/>
      </p:nvGrpSpPr>
      <p:grpSpPr>
        <a:xfrm>
          <a:off x="0" y="0"/>
          <a:ext cx="0" cy="0"/>
          <a:chOff x="0" y="0"/>
          <a:chExt cx="0" cy="0"/>
        </a:xfrm>
      </p:grpSpPr>
      <p:sp>
        <p:nvSpPr>
          <p:cNvPr id="80" name="Footer"/>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1" name="Date"/>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2" name="Slide numbe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91890" y="0"/>
            <a:ext cx="8373208" cy="552892"/>
          </a:xfrm>
        </p:spPr>
        <p:txBody>
          <a:bodyPr/>
          <a:lstStyle>
            <a:lvl1pPr>
              <a:defRPr baseline="0">
                <a:solidFill>
                  <a:srgbClr val="C00000"/>
                </a:solidFill>
              </a:defRPr>
            </a:lvl1pPr>
          </a:lstStyle>
          <a:p>
            <a:r>
              <a:rPr lang="en-US" dirty="0"/>
              <a:t> Click to edit Master title style</a:t>
            </a:r>
            <a:endParaRPr lang="en-GB" dirty="0"/>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255569290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image" Target="../media/image1.png"/><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pic>
        <p:nvPicPr>
          <p:cNvPr id="15" name="Shape 15" descr="Pearson Logo"/>
          <p:cNvPicPr preferRelativeResize="0"/>
          <p:nvPr/>
        </p:nvPicPr>
        <p:blipFill rotWithShape="1">
          <a:blip r:embed="rId4">
            <a:alphaModFix/>
          </a:blip>
          <a:srcRect/>
          <a:stretch/>
        </p:blipFill>
        <p:spPr>
          <a:xfrm>
            <a:off x="443972" y="6429709"/>
            <a:ext cx="917999" cy="279914"/>
          </a:xfrm>
          <a:prstGeom prst="rect">
            <a:avLst/>
          </a:prstGeom>
          <a:noFill/>
          <a:ln>
            <a:noFill/>
          </a:ln>
        </p:spPr>
      </p:pic>
      <p:sp>
        <p:nvSpPr>
          <p:cNvPr id="16" name="Shape 16"/>
          <p:cNvSpPr txBox="1"/>
          <p:nvPr/>
        </p:nvSpPr>
        <p:spPr>
          <a:xfrm>
            <a:off x="1524001" y="6229160"/>
            <a:ext cx="7162799" cy="428656"/>
          </a:xfrm>
          <a:prstGeom prst="rect">
            <a:avLst/>
          </a:prstGeom>
          <a:noFill/>
          <a:ln>
            <a:noFill/>
          </a:ln>
        </p:spPr>
        <p:txBody>
          <a:bodyPr lIns="91425" tIns="45700" rIns="91425" bIns="45700" anchor="t" anchorCtr="0">
            <a:noAutofit/>
          </a:bodyPr>
          <a:lstStyle/>
          <a:p>
            <a:pPr marL="0" lvl="0" algn="r">
              <a:spcBef>
                <a:spcPts val="0"/>
              </a:spcBef>
              <a:buClr>
                <a:schemeClr val="lt2"/>
              </a:buClr>
            </a:pPr>
            <a:endParaRPr lang="en-AU" sz="1200" b="0" i="0" u="none" strike="noStrike" cap="none" dirty="0">
              <a:solidFill>
                <a:schemeClr val="tx1"/>
              </a:solidFill>
              <a:latin typeface="Verdana"/>
              <a:ea typeface="Arial"/>
              <a:cs typeface="Verdana"/>
              <a:sym typeface="Arial"/>
            </a:endParaRPr>
          </a:p>
        </p:txBody>
      </p:sp>
      <p:sp>
        <p:nvSpPr>
          <p:cNvPr id="2" name="Footer Placeholder 1">
            <a:extLst>
              <a:ext uri="{FF2B5EF4-FFF2-40B4-BE49-F238E27FC236}">
                <a16:creationId xmlns:a16="http://schemas.microsoft.com/office/drawing/2014/main" id="{7B8A108E-B0AF-4869-B5B8-3D3BB7BC725E}"/>
              </a:ext>
            </a:extLst>
          </p:cNvPr>
          <p:cNvSpPr>
            <a:spLocks noGrp="1"/>
          </p:cNvSpPr>
          <p:nvPr>
            <p:ph type="ftr" sz="quarter" idx="3"/>
          </p:nvPr>
        </p:nvSpPr>
        <p:spPr>
          <a:xfrm>
            <a:off x="457200" y="6028611"/>
            <a:ext cx="8229600" cy="200549"/>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Tree>
    <p:extLst>
      <p:ext uri="{BB962C8B-B14F-4D97-AF65-F5344CB8AC3E}">
        <p14:creationId xmlns:p14="http://schemas.microsoft.com/office/powerpoint/2010/main" val="1524916008"/>
      </p:ext>
    </p:extLst>
  </p:cSld>
  <p:clrMap bg1="lt1" tx1="dk1" bg2="dk2" tx2="lt2" accent1="accent1" accent2="accent2" accent3="accent3" accent4="accent4" accent5="accent5" accent6="accent6" hlink="hlink" folHlink="folHlink"/>
  <p:sldLayoutIdLst>
    <p:sldLayoutId id="2147483688" r:id="rId1"/>
    <p:sldLayoutId id="2147483687"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Text box"/>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Date"/>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lide numbe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pic>
        <p:nvPicPr>
          <p:cNvPr id="15" name="Pearson logo" descr="Pearson Logo"/>
          <p:cNvPicPr preferRelativeResize="0"/>
          <p:nvPr/>
        </p:nvPicPr>
        <p:blipFill rotWithShape="1">
          <a:blip r:embed="rId13">
            <a:alphaModFix/>
          </a:blip>
          <a:srcRect/>
          <a:stretch/>
        </p:blipFill>
        <p:spPr>
          <a:xfrm>
            <a:off x="443972" y="6429709"/>
            <a:ext cx="917999" cy="279914"/>
          </a:xfrm>
          <a:prstGeom prst="rect">
            <a:avLst/>
          </a:prstGeom>
          <a:noFill/>
          <a:ln>
            <a:noFill/>
          </a:ln>
        </p:spPr>
      </p:pic>
      <p:sp>
        <p:nvSpPr>
          <p:cNvPr id="16" name="Copyright line"/>
          <p:cNvSpPr txBox="1"/>
          <p:nvPr/>
        </p:nvSpPr>
        <p:spPr>
          <a:xfrm>
            <a:off x="1524001" y="6280967"/>
            <a:ext cx="7162799" cy="428656"/>
          </a:xfrm>
          <a:prstGeom prst="rect">
            <a:avLst/>
          </a:prstGeom>
          <a:noFill/>
          <a:ln>
            <a:noFill/>
          </a:ln>
        </p:spPr>
        <p:txBody>
          <a:bodyPr lIns="91425" tIns="45700" rIns="91425" bIns="45700" anchor="t" anchorCtr="0">
            <a:noAutofit/>
          </a:bodyPr>
          <a:lstStyle/>
          <a:p>
            <a:pPr marL="0" lvl="0" algn="r">
              <a:spcBef>
                <a:spcPts val="0"/>
              </a:spcBef>
              <a:buClr>
                <a:schemeClr val="lt2"/>
              </a:buClr>
            </a:pPr>
            <a:r>
              <a:rPr lang="en-AU" sz="1200" dirty="0">
                <a:solidFill>
                  <a:schemeClr val="tx1"/>
                </a:solidFill>
                <a:ea typeface="Open Sans"/>
                <a:sym typeface="Open Sans"/>
              </a:rPr>
              <a:t>Copyright © 2021 Pearson Australia (a division of Pearson Australia Group Pty Ltd)</a:t>
            </a:r>
          </a:p>
          <a:p>
            <a:pPr marL="0" lvl="0" algn="r">
              <a:spcBef>
                <a:spcPts val="0"/>
              </a:spcBef>
              <a:buClr>
                <a:schemeClr val="lt2"/>
              </a:buClr>
            </a:pPr>
            <a:r>
              <a:rPr lang="en-AU" sz="1200" dirty="0">
                <a:solidFill>
                  <a:schemeClr val="tx1"/>
                </a:solidFill>
                <a:ea typeface="Open Sans"/>
                <a:sym typeface="Open Sans"/>
              </a:rPr>
              <a:t>9781488626203/Armstrong/Principles of Marketing, 8e</a:t>
            </a:r>
            <a:endParaRPr lang="en-AU" sz="1200" dirty="0">
              <a:solidFill>
                <a:schemeClr val="tx1"/>
              </a:solidFill>
            </a:endParaRPr>
          </a:p>
        </p:txBody>
      </p:sp>
      <p:sp>
        <p:nvSpPr>
          <p:cNvPr id="2" name="Footer">
            <a:extLst>
              <a:ext uri="{FF2B5EF4-FFF2-40B4-BE49-F238E27FC236}">
                <a16:creationId xmlns:a16="http://schemas.microsoft.com/office/drawing/2014/main" id="{7B8A108E-B0AF-4869-B5B8-3D3BB7BC725E}"/>
              </a:ext>
            </a:extLst>
          </p:cNvPr>
          <p:cNvSpPr>
            <a:spLocks noGrp="1"/>
          </p:cNvSpPr>
          <p:nvPr>
            <p:ph type="ftr" sz="quarter" idx="3"/>
          </p:nvPr>
        </p:nvSpPr>
        <p:spPr>
          <a:xfrm>
            <a:off x="457200" y="6028611"/>
            <a:ext cx="8229600" cy="200549"/>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Tree>
  </p:cSld>
  <p:clrMap bg1="lt1" tx1="dk1" bg2="dk2" tx2="lt2" accent1="accent1" accent2="accent2" accent3="accent3" accent4="accent4" accent5="accent5" accent6="accent6" hlink="hlink" folHlink="folHlink"/>
  <p:sldLayoutIdLst>
    <p:sldLayoutId id="2147483689" r:id="rId1"/>
    <p:sldLayoutId id="2147483649" r:id="rId2"/>
    <p:sldLayoutId id="2147483664" r:id="rId3"/>
    <p:sldLayoutId id="2147483671" r:id="rId4"/>
    <p:sldLayoutId id="2147483673" r:id="rId5"/>
    <p:sldLayoutId id="2147483655" r:id="rId6"/>
    <p:sldLayoutId id="2147483656" r:id="rId7"/>
    <p:sldLayoutId id="2147483670" r:id="rId8"/>
    <p:sldLayoutId id="2147483669" r:id="rId9"/>
    <p:sldLayoutId id="2147483657" r:id="rId10"/>
    <p:sldLayoutId id="214748369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video" Target="https://www.youtube.com/embed/bDZCyObMfkA?feature=oembed" TargetMode="External"/><Relationship Id="rId1" Type="http://schemas.openxmlformats.org/officeDocument/2006/relationships/video" Target="https://www.youtube.com/embed/lqT_dPApj9U?feature=oembed" TargetMode="Externa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hyperlink" Target="http://www.google.com.au/url?sa=i&amp;source=images&amp;cd=&amp;cad=rja&amp;docid=ihHgDpRiPF3DIM&amp;tbnid=q5j5VUU-mq2MXM:&amp;ved=0CAgQjRwwADgc&amp;url=http://itscomplic8ed.wordpress.com/&amp;ei=ULhDUvKtLszAkQW-rYGwBg&amp;psig=AFQjCNGxGUBIFfUscRE8dq7HOdNDrkd5aw&amp;ust=1380256208791931" TargetMode="External"/><Relationship Id="rId1" Type="http://schemas.openxmlformats.org/officeDocument/2006/relationships/slideLayout" Target="../slideLayouts/slideLayout2.xml"/><Relationship Id="rId5" Type="http://schemas.openxmlformats.org/officeDocument/2006/relationships/image" Target="../media/image14.jpeg"/><Relationship Id="rId4" Type="http://schemas.openxmlformats.org/officeDocument/2006/relationships/hyperlink" Target="http://www.google.com.au/url?sa=i&amp;source=images&amp;cd=&amp;cad=rja&amp;docid=5C_k9un1ntl29M&amp;tbnid=v-uQj_G4hwVY2M:&amp;ved=0CAgQjRwwADgp&amp;url=http://essentialmarketingplanning.blogspot.com/2010/03/ryanair-protests-easyjet-ad.html&amp;ei=srhDUubiG42GkQXR1YG4Cw&amp;psig=AFQjCNF5L8g3V96ai4dh5WCOY5btQfFKTQ&amp;ust=1380256306486911" TargetMode="Externa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Principles of Marketing</a:t>
            </a:r>
          </a:p>
        </p:txBody>
      </p:sp>
      <p:sp>
        <p:nvSpPr>
          <p:cNvPr id="3" name="Sub heading"/>
          <p:cNvSpPr>
            <a:spLocks noGrp="1"/>
          </p:cNvSpPr>
          <p:nvPr>
            <p:ph type="body" idx="1"/>
          </p:nvPr>
        </p:nvSpPr>
        <p:spPr/>
        <p:txBody>
          <a:bodyPr/>
          <a:lstStyle/>
          <a:p>
            <a:r>
              <a:rPr lang="en-US" sz="2400" dirty="0"/>
              <a:t>8</a:t>
            </a:r>
            <a:r>
              <a:rPr lang="en-US" sz="2400" baseline="30000" dirty="0"/>
              <a:t>th</a:t>
            </a:r>
            <a:r>
              <a:rPr lang="en-US" sz="2400" dirty="0"/>
              <a:t> edition</a:t>
            </a:r>
          </a:p>
        </p:txBody>
      </p:sp>
      <p:sp>
        <p:nvSpPr>
          <p:cNvPr id="5" name="Chapter #"/>
          <p:cNvSpPr>
            <a:spLocks noGrp="1"/>
          </p:cNvSpPr>
          <p:nvPr>
            <p:ph type="body" idx="2"/>
          </p:nvPr>
        </p:nvSpPr>
        <p:spPr>
          <a:xfrm>
            <a:off x="4572000" y="1600200"/>
            <a:ext cx="4114800" cy="1600198"/>
          </a:xfrm>
        </p:spPr>
        <p:txBody>
          <a:bodyPr/>
          <a:lstStyle/>
          <a:p>
            <a:r>
              <a:rPr lang="en-US" dirty="0"/>
              <a:t>Chapter 5</a:t>
            </a:r>
          </a:p>
        </p:txBody>
      </p:sp>
      <p:sp>
        <p:nvSpPr>
          <p:cNvPr id="6" name="Chapter title"/>
          <p:cNvSpPr>
            <a:spLocks noGrp="1"/>
          </p:cNvSpPr>
          <p:nvPr>
            <p:ph type="body" idx="3"/>
          </p:nvPr>
        </p:nvSpPr>
        <p:spPr>
          <a:xfrm>
            <a:off x="4572000" y="3200400"/>
            <a:ext cx="4114800" cy="2925763"/>
          </a:xfrm>
        </p:spPr>
        <p:txBody>
          <a:bodyPr/>
          <a:lstStyle/>
          <a:p>
            <a:r>
              <a:rPr lang="en-US" sz="2400" dirty="0"/>
              <a:t>Buyer </a:t>
            </a:r>
            <a:r>
              <a:rPr lang="en-US" sz="2400" dirty="0" err="1"/>
              <a:t>behaviour</a:t>
            </a:r>
            <a:r>
              <a:rPr lang="en-US" sz="2400" dirty="0"/>
              <a:t>: Understanding consumer and business buyers</a:t>
            </a:r>
          </a:p>
        </p:txBody>
      </p:sp>
      <p:sp>
        <p:nvSpPr>
          <p:cNvPr id="7" name="Copyright line"/>
          <p:cNvSpPr>
            <a:spLocks noGrp="1"/>
          </p:cNvSpPr>
          <p:nvPr>
            <p:ph type="body" sz="quarter" idx="17"/>
          </p:nvPr>
        </p:nvSpPr>
        <p:spPr/>
        <p:txBody>
          <a:bodyPr/>
          <a:lstStyle/>
          <a:p>
            <a:pPr marL="0" lvl="0">
              <a:spcBef>
                <a:spcPts val="0"/>
              </a:spcBef>
              <a:buClr>
                <a:schemeClr val="lt2"/>
              </a:buClr>
            </a:pPr>
            <a:r>
              <a:rPr lang="en-AU" dirty="0">
                <a:solidFill>
                  <a:schemeClr val="tx1"/>
                </a:solidFill>
                <a:ea typeface="Open Sans"/>
                <a:sym typeface="Open Sans"/>
              </a:rPr>
              <a:t>Copyright © 2021 Pearson Australia (a division of Pearson Australia Group Pty Ltd)</a:t>
            </a:r>
          </a:p>
          <a:p>
            <a:pPr marL="0" lvl="0">
              <a:spcBef>
                <a:spcPts val="0"/>
              </a:spcBef>
              <a:buClr>
                <a:schemeClr val="lt2"/>
              </a:buClr>
            </a:pPr>
            <a:r>
              <a:rPr lang="en-AU" dirty="0">
                <a:solidFill>
                  <a:schemeClr val="tx1"/>
                </a:solidFill>
                <a:ea typeface="Open Sans"/>
                <a:sym typeface="Open Sans"/>
              </a:rPr>
              <a:t>9781488626203/Armstrong/Principles of Marketing, 8e</a:t>
            </a:r>
            <a:endParaRPr lang="en-AU" dirty="0">
              <a:solidFill>
                <a:schemeClr val="tx1"/>
              </a:solidFill>
            </a:endParaRPr>
          </a:p>
        </p:txBody>
      </p:sp>
      <p:pic>
        <p:nvPicPr>
          <p:cNvPr id="18" name="Picture 17" descr="Front cover: Principles of marketing 8th edition by Armstrong, Denize, Volkov, Adam, Kotler, Ang, Love, Doherty and van Esch">
            <a:extLst>
              <a:ext uri="{FF2B5EF4-FFF2-40B4-BE49-F238E27FC236}">
                <a16:creationId xmlns:a16="http://schemas.microsoft.com/office/drawing/2014/main" id="{6CA55C66-AF2C-40EA-9858-A7FB2499B473}"/>
              </a:ext>
            </a:extLst>
          </p:cNvPr>
          <p:cNvPicPr>
            <a:picLocks noChangeAspect="1"/>
          </p:cNvPicPr>
          <p:nvPr/>
        </p:nvPicPr>
        <p:blipFill>
          <a:blip r:embed="rId3"/>
          <a:stretch>
            <a:fillRect/>
          </a:stretch>
        </p:blipFill>
        <p:spPr>
          <a:xfrm>
            <a:off x="565665" y="1439257"/>
            <a:ext cx="3692010" cy="4639959"/>
          </a:xfrm>
          <a:prstGeom prst="rect">
            <a:avLst/>
          </a:prstGeom>
        </p:spPr>
      </p:pic>
    </p:spTree>
    <p:extLst>
      <p:ext uri="{BB962C8B-B14F-4D97-AF65-F5344CB8AC3E}">
        <p14:creationId xmlns:p14="http://schemas.microsoft.com/office/powerpoint/2010/main" val="24045586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2" name="Title 1">
            <a:extLst>
              <a:ext uri="{FF2B5EF4-FFF2-40B4-BE49-F238E27FC236}">
                <a16:creationId xmlns:a16="http://schemas.microsoft.com/office/drawing/2014/main" id="{F5E30427-4547-4715-9C31-D129FE43C7C1}"/>
              </a:ext>
            </a:extLst>
          </p:cNvPr>
          <p:cNvSpPr>
            <a:spLocks noGrp="1"/>
          </p:cNvSpPr>
          <p:nvPr>
            <p:ph type="title"/>
          </p:nvPr>
        </p:nvSpPr>
        <p:spPr/>
        <p:txBody>
          <a:bodyPr/>
          <a:lstStyle/>
          <a:p>
            <a:r>
              <a:rPr lang="en-US" sz="3200" dirty="0"/>
              <a:t>Consumer markets and consumer behaviour</a:t>
            </a:r>
            <a:endParaRPr lang="en-US" sz="2000" dirty="0"/>
          </a:p>
        </p:txBody>
      </p:sp>
      <p:sp>
        <p:nvSpPr>
          <p:cNvPr id="4" name="Rectangle 3">
            <a:extLst>
              <a:ext uri="{FF2B5EF4-FFF2-40B4-BE49-F238E27FC236}">
                <a16:creationId xmlns:a16="http://schemas.microsoft.com/office/drawing/2014/main" id="{4F708742-170E-401B-86A6-790C886630C4}"/>
              </a:ext>
            </a:extLst>
          </p:cNvPr>
          <p:cNvSpPr txBox="1">
            <a:spLocks noChangeArrowheads="1"/>
          </p:cNvSpPr>
          <p:nvPr/>
        </p:nvSpPr>
        <p:spPr>
          <a:xfrm>
            <a:off x="685800" y="1482806"/>
            <a:ext cx="7772400" cy="4552759"/>
          </a:xfrm>
          <a:prstGeom prst="rect">
            <a:avLst/>
          </a:prstGeom>
          <a:solidFill>
            <a:srgbClr val="E1F2CE"/>
          </a:solidFill>
          <a:ln>
            <a:solidFill>
              <a:srgbClr val="00B050"/>
            </a:solidFill>
          </a:ln>
          <a:effectLst>
            <a:outerShdw blurRad="50800" dist="38100" dir="2700000" algn="tl" rotWithShape="0">
              <a:prstClr val="black">
                <a:alpha val="40000"/>
              </a:prstClr>
            </a:outerShdw>
          </a:effectLst>
        </p:spPr>
        <p:txBody>
          <a:bodyPr wrap="square"/>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a:lnSpc>
                <a:spcPct val="150000"/>
              </a:lnSpc>
              <a:spcBef>
                <a:spcPts val="600"/>
              </a:spcBef>
              <a:spcAft>
                <a:spcPts val="600"/>
              </a:spcAft>
            </a:pPr>
            <a:r>
              <a:rPr lang="en-US" sz="1800" b="1" dirty="0"/>
              <a:t>Consumer buyer behaviour </a:t>
            </a:r>
          </a:p>
          <a:p>
            <a:pPr marL="285750" indent="-285750">
              <a:spcBef>
                <a:spcPts val="600"/>
              </a:spcBef>
              <a:spcAft>
                <a:spcPts val="600"/>
              </a:spcAft>
              <a:buFont typeface="Arial" panose="020B0604020202020204" pitchFamily="34" charset="0"/>
              <a:buChar char="•"/>
            </a:pPr>
            <a:r>
              <a:rPr lang="en-US" sz="1800" dirty="0"/>
              <a:t>Refers to the buying behaviour of final consumers – individuals and households – that buy goods and services for personal consumption.</a:t>
            </a:r>
          </a:p>
          <a:p>
            <a:pPr marL="285750" indent="-285750">
              <a:spcBef>
                <a:spcPts val="600"/>
              </a:spcBef>
              <a:spcAft>
                <a:spcPts val="600"/>
              </a:spcAft>
              <a:buFont typeface="Arial" panose="020B0604020202020204" pitchFamily="34" charset="0"/>
              <a:buChar char="•"/>
            </a:pPr>
            <a:r>
              <a:rPr lang="en-US" altLang="en-US" sz="1800" dirty="0">
                <a:latin typeface="Arial" panose="020B0604020202020204" pitchFamily="34" charset="0"/>
                <a:cs typeface="Arial" panose="020B0604020202020204" pitchFamily="34" charset="0"/>
              </a:rPr>
              <a:t>Includes factors that influence purchase decisions and use of products</a:t>
            </a:r>
          </a:p>
          <a:p>
            <a:pPr marL="285750" indent="-285750">
              <a:spcBef>
                <a:spcPts val="600"/>
              </a:spcBef>
              <a:spcAft>
                <a:spcPts val="600"/>
              </a:spcAft>
              <a:buFont typeface="Arial" panose="020B0604020202020204" pitchFamily="34" charset="0"/>
              <a:buChar char="•"/>
            </a:pPr>
            <a:r>
              <a:rPr lang="en-AU" altLang="en-US" sz="1800" dirty="0">
                <a:latin typeface="Arial" panose="020B0604020202020204" pitchFamily="34" charset="0"/>
                <a:cs typeface="Arial" panose="020B0604020202020204" pitchFamily="34" charset="0"/>
              </a:rPr>
              <a:t>Marketers may attempt to use different promotional techniques to influence consumers decisions</a:t>
            </a:r>
            <a:endParaRPr lang="en-US" altLang="en-US" sz="1800" dirty="0">
              <a:solidFill>
                <a:srgbClr val="005400"/>
              </a:solidFill>
            </a:endParaRPr>
          </a:p>
          <a:p>
            <a:pPr>
              <a:spcBef>
                <a:spcPts val="600"/>
              </a:spcBef>
              <a:spcAft>
                <a:spcPts val="600"/>
              </a:spcAft>
            </a:pPr>
            <a:r>
              <a:rPr lang="en-US" sz="1800" b="1" dirty="0"/>
              <a:t>Consumer Market</a:t>
            </a:r>
          </a:p>
          <a:p>
            <a:pPr marL="285750" indent="-285750">
              <a:spcBef>
                <a:spcPts val="600"/>
              </a:spcBef>
              <a:spcAft>
                <a:spcPts val="600"/>
              </a:spcAft>
              <a:buFont typeface="Arial" panose="020B0604020202020204" pitchFamily="34" charset="0"/>
              <a:buChar char="•"/>
            </a:pPr>
            <a:r>
              <a:rPr lang="en-US" sz="1800" dirty="0"/>
              <a:t>All these final consumers combine to make up the </a:t>
            </a:r>
            <a:r>
              <a:rPr lang="en-US" sz="1800" b="1" dirty="0"/>
              <a:t>consumer market</a:t>
            </a:r>
            <a:r>
              <a:rPr lang="en-US" sz="1800" dirty="0"/>
              <a:t>.</a:t>
            </a:r>
          </a:p>
          <a:p>
            <a:pPr>
              <a:spcBef>
                <a:spcPts val="600"/>
              </a:spcBef>
              <a:spcAft>
                <a:spcPts val="600"/>
              </a:spcAft>
            </a:pPr>
            <a:r>
              <a:rPr lang="en-US" altLang="en-US" sz="1800" b="1" dirty="0"/>
              <a:t>Motivations and consequences</a:t>
            </a:r>
            <a:endParaRPr lang="en-US" altLang="en-US" sz="1800" dirty="0"/>
          </a:p>
          <a:p>
            <a:pPr marL="285750" indent="-285750">
              <a:spcBef>
                <a:spcPts val="600"/>
              </a:spcBef>
              <a:spcAft>
                <a:spcPts val="600"/>
              </a:spcAft>
              <a:buFont typeface="Arial" panose="020B0604020202020204" pitchFamily="34" charset="0"/>
              <a:buChar char="•"/>
            </a:pPr>
            <a:r>
              <a:rPr lang="en-US" altLang="en-US" sz="1800" dirty="0"/>
              <a:t>Marketers should understand buying behaviour, its </a:t>
            </a:r>
            <a:r>
              <a:rPr lang="en-US" altLang="en-US" sz="1800" b="1" dirty="0"/>
              <a:t>motivations and consequences</a:t>
            </a:r>
            <a:r>
              <a:rPr lang="en-US" altLang="en-US" sz="1800" dirty="0"/>
              <a:t>, in order to do a better job for their products.</a:t>
            </a:r>
            <a:endParaRPr lang="en-GB" alt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676CCF41-8ECC-92EB-4D61-6C021FBFC378}"/>
              </a:ext>
            </a:extLst>
          </p:cNvPr>
          <p:cNvSpPr>
            <a:spLocks noGrp="1"/>
          </p:cNvSpPr>
          <p:nvPr>
            <p:ph type="title"/>
          </p:nvPr>
        </p:nvSpPr>
        <p:spPr>
          <a:xfrm>
            <a:off x="457200" y="659871"/>
            <a:ext cx="8229600" cy="1097279"/>
          </a:xfrm>
        </p:spPr>
        <p:txBody>
          <a:bodyPr/>
          <a:lstStyle/>
          <a:p>
            <a:r>
              <a:rPr lang="en-AU" sz="3200" b="1" dirty="0"/>
              <a:t>Where would you find Consumer Behaviour on our Marketing Process flowchart? </a:t>
            </a:r>
            <a:endParaRPr lang="en-US" sz="3200" dirty="0"/>
          </a:p>
        </p:txBody>
      </p:sp>
      <p:pic>
        <p:nvPicPr>
          <p:cNvPr id="4" name="Content Placeholder 3" descr="Diagram&#10;&#10;Description automatically generated">
            <a:extLst>
              <a:ext uri="{FF2B5EF4-FFF2-40B4-BE49-F238E27FC236}">
                <a16:creationId xmlns:a16="http://schemas.microsoft.com/office/drawing/2014/main" id="{DB73ABE7-6E1A-2C49-632D-AA97FA8D3AF3}"/>
              </a:ext>
            </a:extLst>
          </p:cNvPr>
          <p:cNvPicPr>
            <a:picLocks noGrp="1" noChangeAspect="1"/>
          </p:cNvPicPr>
          <p:nvPr>
            <p:ph sz="quarter" idx="13"/>
          </p:nvPr>
        </p:nvPicPr>
        <p:blipFill>
          <a:blip r:embed="rId2"/>
          <a:stretch>
            <a:fillRect/>
          </a:stretch>
        </p:blipFill>
        <p:spPr>
          <a:xfrm>
            <a:off x="3234132" y="1441450"/>
            <a:ext cx="2678910" cy="4598988"/>
          </a:xfrm>
          <a:prstGeom prst="rect">
            <a:avLst/>
          </a:prstGeom>
          <a:noFill/>
        </p:spPr>
      </p:pic>
    </p:spTree>
    <p:extLst>
      <p:ext uri="{BB962C8B-B14F-4D97-AF65-F5344CB8AC3E}">
        <p14:creationId xmlns:p14="http://schemas.microsoft.com/office/powerpoint/2010/main" val="27055534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2" name="Title 1">
            <a:extLst>
              <a:ext uri="{FF2B5EF4-FFF2-40B4-BE49-F238E27FC236}">
                <a16:creationId xmlns:a16="http://schemas.microsoft.com/office/drawing/2014/main" id="{F5E30427-4547-4715-9C31-D129FE43C7C1}"/>
              </a:ext>
            </a:extLst>
          </p:cNvPr>
          <p:cNvSpPr>
            <a:spLocks noGrp="1"/>
          </p:cNvSpPr>
          <p:nvPr>
            <p:ph type="title"/>
          </p:nvPr>
        </p:nvSpPr>
        <p:spPr/>
        <p:txBody>
          <a:bodyPr/>
          <a:lstStyle/>
          <a:p>
            <a:r>
              <a:rPr lang="en-US" sz="3200" dirty="0"/>
              <a:t>Consumer markets and consumer behaviour</a:t>
            </a:r>
            <a:endParaRPr lang="en-US" sz="2000" dirty="0"/>
          </a:p>
        </p:txBody>
      </p:sp>
      <p:sp>
        <p:nvSpPr>
          <p:cNvPr id="3" name="Text Placeholder 2">
            <a:extLst>
              <a:ext uri="{FF2B5EF4-FFF2-40B4-BE49-F238E27FC236}">
                <a16:creationId xmlns:a16="http://schemas.microsoft.com/office/drawing/2014/main" id="{C7697BCC-A93B-4430-8CDA-E7B6FF3D13DA}"/>
              </a:ext>
            </a:extLst>
          </p:cNvPr>
          <p:cNvSpPr>
            <a:spLocks noGrp="1"/>
          </p:cNvSpPr>
          <p:nvPr>
            <p:ph type="body" idx="4294967295"/>
          </p:nvPr>
        </p:nvSpPr>
        <p:spPr>
          <a:xfrm>
            <a:off x="457199" y="1600200"/>
            <a:ext cx="8229599" cy="4525963"/>
          </a:xfrm>
        </p:spPr>
        <p:txBody>
          <a:bodyPr/>
          <a:lstStyle/>
          <a:p>
            <a:pPr marL="101600" indent="0">
              <a:buNone/>
            </a:pPr>
            <a:r>
              <a:rPr lang="en-US" sz="2400" b="1" dirty="0">
                <a:solidFill>
                  <a:srgbClr val="007FA3"/>
                </a:solidFill>
              </a:rPr>
              <a:t>Model of consumer </a:t>
            </a:r>
            <a:r>
              <a:rPr lang="en-US" sz="2400" b="1" dirty="0" err="1">
                <a:solidFill>
                  <a:srgbClr val="007FA3"/>
                </a:solidFill>
              </a:rPr>
              <a:t>behaviour</a:t>
            </a:r>
            <a:endParaRPr lang="en-US" sz="2400" b="1" dirty="0">
              <a:solidFill>
                <a:srgbClr val="007FA3"/>
              </a:solidFill>
            </a:endParaRPr>
          </a:p>
          <a:p>
            <a:pPr algn="l"/>
            <a:r>
              <a:rPr lang="en-NZ" sz="2000" b="0" i="0" u="none" strike="noStrike" baseline="0" dirty="0">
                <a:latin typeface="+mj-lt"/>
              </a:rPr>
              <a:t>Marketers can study actual consumer purchases to find out what they buy, where and how much. </a:t>
            </a:r>
          </a:p>
          <a:p>
            <a:pPr algn="l"/>
            <a:r>
              <a:rPr lang="en-NZ" sz="2000" b="0" i="0" u="none" strike="noStrike" baseline="0" dirty="0">
                <a:latin typeface="+mj-lt"/>
              </a:rPr>
              <a:t>But learning about the </a:t>
            </a:r>
            <a:r>
              <a:rPr lang="en-NZ" sz="2000" b="0" u="none" strike="noStrike" baseline="0" dirty="0">
                <a:latin typeface="+mj-lt"/>
              </a:rPr>
              <a:t>whys</a:t>
            </a:r>
            <a:r>
              <a:rPr lang="en-NZ" sz="2000" b="0" i="1" u="none" strike="noStrike" baseline="0" dirty="0">
                <a:latin typeface="+mj-lt"/>
              </a:rPr>
              <a:t> </a:t>
            </a:r>
            <a:r>
              <a:rPr lang="en-NZ" sz="2000" b="0" i="0" u="none" strike="noStrike" baseline="0" dirty="0">
                <a:latin typeface="+mj-lt"/>
              </a:rPr>
              <a:t>of consumer buying behaviour is not so easy.</a:t>
            </a:r>
          </a:p>
          <a:p>
            <a:pPr lvl="1">
              <a:buFont typeface="Wingdings" panose="05000000000000000000" pitchFamily="2" charset="2"/>
              <a:buChar char="§"/>
            </a:pPr>
            <a:r>
              <a:rPr lang="en-NZ" sz="2000" dirty="0">
                <a:latin typeface="+mj-lt"/>
              </a:rPr>
              <a:t>Often, consumers themselves do not know exactly what influences their purchases.</a:t>
            </a:r>
            <a:endParaRPr lang="en-NZ" sz="2000" b="0" i="0" u="none" strike="noStrike" baseline="0" dirty="0">
              <a:latin typeface="+mj-lt"/>
            </a:endParaRPr>
          </a:p>
          <a:p>
            <a:pPr algn="l"/>
            <a:r>
              <a:rPr lang="en-NZ" sz="2000" b="0" i="0" u="none" strike="noStrike" baseline="0" dirty="0">
                <a:latin typeface="+mj-lt"/>
              </a:rPr>
              <a:t>The central question for marketers is: How do consumers respond to various marketing efforts the company might use?</a:t>
            </a:r>
          </a:p>
        </p:txBody>
      </p:sp>
    </p:spTree>
    <p:extLst>
      <p:ext uri="{BB962C8B-B14F-4D97-AF65-F5344CB8AC3E}">
        <p14:creationId xmlns:p14="http://schemas.microsoft.com/office/powerpoint/2010/main" val="30533873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D7484-F644-4A80-A4C7-24662A82671F}"/>
              </a:ext>
            </a:extLst>
          </p:cNvPr>
          <p:cNvSpPr>
            <a:spLocks noGrp="1"/>
          </p:cNvSpPr>
          <p:nvPr>
            <p:ph type="title"/>
          </p:nvPr>
        </p:nvSpPr>
        <p:spPr>
          <a:xfrm>
            <a:off x="457200" y="228600"/>
            <a:ext cx="8229600" cy="672657"/>
          </a:xfrm>
        </p:spPr>
        <p:txBody>
          <a:bodyPr anchor="b">
            <a:normAutofit/>
          </a:bodyPr>
          <a:lstStyle/>
          <a:p>
            <a:pPr>
              <a:lnSpc>
                <a:spcPct val="90000"/>
              </a:lnSpc>
            </a:pPr>
            <a:r>
              <a:rPr lang="en-US" sz="3200" dirty="0"/>
              <a:t>Model of buyer behaviour</a:t>
            </a:r>
          </a:p>
        </p:txBody>
      </p:sp>
      <p:pic>
        <p:nvPicPr>
          <p:cNvPr id="5" name="Picture 2" descr="D:\Yuga\Other Project\PAU23\Armstrong_pom_7e\Image replacement\Ch05\Images\fig05_01.jpg">
            <a:extLst>
              <a:ext uri="{FF2B5EF4-FFF2-40B4-BE49-F238E27FC236}">
                <a16:creationId xmlns:a16="http://schemas.microsoft.com/office/drawing/2014/main" id="{6487AEAB-6E30-4DC3-B7F3-75BC56339D52}"/>
              </a:ext>
            </a:extLst>
          </p:cNvPr>
          <p:cNvPicPr>
            <a:picLocks noChangeAspect="1" noChangeArrowheads="1"/>
          </p:cNvPicPr>
          <p:nvPr/>
        </p:nvPicPr>
        <p:blipFill>
          <a:blip r:embed="rId3" cstate="print"/>
          <a:stretch>
            <a:fillRect/>
          </a:stretch>
        </p:blipFill>
        <p:spPr bwMode="auto">
          <a:xfrm>
            <a:off x="457200" y="912433"/>
            <a:ext cx="8232775" cy="3622421"/>
          </a:xfrm>
          <a:prstGeom prst="rect">
            <a:avLst/>
          </a:prstGeom>
          <a:noFill/>
        </p:spPr>
      </p:pic>
      <p:sp>
        <p:nvSpPr>
          <p:cNvPr id="4" name="TextBox 3">
            <a:extLst>
              <a:ext uri="{FF2B5EF4-FFF2-40B4-BE49-F238E27FC236}">
                <a16:creationId xmlns:a16="http://schemas.microsoft.com/office/drawing/2014/main" id="{D22098B7-EE1D-58CB-80A9-96E22EECA384}"/>
              </a:ext>
            </a:extLst>
          </p:cNvPr>
          <p:cNvSpPr txBox="1"/>
          <p:nvPr/>
        </p:nvSpPr>
        <p:spPr>
          <a:xfrm>
            <a:off x="454025" y="4534854"/>
            <a:ext cx="8229600" cy="1938992"/>
          </a:xfrm>
          <a:prstGeom prst="rect">
            <a:avLst/>
          </a:prstGeom>
          <a:noFill/>
        </p:spPr>
        <p:txBody>
          <a:bodyPr wrap="square">
            <a:spAutoFit/>
          </a:bodyPr>
          <a:lstStyle/>
          <a:p>
            <a:pPr marL="342900" indent="-342900">
              <a:spcBef>
                <a:spcPts val="600"/>
              </a:spcBef>
              <a:spcAft>
                <a:spcPts val="600"/>
              </a:spcAft>
              <a:buFont typeface="Arial" panose="020B0604020202020204" pitchFamily="34" charset="0"/>
              <a:buChar char="•"/>
            </a:pPr>
            <a:r>
              <a:rPr lang="en-US" sz="2000" dirty="0"/>
              <a:t>Helps marketers understand what influences buyers.</a:t>
            </a:r>
          </a:p>
          <a:p>
            <a:pPr marL="342900" indent="-342900">
              <a:spcBef>
                <a:spcPts val="600"/>
              </a:spcBef>
              <a:spcAft>
                <a:spcPts val="600"/>
              </a:spcAft>
              <a:buFont typeface="Arial" panose="020B0604020202020204" pitchFamily="34" charset="0"/>
              <a:buChar char="•"/>
            </a:pPr>
            <a:r>
              <a:rPr lang="en-US" sz="2000" dirty="0"/>
              <a:t>Allows businesses to design better strategies to meet consumer needs.</a:t>
            </a:r>
          </a:p>
          <a:p>
            <a:pPr marL="342900" indent="-342900">
              <a:spcBef>
                <a:spcPts val="600"/>
              </a:spcBef>
              <a:spcAft>
                <a:spcPts val="600"/>
              </a:spcAft>
              <a:buFont typeface="Arial" panose="020B0604020202020204" pitchFamily="34" charset="0"/>
              <a:buChar char="•"/>
            </a:pPr>
            <a:r>
              <a:rPr lang="en-US" sz="2000" dirty="0" err="1"/>
              <a:t>Emphasises</a:t>
            </a:r>
            <a:r>
              <a:rPr lang="en-US" sz="2000" dirty="0"/>
              <a:t> that buyers are influenced by both external stimuli and internal psychology.</a:t>
            </a:r>
            <a:endParaRPr lang="en-AU" sz="2000" dirty="0"/>
          </a:p>
        </p:txBody>
      </p:sp>
    </p:spTree>
    <p:extLst>
      <p:ext uri="{BB962C8B-B14F-4D97-AF65-F5344CB8AC3E}">
        <p14:creationId xmlns:p14="http://schemas.microsoft.com/office/powerpoint/2010/main" val="42373180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2" name="Title 1">
            <a:extLst>
              <a:ext uri="{FF2B5EF4-FFF2-40B4-BE49-F238E27FC236}">
                <a16:creationId xmlns:a16="http://schemas.microsoft.com/office/drawing/2014/main" id="{F5E30427-4547-4715-9C31-D129FE43C7C1}"/>
              </a:ext>
            </a:extLst>
          </p:cNvPr>
          <p:cNvSpPr>
            <a:spLocks noGrp="1"/>
          </p:cNvSpPr>
          <p:nvPr>
            <p:ph type="title"/>
          </p:nvPr>
        </p:nvSpPr>
        <p:spPr/>
        <p:txBody>
          <a:bodyPr/>
          <a:lstStyle/>
          <a:p>
            <a:r>
              <a:rPr lang="en-US" sz="3200" dirty="0"/>
              <a:t>Consumer markets and consumer behaviour</a:t>
            </a:r>
            <a:endParaRPr lang="en-US" sz="2000" dirty="0"/>
          </a:p>
        </p:txBody>
      </p:sp>
      <p:sp>
        <p:nvSpPr>
          <p:cNvPr id="3" name="Text Placeholder 2">
            <a:extLst>
              <a:ext uri="{FF2B5EF4-FFF2-40B4-BE49-F238E27FC236}">
                <a16:creationId xmlns:a16="http://schemas.microsoft.com/office/drawing/2014/main" id="{C7697BCC-A93B-4430-8CDA-E7B6FF3D13DA}"/>
              </a:ext>
            </a:extLst>
          </p:cNvPr>
          <p:cNvSpPr>
            <a:spLocks noGrp="1"/>
          </p:cNvSpPr>
          <p:nvPr>
            <p:ph type="body" idx="4294967295"/>
          </p:nvPr>
        </p:nvSpPr>
        <p:spPr>
          <a:xfrm>
            <a:off x="457199" y="1600200"/>
            <a:ext cx="8229599" cy="4525963"/>
          </a:xfrm>
        </p:spPr>
        <p:txBody>
          <a:bodyPr/>
          <a:lstStyle/>
          <a:p>
            <a:pPr marL="101600" indent="0">
              <a:buNone/>
            </a:pPr>
            <a:r>
              <a:rPr lang="en-US" sz="2400" b="1" dirty="0">
                <a:solidFill>
                  <a:srgbClr val="007FA3"/>
                </a:solidFill>
              </a:rPr>
              <a:t>Characteristics affecting consumer </a:t>
            </a:r>
            <a:r>
              <a:rPr lang="en-US" sz="2400" b="1" dirty="0" err="1">
                <a:solidFill>
                  <a:srgbClr val="007FA3"/>
                </a:solidFill>
              </a:rPr>
              <a:t>behaviour</a:t>
            </a:r>
            <a:endParaRPr lang="en-US" sz="2400" b="1" dirty="0">
              <a:solidFill>
                <a:srgbClr val="007FA3"/>
              </a:solidFill>
            </a:endParaRPr>
          </a:p>
          <a:p>
            <a:pPr algn="l"/>
            <a:r>
              <a:rPr lang="en-NZ" sz="2000" b="0" i="0" u="none" strike="noStrike" baseline="0" dirty="0">
                <a:latin typeface="+mj-lt"/>
              </a:rPr>
              <a:t>Consumer purchases are influenced strongly by:</a:t>
            </a:r>
          </a:p>
          <a:p>
            <a:pPr lvl="1">
              <a:buFont typeface="Wingdings" panose="05000000000000000000" pitchFamily="2" charset="2"/>
              <a:buChar char="§"/>
            </a:pPr>
            <a:r>
              <a:rPr lang="en-NZ" sz="2000" b="0" i="0" u="none" strike="noStrike" baseline="0" dirty="0">
                <a:latin typeface="+mj-lt"/>
              </a:rPr>
              <a:t>cultural characteristics</a:t>
            </a:r>
          </a:p>
          <a:p>
            <a:pPr lvl="1">
              <a:buFont typeface="Wingdings" panose="05000000000000000000" pitchFamily="2" charset="2"/>
              <a:buChar char="§"/>
            </a:pPr>
            <a:r>
              <a:rPr lang="en-NZ" sz="2000" b="0" i="0" u="none" strike="noStrike" baseline="0" dirty="0">
                <a:latin typeface="+mj-lt"/>
              </a:rPr>
              <a:t>social characteristics</a:t>
            </a:r>
          </a:p>
          <a:p>
            <a:pPr lvl="1">
              <a:buFont typeface="Wingdings" panose="05000000000000000000" pitchFamily="2" charset="2"/>
              <a:buChar char="§"/>
            </a:pPr>
            <a:r>
              <a:rPr lang="en-NZ" sz="2000" b="0" i="0" u="none" strike="noStrike" baseline="0" dirty="0">
                <a:latin typeface="+mj-lt"/>
              </a:rPr>
              <a:t>personal characteristics</a:t>
            </a:r>
          </a:p>
          <a:p>
            <a:pPr lvl="1">
              <a:buFont typeface="Wingdings" panose="05000000000000000000" pitchFamily="2" charset="2"/>
              <a:buChar char="§"/>
            </a:pPr>
            <a:r>
              <a:rPr lang="en-NZ" sz="2000" b="0" i="0" u="none" strike="noStrike" baseline="0" dirty="0">
                <a:latin typeface="+mj-lt"/>
              </a:rPr>
              <a:t>psychological characteristics.</a:t>
            </a:r>
            <a:endParaRPr lang="en-NZ" sz="2000" b="0" i="0" u="none" strike="noStrike" baseline="0" dirty="0">
              <a:solidFill>
                <a:srgbClr val="000000"/>
              </a:solidFill>
              <a:latin typeface="+mj-lt"/>
            </a:endParaRPr>
          </a:p>
          <a:p>
            <a:pPr algn="l"/>
            <a:r>
              <a:rPr lang="en-NZ" sz="2000" b="0" i="0" u="none" strike="noStrike" baseline="0" dirty="0">
                <a:latin typeface="+mj-lt"/>
              </a:rPr>
              <a:t>For the most part, marketers cannot control such factors, but they must take them into account</a:t>
            </a:r>
            <a:r>
              <a:rPr lang="en-NZ" sz="2000" dirty="0">
                <a:latin typeface="+mj-lt"/>
              </a:rPr>
              <a:t>.</a:t>
            </a:r>
            <a:endParaRPr lang="en-US" sz="2000" dirty="0">
              <a:latin typeface="+mj-lt"/>
            </a:endParaRPr>
          </a:p>
        </p:txBody>
      </p:sp>
    </p:spTree>
    <p:extLst>
      <p:ext uri="{BB962C8B-B14F-4D97-AF65-F5344CB8AC3E}">
        <p14:creationId xmlns:p14="http://schemas.microsoft.com/office/powerpoint/2010/main" val="5514438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able&#10;&#10;Description automatically generated with low confidence">
            <a:extLst>
              <a:ext uri="{FF2B5EF4-FFF2-40B4-BE49-F238E27FC236}">
                <a16:creationId xmlns:a16="http://schemas.microsoft.com/office/drawing/2014/main" id="{9DFF0BE3-CF91-4402-8905-1F13CBC9726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035" y="1636713"/>
            <a:ext cx="7803930" cy="4115402"/>
          </a:xfrm>
          <a:prstGeom prst="rect">
            <a:avLst/>
          </a:prstGeom>
          <a:noFill/>
        </p:spPr>
      </p:pic>
      <p:sp>
        <p:nvSpPr>
          <p:cNvPr id="6" name="Title 5">
            <a:extLst>
              <a:ext uri="{FF2B5EF4-FFF2-40B4-BE49-F238E27FC236}">
                <a16:creationId xmlns:a16="http://schemas.microsoft.com/office/drawing/2014/main" id="{32010DC8-BAEB-0DAB-1629-45A7AA124F50}"/>
              </a:ext>
            </a:extLst>
          </p:cNvPr>
          <p:cNvSpPr>
            <a:spLocks noGrp="1"/>
          </p:cNvSpPr>
          <p:nvPr>
            <p:ph type="title"/>
          </p:nvPr>
        </p:nvSpPr>
        <p:spPr>
          <a:xfrm>
            <a:off x="457200" y="224822"/>
            <a:ext cx="8229600" cy="775303"/>
          </a:xfrm>
        </p:spPr>
        <p:txBody>
          <a:bodyPr/>
          <a:lstStyle/>
          <a:p>
            <a:r>
              <a:rPr lang="en-AU" sz="3200" dirty="0"/>
              <a:t>Factors influencing consumer behaviour</a:t>
            </a:r>
          </a:p>
        </p:txBody>
      </p:sp>
    </p:spTree>
    <p:extLst>
      <p:ext uri="{BB962C8B-B14F-4D97-AF65-F5344CB8AC3E}">
        <p14:creationId xmlns:p14="http://schemas.microsoft.com/office/powerpoint/2010/main" val="10170954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2" name="Title 1">
            <a:extLst>
              <a:ext uri="{FF2B5EF4-FFF2-40B4-BE49-F238E27FC236}">
                <a16:creationId xmlns:a16="http://schemas.microsoft.com/office/drawing/2014/main" id="{F5E30427-4547-4715-9C31-D129FE43C7C1}"/>
              </a:ext>
            </a:extLst>
          </p:cNvPr>
          <p:cNvSpPr>
            <a:spLocks noGrp="1"/>
          </p:cNvSpPr>
          <p:nvPr>
            <p:ph type="title"/>
          </p:nvPr>
        </p:nvSpPr>
        <p:spPr/>
        <p:txBody>
          <a:bodyPr/>
          <a:lstStyle/>
          <a:p>
            <a:pPr marL="101600" indent="0">
              <a:buNone/>
            </a:pPr>
            <a:r>
              <a:rPr lang="en-US" sz="3200" b="1" dirty="0">
                <a:solidFill>
                  <a:srgbClr val="007FA3"/>
                </a:solidFill>
              </a:rPr>
              <a:t>Characteristics affecting consumer </a:t>
            </a:r>
            <a:r>
              <a:rPr lang="en-US" sz="3200" b="1" dirty="0" err="1">
                <a:solidFill>
                  <a:srgbClr val="007FA3"/>
                </a:solidFill>
              </a:rPr>
              <a:t>behaviour</a:t>
            </a:r>
            <a:endParaRPr lang="en-US" sz="3200" b="1" dirty="0">
              <a:solidFill>
                <a:srgbClr val="007FA3"/>
              </a:solidFill>
            </a:endParaRPr>
          </a:p>
        </p:txBody>
      </p:sp>
      <p:sp>
        <p:nvSpPr>
          <p:cNvPr id="3" name="Text Placeholder 2">
            <a:extLst>
              <a:ext uri="{FF2B5EF4-FFF2-40B4-BE49-F238E27FC236}">
                <a16:creationId xmlns:a16="http://schemas.microsoft.com/office/drawing/2014/main" id="{C7697BCC-A93B-4430-8CDA-E7B6FF3D13DA}"/>
              </a:ext>
            </a:extLst>
          </p:cNvPr>
          <p:cNvSpPr>
            <a:spLocks noGrp="1"/>
          </p:cNvSpPr>
          <p:nvPr>
            <p:ph type="body" idx="4294967295"/>
          </p:nvPr>
        </p:nvSpPr>
        <p:spPr>
          <a:xfrm>
            <a:off x="457199" y="1312650"/>
            <a:ext cx="8229599" cy="4525963"/>
          </a:xfrm>
        </p:spPr>
        <p:txBody>
          <a:bodyPr/>
          <a:lstStyle/>
          <a:p>
            <a:pPr marL="101600" indent="0">
              <a:spcBef>
                <a:spcPts val="600"/>
              </a:spcBef>
              <a:spcAft>
                <a:spcPts val="600"/>
              </a:spcAft>
              <a:buNone/>
            </a:pPr>
            <a:r>
              <a:rPr lang="en-US" sz="2400" b="1" dirty="0">
                <a:solidFill>
                  <a:srgbClr val="00B0F0"/>
                </a:solidFill>
              </a:rPr>
              <a:t>Cultural factors</a:t>
            </a:r>
            <a:endParaRPr lang="en-US" altLang="en-US" sz="1800" b="1" dirty="0">
              <a:solidFill>
                <a:srgbClr val="F25B33"/>
              </a:solidFill>
              <a:latin typeface="Verdana" pitchFamily="34" charset="0"/>
              <a:ea typeface="Verdana" pitchFamily="34" charset="0"/>
              <a:cs typeface="Verdana" pitchFamily="34" charset="0"/>
            </a:endParaRPr>
          </a:p>
          <a:p>
            <a:pPr marL="101600" indent="0">
              <a:spcBef>
                <a:spcPts val="600"/>
              </a:spcBef>
              <a:spcAft>
                <a:spcPts val="600"/>
              </a:spcAft>
              <a:buNone/>
            </a:pPr>
            <a:r>
              <a:rPr lang="en-US" sz="2000" b="1" dirty="0"/>
              <a:t>Cultural factors </a:t>
            </a:r>
            <a:r>
              <a:rPr lang="en-US" sz="2000" dirty="0"/>
              <a:t>play a significant role in shaping </a:t>
            </a:r>
            <a:r>
              <a:rPr lang="en-US" sz="2000" b="1" dirty="0"/>
              <a:t>consumer </a:t>
            </a:r>
            <a:r>
              <a:rPr lang="en-US" sz="2000" b="1" dirty="0" err="1"/>
              <a:t>behaviour</a:t>
            </a:r>
            <a:r>
              <a:rPr lang="en-US" sz="2000" dirty="0"/>
              <a:t>, influencing preferences, purchasing decisions, and brand loyalty. </a:t>
            </a:r>
          </a:p>
          <a:p>
            <a:pPr marL="101600" indent="0">
              <a:spcBef>
                <a:spcPts val="600"/>
              </a:spcBef>
              <a:spcAft>
                <a:spcPts val="600"/>
              </a:spcAft>
              <a:buNone/>
            </a:pPr>
            <a:r>
              <a:rPr lang="en-US" sz="2000" dirty="0"/>
              <a:t>These factors are deeply embedded in society and affect how individuals perceive and interact with products and services.</a:t>
            </a:r>
            <a:endParaRPr lang="en-US" altLang="en-US" sz="1800" b="1" dirty="0">
              <a:solidFill>
                <a:srgbClr val="F25B33"/>
              </a:solidFill>
              <a:latin typeface="Verdana" pitchFamily="34" charset="0"/>
              <a:ea typeface="Verdana" pitchFamily="34" charset="0"/>
              <a:cs typeface="Verdana" pitchFamily="34" charset="0"/>
            </a:endParaRPr>
          </a:p>
          <a:p>
            <a:pPr marL="101600" indent="0">
              <a:spcBef>
                <a:spcPts val="600"/>
              </a:spcBef>
              <a:spcAft>
                <a:spcPts val="600"/>
              </a:spcAft>
              <a:buNone/>
            </a:pPr>
            <a:r>
              <a:rPr lang="en-US" sz="2000" dirty="0"/>
              <a:t>Culture is the </a:t>
            </a:r>
            <a:r>
              <a:rPr lang="en-US" sz="2000" b="1" dirty="0"/>
              <a:t>broadest influence </a:t>
            </a:r>
            <a:r>
              <a:rPr lang="en-US" sz="2000" dirty="0"/>
              <a:t>on consumer </a:t>
            </a:r>
            <a:r>
              <a:rPr lang="en-US" sz="2000" dirty="0" err="1"/>
              <a:t>behaviour</a:t>
            </a:r>
            <a:r>
              <a:rPr lang="en-US" sz="2000" dirty="0"/>
              <a:t> and consists of values, beliefs, customs, and traditions shared by a group of people. It dictates:</a:t>
            </a:r>
          </a:p>
          <a:p>
            <a:pPr>
              <a:spcBef>
                <a:spcPts val="600"/>
              </a:spcBef>
              <a:spcAft>
                <a:spcPts val="600"/>
              </a:spcAft>
              <a:buFont typeface="Arial" panose="020B0604020202020204" pitchFamily="34" charset="0"/>
              <a:buChar char="•"/>
            </a:pPr>
            <a:r>
              <a:rPr lang="en-US" sz="1800" i="1" dirty="0"/>
              <a:t>What products are acceptable (e.g., </a:t>
            </a:r>
            <a:r>
              <a:rPr lang="en-US" sz="1800" b="1" i="1" dirty="0"/>
              <a:t>food preferences vary by region</a:t>
            </a:r>
            <a:r>
              <a:rPr lang="en-US" sz="1800" i="1" dirty="0"/>
              <a:t>).</a:t>
            </a:r>
          </a:p>
          <a:p>
            <a:pPr>
              <a:spcBef>
                <a:spcPts val="600"/>
              </a:spcBef>
              <a:spcAft>
                <a:spcPts val="600"/>
              </a:spcAft>
              <a:buFont typeface="Arial" panose="020B0604020202020204" pitchFamily="34" charset="0"/>
              <a:buChar char="•"/>
            </a:pPr>
            <a:r>
              <a:rPr lang="en-US" sz="1800" i="1" dirty="0"/>
              <a:t>How products are used (e.g., </a:t>
            </a:r>
            <a:r>
              <a:rPr lang="en-US" sz="1800" b="1" i="1" dirty="0"/>
              <a:t>gift-giving traditions</a:t>
            </a:r>
            <a:r>
              <a:rPr lang="en-US" sz="1800" i="1" dirty="0"/>
              <a:t>).</a:t>
            </a:r>
          </a:p>
          <a:p>
            <a:pPr>
              <a:spcBef>
                <a:spcPts val="600"/>
              </a:spcBef>
              <a:spcAft>
                <a:spcPts val="600"/>
              </a:spcAft>
              <a:buFont typeface="Arial" panose="020B0604020202020204" pitchFamily="34" charset="0"/>
              <a:buChar char="•"/>
            </a:pPr>
            <a:r>
              <a:rPr lang="en-US" sz="1800" i="1" dirty="0"/>
              <a:t>Attitudes toward materialism, saving, and spending.</a:t>
            </a:r>
            <a:endParaRPr lang="en-US" sz="2000" i="1" dirty="0"/>
          </a:p>
        </p:txBody>
      </p:sp>
    </p:spTree>
    <p:extLst>
      <p:ext uri="{BB962C8B-B14F-4D97-AF65-F5344CB8AC3E}">
        <p14:creationId xmlns:p14="http://schemas.microsoft.com/office/powerpoint/2010/main" val="37774995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DCBE097B-434D-DF7E-8140-F06206C216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5545F2-C752-604E-6BCA-A78B4EBE9FC3}"/>
              </a:ext>
            </a:extLst>
          </p:cNvPr>
          <p:cNvSpPr>
            <a:spLocks noGrp="1"/>
          </p:cNvSpPr>
          <p:nvPr>
            <p:ph type="title"/>
          </p:nvPr>
        </p:nvSpPr>
        <p:spPr/>
        <p:txBody>
          <a:bodyPr/>
          <a:lstStyle/>
          <a:p>
            <a:pPr marL="101600" indent="0">
              <a:buNone/>
            </a:pPr>
            <a:r>
              <a:rPr lang="en-US" sz="3200" b="1" dirty="0">
                <a:solidFill>
                  <a:srgbClr val="007FA3"/>
                </a:solidFill>
              </a:rPr>
              <a:t>Characteristics affecting consumer </a:t>
            </a:r>
            <a:r>
              <a:rPr lang="en-US" sz="3200" b="1" dirty="0" err="1">
                <a:solidFill>
                  <a:srgbClr val="007FA3"/>
                </a:solidFill>
              </a:rPr>
              <a:t>behaviour</a:t>
            </a:r>
            <a:endParaRPr lang="en-US" sz="3200" b="1" dirty="0">
              <a:solidFill>
                <a:srgbClr val="007FA3"/>
              </a:solidFill>
            </a:endParaRPr>
          </a:p>
        </p:txBody>
      </p:sp>
      <p:sp>
        <p:nvSpPr>
          <p:cNvPr id="3" name="Text Placeholder 2">
            <a:extLst>
              <a:ext uri="{FF2B5EF4-FFF2-40B4-BE49-F238E27FC236}">
                <a16:creationId xmlns:a16="http://schemas.microsoft.com/office/drawing/2014/main" id="{11F24E0E-11F3-9F07-751D-EE5705A6E298}"/>
              </a:ext>
            </a:extLst>
          </p:cNvPr>
          <p:cNvSpPr>
            <a:spLocks noGrp="1"/>
          </p:cNvSpPr>
          <p:nvPr>
            <p:ph type="body" idx="4294967295"/>
          </p:nvPr>
        </p:nvSpPr>
        <p:spPr>
          <a:xfrm>
            <a:off x="457199" y="1166018"/>
            <a:ext cx="8229599" cy="4525963"/>
          </a:xfrm>
        </p:spPr>
        <p:txBody>
          <a:bodyPr/>
          <a:lstStyle/>
          <a:p>
            <a:pPr marL="101600" indent="0">
              <a:buNone/>
            </a:pPr>
            <a:r>
              <a:rPr lang="en-US" sz="2400" b="1" dirty="0">
                <a:solidFill>
                  <a:srgbClr val="00B0F0"/>
                </a:solidFill>
              </a:rPr>
              <a:t>Cultural factors</a:t>
            </a:r>
          </a:p>
          <a:p>
            <a:pPr marL="88900" indent="12700">
              <a:buNone/>
            </a:pPr>
            <a:r>
              <a:rPr lang="en-US" altLang="en-US" sz="2000" b="1" dirty="0">
                <a:solidFill>
                  <a:srgbClr val="F25B33"/>
                </a:solidFill>
                <a:latin typeface="Verdana" pitchFamily="34" charset="0"/>
                <a:ea typeface="Verdana" pitchFamily="34" charset="0"/>
                <a:cs typeface="Verdana" pitchFamily="34" charset="0"/>
              </a:rPr>
              <a:t>Sub-Cultural group</a:t>
            </a:r>
            <a:r>
              <a:rPr lang="en-US" altLang="en-US" sz="2000" dirty="0">
                <a:latin typeface="Verdana" pitchFamily="34" charset="0"/>
                <a:ea typeface="Verdana" pitchFamily="34" charset="0"/>
                <a:cs typeface="Verdana" pitchFamily="34" charset="0"/>
              </a:rPr>
              <a:t> </a:t>
            </a:r>
            <a:br>
              <a:rPr lang="en-US" altLang="en-US" sz="2000" dirty="0">
                <a:latin typeface="Verdana" pitchFamily="34" charset="0"/>
                <a:ea typeface="Verdana" pitchFamily="34" charset="0"/>
                <a:cs typeface="Verdana" pitchFamily="34" charset="0"/>
              </a:rPr>
            </a:br>
            <a:r>
              <a:rPr lang="en-US" sz="2000" dirty="0"/>
              <a:t>Subcultures are groups within a larger culture that share unique values and behaviors. They can be based on:</a:t>
            </a:r>
          </a:p>
          <a:p>
            <a:pPr>
              <a:buFont typeface="Arial" panose="020B0604020202020204" pitchFamily="34" charset="0"/>
              <a:buChar char="•"/>
            </a:pPr>
            <a:r>
              <a:rPr lang="en-US" sz="1800" b="1" dirty="0"/>
              <a:t>Ethnicity</a:t>
            </a:r>
            <a:r>
              <a:rPr lang="en-US" sz="1800" dirty="0"/>
              <a:t> (e.g., Latin American consumers may prefer specific food brands).</a:t>
            </a:r>
          </a:p>
          <a:p>
            <a:pPr>
              <a:buFont typeface="Arial" panose="020B0604020202020204" pitchFamily="34" charset="0"/>
              <a:buChar char="•"/>
            </a:pPr>
            <a:r>
              <a:rPr lang="en-US" sz="1800" b="1" dirty="0"/>
              <a:t>Religion</a:t>
            </a:r>
            <a:r>
              <a:rPr lang="en-US" sz="1800" dirty="0"/>
              <a:t> (e.g., Halal or Kosher food products cater to Muslim and Jewish consumers).</a:t>
            </a:r>
          </a:p>
          <a:p>
            <a:pPr>
              <a:buFont typeface="Arial" panose="020B0604020202020204" pitchFamily="34" charset="0"/>
              <a:buChar char="•"/>
            </a:pPr>
            <a:r>
              <a:rPr lang="en-US" sz="1800" b="1" dirty="0"/>
              <a:t>Geography</a:t>
            </a:r>
            <a:r>
              <a:rPr lang="en-US" sz="1800" dirty="0"/>
              <a:t> (e.g., Rural vs. urban consumers have different shopping habits).</a:t>
            </a:r>
          </a:p>
          <a:p>
            <a:pPr>
              <a:buFont typeface="Arial" panose="020B0604020202020204" pitchFamily="34" charset="0"/>
              <a:buChar char="•"/>
            </a:pPr>
            <a:r>
              <a:rPr lang="en-US" sz="1800" b="1" dirty="0"/>
              <a:t>Generational Differences</a:t>
            </a:r>
            <a:r>
              <a:rPr lang="en-US" sz="1800" dirty="0"/>
              <a:t> (e.g., Millennials vs. Baby Boomers prefer different marketing approaches).</a:t>
            </a:r>
          </a:p>
          <a:p>
            <a:pPr marL="215900" lvl="1" indent="0" eaLnBrk="1" hangingPunct="1">
              <a:spcBef>
                <a:spcPts val="600"/>
              </a:spcBef>
              <a:spcAft>
                <a:spcPts val="600"/>
              </a:spcAft>
              <a:buClr>
                <a:srgbClr val="00638A"/>
              </a:buClr>
              <a:buNone/>
              <a:tabLst>
                <a:tab pos="1828800" algn="l"/>
              </a:tabLst>
            </a:pPr>
            <a:endParaRPr lang="en-AU" altLang="en-US" sz="2000" dirty="0">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13212918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63C09A0D-670F-44EB-E886-8DA118867E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2908C1-4D6B-DF84-25ED-0DBC2ED9B2BC}"/>
              </a:ext>
            </a:extLst>
          </p:cNvPr>
          <p:cNvSpPr>
            <a:spLocks noGrp="1"/>
          </p:cNvSpPr>
          <p:nvPr>
            <p:ph type="title"/>
          </p:nvPr>
        </p:nvSpPr>
        <p:spPr/>
        <p:txBody>
          <a:bodyPr/>
          <a:lstStyle/>
          <a:p>
            <a:pPr marL="101600" indent="0">
              <a:buNone/>
            </a:pPr>
            <a:r>
              <a:rPr lang="en-US" sz="3200" b="1" dirty="0">
                <a:solidFill>
                  <a:srgbClr val="007FA3"/>
                </a:solidFill>
              </a:rPr>
              <a:t>Characteristics affecting consumer </a:t>
            </a:r>
            <a:r>
              <a:rPr lang="en-US" sz="3200" b="1" dirty="0" err="1">
                <a:solidFill>
                  <a:srgbClr val="007FA3"/>
                </a:solidFill>
              </a:rPr>
              <a:t>behaviour</a:t>
            </a:r>
            <a:endParaRPr lang="en-US" sz="3200" b="1" dirty="0">
              <a:solidFill>
                <a:srgbClr val="007FA3"/>
              </a:solidFill>
            </a:endParaRPr>
          </a:p>
        </p:txBody>
      </p:sp>
      <p:sp>
        <p:nvSpPr>
          <p:cNvPr id="3" name="Text Placeholder 2">
            <a:extLst>
              <a:ext uri="{FF2B5EF4-FFF2-40B4-BE49-F238E27FC236}">
                <a16:creationId xmlns:a16="http://schemas.microsoft.com/office/drawing/2014/main" id="{FFFE933E-0B3C-9EC7-3FC4-367F4DEDBF94}"/>
              </a:ext>
            </a:extLst>
          </p:cNvPr>
          <p:cNvSpPr>
            <a:spLocks noGrp="1"/>
          </p:cNvSpPr>
          <p:nvPr>
            <p:ph type="body" idx="4294967295"/>
          </p:nvPr>
        </p:nvSpPr>
        <p:spPr>
          <a:xfrm>
            <a:off x="457199" y="1166018"/>
            <a:ext cx="8229599" cy="4525963"/>
          </a:xfrm>
        </p:spPr>
        <p:txBody>
          <a:bodyPr/>
          <a:lstStyle/>
          <a:p>
            <a:pPr marL="101600" indent="0">
              <a:spcBef>
                <a:spcPts val="600"/>
              </a:spcBef>
              <a:spcAft>
                <a:spcPts val="600"/>
              </a:spcAft>
              <a:buNone/>
            </a:pPr>
            <a:r>
              <a:rPr lang="en-US" sz="2400" b="1" dirty="0">
                <a:solidFill>
                  <a:srgbClr val="00B0F0"/>
                </a:solidFill>
              </a:rPr>
              <a:t>Cultural factors</a:t>
            </a:r>
          </a:p>
          <a:p>
            <a:pPr marL="88900" lvl="1" indent="0" eaLnBrk="1" hangingPunct="1">
              <a:spcAft>
                <a:spcPts val="600"/>
              </a:spcAft>
              <a:buClr>
                <a:srgbClr val="00638A"/>
              </a:buClr>
              <a:buNone/>
              <a:tabLst>
                <a:tab pos="1828800" algn="l"/>
              </a:tabLst>
            </a:pPr>
            <a:r>
              <a:rPr lang="en-AU" altLang="en-US" sz="2000" b="1" dirty="0">
                <a:solidFill>
                  <a:srgbClr val="F25B33"/>
                </a:solidFill>
                <a:latin typeface="Verdana" pitchFamily="34" charset="0"/>
                <a:ea typeface="Verdana" pitchFamily="34" charset="0"/>
                <a:cs typeface="Verdana" pitchFamily="34" charset="0"/>
              </a:rPr>
              <a:t>S</a:t>
            </a:r>
            <a:r>
              <a:rPr lang="en-US" altLang="en-US" sz="2000" b="1" dirty="0" err="1">
                <a:solidFill>
                  <a:srgbClr val="F25B33"/>
                </a:solidFill>
                <a:latin typeface="Verdana" pitchFamily="34" charset="0"/>
                <a:ea typeface="Verdana" pitchFamily="34" charset="0"/>
                <a:cs typeface="Verdana" pitchFamily="34" charset="0"/>
              </a:rPr>
              <a:t>ocial</a:t>
            </a:r>
            <a:r>
              <a:rPr lang="en-US" altLang="en-US" sz="2000" b="1" dirty="0">
                <a:solidFill>
                  <a:srgbClr val="F25B33"/>
                </a:solidFill>
                <a:latin typeface="Verdana" pitchFamily="34" charset="0"/>
                <a:ea typeface="Verdana" pitchFamily="34" charset="0"/>
                <a:cs typeface="Verdana" pitchFamily="34" charset="0"/>
              </a:rPr>
              <a:t> classes </a:t>
            </a:r>
            <a:br>
              <a:rPr lang="en-US" altLang="en-US" sz="2000" b="1" dirty="0">
                <a:solidFill>
                  <a:srgbClr val="F25B33"/>
                </a:solidFill>
                <a:latin typeface="Verdana" pitchFamily="34" charset="0"/>
                <a:ea typeface="Verdana" pitchFamily="34" charset="0"/>
                <a:cs typeface="Verdana" pitchFamily="34" charset="0"/>
              </a:rPr>
            </a:br>
            <a:r>
              <a:rPr lang="en-US" altLang="en-US" sz="2000" dirty="0">
                <a:latin typeface="Verdana" pitchFamily="34" charset="0"/>
                <a:ea typeface="Verdana" pitchFamily="34" charset="0"/>
                <a:cs typeface="Verdana" pitchFamily="34" charset="0"/>
              </a:rPr>
              <a:t>are relatively permanent and ordered divisions in a society, whose members </a:t>
            </a:r>
            <a:r>
              <a:rPr lang="en-US" altLang="en-US" sz="2000" dirty="0">
                <a:latin typeface="Verdana" pitchFamily="34" charset="0"/>
                <a:ea typeface="Verdana" pitchFamily="34" charset="0"/>
              </a:rPr>
              <a:t>share similar values, interests and behaviours. </a:t>
            </a:r>
            <a:r>
              <a:rPr lang="en-US" sz="2000" dirty="0">
                <a:latin typeface="Verdana" pitchFamily="34" charset="0"/>
                <a:ea typeface="Verdana" pitchFamily="34" charset="0"/>
              </a:rPr>
              <a:t>Social class influences spending habits, brand preferences, and product choices. It is often determined by:</a:t>
            </a:r>
          </a:p>
          <a:p>
            <a:pPr>
              <a:spcBef>
                <a:spcPts val="600"/>
              </a:spcBef>
              <a:spcAft>
                <a:spcPts val="600"/>
              </a:spcAft>
              <a:buFont typeface="Arial" panose="020B0604020202020204" pitchFamily="34" charset="0"/>
              <a:buChar char="•"/>
            </a:pPr>
            <a:r>
              <a:rPr lang="en-US" sz="1800" b="1" dirty="0"/>
              <a:t>Income level</a:t>
            </a:r>
            <a:endParaRPr lang="en-US" sz="1800" dirty="0"/>
          </a:p>
          <a:p>
            <a:pPr>
              <a:spcBef>
                <a:spcPts val="600"/>
              </a:spcBef>
              <a:spcAft>
                <a:spcPts val="600"/>
              </a:spcAft>
              <a:buFont typeface="Arial" panose="020B0604020202020204" pitchFamily="34" charset="0"/>
              <a:buChar char="•"/>
            </a:pPr>
            <a:r>
              <a:rPr lang="en-US" sz="1800" b="1" dirty="0"/>
              <a:t>Education</a:t>
            </a:r>
            <a:endParaRPr lang="en-US" sz="1800" dirty="0"/>
          </a:p>
          <a:p>
            <a:pPr>
              <a:spcBef>
                <a:spcPts val="600"/>
              </a:spcBef>
              <a:spcAft>
                <a:spcPts val="600"/>
              </a:spcAft>
              <a:buFont typeface="Arial" panose="020B0604020202020204" pitchFamily="34" charset="0"/>
              <a:buChar char="•"/>
            </a:pPr>
            <a:r>
              <a:rPr lang="en-US" sz="1800" b="1" dirty="0"/>
              <a:t>Occupation</a:t>
            </a:r>
          </a:p>
          <a:p>
            <a:pPr>
              <a:spcBef>
                <a:spcPts val="600"/>
              </a:spcBef>
              <a:spcAft>
                <a:spcPts val="600"/>
              </a:spcAft>
              <a:buFont typeface="Arial" panose="020B0604020202020204" pitchFamily="34" charset="0"/>
              <a:buChar char="•"/>
            </a:pPr>
            <a:r>
              <a:rPr lang="en-US" sz="1800" b="1" dirty="0"/>
              <a:t>Wealth</a:t>
            </a:r>
            <a:endParaRPr lang="en-US" sz="1800" dirty="0"/>
          </a:p>
          <a:p>
            <a:pPr>
              <a:spcBef>
                <a:spcPts val="600"/>
              </a:spcBef>
              <a:spcAft>
                <a:spcPts val="600"/>
              </a:spcAft>
              <a:buFont typeface="Arial" panose="020B0604020202020204" pitchFamily="34" charset="0"/>
              <a:buChar char="•"/>
            </a:pPr>
            <a:r>
              <a:rPr lang="en-US" sz="1800" b="1" dirty="0"/>
              <a:t>Lifestyle preferences</a:t>
            </a:r>
            <a:endParaRPr lang="en-US" sz="1800" dirty="0"/>
          </a:p>
          <a:p>
            <a:pPr marL="558800" lvl="1" indent="-342900" eaLnBrk="1" hangingPunct="1">
              <a:spcAft>
                <a:spcPts val="600"/>
              </a:spcAft>
              <a:buClr>
                <a:srgbClr val="00638A"/>
              </a:buClr>
              <a:buFont typeface="Wingdings" panose="05000000000000000000" pitchFamily="2" charset="2"/>
              <a:buChar char="Ø"/>
              <a:tabLst>
                <a:tab pos="1828800" algn="l"/>
              </a:tabLst>
            </a:pPr>
            <a:endParaRPr lang="en-AU" altLang="en-US" sz="2000" dirty="0">
              <a:latin typeface="Verdana" pitchFamily="34" charset="0"/>
              <a:ea typeface="Verdana" pitchFamily="34" charset="0"/>
            </a:endParaRPr>
          </a:p>
        </p:txBody>
      </p:sp>
    </p:spTree>
    <p:extLst>
      <p:ext uri="{BB962C8B-B14F-4D97-AF65-F5344CB8AC3E}">
        <p14:creationId xmlns:p14="http://schemas.microsoft.com/office/powerpoint/2010/main" val="33917399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2" name="Title 1">
            <a:extLst>
              <a:ext uri="{FF2B5EF4-FFF2-40B4-BE49-F238E27FC236}">
                <a16:creationId xmlns:a16="http://schemas.microsoft.com/office/drawing/2014/main" id="{F5E30427-4547-4715-9C31-D129FE43C7C1}"/>
              </a:ext>
            </a:extLst>
          </p:cNvPr>
          <p:cNvSpPr>
            <a:spLocks noGrp="1"/>
          </p:cNvSpPr>
          <p:nvPr>
            <p:ph type="title"/>
          </p:nvPr>
        </p:nvSpPr>
        <p:spPr/>
        <p:txBody>
          <a:bodyPr/>
          <a:lstStyle/>
          <a:p>
            <a:r>
              <a:rPr lang="en-US" sz="3200" dirty="0"/>
              <a:t>Consumer markets and consumer behaviour</a:t>
            </a:r>
            <a:endParaRPr lang="en-US" sz="2000" dirty="0"/>
          </a:p>
        </p:txBody>
      </p:sp>
      <p:sp>
        <p:nvSpPr>
          <p:cNvPr id="3" name="Text Placeholder 2">
            <a:extLst>
              <a:ext uri="{FF2B5EF4-FFF2-40B4-BE49-F238E27FC236}">
                <a16:creationId xmlns:a16="http://schemas.microsoft.com/office/drawing/2014/main" id="{C7697BCC-A93B-4430-8CDA-E7B6FF3D13DA}"/>
              </a:ext>
            </a:extLst>
          </p:cNvPr>
          <p:cNvSpPr>
            <a:spLocks noGrp="1"/>
          </p:cNvSpPr>
          <p:nvPr>
            <p:ph type="body" idx="4294967295"/>
          </p:nvPr>
        </p:nvSpPr>
        <p:spPr>
          <a:xfrm>
            <a:off x="457201" y="1237235"/>
            <a:ext cx="8229599" cy="4525963"/>
          </a:xfrm>
        </p:spPr>
        <p:txBody>
          <a:bodyPr/>
          <a:lstStyle/>
          <a:p>
            <a:pPr marL="101600" indent="0">
              <a:buNone/>
            </a:pPr>
            <a:r>
              <a:rPr lang="en-US" sz="2200" b="1" dirty="0">
                <a:solidFill>
                  <a:srgbClr val="00B0F0"/>
                </a:solidFill>
              </a:rPr>
              <a:t>Social factors</a:t>
            </a:r>
          </a:p>
          <a:p>
            <a:pPr algn="l">
              <a:spcBef>
                <a:spcPts val="600"/>
              </a:spcBef>
              <a:spcAft>
                <a:spcPts val="600"/>
              </a:spcAft>
            </a:pPr>
            <a:r>
              <a:rPr lang="en-NZ" sz="2000" i="0" u="none" strike="noStrike" baseline="0" dirty="0">
                <a:solidFill>
                  <a:schemeClr val="tx1"/>
                </a:solidFill>
                <a:latin typeface="+mj-lt"/>
              </a:rPr>
              <a:t>Social factors include the consumer’s small groups, family, social role and social status.</a:t>
            </a:r>
          </a:p>
          <a:p>
            <a:pPr marL="622300" indent="-355600" algn="l">
              <a:spcBef>
                <a:spcPts val="600"/>
              </a:spcBef>
              <a:spcAft>
                <a:spcPts val="600"/>
              </a:spcAft>
              <a:buFont typeface="Wingdings" panose="05000000000000000000" pitchFamily="2" charset="2"/>
              <a:buChar char="Ø"/>
            </a:pPr>
            <a:r>
              <a:rPr lang="en-NZ" sz="2000" b="1" dirty="0">
                <a:solidFill>
                  <a:srgbClr val="F25B33"/>
                </a:solidFill>
                <a:latin typeface="Verdana" pitchFamily="34" charset="0"/>
                <a:ea typeface="Verdana" pitchFamily="34" charset="0"/>
              </a:rPr>
              <a:t>Family: </a:t>
            </a:r>
            <a:br>
              <a:rPr lang="en-NZ" sz="2000" dirty="0">
                <a:solidFill>
                  <a:schemeClr val="tx1"/>
                </a:solidFill>
                <a:latin typeface="+mj-lt"/>
              </a:rPr>
            </a:br>
            <a:r>
              <a:rPr lang="en-NZ" sz="2000" dirty="0">
                <a:solidFill>
                  <a:schemeClr val="tx1"/>
                </a:solidFill>
                <a:latin typeface="+mj-lt"/>
              </a:rPr>
              <a:t>Strongly </a:t>
            </a:r>
            <a:r>
              <a:rPr lang="en-NZ" sz="2000" i="0" u="none" strike="noStrike" baseline="0" dirty="0">
                <a:solidFill>
                  <a:schemeClr val="tx1"/>
                </a:solidFill>
                <a:latin typeface="+mj-lt"/>
              </a:rPr>
              <a:t>influence buyer behaviour.</a:t>
            </a:r>
          </a:p>
          <a:p>
            <a:pPr marL="622300" indent="-355600">
              <a:spcBef>
                <a:spcPts val="600"/>
              </a:spcBef>
              <a:spcAft>
                <a:spcPts val="600"/>
              </a:spcAft>
              <a:buFont typeface="Wingdings" panose="05000000000000000000" pitchFamily="2" charset="2"/>
              <a:buChar char="Ø"/>
            </a:pPr>
            <a:r>
              <a:rPr lang="en-NZ" sz="2000" b="1" dirty="0">
                <a:solidFill>
                  <a:srgbClr val="F25B33"/>
                </a:solidFill>
                <a:latin typeface="Verdana" pitchFamily="34" charset="0"/>
                <a:ea typeface="Verdana" pitchFamily="34" charset="0"/>
              </a:rPr>
              <a:t>Roles and status: </a:t>
            </a:r>
            <a:br>
              <a:rPr lang="en-NZ" sz="2000" b="1" dirty="0">
                <a:solidFill>
                  <a:srgbClr val="002A7E"/>
                </a:solidFill>
                <a:latin typeface="+mj-lt"/>
              </a:rPr>
            </a:br>
            <a:r>
              <a:rPr lang="en-US" sz="2000" dirty="0">
                <a:latin typeface="+mj-lt"/>
              </a:rPr>
              <a:t>Role and status can be defined by a person’s position in a group. </a:t>
            </a:r>
            <a:br>
              <a:rPr lang="en-NZ" sz="2000" b="1" dirty="0">
                <a:solidFill>
                  <a:srgbClr val="002A7E"/>
                </a:solidFill>
                <a:latin typeface="+mj-lt"/>
              </a:rPr>
            </a:br>
            <a:r>
              <a:rPr lang="en-NZ" sz="2000" b="0" i="0" u="none" strike="noStrike" baseline="0" dirty="0">
                <a:latin typeface="+mj-lt"/>
              </a:rPr>
              <a:t>People usually choose products appropriate to their roles and status</a:t>
            </a:r>
            <a:r>
              <a:rPr lang="en-NZ" sz="2000" i="0" u="none" strike="noStrike" baseline="0" dirty="0">
                <a:solidFill>
                  <a:schemeClr val="tx1"/>
                </a:solidFill>
                <a:latin typeface="+mj-lt"/>
              </a:rPr>
              <a:t>.</a:t>
            </a:r>
          </a:p>
          <a:p>
            <a:pPr marL="622300" indent="-355600">
              <a:spcBef>
                <a:spcPts val="600"/>
              </a:spcBef>
              <a:spcAft>
                <a:spcPts val="600"/>
              </a:spcAft>
              <a:buFont typeface="Wingdings" panose="05000000000000000000" pitchFamily="2" charset="2"/>
              <a:buChar char="Ø"/>
            </a:pPr>
            <a:r>
              <a:rPr lang="en-NZ" sz="2000" b="1" dirty="0">
                <a:solidFill>
                  <a:srgbClr val="F25B33"/>
                </a:solidFill>
                <a:latin typeface="Verdana" pitchFamily="34" charset="0"/>
                <a:ea typeface="Verdana" pitchFamily="34" charset="0"/>
              </a:rPr>
              <a:t>Groups and social networks: </a:t>
            </a:r>
            <a:br>
              <a:rPr lang="en-NZ" sz="2000" b="1" dirty="0">
                <a:solidFill>
                  <a:srgbClr val="F25B33"/>
                </a:solidFill>
                <a:latin typeface="Verdana" pitchFamily="34" charset="0"/>
                <a:ea typeface="Verdana" pitchFamily="34" charset="0"/>
              </a:rPr>
            </a:br>
            <a:r>
              <a:rPr lang="en-NZ" sz="2000" i="0" u="none" strike="noStrike" baseline="0" dirty="0">
                <a:solidFill>
                  <a:schemeClr val="tx1"/>
                </a:solidFill>
                <a:latin typeface="+mj-lt"/>
              </a:rPr>
              <a:t>Many small groups influence a person’s behaviour, such as:</a:t>
            </a:r>
          </a:p>
        </p:txBody>
      </p:sp>
      <p:graphicFrame>
        <p:nvGraphicFramePr>
          <p:cNvPr id="4" name="Table 4">
            <a:extLst>
              <a:ext uri="{FF2B5EF4-FFF2-40B4-BE49-F238E27FC236}">
                <a16:creationId xmlns:a16="http://schemas.microsoft.com/office/drawing/2014/main" id="{2848D9BA-1BA5-46A7-8F7A-01C056C508AC}"/>
              </a:ext>
            </a:extLst>
          </p:cNvPr>
          <p:cNvGraphicFramePr>
            <a:graphicFrameLocks noGrp="1"/>
          </p:cNvGraphicFramePr>
          <p:nvPr>
            <p:extLst>
              <p:ext uri="{D42A27DB-BD31-4B8C-83A1-F6EECF244321}">
                <p14:modId xmlns:p14="http://schemas.microsoft.com/office/powerpoint/2010/main" val="3603375465"/>
              </p:ext>
            </p:extLst>
          </p:nvPr>
        </p:nvGraphicFramePr>
        <p:xfrm>
          <a:off x="982799" y="5277944"/>
          <a:ext cx="7704000" cy="756745"/>
        </p:xfrm>
        <a:graphic>
          <a:graphicData uri="http://schemas.openxmlformats.org/drawingml/2006/table">
            <a:tbl>
              <a:tblPr firstRow="1" bandRow="1">
                <a:tableStyleId>{2D5ABB26-0587-4C30-8999-92F81FD0307C}</a:tableStyleId>
              </a:tblPr>
              <a:tblGrid>
                <a:gridCol w="3852000">
                  <a:extLst>
                    <a:ext uri="{9D8B030D-6E8A-4147-A177-3AD203B41FA5}">
                      <a16:colId xmlns:a16="http://schemas.microsoft.com/office/drawing/2014/main" val="2038094738"/>
                    </a:ext>
                  </a:extLst>
                </a:gridCol>
                <a:gridCol w="3852000">
                  <a:extLst>
                    <a:ext uri="{9D8B030D-6E8A-4147-A177-3AD203B41FA5}">
                      <a16:colId xmlns:a16="http://schemas.microsoft.com/office/drawing/2014/main" val="1478643242"/>
                    </a:ext>
                  </a:extLst>
                </a:gridCol>
              </a:tblGrid>
              <a:tr h="322893">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NZ" sz="1800" b="0" u="none" strike="noStrike" cap="none" baseline="0" dirty="0">
                          <a:solidFill>
                            <a:schemeClr val="tx1"/>
                          </a:solidFill>
                          <a:sym typeface="Arial"/>
                        </a:rPr>
                        <a:t>reference groups</a:t>
                      </a: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NZ" sz="1800" b="0" u="none" strike="noStrike" cap="none" dirty="0">
                          <a:solidFill>
                            <a:schemeClr val="tx1"/>
                          </a:solidFill>
                          <a:sym typeface="Arial"/>
                        </a:rPr>
                        <a:t>opinion leaders</a:t>
                      </a:r>
                      <a:endParaRPr lang="en-NZ" sz="1800" b="0" i="0" u="none" strike="noStrike" cap="none" dirty="0">
                        <a:solidFill>
                          <a:schemeClr val="tx1"/>
                        </a:solidFill>
                        <a:latin typeface="Arial"/>
                        <a:ea typeface="Arial"/>
                        <a:cs typeface="Arial"/>
                        <a:sym typeface="Arial"/>
                      </a:endParaRPr>
                    </a:p>
                  </a:txBody>
                  <a:tcPr/>
                </a:tc>
                <a:extLst>
                  <a:ext uri="{0D108BD9-81ED-4DB2-BD59-A6C34878D82A}">
                    <a16:rowId xmlns:a16="http://schemas.microsoft.com/office/drawing/2014/main" val="112543201"/>
                  </a:ext>
                </a:extLst>
              </a:tr>
              <a:tr h="390985">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NZ" sz="1800" b="0" u="none" strike="noStrike" cap="none" baseline="0" dirty="0">
                          <a:solidFill>
                            <a:schemeClr val="tx1"/>
                          </a:solidFill>
                          <a:sym typeface="Arial"/>
                        </a:rPr>
                        <a:t>aspirational groups</a:t>
                      </a: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NZ" sz="1800" b="0" u="none" strike="noStrike" cap="none" baseline="0" dirty="0">
                          <a:solidFill>
                            <a:schemeClr val="tx1"/>
                          </a:solidFill>
                          <a:sym typeface="Arial"/>
                        </a:rPr>
                        <a:t>online social </a:t>
                      </a:r>
                      <a:r>
                        <a:rPr lang="en-NZ" sz="1800" b="0" u="none" strike="noStrike" cap="none" dirty="0">
                          <a:solidFill>
                            <a:schemeClr val="tx1"/>
                          </a:solidFill>
                          <a:sym typeface="Arial"/>
                        </a:rPr>
                        <a:t>networks.</a:t>
                      </a:r>
                      <a:endParaRPr lang="en-NZ" sz="1800" b="0" u="none" strike="noStrike" cap="none" baseline="0" dirty="0">
                        <a:solidFill>
                          <a:schemeClr val="tx1"/>
                        </a:solidFill>
                        <a:sym typeface="Arial"/>
                      </a:endParaRPr>
                    </a:p>
                  </a:txBody>
                  <a:tcPr/>
                </a:tc>
                <a:extLst>
                  <a:ext uri="{0D108BD9-81ED-4DB2-BD59-A6C34878D82A}">
                    <a16:rowId xmlns:a16="http://schemas.microsoft.com/office/drawing/2014/main" val="1736838184"/>
                  </a:ext>
                </a:extLst>
              </a:tr>
            </a:tbl>
          </a:graphicData>
        </a:graphic>
      </p:graphicFrame>
    </p:spTree>
    <p:extLst>
      <p:ext uri="{BB962C8B-B14F-4D97-AF65-F5344CB8AC3E}">
        <p14:creationId xmlns:p14="http://schemas.microsoft.com/office/powerpoint/2010/main" val="22330298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2" name="Title 1">
            <a:extLst>
              <a:ext uri="{FF2B5EF4-FFF2-40B4-BE49-F238E27FC236}">
                <a16:creationId xmlns:a16="http://schemas.microsoft.com/office/drawing/2014/main" id="{F5E30427-4547-4715-9C31-D129FE43C7C1}"/>
              </a:ext>
            </a:extLst>
          </p:cNvPr>
          <p:cNvSpPr>
            <a:spLocks noGrp="1"/>
          </p:cNvSpPr>
          <p:nvPr>
            <p:ph type="title"/>
          </p:nvPr>
        </p:nvSpPr>
        <p:spPr/>
        <p:txBody>
          <a:bodyPr/>
          <a:lstStyle/>
          <a:p>
            <a:r>
              <a:rPr lang="en-US" sz="3200" dirty="0"/>
              <a:t>Consumer markets and consumer behaviour</a:t>
            </a:r>
            <a:endParaRPr lang="en-US" sz="2000" dirty="0"/>
          </a:p>
        </p:txBody>
      </p:sp>
      <p:sp>
        <p:nvSpPr>
          <p:cNvPr id="3" name="Text Placeholder 2">
            <a:extLst>
              <a:ext uri="{FF2B5EF4-FFF2-40B4-BE49-F238E27FC236}">
                <a16:creationId xmlns:a16="http://schemas.microsoft.com/office/drawing/2014/main" id="{C7697BCC-A93B-4430-8CDA-E7B6FF3D13DA}"/>
              </a:ext>
            </a:extLst>
          </p:cNvPr>
          <p:cNvSpPr>
            <a:spLocks noGrp="1"/>
          </p:cNvSpPr>
          <p:nvPr>
            <p:ph type="body" idx="4294967295"/>
          </p:nvPr>
        </p:nvSpPr>
        <p:spPr>
          <a:xfrm>
            <a:off x="457199" y="1600200"/>
            <a:ext cx="8229599" cy="4525963"/>
          </a:xfrm>
        </p:spPr>
        <p:txBody>
          <a:bodyPr/>
          <a:lstStyle/>
          <a:p>
            <a:pPr marL="101600" indent="0">
              <a:buNone/>
            </a:pPr>
            <a:r>
              <a:rPr lang="en-US" sz="2400" b="1" dirty="0">
                <a:solidFill>
                  <a:srgbClr val="007FA3"/>
                </a:solidFill>
              </a:rPr>
              <a:t>Characteristics affecting consumer </a:t>
            </a:r>
            <a:r>
              <a:rPr lang="en-US" sz="2400" b="1" dirty="0" err="1">
                <a:solidFill>
                  <a:srgbClr val="007FA3"/>
                </a:solidFill>
              </a:rPr>
              <a:t>behaviour</a:t>
            </a:r>
            <a:r>
              <a:rPr lang="en-US" sz="2400" b="1" dirty="0">
                <a:solidFill>
                  <a:srgbClr val="007FA3"/>
                </a:solidFill>
              </a:rPr>
              <a:t> (cont.)</a:t>
            </a:r>
          </a:p>
          <a:p>
            <a:pPr marL="101600" indent="0">
              <a:buNone/>
            </a:pPr>
            <a:r>
              <a:rPr lang="en-US" sz="2200" b="1" dirty="0">
                <a:solidFill>
                  <a:srgbClr val="00B0F0"/>
                </a:solidFill>
              </a:rPr>
              <a:t>Personal factors</a:t>
            </a:r>
          </a:p>
          <a:p>
            <a:pPr marL="533400" indent="-355600" algn="l">
              <a:buFont typeface="Wingdings" panose="05000000000000000000" pitchFamily="2" charset="2"/>
              <a:buChar char="Ø"/>
            </a:pPr>
            <a:r>
              <a:rPr lang="en-NZ" sz="2000" b="1" dirty="0">
                <a:solidFill>
                  <a:srgbClr val="F25B33"/>
                </a:solidFill>
                <a:latin typeface="Verdana" pitchFamily="34" charset="0"/>
                <a:ea typeface="Verdana" pitchFamily="34" charset="0"/>
              </a:rPr>
              <a:t>Buyers’ decisions </a:t>
            </a:r>
            <a:br>
              <a:rPr lang="en-NZ" sz="2000" b="0" i="0" u="none" strike="noStrike" baseline="0" dirty="0">
                <a:latin typeface="+mn-lt"/>
              </a:rPr>
            </a:br>
            <a:r>
              <a:rPr lang="en-NZ" sz="2000" b="0" i="0" u="none" strike="noStrike" baseline="0" dirty="0">
                <a:latin typeface="+mn-lt"/>
              </a:rPr>
              <a:t>are influenced by personal characteristics:</a:t>
            </a:r>
          </a:p>
          <a:p>
            <a:pPr lvl="1">
              <a:buFont typeface="Wingdings" panose="05000000000000000000" pitchFamily="2" charset="2"/>
              <a:buChar char="§"/>
            </a:pPr>
            <a:r>
              <a:rPr lang="en-NZ" sz="2000" b="0" i="0" u="none" strike="noStrike" baseline="0" dirty="0">
                <a:latin typeface="+mn-lt"/>
              </a:rPr>
              <a:t>age and life-cycle stage</a:t>
            </a:r>
          </a:p>
          <a:p>
            <a:pPr lvl="1">
              <a:buFont typeface="Wingdings" panose="05000000000000000000" pitchFamily="2" charset="2"/>
              <a:buChar char="§"/>
            </a:pPr>
            <a:r>
              <a:rPr lang="en-NZ" sz="2000" b="0" i="0" u="none" strike="noStrike" baseline="0" dirty="0">
                <a:latin typeface="+mn-lt"/>
              </a:rPr>
              <a:t>occupation</a:t>
            </a:r>
          </a:p>
          <a:p>
            <a:pPr lvl="1">
              <a:buFont typeface="Wingdings" panose="05000000000000000000" pitchFamily="2" charset="2"/>
              <a:buChar char="§"/>
            </a:pPr>
            <a:r>
              <a:rPr lang="en-NZ" sz="2000" b="0" i="0" u="none" strike="noStrike" baseline="0" dirty="0">
                <a:latin typeface="+mn-lt"/>
              </a:rPr>
              <a:t>education</a:t>
            </a:r>
          </a:p>
          <a:p>
            <a:pPr lvl="1">
              <a:buFont typeface="Wingdings" panose="05000000000000000000" pitchFamily="2" charset="2"/>
              <a:buChar char="§"/>
            </a:pPr>
            <a:r>
              <a:rPr lang="en-NZ" sz="2000" b="0" i="0" u="none" strike="noStrike" baseline="0" dirty="0">
                <a:latin typeface="+mn-lt"/>
              </a:rPr>
              <a:t>economic situation</a:t>
            </a:r>
          </a:p>
          <a:p>
            <a:pPr lvl="1">
              <a:buFont typeface="Wingdings" panose="05000000000000000000" pitchFamily="2" charset="2"/>
              <a:buChar char="§"/>
            </a:pPr>
            <a:r>
              <a:rPr lang="en-NZ" sz="2000" b="0" i="0" u="none" strike="noStrike" baseline="0" dirty="0">
                <a:latin typeface="+mn-lt"/>
              </a:rPr>
              <a:t>lifestyle</a:t>
            </a:r>
          </a:p>
          <a:p>
            <a:pPr lvl="1">
              <a:buFont typeface="Wingdings" panose="05000000000000000000" pitchFamily="2" charset="2"/>
              <a:buChar char="§"/>
            </a:pPr>
            <a:r>
              <a:rPr lang="en-NZ" sz="2000" b="0" i="0" u="none" strike="noStrike" baseline="0" dirty="0">
                <a:latin typeface="+mn-lt"/>
              </a:rPr>
              <a:t>personality</a:t>
            </a:r>
          </a:p>
          <a:p>
            <a:pPr lvl="1">
              <a:buFont typeface="Wingdings" panose="05000000000000000000" pitchFamily="2" charset="2"/>
              <a:buChar char="§"/>
            </a:pPr>
            <a:r>
              <a:rPr lang="en-NZ" sz="2000" b="0" i="0" u="none" strike="noStrike" baseline="0" dirty="0">
                <a:latin typeface="+mn-lt"/>
              </a:rPr>
              <a:t>self-concept.</a:t>
            </a:r>
            <a:endParaRPr lang="en-NZ" sz="2000" i="0" u="none" strike="noStrike" baseline="0" dirty="0">
              <a:solidFill>
                <a:schemeClr val="tx1"/>
              </a:solidFill>
              <a:latin typeface="+mn-lt"/>
            </a:endParaRPr>
          </a:p>
        </p:txBody>
      </p:sp>
    </p:spTree>
    <p:extLst>
      <p:ext uri="{BB962C8B-B14F-4D97-AF65-F5344CB8AC3E}">
        <p14:creationId xmlns:p14="http://schemas.microsoft.com/office/powerpoint/2010/main" val="4256007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2" name="Title 1">
            <a:extLst>
              <a:ext uri="{FF2B5EF4-FFF2-40B4-BE49-F238E27FC236}">
                <a16:creationId xmlns:a16="http://schemas.microsoft.com/office/drawing/2014/main" id="{F5E30427-4547-4715-9C31-D129FE43C7C1}"/>
              </a:ext>
            </a:extLst>
          </p:cNvPr>
          <p:cNvSpPr>
            <a:spLocks noGrp="1"/>
          </p:cNvSpPr>
          <p:nvPr>
            <p:ph type="title"/>
          </p:nvPr>
        </p:nvSpPr>
        <p:spPr/>
        <p:txBody>
          <a:bodyPr/>
          <a:lstStyle/>
          <a:p>
            <a:r>
              <a:rPr lang="en-US" sz="3200" dirty="0"/>
              <a:t>Consumer markets and consumer behaviour</a:t>
            </a:r>
          </a:p>
        </p:txBody>
      </p:sp>
      <p:sp>
        <p:nvSpPr>
          <p:cNvPr id="3" name="Text Placeholder 2">
            <a:extLst>
              <a:ext uri="{FF2B5EF4-FFF2-40B4-BE49-F238E27FC236}">
                <a16:creationId xmlns:a16="http://schemas.microsoft.com/office/drawing/2014/main" id="{C7697BCC-A93B-4430-8CDA-E7B6FF3D13DA}"/>
              </a:ext>
            </a:extLst>
          </p:cNvPr>
          <p:cNvSpPr>
            <a:spLocks noGrp="1"/>
          </p:cNvSpPr>
          <p:nvPr>
            <p:ph type="body" idx="4294967295"/>
          </p:nvPr>
        </p:nvSpPr>
        <p:spPr>
          <a:xfrm>
            <a:off x="457199" y="1318052"/>
            <a:ext cx="8229599" cy="4525963"/>
          </a:xfrm>
        </p:spPr>
        <p:txBody>
          <a:bodyPr/>
          <a:lstStyle/>
          <a:p>
            <a:pPr>
              <a:spcBef>
                <a:spcPts val="600"/>
              </a:spcBef>
              <a:spcAft>
                <a:spcPts val="600"/>
              </a:spcAft>
              <a:buFont typeface="Arial" panose="020B0604020202020204" pitchFamily="34" charset="0"/>
              <a:buChar char="•"/>
            </a:pPr>
            <a:r>
              <a:rPr lang="en-NZ" sz="2000" b="1" dirty="0">
                <a:solidFill>
                  <a:srgbClr val="F25B33"/>
                </a:solidFill>
                <a:latin typeface="Verdana" pitchFamily="34" charset="0"/>
                <a:ea typeface="Verdana" pitchFamily="34" charset="0"/>
              </a:rPr>
              <a:t>Lifestyle</a:t>
            </a:r>
            <a:r>
              <a:rPr lang="en-NZ" sz="2000" b="0" i="0" u="none" strike="noStrike" baseline="0" dirty="0">
                <a:latin typeface="+mn-lt"/>
              </a:rPr>
              <a:t> </a:t>
            </a:r>
            <a:br>
              <a:rPr lang="en-NZ" sz="2000" b="0" i="0" u="none" strike="noStrike" baseline="0" dirty="0">
                <a:latin typeface="+mn-lt"/>
              </a:rPr>
            </a:br>
            <a:r>
              <a:rPr lang="en-NZ" sz="2000" b="0" i="0" u="none" strike="noStrike" baseline="0" dirty="0">
                <a:latin typeface="+mn-lt"/>
              </a:rPr>
              <a:t>is a person’s pattern of living as expressed in his or her </a:t>
            </a:r>
          </a:p>
          <a:p>
            <a:pPr marL="874268" lvl="1" indent="-285750">
              <a:spcAft>
                <a:spcPts val="600"/>
              </a:spcAft>
              <a:buFont typeface="Wingdings" panose="05000000000000000000" pitchFamily="2" charset="2"/>
              <a:buChar char="§"/>
            </a:pPr>
            <a:r>
              <a:rPr lang="en-NZ" sz="1800" b="0" i="0" u="none" strike="noStrike" baseline="0" dirty="0">
                <a:latin typeface="+mn-lt"/>
              </a:rPr>
              <a:t>Activities – fitness, travel, socialising</a:t>
            </a:r>
          </a:p>
          <a:p>
            <a:pPr marL="874268" lvl="1" indent="-285750">
              <a:spcAft>
                <a:spcPts val="600"/>
              </a:spcAft>
              <a:buFont typeface="Wingdings" panose="05000000000000000000" pitchFamily="2" charset="2"/>
              <a:buChar char="§"/>
            </a:pPr>
            <a:r>
              <a:rPr lang="en-NZ" sz="1800" b="0" i="0" u="none" strike="noStrike" baseline="0" dirty="0">
                <a:latin typeface="+mn-lt"/>
              </a:rPr>
              <a:t>Interests – fashion, technology, sustainability </a:t>
            </a:r>
          </a:p>
          <a:p>
            <a:pPr marL="874268" lvl="1" indent="-285750">
              <a:spcAft>
                <a:spcPts val="600"/>
              </a:spcAft>
              <a:buFont typeface="Wingdings" panose="05000000000000000000" pitchFamily="2" charset="2"/>
              <a:buChar char="§"/>
            </a:pPr>
            <a:r>
              <a:rPr lang="en-NZ" sz="1800" b="0" i="0" u="none" strike="noStrike" baseline="0" dirty="0">
                <a:latin typeface="+mn-lt"/>
              </a:rPr>
              <a:t>Opinions</a:t>
            </a:r>
            <a:r>
              <a:rPr lang="en-NZ" sz="1800" dirty="0">
                <a:latin typeface="+mn-lt"/>
              </a:rPr>
              <a:t> – environmental consciousness, luxury preferences</a:t>
            </a:r>
          </a:p>
          <a:p>
            <a:pPr marL="101600" indent="0">
              <a:spcBef>
                <a:spcPts val="600"/>
              </a:spcBef>
              <a:spcAft>
                <a:spcPts val="600"/>
              </a:spcAft>
              <a:buNone/>
            </a:pPr>
            <a:r>
              <a:rPr lang="en-NZ" sz="2000" b="1" dirty="0">
                <a:solidFill>
                  <a:srgbClr val="F25B33"/>
                </a:solidFill>
                <a:latin typeface="Verdana" pitchFamily="34" charset="0"/>
                <a:ea typeface="Verdana" pitchFamily="34" charset="0"/>
              </a:rPr>
              <a:t>Personality</a:t>
            </a:r>
            <a:r>
              <a:rPr lang="en-NZ" sz="2000" i="0" u="none" strike="noStrike" baseline="0" dirty="0">
                <a:latin typeface="+mn-lt"/>
              </a:rPr>
              <a:t> </a:t>
            </a:r>
            <a:br>
              <a:rPr lang="en-NZ" sz="2000" i="0" u="none" strike="noStrike" baseline="0" dirty="0">
                <a:latin typeface="+mn-lt"/>
              </a:rPr>
            </a:br>
            <a:r>
              <a:rPr lang="en-NZ" sz="2000" i="0" u="none" strike="noStrike" baseline="0" dirty="0">
                <a:latin typeface="+mn-lt"/>
              </a:rPr>
              <a:t>i</a:t>
            </a:r>
            <a:r>
              <a:rPr lang="en-NZ" sz="2000" dirty="0">
                <a:latin typeface="+mn-lt"/>
              </a:rPr>
              <a:t>s the unique psychological characteristics that distinguish a person or group.</a:t>
            </a:r>
          </a:p>
          <a:p>
            <a:pPr marL="874268" lvl="1" indent="-285750">
              <a:spcAft>
                <a:spcPts val="600"/>
              </a:spcAft>
              <a:buFont typeface="Wingdings" panose="05000000000000000000" pitchFamily="2" charset="2"/>
              <a:buChar char="§"/>
            </a:pPr>
            <a:r>
              <a:rPr lang="en-US" sz="1800" dirty="0">
                <a:latin typeface="+mn-lt"/>
              </a:rPr>
              <a:t>Often understood in terms of traits – e.g., orderly, adaptable or dominant </a:t>
            </a:r>
          </a:p>
          <a:p>
            <a:pPr marL="874268" lvl="1" indent="-285750">
              <a:spcAft>
                <a:spcPts val="600"/>
              </a:spcAft>
              <a:buFont typeface="Wingdings" panose="05000000000000000000" pitchFamily="2" charset="2"/>
              <a:buChar char="§"/>
            </a:pPr>
            <a:r>
              <a:rPr lang="en-US" sz="1800" dirty="0">
                <a:latin typeface="+mn-lt"/>
              </a:rPr>
              <a:t>Each person’s distinct personality influences his or her buying </a:t>
            </a:r>
            <a:r>
              <a:rPr lang="en-US" sz="1800" dirty="0" err="1">
                <a:latin typeface="+mn-lt"/>
              </a:rPr>
              <a:t>behaviour</a:t>
            </a:r>
            <a:r>
              <a:rPr lang="en-US" sz="1800" dirty="0">
                <a:latin typeface="+mn-lt"/>
              </a:rPr>
              <a:t>.  </a:t>
            </a:r>
          </a:p>
          <a:p>
            <a:pPr marL="874268" lvl="1" indent="-285750">
              <a:spcAft>
                <a:spcPts val="600"/>
              </a:spcAft>
              <a:buFont typeface="Wingdings" panose="05000000000000000000" pitchFamily="2" charset="2"/>
              <a:buChar char="§"/>
            </a:pPr>
            <a:r>
              <a:rPr lang="en-US" sz="1800" dirty="0">
                <a:latin typeface="+mn-lt"/>
              </a:rPr>
              <a:t>People buy brands reflecting their personality traits</a:t>
            </a:r>
          </a:p>
          <a:p>
            <a:pPr marL="358775" indent="-257175">
              <a:spcBef>
                <a:spcPts val="600"/>
              </a:spcBef>
              <a:spcAft>
                <a:spcPts val="600"/>
              </a:spcAft>
              <a:buFont typeface="Wingdings" panose="05000000000000000000" pitchFamily="2" charset="2"/>
              <a:buChar char="Ø"/>
            </a:pPr>
            <a:endParaRPr lang="en-NZ" sz="2000" dirty="0">
              <a:latin typeface="+mn-lt"/>
            </a:endParaRPr>
          </a:p>
          <a:p>
            <a:pPr>
              <a:spcBef>
                <a:spcPts val="600"/>
              </a:spcBef>
              <a:spcAft>
                <a:spcPts val="600"/>
              </a:spcAft>
            </a:pPr>
            <a:endParaRPr lang="en-NZ" sz="2000" dirty="0">
              <a:latin typeface="+mn-lt"/>
            </a:endParaRPr>
          </a:p>
          <a:p>
            <a:pPr>
              <a:spcBef>
                <a:spcPts val="600"/>
              </a:spcBef>
              <a:spcAft>
                <a:spcPts val="600"/>
              </a:spcAft>
            </a:pPr>
            <a:endParaRPr lang="en-NZ" sz="2000" dirty="0">
              <a:latin typeface="+mn-lt"/>
            </a:endParaRPr>
          </a:p>
          <a:p>
            <a:pPr>
              <a:spcBef>
                <a:spcPts val="600"/>
              </a:spcBef>
              <a:spcAft>
                <a:spcPts val="600"/>
              </a:spcAft>
            </a:pPr>
            <a:endParaRPr lang="en-NZ" sz="2000" dirty="0">
              <a:latin typeface="+mn-lt"/>
            </a:endParaRPr>
          </a:p>
        </p:txBody>
      </p:sp>
    </p:spTree>
    <p:extLst>
      <p:ext uri="{BB962C8B-B14F-4D97-AF65-F5344CB8AC3E}">
        <p14:creationId xmlns:p14="http://schemas.microsoft.com/office/powerpoint/2010/main" val="10104431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2" name="Title 1">
            <a:extLst>
              <a:ext uri="{FF2B5EF4-FFF2-40B4-BE49-F238E27FC236}">
                <a16:creationId xmlns:a16="http://schemas.microsoft.com/office/drawing/2014/main" id="{F5E30427-4547-4715-9C31-D129FE43C7C1}"/>
              </a:ext>
            </a:extLst>
          </p:cNvPr>
          <p:cNvSpPr>
            <a:spLocks noGrp="1"/>
          </p:cNvSpPr>
          <p:nvPr>
            <p:ph type="title"/>
          </p:nvPr>
        </p:nvSpPr>
        <p:spPr>
          <a:xfrm>
            <a:off x="457200" y="114504"/>
            <a:ext cx="8229600" cy="1097279"/>
          </a:xfrm>
        </p:spPr>
        <p:txBody>
          <a:bodyPr/>
          <a:lstStyle/>
          <a:p>
            <a:r>
              <a:rPr lang="en-US" sz="3200" dirty="0"/>
              <a:t>Consumer markets and consumer behaviour</a:t>
            </a:r>
            <a:endParaRPr lang="en-US" sz="2000" dirty="0"/>
          </a:p>
        </p:txBody>
      </p:sp>
      <p:sp>
        <p:nvSpPr>
          <p:cNvPr id="4" name="Isosceles Triangle 3">
            <a:extLst>
              <a:ext uri="{FF2B5EF4-FFF2-40B4-BE49-F238E27FC236}">
                <a16:creationId xmlns:a16="http://schemas.microsoft.com/office/drawing/2014/main" id="{00B446C3-771B-47B8-877D-F412158B6AC8}"/>
              </a:ext>
            </a:extLst>
          </p:cNvPr>
          <p:cNvSpPr/>
          <p:nvPr/>
        </p:nvSpPr>
        <p:spPr bwMode="auto">
          <a:xfrm>
            <a:off x="712788" y="864224"/>
            <a:ext cx="7595943" cy="5552197"/>
          </a:xfrm>
          <a:prstGeom prst="triangle">
            <a:avLst/>
          </a:prstGeom>
          <a:gradFill flip="none" rotWithShape="1">
            <a:gsLst>
              <a:gs pos="60720">
                <a:srgbClr val="92D050"/>
              </a:gs>
              <a:gs pos="71420">
                <a:srgbClr val="E3F3D1"/>
              </a:gs>
              <a:gs pos="18000">
                <a:srgbClr val="D2FCFE"/>
              </a:gs>
              <a:gs pos="79000">
                <a:srgbClr val="D2FCFE"/>
              </a:gs>
              <a:gs pos="100000">
                <a:srgbClr val="E3F3D1"/>
              </a:gs>
            </a:gsLst>
            <a:path path="shape">
              <a:fillToRect l="50000" t="50000" r="50000" b="50000"/>
            </a:path>
            <a:tileRect/>
          </a:gradFill>
          <a:ln>
            <a:noFill/>
          </a:ln>
          <a:effectLst/>
        </p:spPr>
        <p:txBody>
          <a:bodyPr vert="horz" wrap="square" lIns="0" tIns="0" rIns="0" bIns="0" numCol="1" rtlCol="0" anchor="t" anchorCtr="0" compatLnSpc="1">
            <a:prstTxWarp prst="textNoShape">
              <a:avLst/>
            </a:prstTxWarp>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n-US" sz="1000" b="0" i="0" u="none" strike="noStrike" cap="none" normalizeH="0" baseline="0">
              <a:ln>
                <a:noFill/>
              </a:ln>
              <a:solidFill>
                <a:schemeClr val="tx1"/>
              </a:solidFill>
              <a:effectLst/>
              <a:latin typeface="Verdana" pitchFamily="34" charset="0"/>
              <a:cs typeface="Arial" charset="0"/>
            </a:endParaRPr>
          </a:p>
        </p:txBody>
      </p:sp>
      <p:sp>
        <p:nvSpPr>
          <p:cNvPr id="5" name="Content Placeholder 7">
            <a:extLst>
              <a:ext uri="{FF2B5EF4-FFF2-40B4-BE49-F238E27FC236}">
                <a16:creationId xmlns:a16="http://schemas.microsoft.com/office/drawing/2014/main" id="{649DDACF-5483-4AFB-93DF-C20F82B49B84}"/>
              </a:ext>
            </a:extLst>
          </p:cNvPr>
          <p:cNvSpPr txBox="1">
            <a:spLocks/>
          </p:cNvSpPr>
          <p:nvPr/>
        </p:nvSpPr>
        <p:spPr bwMode="auto">
          <a:xfrm>
            <a:off x="285169" y="3076810"/>
            <a:ext cx="8289015" cy="306204"/>
          </a:xfrm>
          <a:prstGeom prst="flowChartAlternateProcess">
            <a:avLst/>
          </a:prstGeom>
          <a:solidFill>
            <a:srgbClr val="BEE296"/>
          </a:solidFill>
          <a:ln w="15875">
            <a:solidFill>
              <a:srgbClr val="00B050"/>
            </a:solidFill>
          </a:ln>
          <a:effectLst/>
        </p:spPr>
        <p:txBody>
          <a:bodyPr vert="horz" wrap="square" lIns="0" tIns="0" rIns="0" bIns="0" numCol="1" rtlCol="0" anchor="ctr" anchorCtr="0" compatLnSpc="1">
            <a:prstTxWarp prst="textNoShape">
              <a:avLst/>
            </a:prstTxWarp>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marL="290513">
              <a:spcBef>
                <a:spcPct val="0"/>
              </a:spcBef>
              <a:defRPr/>
            </a:pPr>
            <a:r>
              <a:rPr lang="en-US" sz="1800" dirty="0"/>
              <a:t>Common brand personality traits </a:t>
            </a:r>
            <a:r>
              <a:rPr lang="en-US" sz="1800" i="1" dirty="0">
                <a:ea typeface="ＭＳ Ｐゴシック" pitchFamily="34" charset="-128"/>
              </a:rPr>
              <a:t>(identified in selected research)….</a:t>
            </a:r>
          </a:p>
        </p:txBody>
      </p:sp>
      <p:sp>
        <p:nvSpPr>
          <p:cNvPr id="6" name="Content Placeholder 7">
            <a:extLst>
              <a:ext uri="{FF2B5EF4-FFF2-40B4-BE49-F238E27FC236}">
                <a16:creationId xmlns:a16="http://schemas.microsoft.com/office/drawing/2014/main" id="{E1FDEA49-8AAE-4584-ADDD-58FE9BF107E2}"/>
              </a:ext>
            </a:extLst>
          </p:cNvPr>
          <p:cNvSpPr txBox="1">
            <a:spLocks/>
          </p:cNvSpPr>
          <p:nvPr/>
        </p:nvSpPr>
        <p:spPr bwMode="auto">
          <a:xfrm>
            <a:off x="285171" y="2154961"/>
            <a:ext cx="2565664" cy="798470"/>
          </a:xfrm>
          <a:prstGeom prst="flowChartAlternateProcess">
            <a:avLst/>
          </a:prstGeom>
          <a:solidFill>
            <a:srgbClr val="D8EEC0"/>
          </a:solidFill>
          <a:ln w="15875">
            <a:solidFill>
              <a:srgbClr val="00B050"/>
            </a:solidFill>
          </a:ln>
          <a:effectLst/>
        </p:spPr>
        <p:txBody>
          <a:bodyPr vert="horz" wrap="square" lIns="0" tIns="0" rIns="0" bIns="0" numCol="1" rtlCol="0" anchor="ctr" anchorCtr="0" compatLnSpc="1">
            <a:prstTxWarp prst="textNoShape">
              <a:avLst/>
            </a:prstTxWarp>
          </a:bodyPr>
          <a:lstStyle>
            <a:lvl1pPr marL="342900" indent="-342900" algn="l" defTabSz="857250" rtl="0" eaLnBrk="0" fontAlgn="base" hangingPunct="0">
              <a:spcBef>
                <a:spcPct val="20000"/>
              </a:spcBef>
              <a:spcAft>
                <a:spcPct val="20000"/>
              </a:spcAft>
              <a:buSzPct val="80000"/>
              <a:buFont typeface="Verdana" pitchFamily="34" charset="0"/>
              <a:defRPr sz="2000">
                <a:solidFill>
                  <a:schemeClr val="tx1"/>
                </a:solidFill>
                <a:latin typeface="+mn-lt"/>
                <a:ea typeface="+mn-ea"/>
                <a:cs typeface="+mn-cs"/>
              </a:defRPr>
            </a:lvl1pPr>
            <a:lvl2pPr marL="358775" indent="-244475"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2pPr>
            <a:lvl3pPr marL="714375" indent="-247650"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3pPr>
            <a:lvl4pPr marL="1066800" indent="-247650"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4pPr>
            <a:lvl5pPr marL="1428750" indent="-257175"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5pPr>
            <a:lvl6pPr marL="18859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6pPr>
            <a:lvl7pPr marL="23431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7pPr>
            <a:lvl8pPr marL="28003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8pPr>
            <a:lvl9pPr marL="32575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9pPr>
          </a:lstStyle>
          <a:p>
            <a:pPr marL="290513" indent="0" eaLnBrk="1" hangingPunct="1">
              <a:spcBef>
                <a:spcPct val="0"/>
              </a:spcBef>
              <a:defRPr/>
            </a:pPr>
            <a:r>
              <a:rPr lang="en-US" sz="2400" kern="0" dirty="0"/>
              <a:t>Brand personality</a:t>
            </a:r>
            <a:endParaRPr lang="en-US" sz="2400" kern="0" dirty="0">
              <a:ea typeface="ＭＳ Ｐゴシック" pitchFamily="34" charset="-128"/>
            </a:endParaRPr>
          </a:p>
        </p:txBody>
      </p:sp>
      <p:sp>
        <p:nvSpPr>
          <p:cNvPr id="7" name="Content Placeholder 7">
            <a:extLst>
              <a:ext uri="{FF2B5EF4-FFF2-40B4-BE49-F238E27FC236}">
                <a16:creationId xmlns:a16="http://schemas.microsoft.com/office/drawing/2014/main" id="{98744A49-3E32-477D-A90E-B6FE063ED4E8}"/>
              </a:ext>
            </a:extLst>
          </p:cNvPr>
          <p:cNvSpPr txBox="1">
            <a:spLocks/>
          </p:cNvSpPr>
          <p:nvPr/>
        </p:nvSpPr>
        <p:spPr bwMode="auto">
          <a:xfrm>
            <a:off x="3258548" y="2131145"/>
            <a:ext cx="5305771" cy="822285"/>
          </a:xfrm>
          <a:prstGeom prst="flowChartAlternateProcess">
            <a:avLst/>
          </a:prstGeom>
          <a:solidFill>
            <a:srgbClr val="FAF3DA"/>
          </a:solidFill>
          <a:ln w="15875">
            <a:solidFill>
              <a:srgbClr val="00B050"/>
            </a:solidFill>
          </a:ln>
          <a:effectLst/>
        </p:spPr>
        <p:txBody>
          <a:bodyPr vert="horz" wrap="square" lIns="0" tIns="0" rIns="0" bIns="0" numCol="1" rtlCol="0" anchor="ctr" anchorCtr="0" compatLnSpc="1">
            <a:prstTxWarp prst="textNoShape">
              <a:avLst/>
            </a:prstTxWarp>
          </a:bodyPr>
          <a:lstStyle>
            <a:lvl1pPr marL="342900" indent="-342900" algn="l" defTabSz="857250" rtl="0" eaLnBrk="0" fontAlgn="base" hangingPunct="0">
              <a:spcBef>
                <a:spcPct val="20000"/>
              </a:spcBef>
              <a:spcAft>
                <a:spcPct val="20000"/>
              </a:spcAft>
              <a:buSzPct val="80000"/>
              <a:buFont typeface="Verdana" pitchFamily="34" charset="0"/>
              <a:defRPr sz="2000">
                <a:solidFill>
                  <a:schemeClr val="tx1"/>
                </a:solidFill>
                <a:latin typeface="+mn-lt"/>
                <a:ea typeface="+mn-ea"/>
                <a:cs typeface="+mn-cs"/>
              </a:defRPr>
            </a:lvl1pPr>
            <a:lvl2pPr marL="358775" indent="-244475"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2pPr>
            <a:lvl3pPr marL="714375" indent="-247650"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3pPr>
            <a:lvl4pPr marL="1066800" indent="-247650"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4pPr>
            <a:lvl5pPr marL="1428750" indent="-257175"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5pPr>
            <a:lvl6pPr marL="18859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6pPr>
            <a:lvl7pPr marL="23431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7pPr>
            <a:lvl8pPr marL="28003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8pPr>
            <a:lvl9pPr marL="32575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9pPr>
          </a:lstStyle>
          <a:p>
            <a:pPr marL="176213" indent="0"/>
            <a:r>
              <a:rPr lang="en-US" sz="1800" dirty="0"/>
              <a:t>The specific set of human traits that can be matched to a brand.</a:t>
            </a:r>
            <a:endParaRPr lang="en-US" sz="1800" kern="0" dirty="0">
              <a:ea typeface="ＭＳ Ｐゴシック" pitchFamily="34" charset="-128"/>
            </a:endParaRPr>
          </a:p>
        </p:txBody>
      </p:sp>
      <p:sp>
        <p:nvSpPr>
          <p:cNvPr id="8" name="Content Placeholder 7">
            <a:extLst>
              <a:ext uri="{FF2B5EF4-FFF2-40B4-BE49-F238E27FC236}">
                <a16:creationId xmlns:a16="http://schemas.microsoft.com/office/drawing/2014/main" id="{28F3B91A-E3B4-44A4-8EA0-A57B6B6F0A10}"/>
              </a:ext>
            </a:extLst>
          </p:cNvPr>
          <p:cNvSpPr txBox="1">
            <a:spLocks/>
          </p:cNvSpPr>
          <p:nvPr/>
        </p:nvSpPr>
        <p:spPr bwMode="auto">
          <a:xfrm>
            <a:off x="2045142" y="3578037"/>
            <a:ext cx="6529042" cy="429464"/>
          </a:xfrm>
          <a:prstGeom prst="flowChartAlternateProcess">
            <a:avLst/>
          </a:prstGeom>
          <a:solidFill>
            <a:srgbClr val="FAF3DA"/>
          </a:solidFill>
          <a:ln w="15875">
            <a:solidFill>
              <a:srgbClr val="00B050"/>
            </a:solidFill>
          </a:ln>
          <a:effectLst/>
        </p:spPr>
        <p:txBody>
          <a:bodyPr vert="horz" wrap="square" lIns="0" tIns="0" rIns="0" bIns="0" numCol="1" rtlCol="0" anchor="ctr" anchorCtr="0" compatLnSpc="1">
            <a:prstTxWarp prst="textNoShape">
              <a:avLst/>
            </a:prstTxWarp>
          </a:bodyPr>
          <a:lstStyle>
            <a:lvl1pPr marL="342900" indent="-342900" algn="l" defTabSz="857250" rtl="0" eaLnBrk="0" fontAlgn="base" hangingPunct="0">
              <a:spcBef>
                <a:spcPct val="20000"/>
              </a:spcBef>
              <a:spcAft>
                <a:spcPct val="20000"/>
              </a:spcAft>
              <a:buSzPct val="80000"/>
              <a:buFont typeface="Verdana" pitchFamily="34" charset="0"/>
              <a:defRPr sz="2000">
                <a:solidFill>
                  <a:schemeClr val="tx1"/>
                </a:solidFill>
                <a:latin typeface="+mn-lt"/>
                <a:ea typeface="+mn-ea"/>
                <a:cs typeface="+mn-cs"/>
              </a:defRPr>
            </a:lvl1pPr>
            <a:lvl2pPr marL="358775" indent="-244475"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2pPr>
            <a:lvl3pPr marL="714375" indent="-247650"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3pPr>
            <a:lvl4pPr marL="1066800" indent="-247650"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4pPr>
            <a:lvl5pPr marL="1428750" indent="-257175"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5pPr>
            <a:lvl6pPr marL="18859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6pPr>
            <a:lvl7pPr marL="23431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7pPr>
            <a:lvl8pPr marL="28003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8pPr>
            <a:lvl9pPr marL="32575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9pPr>
          </a:lstStyle>
          <a:p>
            <a:pPr marL="174625" indent="0"/>
            <a:r>
              <a:rPr lang="en-US" sz="1800" b="1" dirty="0"/>
              <a:t>Sincerity: </a:t>
            </a:r>
            <a:r>
              <a:rPr lang="en-US" sz="1800" dirty="0"/>
              <a:t>down-to-earth, honest, wholesome and cheerful</a:t>
            </a:r>
          </a:p>
        </p:txBody>
      </p:sp>
      <p:sp>
        <p:nvSpPr>
          <p:cNvPr id="9" name="Isosceles Triangle 8">
            <a:extLst>
              <a:ext uri="{FF2B5EF4-FFF2-40B4-BE49-F238E27FC236}">
                <a16:creationId xmlns:a16="http://schemas.microsoft.com/office/drawing/2014/main" id="{4F3531A5-AFA3-4638-980D-4F78463E4519}"/>
              </a:ext>
            </a:extLst>
          </p:cNvPr>
          <p:cNvSpPr/>
          <p:nvPr/>
        </p:nvSpPr>
        <p:spPr bwMode="auto">
          <a:xfrm rot="5400000">
            <a:off x="2998402" y="2194645"/>
            <a:ext cx="196153" cy="266276"/>
          </a:xfrm>
          <a:prstGeom prst="triangle">
            <a:avLst/>
          </a:prstGeom>
          <a:solidFill>
            <a:srgbClr val="3E724E"/>
          </a:solidFill>
          <a:ln>
            <a:noFill/>
          </a:ln>
          <a:effectLst/>
        </p:spPr>
        <p:txBody>
          <a:bodyPr vert="horz" wrap="square" lIns="0" tIns="0" rIns="0" bIns="0" numCol="1" rtlCol="0" anchor="t" anchorCtr="0" compatLnSpc="1">
            <a:prstTxWarp prst="textNoShape">
              <a:avLst/>
            </a:prstTxWarp>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n-US" sz="1000" b="0" i="0" u="none" strike="noStrike" cap="none" normalizeH="0" baseline="0">
              <a:ln>
                <a:noFill/>
              </a:ln>
              <a:solidFill>
                <a:schemeClr val="tx1"/>
              </a:solidFill>
              <a:effectLst/>
              <a:latin typeface="Verdana" pitchFamily="34" charset="0"/>
              <a:cs typeface="Arial" charset="0"/>
            </a:endParaRPr>
          </a:p>
        </p:txBody>
      </p:sp>
      <p:sp>
        <p:nvSpPr>
          <p:cNvPr id="10" name="TextBox 9">
            <a:extLst>
              <a:ext uri="{FF2B5EF4-FFF2-40B4-BE49-F238E27FC236}">
                <a16:creationId xmlns:a16="http://schemas.microsoft.com/office/drawing/2014/main" id="{BFBEB803-FACA-49AC-8E1B-6863978C930D}"/>
              </a:ext>
            </a:extLst>
          </p:cNvPr>
          <p:cNvSpPr txBox="1"/>
          <p:nvPr/>
        </p:nvSpPr>
        <p:spPr>
          <a:xfrm>
            <a:off x="285170" y="1045712"/>
            <a:ext cx="6541296" cy="369332"/>
          </a:xfrm>
          <a:prstGeom prst="rect">
            <a:avLst/>
          </a:prstGeom>
          <a:noFill/>
        </p:spPr>
        <p:txBody>
          <a:bodyPr wrap="square" rtlCol="0">
            <a:spAutoFit/>
          </a:bodyPr>
          <a:lstStyle/>
          <a:p>
            <a:r>
              <a:rPr lang="en-US" sz="1800" b="1" dirty="0">
                <a:solidFill>
                  <a:srgbClr val="C00000"/>
                </a:solidFill>
              </a:rPr>
              <a:t>Personality, brand personality and self-concept</a:t>
            </a:r>
          </a:p>
        </p:txBody>
      </p:sp>
      <p:sp>
        <p:nvSpPr>
          <p:cNvPr id="11" name="Content Placeholder 7">
            <a:extLst>
              <a:ext uri="{FF2B5EF4-FFF2-40B4-BE49-F238E27FC236}">
                <a16:creationId xmlns:a16="http://schemas.microsoft.com/office/drawing/2014/main" id="{7F4E358B-C7D3-4FEA-960E-24E4F44C6395}"/>
              </a:ext>
            </a:extLst>
          </p:cNvPr>
          <p:cNvSpPr txBox="1">
            <a:spLocks/>
          </p:cNvSpPr>
          <p:nvPr/>
        </p:nvSpPr>
        <p:spPr bwMode="auto">
          <a:xfrm>
            <a:off x="2045141" y="4145544"/>
            <a:ext cx="6529043" cy="429464"/>
          </a:xfrm>
          <a:prstGeom prst="flowChartAlternateProcess">
            <a:avLst/>
          </a:prstGeom>
          <a:solidFill>
            <a:srgbClr val="FAF3DA"/>
          </a:solidFill>
          <a:ln w="15875">
            <a:solidFill>
              <a:srgbClr val="00B050"/>
            </a:solidFill>
          </a:ln>
          <a:effectLst/>
        </p:spPr>
        <p:txBody>
          <a:bodyPr vert="horz" wrap="square" lIns="0" tIns="0" rIns="0" bIns="0" numCol="1" rtlCol="0" anchor="ctr" anchorCtr="0" compatLnSpc="1">
            <a:prstTxWarp prst="textNoShape">
              <a:avLst/>
            </a:prstTxWarp>
          </a:bodyPr>
          <a:lstStyle>
            <a:lvl1pPr marL="342900" indent="-342900" algn="l" defTabSz="857250" rtl="0" eaLnBrk="0" fontAlgn="base" hangingPunct="0">
              <a:spcBef>
                <a:spcPct val="20000"/>
              </a:spcBef>
              <a:spcAft>
                <a:spcPct val="20000"/>
              </a:spcAft>
              <a:buSzPct val="80000"/>
              <a:buFont typeface="Verdana" pitchFamily="34" charset="0"/>
              <a:defRPr sz="2000">
                <a:solidFill>
                  <a:schemeClr val="tx1"/>
                </a:solidFill>
                <a:latin typeface="+mn-lt"/>
                <a:ea typeface="+mn-ea"/>
                <a:cs typeface="+mn-cs"/>
              </a:defRPr>
            </a:lvl1pPr>
            <a:lvl2pPr marL="358775" indent="-244475"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2pPr>
            <a:lvl3pPr marL="714375" indent="-247650"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3pPr>
            <a:lvl4pPr marL="1066800" indent="-247650"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4pPr>
            <a:lvl5pPr marL="1428750" indent="-257175"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5pPr>
            <a:lvl6pPr marL="18859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6pPr>
            <a:lvl7pPr marL="23431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7pPr>
            <a:lvl8pPr marL="28003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8pPr>
            <a:lvl9pPr marL="32575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9pPr>
          </a:lstStyle>
          <a:p>
            <a:pPr marL="174625" indent="0"/>
            <a:r>
              <a:rPr lang="en-US" sz="1800" b="1" dirty="0"/>
              <a:t>Excitement: </a:t>
            </a:r>
            <a:r>
              <a:rPr lang="en-US" sz="1800" dirty="0"/>
              <a:t>daring, spirited, imaginative and up-to-date</a:t>
            </a:r>
          </a:p>
        </p:txBody>
      </p:sp>
      <p:sp>
        <p:nvSpPr>
          <p:cNvPr id="12" name="Content Placeholder 7">
            <a:extLst>
              <a:ext uri="{FF2B5EF4-FFF2-40B4-BE49-F238E27FC236}">
                <a16:creationId xmlns:a16="http://schemas.microsoft.com/office/drawing/2014/main" id="{803025A9-B02B-4237-A809-CC2896A11921}"/>
              </a:ext>
            </a:extLst>
          </p:cNvPr>
          <p:cNvSpPr txBox="1">
            <a:spLocks/>
          </p:cNvSpPr>
          <p:nvPr/>
        </p:nvSpPr>
        <p:spPr bwMode="auto">
          <a:xfrm>
            <a:off x="2045142" y="4709245"/>
            <a:ext cx="6529042" cy="429464"/>
          </a:xfrm>
          <a:prstGeom prst="flowChartAlternateProcess">
            <a:avLst/>
          </a:prstGeom>
          <a:solidFill>
            <a:srgbClr val="FAF3DA"/>
          </a:solidFill>
          <a:ln w="15875">
            <a:solidFill>
              <a:srgbClr val="00B050"/>
            </a:solidFill>
          </a:ln>
          <a:effectLst/>
        </p:spPr>
        <p:txBody>
          <a:bodyPr vert="horz" wrap="square" lIns="0" tIns="0" rIns="0" bIns="0" numCol="1" rtlCol="0" anchor="ctr" anchorCtr="0" compatLnSpc="1">
            <a:prstTxWarp prst="textNoShape">
              <a:avLst/>
            </a:prstTxWarp>
          </a:bodyPr>
          <a:lstStyle>
            <a:lvl1pPr marL="342900" indent="-342900" algn="l" defTabSz="857250" rtl="0" eaLnBrk="0" fontAlgn="base" hangingPunct="0">
              <a:spcBef>
                <a:spcPct val="20000"/>
              </a:spcBef>
              <a:spcAft>
                <a:spcPct val="20000"/>
              </a:spcAft>
              <a:buSzPct val="80000"/>
              <a:buFont typeface="Verdana" pitchFamily="34" charset="0"/>
              <a:defRPr sz="2000">
                <a:solidFill>
                  <a:schemeClr val="tx1"/>
                </a:solidFill>
                <a:latin typeface="+mn-lt"/>
                <a:ea typeface="+mn-ea"/>
                <a:cs typeface="+mn-cs"/>
              </a:defRPr>
            </a:lvl1pPr>
            <a:lvl2pPr marL="358775" indent="-244475"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2pPr>
            <a:lvl3pPr marL="714375" indent="-247650"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3pPr>
            <a:lvl4pPr marL="1066800" indent="-247650"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4pPr>
            <a:lvl5pPr marL="1428750" indent="-257175"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5pPr>
            <a:lvl6pPr marL="18859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6pPr>
            <a:lvl7pPr marL="23431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7pPr>
            <a:lvl8pPr marL="28003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8pPr>
            <a:lvl9pPr marL="32575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9pPr>
          </a:lstStyle>
          <a:p>
            <a:pPr marL="174625" indent="0"/>
            <a:r>
              <a:rPr lang="en-US" sz="1800" b="1" dirty="0"/>
              <a:t>Competence: </a:t>
            </a:r>
            <a:r>
              <a:rPr lang="en-US" sz="1800" dirty="0"/>
              <a:t>reliable, intelligent an successful</a:t>
            </a:r>
          </a:p>
        </p:txBody>
      </p:sp>
      <p:sp>
        <p:nvSpPr>
          <p:cNvPr id="13" name="Content Placeholder 7">
            <a:extLst>
              <a:ext uri="{FF2B5EF4-FFF2-40B4-BE49-F238E27FC236}">
                <a16:creationId xmlns:a16="http://schemas.microsoft.com/office/drawing/2014/main" id="{906F8C11-F6F7-4A3D-9993-61971EA711FC}"/>
              </a:ext>
            </a:extLst>
          </p:cNvPr>
          <p:cNvSpPr txBox="1">
            <a:spLocks/>
          </p:cNvSpPr>
          <p:nvPr/>
        </p:nvSpPr>
        <p:spPr bwMode="auto">
          <a:xfrm>
            <a:off x="2055008" y="5255741"/>
            <a:ext cx="6529042" cy="429464"/>
          </a:xfrm>
          <a:prstGeom prst="flowChartAlternateProcess">
            <a:avLst/>
          </a:prstGeom>
          <a:solidFill>
            <a:srgbClr val="FAF3DA"/>
          </a:solidFill>
          <a:ln w="15875">
            <a:solidFill>
              <a:srgbClr val="00B050"/>
            </a:solidFill>
          </a:ln>
          <a:effectLst/>
        </p:spPr>
        <p:txBody>
          <a:bodyPr vert="horz" wrap="square" lIns="0" tIns="0" rIns="0" bIns="0" numCol="1" rtlCol="0" anchor="ctr" anchorCtr="0" compatLnSpc="1">
            <a:prstTxWarp prst="textNoShape">
              <a:avLst/>
            </a:prstTxWarp>
          </a:bodyPr>
          <a:lstStyle>
            <a:lvl1pPr marL="342900" indent="-342900" algn="l" defTabSz="857250" rtl="0" eaLnBrk="0" fontAlgn="base" hangingPunct="0">
              <a:spcBef>
                <a:spcPct val="20000"/>
              </a:spcBef>
              <a:spcAft>
                <a:spcPct val="20000"/>
              </a:spcAft>
              <a:buSzPct val="80000"/>
              <a:buFont typeface="Verdana" pitchFamily="34" charset="0"/>
              <a:defRPr sz="2000">
                <a:solidFill>
                  <a:schemeClr val="tx1"/>
                </a:solidFill>
                <a:latin typeface="+mn-lt"/>
                <a:ea typeface="+mn-ea"/>
                <a:cs typeface="+mn-cs"/>
              </a:defRPr>
            </a:lvl1pPr>
            <a:lvl2pPr marL="358775" indent="-244475"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2pPr>
            <a:lvl3pPr marL="714375" indent="-247650"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3pPr>
            <a:lvl4pPr marL="1066800" indent="-247650"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4pPr>
            <a:lvl5pPr marL="1428750" indent="-257175"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5pPr>
            <a:lvl6pPr marL="18859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6pPr>
            <a:lvl7pPr marL="23431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7pPr>
            <a:lvl8pPr marL="28003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8pPr>
            <a:lvl9pPr marL="32575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9pPr>
          </a:lstStyle>
          <a:p>
            <a:pPr marL="174625" indent="0"/>
            <a:r>
              <a:rPr lang="en-US" sz="1800" b="1" dirty="0"/>
              <a:t>Sophistication: </a:t>
            </a:r>
            <a:r>
              <a:rPr lang="en-US" sz="1800" dirty="0"/>
              <a:t>upper-class and charming</a:t>
            </a:r>
          </a:p>
        </p:txBody>
      </p:sp>
      <p:sp>
        <p:nvSpPr>
          <p:cNvPr id="14" name="Content Placeholder 7">
            <a:extLst>
              <a:ext uri="{FF2B5EF4-FFF2-40B4-BE49-F238E27FC236}">
                <a16:creationId xmlns:a16="http://schemas.microsoft.com/office/drawing/2014/main" id="{26ABABA5-B543-4A79-9143-A2BEB47D45DB}"/>
              </a:ext>
            </a:extLst>
          </p:cNvPr>
          <p:cNvSpPr txBox="1">
            <a:spLocks/>
          </p:cNvSpPr>
          <p:nvPr/>
        </p:nvSpPr>
        <p:spPr bwMode="auto">
          <a:xfrm>
            <a:off x="2082557" y="5808584"/>
            <a:ext cx="6529042" cy="429464"/>
          </a:xfrm>
          <a:prstGeom prst="flowChartAlternateProcess">
            <a:avLst/>
          </a:prstGeom>
          <a:solidFill>
            <a:srgbClr val="FAF3DA"/>
          </a:solidFill>
          <a:ln w="15875">
            <a:solidFill>
              <a:srgbClr val="00B050"/>
            </a:solidFill>
          </a:ln>
          <a:effectLst/>
        </p:spPr>
        <p:txBody>
          <a:bodyPr vert="horz" wrap="square" lIns="0" tIns="0" rIns="0" bIns="0" numCol="1" rtlCol="0" anchor="ctr" anchorCtr="0" compatLnSpc="1">
            <a:prstTxWarp prst="textNoShape">
              <a:avLst/>
            </a:prstTxWarp>
          </a:bodyPr>
          <a:lstStyle>
            <a:lvl1pPr marL="342900" indent="-342900" algn="l" defTabSz="857250" rtl="0" eaLnBrk="0" fontAlgn="base" hangingPunct="0">
              <a:spcBef>
                <a:spcPct val="20000"/>
              </a:spcBef>
              <a:spcAft>
                <a:spcPct val="20000"/>
              </a:spcAft>
              <a:buSzPct val="80000"/>
              <a:buFont typeface="Verdana" pitchFamily="34" charset="0"/>
              <a:defRPr sz="2000">
                <a:solidFill>
                  <a:schemeClr val="tx1"/>
                </a:solidFill>
                <a:latin typeface="+mn-lt"/>
                <a:ea typeface="+mn-ea"/>
                <a:cs typeface="+mn-cs"/>
              </a:defRPr>
            </a:lvl1pPr>
            <a:lvl2pPr marL="358775" indent="-244475"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2pPr>
            <a:lvl3pPr marL="714375" indent="-247650"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3pPr>
            <a:lvl4pPr marL="1066800" indent="-247650"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4pPr>
            <a:lvl5pPr marL="1428750" indent="-257175"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5pPr>
            <a:lvl6pPr marL="18859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6pPr>
            <a:lvl7pPr marL="23431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7pPr>
            <a:lvl8pPr marL="28003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8pPr>
            <a:lvl9pPr marL="32575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9pPr>
          </a:lstStyle>
          <a:p>
            <a:pPr marL="174625" indent="0"/>
            <a:r>
              <a:rPr lang="en-US" sz="1800" b="1" dirty="0"/>
              <a:t>Ruggedness: </a:t>
            </a:r>
            <a:r>
              <a:rPr lang="en-US" sz="1800" dirty="0"/>
              <a:t>outdoorsy and tough</a:t>
            </a:r>
          </a:p>
        </p:txBody>
      </p:sp>
      <p:sp>
        <p:nvSpPr>
          <p:cNvPr id="15" name="TextBox 14">
            <a:extLst>
              <a:ext uri="{FF2B5EF4-FFF2-40B4-BE49-F238E27FC236}">
                <a16:creationId xmlns:a16="http://schemas.microsoft.com/office/drawing/2014/main" id="{748DE44B-1F56-FDF2-FDE5-66A14EEC2966}"/>
              </a:ext>
            </a:extLst>
          </p:cNvPr>
          <p:cNvSpPr txBox="1"/>
          <p:nvPr/>
        </p:nvSpPr>
        <p:spPr>
          <a:xfrm>
            <a:off x="285170" y="1414004"/>
            <a:ext cx="8279149" cy="646331"/>
          </a:xfrm>
          <a:prstGeom prst="rect">
            <a:avLst/>
          </a:prstGeom>
          <a:noFill/>
        </p:spPr>
        <p:txBody>
          <a:bodyPr wrap="square">
            <a:spAutoFit/>
          </a:bodyPr>
          <a:lstStyle/>
          <a:p>
            <a:pPr marL="358775" indent="-257175">
              <a:spcBef>
                <a:spcPts val="600"/>
              </a:spcBef>
              <a:spcAft>
                <a:spcPts val="600"/>
              </a:spcAft>
              <a:buFont typeface="Wingdings" panose="05000000000000000000" pitchFamily="2" charset="2"/>
              <a:buChar char="Ø"/>
            </a:pPr>
            <a:r>
              <a:rPr lang="en-US" sz="1800" dirty="0">
                <a:latin typeface="+mn-lt"/>
              </a:rPr>
              <a:t>The idea is that brands also have personalities, and </a:t>
            </a:r>
            <a:r>
              <a:rPr lang="en-US" sz="1800" dirty="0">
                <a:solidFill>
                  <a:srgbClr val="FF0000"/>
                </a:solidFill>
                <a:latin typeface="+mn-lt"/>
              </a:rPr>
              <a:t>consumers are likely to choose brands with personalities that match their own</a:t>
            </a:r>
            <a:endParaRPr lang="en-US" sz="1800" dirty="0">
              <a:latin typeface="+mn-lt"/>
            </a:endParaRPr>
          </a:p>
        </p:txBody>
      </p:sp>
    </p:spTree>
    <p:extLst>
      <p:ext uri="{BB962C8B-B14F-4D97-AF65-F5344CB8AC3E}">
        <p14:creationId xmlns:p14="http://schemas.microsoft.com/office/powerpoint/2010/main" val="1385207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
                                            <p:bg/>
                                          </p:spTgt>
                                        </p:tgtEl>
                                        <p:attrNameLst>
                                          <p:attrName>style.visibility</p:attrName>
                                        </p:attrNameLst>
                                      </p:cBhvr>
                                      <p:to>
                                        <p:strVal val="visible"/>
                                      </p:to>
                                    </p:set>
                                    <p:animEffect transition="in" filter="wipe(left)">
                                      <p:cBhvr>
                                        <p:cTn id="7" dur="500"/>
                                        <p:tgtEl>
                                          <p:spTgt spid="5">
                                            <p:bg/>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left)">
                                      <p:cBhvr>
                                        <p:cTn id="11" dur="500"/>
                                        <p:tgtEl>
                                          <p:spTgt spid="5">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left)">
                                      <p:cBhvr>
                                        <p:cTn id="15" dur="500"/>
                                        <p:tgtEl>
                                          <p:spTgt spid="8"/>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ipe(left)">
                                      <p:cBhvr>
                                        <p:cTn id="19" dur="500"/>
                                        <p:tgtEl>
                                          <p:spTgt spid="11"/>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wipe(left)">
                                      <p:cBhvr>
                                        <p:cTn id="23" dur="500"/>
                                        <p:tgtEl>
                                          <p:spTgt spid="12"/>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left)">
                                      <p:cBhvr>
                                        <p:cTn id="27" dur="500"/>
                                        <p:tgtEl>
                                          <p:spTgt spid="13"/>
                                        </p:tgtEl>
                                      </p:cBhvr>
                                    </p:animEffect>
                                  </p:childTnLst>
                                </p:cTn>
                              </p:par>
                            </p:childTnLst>
                          </p:cTn>
                        </p:par>
                        <p:par>
                          <p:cTn id="28" fill="hold">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wipe(left)">
                                      <p:cBhvr>
                                        <p:cTn id="3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nimBg="1"/>
      <p:bldP spid="8" grpId="0" animBg="1"/>
      <p:bldP spid="11" grpId="0" animBg="1"/>
      <p:bldP spid="12" grpId="0" animBg="1"/>
      <p:bldP spid="13" grpId="0" animBg="1"/>
      <p:bldP spid="1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2" name="Title 1">
            <a:extLst>
              <a:ext uri="{FF2B5EF4-FFF2-40B4-BE49-F238E27FC236}">
                <a16:creationId xmlns:a16="http://schemas.microsoft.com/office/drawing/2014/main" id="{F5E30427-4547-4715-9C31-D129FE43C7C1}"/>
              </a:ext>
            </a:extLst>
          </p:cNvPr>
          <p:cNvSpPr>
            <a:spLocks noGrp="1"/>
          </p:cNvSpPr>
          <p:nvPr>
            <p:ph type="title"/>
          </p:nvPr>
        </p:nvSpPr>
        <p:spPr/>
        <p:txBody>
          <a:bodyPr/>
          <a:lstStyle/>
          <a:p>
            <a:r>
              <a:rPr lang="en-US" sz="3200" dirty="0"/>
              <a:t>Consumer markets and consumer behaviour</a:t>
            </a:r>
            <a:endParaRPr lang="en-US" sz="2000" dirty="0"/>
          </a:p>
        </p:txBody>
      </p:sp>
      <p:sp>
        <p:nvSpPr>
          <p:cNvPr id="3" name="Text Placeholder 2">
            <a:extLst>
              <a:ext uri="{FF2B5EF4-FFF2-40B4-BE49-F238E27FC236}">
                <a16:creationId xmlns:a16="http://schemas.microsoft.com/office/drawing/2014/main" id="{C7697BCC-A93B-4430-8CDA-E7B6FF3D13DA}"/>
              </a:ext>
            </a:extLst>
          </p:cNvPr>
          <p:cNvSpPr>
            <a:spLocks noGrp="1"/>
          </p:cNvSpPr>
          <p:nvPr>
            <p:ph type="body" idx="4294967295"/>
          </p:nvPr>
        </p:nvSpPr>
        <p:spPr>
          <a:xfrm>
            <a:off x="457199" y="1600200"/>
            <a:ext cx="8229599" cy="4525963"/>
          </a:xfrm>
        </p:spPr>
        <p:txBody>
          <a:bodyPr/>
          <a:lstStyle/>
          <a:p>
            <a:pPr marL="101600" indent="0">
              <a:buNone/>
            </a:pPr>
            <a:r>
              <a:rPr lang="en-US" sz="2200" b="1" dirty="0">
                <a:solidFill>
                  <a:srgbClr val="00B0F0"/>
                </a:solidFill>
              </a:rPr>
              <a:t>Psychological factors</a:t>
            </a:r>
          </a:p>
          <a:p>
            <a:pPr marL="358775" indent="-257175" algn="l">
              <a:buFont typeface="Wingdings" panose="05000000000000000000" pitchFamily="2" charset="2"/>
              <a:buChar char="Ø"/>
            </a:pPr>
            <a:r>
              <a:rPr lang="en-NZ" sz="2000" dirty="0">
                <a:latin typeface="+mn-lt"/>
              </a:rPr>
              <a:t>A person’s </a:t>
            </a:r>
            <a:r>
              <a:rPr lang="en-NZ" sz="2000" b="1" dirty="0">
                <a:solidFill>
                  <a:srgbClr val="F25B33"/>
                </a:solidFill>
                <a:latin typeface="Verdana" pitchFamily="34" charset="0"/>
                <a:ea typeface="Verdana" pitchFamily="34" charset="0"/>
              </a:rPr>
              <a:t>buying choices </a:t>
            </a:r>
            <a:r>
              <a:rPr lang="en-NZ" sz="2000" dirty="0">
                <a:latin typeface="+mn-lt"/>
              </a:rPr>
              <a:t>are influenced by four main psychological factors:</a:t>
            </a:r>
          </a:p>
          <a:p>
            <a:pPr lvl="1">
              <a:buFont typeface="Wingdings" panose="05000000000000000000" pitchFamily="2" charset="2"/>
              <a:buChar char="§"/>
            </a:pPr>
            <a:r>
              <a:rPr lang="en-NZ" sz="2000" dirty="0">
                <a:latin typeface="+mn-lt"/>
              </a:rPr>
              <a:t>motivation</a:t>
            </a:r>
          </a:p>
          <a:p>
            <a:pPr lvl="1">
              <a:buFont typeface="Wingdings" panose="05000000000000000000" pitchFamily="2" charset="2"/>
              <a:buChar char="§"/>
            </a:pPr>
            <a:r>
              <a:rPr lang="en-NZ" sz="2000" i="0" u="none" strike="noStrike" baseline="0" dirty="0">
                <a:solidFill>
                  <a:schemeClr val="tx1"/>
                </a:solidFill>
                <a:latin typeface="+mn-lt"/>
              </a:rPr>
              <a:t>perception</a:t>
            </a:r>
            <a:r>
              <a:rPr lang="en-NZ" sz="2000" i="0" u="none" strike="noStrike" baseline="0" dirty="0">
                <a:solidFill>
                  <a:srgbClr val="FF2626"/>
                </a:solidFill>
                <a:latin typeface="+mn-lt"/>
              </a:rPr>
              <a:t> </a:t>
            </a:r>
          </a:p>
          <a:p>
            <a:pPr lvl="1">
              <a:buFont typeface="Wingdings" panose="05000000000000000000" pitchFamily="2" charset="2"/>
              <a:buChar char="§"/>
            </a:pPr>
            <a:r>
              <a:rPr lang="en-NZ" sz="2000" i="0" u="none" strike="noStrike" baseline="0" dirty="0">
                <a:solidFill>
                  <a:schemeClr val="tx1"/>
                </a:solidFill>
                <a:latin typeface="+mn-lt"/>
              </a:rPr>
              <a:t>learning</a:t>
            </a:r>
            <a:endParaRPr lang="en-NZ" sz="2000" i="0" u="none" strike="noStrike" baseline="0" dirty="0">
              <a:solidFill>
                <a:srgbClr val="000000"/>
              </a:solidFill>
              <a:latin typeface="+mn-lt"/>
            </a:endParaRPr>
          </a:p>
          <a:p>
            <a:pPr lvl="1">
              <a:buFont typeface="Wingdings" panose="05000000000000000000" pitchFamily="2" charset="2"/>
              <a:buChar char="§"/>
            </a:pPr>
            <a:r>
              <a:rPr lang="en-NZ" sz="2000" i="0" u="none" strike="noStrike" baseline="0" dirty="0">
                <a:solidFill>
                  <a:schemeClr val="tx1"/>
                </a:solidFill>
                <a:latin typeface="+mn-lt"/>
              </a:rPr>
              <a:t>beliefs and attitudes.</a:t>
            </a:r>
            <a:endParaRPr lang="en-NZ" sz="2000" u="none" strike="noStrike" baseline="0" dirty="0">
              <a:solidFill>
                <a:schemeClr val="tx1"/>
              </a:solidFill>
              <a:latin typeface="+mn-lt"/>
            </a:endParaRPr>
          </a:p>
        </p:txBody>
      </p:sp>
    </p:spTree>
    <p:extLst>
      <p:ext uri="{BB962C8B-B14F-4D97-AF65-F5344CB8AC3E}">
        <p14:creationId xmlns:p14="http://schemas.microsoft.com/office/powerpoint/2010/main" val="36999216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2" name="Title 1">
            <a:extLst>
              <a:ext uri="{FF2B5EF4-FFF2-40B4-BE49-F238E27FC236}">
                <a16:creationId xmlns:a16="http://schemas.microsoft.com/office/drawing/2014/main" id="{F5E30427-4547-4715-9C31-D129FE43C7C1}"/>
              </a:ext>
            </a:extLst>
          </p:cNvPr>
          <p:cNvSpPr>
            <a:spLocks noGrp="1"/>
          </p:cNvSpPr>
          <p:nvPr>
            <p:ph type="title"/>
          </p:nvPr>
        </p:nvSpPr>
        <p:spPr/>
        <p:txBody>
          <a:bodyPr/>
          <a:lstStyle/>
          <a:p>
            <a:r>
              <a:rPr lang="en-US" sz="3200" dirty="0"/>
              <a:t>Consumer markets and consumer behaviour</a:t>
            </a:r>
            <a:endParaRPr lang="en-US" sz="2000" dirty="0"/>
          </a:p>
        </p:txBody>
      </p:sp>
      <p:sp>
        <p:nvSpPr>
          <p:cNvPr id="3" name="Text Placeholder 2">
            <a:extLst>
              <a:ext uri="{FF2B5EF4-FFF2-40B4-BE49-F238E27FC236}">
                <a16:creationId xmlns:a16="http://schemas.microsoft.com/office/drawing/2014/main" id="{C7697BCC-A93B-4430-8CDA-E7B6FF3D13DA}"/>
              </a:ext>
            </a:extLst>
          </p:cNvPr>
          <p:cNvSpPr>
            <a:spLocks noGrp="1"/>
          </p:cNvSpPr>
          <p:nvPr>
            <p:ph type="body" idx="4294967295"/>
          </p:nvPr>
        </p:nvSpPr>
        <p:spPr>
          <a:xfrm>
            <a:off x="457199" y="1600200"/>
            <a:ext cx="8229599" cy="4525963"/>
          </a:xfrm>
        </p:spPr>
        <p:txBody>
          <a:bodyPr/>
          <a:lstStyle/>
          <a:p>
            <a:pPr marL="101600" indent="0">
              <a:buNone/>
            </a:pPr>
            <a:r>
              <a:rPr lang="en-US" sz="2200" b="1" dirty="0">
                <a:solidFill>
                  <a:srgbClr val="00B0F0"/>
                </a:solidFill>
              </a:rPr>
              <a:t>Psychological factors (cont.)</a:t>
            </a:r>
          </a:p>
          <a:p>
            <a:pPr marL="358775" indent="-257175">
              <a:buFont typeface="Wingdings" panose="05000000000000000000" pitchFamily="2" charset="2"/>
              <a:buChar char="Ø"/>
            </a:pPr>
            <a:r>
              <a:rPr lang="en-US" sz="2000" b="1" dirty="0">
                <a:solidFill>
                  <a:srgbClr val="F25B33"/>
                </a:solidFill>
                <a:latin typeface="Verdana" pitchFamily="34" charset="0"/>
                <a:ea typeface="Verdana" pitchFamily="34" charset="0"/>
              </a:rPr>
              <a:t>Motivation</a:t>
            </a:r>
          </a:p>
          <a:p>
            <a:pPr marL="358775" indent="0">
              <a:buNone/>
            </a:pPr>
            <a:r>
              <a:rPr lang="en-NZ" sz="2000" b="1" dirty="0">
                <a:latin typeface="+mn-lt"/>
              </a:rPr>
              <a:t>Motive </a:t>
            </a:r>
            <a:r>
              <a:rPr lang="en-NZ" sz="2000" dirty="0">
                <a:latin typeface="+mn-lt"/>
              </a:rPr>
              <a:t>(</a:t>
            </a:r>
            <a:r>
              <a:rPr lang="en-NZ" sz="2000" b="1" dirty="0">
                <a:latin typeface="+mn-lt"/>
              </a:rPr>
              <a:t>drive</a:t>
            </a:r>
            <a:r>
              <a:rPr lang="en-NZ" sz="2000" dirty="0">
                <a:latin typeface="+mn-lt"/>
              </a:rPr>
              <a:t>) is </a:t>
            </a:r>
            <a:r>
              <a:rPr lang="en-NZ" sz="2000" b="0" i="0" u="none" strike="noStrike" baseline="0" dirty="0">
                <a:latin typeface="+mn-lt"/>
              </a:rPr>
              <a:t>a need that is sufficiently pressing to direct the person to seek satisfaction</a:t>
            </a:r>
            <a:r>
              <a:rPr lang="en-NZ" sz="2000" dirty="0">
                <a:latin typeface="+mn-lt"/>
              </a:rPr>
              <a:t>.</a:t>
            </a:r>
          </a:p>
          <a:p>
            <a:pPr marL="536575" indent="-177800">
              <a:buFont typeface="Wingdings" panose="05000000000000000000" pitchFamily="2" charset="2"/>
              <a:buChar char="§"/>
            </a:pPr>
            <a:r>
              <a:rPr lang="en-NZ" sz="2000" dirty="0">
                <a:latin typeface="+mn-lt"/>
              </a:rPr>
              <a:t>Two of the most popular theories of human motivation are those of Sigmund Freud and Abraham Maslow.</a:t>
            </a:r>
          </a:p>
          <a:p>
            <a:pPr marL="536575" indent="-177800" algn="l">
              <a:buFont typeface="Wingdings" panose="05000000000000000000" pitchFamily="2" charset="2"/>
              <a:buChar char="§"/>
            </a:pPr>
            <a:r>
              <a:rPr lang="en-NZ" sz="2000" dirty="0">
                <a:latin typeface="+mn-lt"/>
              </a:rPr>
              <a:t>Motivation research refers to qualitative research designed to probe consumers’ hidden, subconscious motivations.</a:t>
            </a:r>
          </a:p>
        </p:txBody>
      </p:sp>
    </p:spTree>
    <p:extLst>
      <p:ext uri="{BB962C8B-B14F-4D97-AF65-F5344CB8AC3E}">
        <p14:creationId xmlns:p14="http://schemas.microsoft.com/office/powerpoint/2010/main" val="11631509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1E885-8042-4201-869B-41E365E6FCC2}"/>
              </a:ext>
            </a:extLst>
          </p:cNvPr>
          <p:cNvSpPr>
            <a:spLocks noGrp="1"/>
          </p:cNvSpPr>
          <p:nvPr>
            <p:ph type="title"/>
          </p:nvPr>
        </p:nvSpPr>
        <p:spPr>
          <a:xfrm>
            <a:off x="457200" y="228600"/>
            <a:ext cx="8229600" cy="672657"/>
          </a:xfrm>
        </p:spPr>
        <p:txBody>
          <a:bodyPr anchor="b">
            <a:normAutofit fontScale="90000"/>
          </a:bodyPr>
          <a:lstStyle/>
          <a:p>
            <a:pPr>
              <a:lnSpc>
                <a:spcPct val="90000"/>
              </a:lnSpc>
            </a:pPr>
            <a:r>
              <a:rPr lang="en-NZ" dirty="0"/>
              <a:t>Maslow’s hierarchy of needs</a:t>
            </a:r>
          </a:p>
        </p:txBody>
      </p:sp>
      <p:pic>
        <p:nvPicPr>
          <p:cNvPr id="5" name="Picture 2" descr="D:\Yuga\Other Project\PAU23\Armstrong_pom_7e\Image replacement\Ch05\Images\fig05_03.jpg">
            <a:extLst>
              <a:ext uri="{FF2B5EF4-FFF2-40B4-BE49-F238E27FC236}">
                <a16:creationId xmlns:a16="http://schemas.microsoft.com/office/drawing/2014/main" id="{B1F5E131-75E2-4CF6-876C-32D876C6192F}"/>
              </a:ext>
            </a:extLst>
          </p:cNvPr>
          <p:cNvPicPr>
            <a:picLocks noChangeAspect="1" noChangeArrowheads="1"/>
          </p:cNvPicPr>
          <p:nvPr/>
        </p:nvPicPr>
        <p:blipFill>
          <a:blip r:embed="rId3" cstate="print"/>
          <a:stretch>
            <a:fillRect/>
          </a:stretch>
        </p:blipFill>
        <p:spPr bwMode="auto">
          <a:xfrm>
            <a:off x="646386" y="1974999"/>
            <a:ext cx="7851227" cy="4443855"/>
          </a:xfrm>
          <a:prstGeom prst="rect">
            <a:avLst/>
          </a:prstGeom>
          <a:noFill/>
        </p:spPr>
      </p:pic>
      <p:sp>
        <p:nvSpPr>
          <p:cNvPr id="4" name="TextBox 3">
            <a:extLst>
              <a:ext uri="{FF2B5EF4-FFF2-40B4-BE49-F238E27FC236}">
                <a16:creationId xmlns:a16="http://schemas.microsoft.com/office/drawing/2014/main" id="{662BB964-21DE-6D72-57A5-B47841F6C22D}"/>
              </a:ext>
            </a:extLst>
          </p:cNvPr>
          <p:cNvSpPr txBox="1"/>
          <p:nvPr/>
        </p:nvSpPr>
        <p:spPr>
          <a:xfrm>
            <a:off x="457200" y="925215"/>
            <a:ext cx="8229600" cy="1015663"/>
          </a:xfrm>
          <a:prstGeom prst="rect">
            <a:avLst/>
          </a:prstGeom>
          <a:noFill/>
        </p:spPr>
        <p:txBody>
          <a:bodyPr wrap="square">
            <a:spAutoFit/>
          </a:bodyPr>
          <a:lstStyle/>
          <a:p>
            <a:r>
              <a:rPr lang="en-US" sz="2000" dirty="0"/>
              <a:t>One of the most well-known theories explaining consumer motivation is </a:t>
            </a:r>
            <a:r>
              <a:rPr lang="en-US" sz="2000" b="1" dirty="0"/>
              <a:t>Maslow’s Hierarchy of Needs</a:t>
            </a:r>
            <a:r>
              <a:rPr lang="en-US" sz="2000" dirty="0"/>
              <a:t>, which categorizes human needs into five levels:</a:t>
            </a:r>
            <a:endParaRPr lang="en-AU" sz="2000" dirty="0"/>
          </a:p>
        </p:txBody>
      </p:sp>
    </p:spTree>
    <p:extLst>
      <p:ext uri="{BB962C8B-B14F-4D97-AF65-F5344CB8AC3E}">
        <p14:creationId xmlns:p14="http://schemas.microsoft.com/office/powerpoint/2010/main" val="1716555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2" name="Title 1">
            <a:extLst>
              <a:ext uri="{FF2B5EF4-FFF2-40B4-BE49-F238E27FC236}">
                <a16:creationId xmlns:a16="http://schemas.microsoft.com/office/drawing/2014/main" id="{F5E30427-4547-4715-9C31-D129FE43C7C1}"/>
              </a:ext>
            </a:extLst>
          </p:cNvPr>
          <p:cNvSpPr>
            <a:spLocks noGrp="1"/>
          </p:cNvSpPr>
          <p:nvPr>
            <p:ph type="title"/>
          </p:nvPr>
        </p:nvSpPr>
        <p:spPr/>
        <p:txBody>
          <a:bodyPr/>
          <a:lstStyle/>
          <a:p>
            <a:r>
              <a:rPr lang="en-US" sz="3200" dirty="0"/>
              <a:t>Consumer markets and consumer behaviour</a:t>
            </a:r>
            <a:endParaRPr lang="en-US" sz="2000" dirty="0"/>
          </a:p>
        </p:txBody>
      </p:sp>
      <p:sp>
        <p:nvSpPr>
          <p:cNvPr id="3" name="Text Placeholder 2">
            <a:extLst>
              <a:ext uri="{FF2B5EF4-FFF2-40B4-BE49-F238E27FC236}">
                <a16:creationId xmlns:a16="http://schemas.microsoft.com/office/drawing/2014/main" id="{C7697BCC-A93B-4430-8CDA-E7B6FF3D13DA}"/>
              </a:ext>
            </a:extLst>
          </p:cNvPr>
          <p:cNvSpPr>
            <a:spLocks noGrp="1"/>
          </p:cNvSpPr>
          <p:nvPr>
            <p:ph type="body" idx="4294967295"/>
          </p:nvPr>
        </p:nvSpPr>
        <p:spPr>
          <a:xfrm>
            <a:off x="368299" y="1312650"/>
            <a:ext cx="8229599" cy="4525963"/>
          </a:xfrm>
        </p:spPr>
        <p:txBody>
          <a:bodyPr/>
          <a:lstStyle/>
          <a:p>
            <a:pPr marL="101600" indent="0">
              <a:buNone/>
            </a:pPr>
            <a:r>
              <a:rPr lang="en-US" sz="2200" b="1" dirty="0">
                <a:solidFill>
                  <a:srgbClr val="00B0F0"/>
                </a:solidFill>
              </a:rPr>
              <a:t>Psychological factors (cont.)</a:t>
            </a:r>
          </a:p>
          <a:p>
            <a:pPr marL="358775" indent="-257175">
              <a:buFont typeface="Wingdings" panose="05000000000000000000" pitchFamily="2" charset="2"/>
              <a:buChar char="Ø"/>
            </a:pPr>
            <a:r>
              <a:rPr lang="en-US" sz="2000" b="1" dirty="0">
                <a:solidFill>
                  <a:srgbClr val="F25B33"/>
                </a:solidFill>
                <a:latin typeface="Verdana" pitchFamily="34" charset="0"/>
                <a:ea typeface="Verdana" pitchFamily="34" charset="0"/>
              </a:rPr>
              <a:t>Perception</a:t>
            </a:r>
          </a:p>
          <a:p>
            <a:pPr marL="536575" indent="-177800" algn="l">
              <a:buFont typeface="Wingdings" panose="05000000000000000000" pitchFamily="2" charset="2"/>
              <a:buChar char="§"/>
            </a:pPr>
            <a:r>
              <a:rPr lang="en-NZ" sz="2000" b="0" i="0" u="none" strike="noStrike" baseline="0" dirty="0">
                <a:solidFill>
                  <a:srgbClr val="000000"/>
                </a:solidFill>
                <a:latin typeface="+mn-lt"/>
              </a:rPr>
              <a:t>is the process by which people select, organise and interpret information to form a meaningful picture of the world</a:t>
            </a:r>
            <a:r>
              <a:rPr lang="en-NZ" sz="2000" b="0" u="none" strike="noStrike" baseline="0" dirty="0">
                <a:latin typeface="+mn-lt"/>
              </a:rPr>
              <a:t>.</a:t>
            </a:r>
          </a:p>
          <a:p>
            <a:pPr marL="358775" indent="-257175">
              <a:buFont typeface="Wingdings" panose="05000000000000000000" pitchFamily="2" charset="2"/>
              <a:buChar char="Ø"/>
            </a:pPr>
            <a:r>
              <a:rPr lang="en-US" sz="2000" b="1" dirty="0">
                <a:solidFill>
                  <a:srgbClr val="F25B33"/>
                </a:solidFill>
                <a:latin typeface="Verdana" pitchFamily="34" charset="0"/>
                <a:ea typeface="Verdana" pitchFamily="34" charset="0"/>
              </a:rPr>
              <a:t>Learning</a:t>
            </a:r>
          </a:p>
          <a:p>
            <a:pPr marL="536575" indent="-177800">
              <a:buFont typeface="Wingdings" panose="05000000000000000000" pitchFamily="2" charset="2"/>
              <a:buChar char="§"/>
            </a:pPr>
            <a:r>
              <a:rPr lang="en-NZ" sz="2000" dirty="0">
                <a:solidFill>
                  <a:srgbClr val="000000"/>
                </a:solidFill>
                <a:latin typeface="+mn-lt"/>
              </a:rPr>
              <a:t>refers to the changes in an individual’s </a:t>
            </a:r>
            <a:br>
              <a:rPr lang="en-NZ" sz="2000" dirty="0">
                <a:solidFill>
                  <a:srgbClr val="000000"/>
                </a:solidFill>
                <a:latin typeface="+mn-lt"/>
              </a:rPr>
            </a:br>
            <a:r>
              <a:rPr lang="en-NZ" sz="2000" dirty="0">
                <a:solidFill>
                  <a:srgbClr val="000000"/>
                </a:solidFill>
                <a:latin typeface="+mn-lt"/>
              </a:rPr>
              <a:t>behaviour arising from experience.</a:t>
            </a:r>
          </a:p>
          <a:p>
            <a:pPr marL="536575" indent="-177800">
              <a:buFont typeface="Wingdings" panose="05000000000000000000" pitchFamily="2" charset="2"/>
              <a:buChar char="§"/>
            </a:pPr>
            <a:r>
              <a:rPr lang="en-NZ" sz="2000" dirty="0">
                <a:solidFill>
                  <a:srgbClr val="000000"/>
                </a:solidFill>
                <a:latin typeface="+mn-lt"/>
              </a:rPr>
              <a:t>Learning occurs through the interplay of </a:t>
            </a:r>
            <a:br>
              <a:rPr lang="en-NZ" sz="2000" dirty="0">
                <a:solidFill>
                  <a:srgbClr val="000000"/>
                </a:solidFill>
                <a:latin typeface="+mn-lt"/>
              </a:rPr>
            </a:br>
            <a:r>
              <a:rPr lang="en-NZ" sz="2000" dirty="0">
                <a:solidFill>
                  <a:srgbClr val="000000"/>
                </a:solidFill>
                <a:latin typeface="+mn-lt"/>
              </a:rPr>
              <a:t>drives, stimuli, cues, responses and </a:t>
            </a:r>
            <a:br>
              <a:rPr lang="en-NZ" sz="2000" dirty="0">
                <a:solidFill>
                  <a:srgbClr val="000000"/>
                </a:solidFill>
                <a:latin typeface="+mn-lt"/>
              </a:rPr>
            </a:br>
            <a:r>
              <a:rPr lang="en-NZ" sz="2000" dirty="0">
                <a:solidFill>
                  <a:srgbClr val="000000"/>
                </a:solidFill>
                <a:latin typeface="+mn-lt"/>
              </a:rPr>
              <a:t>reinforcement.</a:t>
            </a:r>
          </a:p>
        </p:txBody>
      </p:sp>
      <p:pic>
        <p:nvPicPr>
          <p:cNvPr id="4" name="Online Media 3" title="Coca-Cola Happiness Machine">
            <a:hlinkClick r:id="" action="ppaction://media"/>
            <a:extLst>
              <a:ext uri="{FF2B5EF4-FFF2-40B4-BE49-F238E27FC236}">
                <a16:creationId xmlns:a16="http://schemas.microsoft.com/office/drawing/2014/main" id="{A8D2DD77-9A23-941F-F31D-25AFFF5E1EA9}"/>
              </a:ext>
            </a:extLst>
          </p:cNvPr>
          <p:cNvPicPr>
            <a:picLocks noRot="1" noChangeAspect="1"/>
          </p:cNvPicPr>
          <p:nvPr>
            <a:videoFile r:link="rId1"/>
          </p:nvPr>
        </p:nvPicPr>
        <p:blipFill>
          <a:blip r:embed="rId5"/>
          <a:stretch>
            <a:fillRect/>
          </a:stretch>
        </p:blipFill>
        <p:spPr>
          <a:xfrm>
            <a:off x="6381748" y="3124781"/>
            <a:ext cx="2095499" cy="1435100"/>
          </a:xfrm>
          <a:prstGeom prst="rect">
            <a:avLst/>
          </a:prstGeom>
        </p:spPr>
      </p:pic>
      <p:pic>
        <p:nvPicPr>
          <p:cNvPr id="5" name="Online Media 4" title="TBBT Sheldon Trains Penny">
            <a:hlinkClick r:id="" action="ppaction://media"/>
            <a:extLst>
              <a:ext uri="{FF2B5EF4-FFF2-40B4-BE49-F238E27FC236}">
                <a16:creationId xmlns:a16="http://schemas.microsoft.com/office/drawing/2014/main" id="{91499559-A7BC-7AD5-F40B-A1BC31771639}"/>
              </a:ext>
            </a:extLst>
          </p:cNvPr>
          <p:cNvPicPr>
            <a:picLocks noRot="1" noChangeAspect="1"/>
          </p:cNvPicPr>
          <p:nvPr>
            <a:videoFile r:link="rId2"/>
          </p:nvPr>
        </p:nvPicPr>
        <p:blipFill>
          <a:blip r:embed="rId6"/>
          <a:stretch>
            <a:fillRect/>
          </a:stretch>
        </p:blipFill>
        <p:spPr>
          <a:xfrm>
            <a:off x="6381749" y="4662488"/>
            <a:ext cx="2095499" cy="1571624"/>
          </a:xfrm>
          <a:prstGeom prst="rect">
            <a:avLst/>
          </a:prstGeom>
        </p:spPr>
      </p:pic>
    </p:spTree>
    <p:extLst>
      <p:ext uri="{BB962C8B-B14F-4D97-AF65-F5344CB8AC3E}">
        <p14:creationId xmlns:p14="http://schemas.microsoft.com/office/powerpoint/2010/main" val="4314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4"/>
                </p:tgtEl>
              </p:cMediaNode>
            </p:video>
            <p:seq concurrent="1" nextAc="seek">
              <p:cTn id="12" restart="whenNotActive" fill="hold" evtFilter="cancelBubble" nodeType="interactiveSeq">
                <p:stCondLst>
                  <p:cond evt="onClick" delay="0">
                    <p:tgtEl>
                      <p:spTgt spid="4"/>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4"/>
                                        </p:tgtEl>
                                      </p:cBhvr>
                                    </p:cmd>
                                  </p:childTnLst>
                                </p:cTn>
                              </p:par>
                            </p:childTnLst>
                          </p:cTn>
                        </p:par>
                      </p:childTnLst>
                    </p:cTn>
                  </p:par>
                </p:childTnLst>
              </p:cTn>
              <p:nextCondLst>
                <p:cond evt="onClick" delay="0">
                  <p:tgtEl>
                    <p:spTgt spid="4"/>
                  </p:tgtEl>
                </p:cond>
              </p:nextCondLst>
            </p:seq>
            <p:video>
              <p:cMediaNode vol="80000">
                <p:cTn id="17" fill="hold" display="0">
                  <p:stCondLst>
                    <p:cond delay="indefinite"/>
                  </p:stCondLst>
                </p:cTn>
                <p:tgtEl>
                  <p:spTgt spid="5"/>
                </p:tgtEl>
              </p:cMediaNode>
            </p:video>
            <p:seq concurrent="1" nextAc="seek">
              <p:cTn id="18" restart="whenNotActive" fill="hold" evtFilter="cancelBubble" nodeType="interactiveSeq">
                <p:stCondLst>
                  <p:cond evt="onClick" delay="0">
                    <p:tgtEl>
                      <p:spTgt spid="5"/>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2" name="Title 1">
            <a:extLst>
              <a:ext uri="{FF2B5EF4-FFF2-40B4-BE49-F238E27FC236}">
                <a16:creationId xmlns:a16="http://schemas.microsoft.com/office/drawing/2014/main" id="{F5E30427-4547-4715-9C31-D129FE43C7C1}"/>
              </a:ext>
            </a:extLst>
          </p:cNvPr>
          <p:cNvSpPr>
            <a:spLocks noGrp="1"/>
          </p:cNvSpPr>
          <p:nvPr>
            <p:ph type="title"/>
          </p:nvPr>
        </p:nvSpPr>
        <p:spPr>
          <a:xfrm>
            <a:off x="457200" y="0"/>
            <a:ext cx="8229600" cy="1097279"/>
          </a:xfrm>
        </p:spPr>
        <p:txBody>
          <a:bodyPr/>
          <a:lstStyle/>
          <a:p>
            <a:r>
              <a:rPr lang="en-US" sz="3200" dirty="0"/>
              <a:t>Consumer markets and consumer behaviour</a:t>
            </a:r>
            <a:endParaRPr lang="en-US" sz="2000" dirty="0"/>
          </a:p>
        </p:txBody>
      </p:sp>
      <p:sp>
        <p:nvSpPr>
          <p:cNvPr id="3" name="Text Placeholder 2">
            <a:extLst>
              <a:ext uri="{FF2B5EF4-FFF2-40B4-BE49-F238E27FC236}">
                <a16:creationId xmlns:a16="http://schemas.microsoft.com/office/drawing/2014/main" id="{C7697BCC-A93B-4430-8CDA-E7B6FF3D13DA}"/>
              </a:ext>
            </a:extLst>
          </p:cNvPr>
          <p:cNvSpPr>
            <a:spLocks noGrp="1"/>
          </p:cNvSpPr>
          <p:nvPr>
            <p:ph type="body" idx="4294967295"/>
          </p:nvPr>
        </p:nvSpPr>
        <p:spPr>
          <a:xfrm>
            <a:off x="457199" y="1007850"/>
            <a:ext cx="8356601" cy="4525963"/>
          </a:xfrm>
        </p:spPr>
        <p:txBody>
          <a:bodyPr/>
          <a:lstStyle/>
          <a:p>
            <a:pPr marL="101600" indent="0">
              <a:spcBef>
                <a:spcPts val="600"/>
              </a:spcBef>
              <a:spcAft>
                <a:spcPts val="600"/>
              </a:spcAft>
              <a:buNone/>
            </a:pPr>
            <a:r>
              <a:rPr lang="en-US" sz="2200" b="1" dirty="0">
                <a:solidFill>
                  <a:srgbClr val="00B0F0"/>
                </a:solidFill>
              </a:rPr>
              <a:t>Psychological factors (cont.)</a:t>
            </a:r>
          </a:p>
          <a:p>
            <a:pPr marL="358775" indent="-257175">
              <a:spcBef>
                <a:spcPts val="600"/>
              </a:spcBef>
              <a:spcAft>
                <a:spcPts val="600"/>
              </a:spcAft>
              <a:buFont typeface="Wingdings" panose="05000000000000000000" pitchFamily="2" charset="2"/>
              <a:buChar char="Ø"/>
            </a:pPr>
            <a:r>
              <a:rPr lang="en-US" sz="2000" b="1" dirty="0">
                <a:solidFill>
                  <a:srgbClr val="F25B33"/>
                </a:solidFill>
                <a:latin typeface="Verdana" pitchFamily="34" charset="0"/>
                <a:ea typeface="Verdana" pitchFamily="34" charset="0"/>
              </a:rPr>
              <a:t>Attitudes</a:t>
            </a:r>
          </a:p>
          <a:p>
            <a:pPr marL="536575" indent="-177800">
              <a:spcBef>
                <a:spcPts val="600"/>
              </a:spcBef>
              <a:spcAft>
                <a:spcPts val="600"/>
              </a:spcAft>
              <a:buFont typeface="Wingdings" panose="05000000000000000000" pitchFamily="2" charset="2"/>
              <a:buChar char="§"/>
            </a:pPr>
            <a:r>
              <a:rPr lang="en-NZ" sz="2000" b="1" dirty="0">
                <a:solidFill>
                  <a:srgbClr val="000000"/>
                </a:solidFill>
                <a:latin typeface="+mn-lt"/>
              </a:rPr>
              <a:t>Attitude</a:t>
            </a:r>
            <a:r>
              <a:rPr lang="en-NZ" sz="2000" dirty="0">
                <a:solidFill>
                  <a:srgbClr val="000000"/>
                </a:solidFill>
                <a:latin typeface="+mn-lt"/>
              </a:rPr>
              <a:t> refers to a person’s consistently favourable or unfavourable evaluations, feelings and tendencies towards an object or idea. </a:t>
            </a:r>
          </a:p>
          <a:p>
            <a:pPr marL="536575" indent="-177800">
              <a:spcBef>
                <a:spcPts val="0"/>
              </a:spcBef>
              <a:buFont typeface="Wingdings" panose="05000000000000000000" pitchFamily="2" charset="2"/>
              <a:buChar char="§"/>
            </a:pPr>
            <a:r>
              <a:rPr lang="en-NZ" sz="2000" b="1" dirty="0">
                <a:solidFill>
                  <a:srgbClr val="000000"/>
                </a:solidFill>
                <a:latin typeface="+mn-lt"/>
              </a:rPr>
              <a:t>Attitudes</a:t>
            </a:r>
            <a:r>
              <a:rPr lang="en-NZ" sz="2000" dirty="0">
                <a:solidFill>
                  <a:srgbClr val="000000"/>
                </a:solidFill>
                <a:latin typeface="+mn-lt"/>
              </a:rPr>
              <a:t> comprise three parts: </a:t>
            </a:r>
          </a:p>
          <a:p>
            <a:pPr lvl="1">
              <a:spcBef>
                <a:spcPts val="0"/>
              </a:spcBef>
              <a:buFont typeface="Arial" panose="020B0604020202020204" pitchFamily="34" charset="0"/>
              <a:buChar char="•"/>
              <a:defRPr/>
            </a:pPr>
            <a:r>
              <a:rPr lang="en-NZ" sz="1800" dirty="0">
                <a:latin typeface="+mn-lt"/>
                <a:ea typeface="Verdana" pitchFamily="34" charset="0"/>
              </a:rPr>
              <a:t>thoughts and beliefs: Knowledge, Opinion, Faith (cognition) </a:t>
            </a:r>
          </a:p>
          <a:p>
            <a:pPr lvl="1">
              <a:spcBef>
                <a:spcPts val="0"/>
              </a:spcBef>
              <a:buFont typeface="Arial" panose="020B0604020202020204" pitchFamily="34" charset="0"/>
              <a:buChar char="•"/>
              <a:defRPr/>
            </a:pPr>
            <a:r>
              <a:rPr lang="en-NZ" sz="1800" dirty="0">
                <a:latin typeface="+mn-lt"/>
                <a:ea typeface="Verdana" pitchFamily="34" charset="0"/>
              </a:rPr>
              <a:t>feelings (affect) </a:t>
            </a:r>
          </a:p>
          <a:p>
            <a:pPr lvl="1">
              <a:spcBef>
                <a:spcPts val="0"/>
              </a:spcBef>
              <a:buFont typeface="Arial" panose="020B0604020202020204" pitchFamily="34" charset="0"/>
              <a:buChar char="•"/>
              <a:defRPr/>
            </a:pPr>
            <a:r>
              <a:rPr lang="en-NZ" sz="1800" dirty="0">
                <a:latin typeface="+mn-lt"/>
                <a:ea typeface="Verdana" pitchFamily="34" charset="0"/>
              </a:rPr>
              <a:t>an intention to behave in a certain way (conation).</a:t>
            </a:r>
          </a:p>
          <a:p>
            <a:pPr marL="101600" indent="0">
              <a:spcAft>
                <a:spcPts val="600"/>
              </a:spcAft>
              <a:buNone/>
              <a:defRPr/>
            </a:pPr>
            <a:r>
              <a:rPr lang="en-US" sz="2000" dirty="0"/>
              <a:t>Attitude plays a significant role in consumer behavior by shaping perceptions, guiding decision-making, and influencing loyalty.</a:t>
            </a:r>
          </a:p>
          <a:p>
            <a:pPr marL="101600" indent="0">
              <a:spcAft>
                <a:spcPts val="600"/>
              </a:spcAft>
              <a:buNone/>
              <a:defRPr/>
            </a:pPr>
            <a:r>
              <a:rPr lang="en-US" sz="2000" dirty="0"/>
              <a:t>Marketers must understand how to create and nurture positive attitudes toward their products, as well as how to address negative attitudes to build a strong and lasting relationship with their target audience.</a:t>
            </a:r>
            <a:endParaRPr lang="en-NZ" sz="1800" dirty="0">
              <a:latin typeface="+mn-lt"/>
              <a:ea typeface="Verdana" pitchFamily="34" charset="0"/>
            </a:endParaRPr>
          </a:p>
        </p:txBody>
      </p:sp>
    </p:spTree>
    <p:extLst>
      <p:ext uri="{BB962C8B-B14F-4D97-AF65-F5344CB8AC3E}">
        <p14:creationId xmlns:p14="http://schemas.microsoft.com/office/powerpoint/2010/main" val="9425904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D3CEA-4719-4356-BBCC-DBF02D99A52E}"/>
              </a:ext>
            </a:extLst>
          </p:cNvPr>
          <p:cNvSpPr>
            <a:spLocks noGrp="1"/>
          </p:cNvSpPr>
          <p:nvPr>
            <p:ph type="title"/>
          </p:nvPr>
        </p:nvSpPr>
        <p:spPr>
          <a:xfrm>
            <a:off x="838787" y="244058"/>
            <a:ext cx="7346266" cy="924438"/>
          </a:xfrm>
        </p:spPr>
        <p:txBody>
          <a:bodyPr/>
          <a:lstStyle/>
          <a:p>
            <a:r>
              <a:rPr lang="en-AU" sz="3200" dirty="0">
                <a:solidFill>
                  <a:srgbClr val="007FA3"/>
                </a:solidFill>
                <a:latin typeface="+mj-lt"/>
              </a:rPr>
              <a:t>What is a decision…..Key consumer decisions</a:t>
            </a:r>
          </a:p>
        </p:txBody>
      </p:sp>
      <p:sp>
        <p:nvSpPr>
          <p:cNvPr id="3" name="Content Placeholder 2">
            <a:extLst>
              <a:ext uri="{FF2B5EF4-FFF2-40B4-BE49-F238E27FC236}">
                <a16:creationId xmlns:a16="http://schemas.microsoft.com/office/drawing/2014/main" id="{920D2B28-79F0-4A8C-90DD-C31F00C11BA6}"/>
              </a:ext>
            </a:extLst>
          </p:cNvPr>
          <p:cNvSpPr>
            <a:spLocks noGrp="1"/>
          </p:cNvSpPr>
          <p:nvPr>
            <p:ph idx="1"/>
          </p:nvPr>
        </p:nvSpPr>
        <p:spPr>
          <a:xfrm>
            <a:off x="385397" y="2755507"/>
            <a:ext cx="8373208" cy="3685735"/>
          </a:xfrm>
        </p:spPr>
        <p:txBody>
          <a:bodyPr/>
          <a:lstStyle/>
          <a:p>
            <a:pPr marL="522288" indent="-342900">
              <a:buFont typeface="Wingdings" panose="05000000000000000000" pitchFamily="2" charset="2"/>
              <a:buChar char="§"/>
            </a:pPr>
            <a:r>
              <a:rPr lang="en-AU" sz="2000" b="1" dirty="0">
                <a:latin typeface="+mn-lt"/>
              </a:rPr>
              <a:t>A decision is the selection of an action from two or more alternative choices. Consumer decisions can be on :</a:t>
            </a:r>
          </a:p>
          <a:p>
            <a:pPr marL="1009206" lvl="1" indent="-342900">
              <a:buFont typeface="Arial" panose="020B0604020202020204" pitchFamily="34" charset="0"/>
              <a:buChar char="•"/>
            </a:pPr>
            <a:r>
              <a:rPr lang="en-AU" sz="1800" b="1" dirty="0">
                <a:latin typeface="+mn-lt"/>
              </a:rPr>
              <a:t>Whether </a:t>
            </a:r>
            <a:r>
              <a:rPr lang="en-AU" sz="1800" dirty="0">
                <a:latin typeface="+mn-lt"/>
              </a:rPr>
              <a:t>to purchase</a:t>
            </a:r>
          </a:p>
          <a:p>
            <a:pPr marL="1009206" lvl="1" indent="-342900">
              <a:buFont typeface="Arial" panose="020B0604020202020204" pitchFamily="34" charset="0"/>
              <a:buChar char="•"/>
            </a:pPr>
            <a:r>
              <a:rPr lang="en-AU" sz="1800" dirty="0">
                <a:latin typeface="+mn-lt"/>
              </a:rPr>
              <a:t>Choice of purchasing </a:t>
            </a:r>
            <a:r>
              <a:rPr lang="en-AU" sz="1800" b="1" dirty="0">
                <a:latin typeface="+mn-lt"/>
              </a:rPr>
              <a:t>a specific brand</a:t>
            </a:r>
          </a:p>
          <a:p>
            <a:pPr marL="1009206" lvl="1" indent="-342900">
              <a:buFont typeface="Arial" panose="020B0604020202020204" pitchFamily="34" charset="0"/>
              <a:buChar char="•"/>
            </a:pPr>
            <a:r>
              <a:rPr lang="en-AU" sz="1800" b="1" dirty="0">
                <a:latin typeface="+mn-lt"/>
              </a:rPr>
              <a:t>How much </a:t>
            </a:r>
            <a:r>
              <a:rPr lang="en-AU" sz="1800" dirty="0">
                <a:latin typeface="+mn-lt"/>
              </a:rPr>
              <a:t>to purchase</a:t>
            </a:r>
          </a:p>
          <a:p>
            <a:pPr marL="1009206" lvl="1" indent="-342900">
              <a:buFont typeface="Arial" panose="020B0604020202020204" pitchFamily="34" charset="0"/>
              <a:buChar char="•"/>
            </a:pPr>
            <a:r>
              <a:rPr lang="en-AU" sz="1800" dirty="0">
                <a:latin typeface="+mn-lt"/>
              </a:rPr>
              <a:t>Whether to purchase the </a:t>
            </a:r>
            <a:r>
              <a:rPr lang="en-AU" sz="1800" b="1" dirty="0">
                <a:latin typeface="+mn-lt"/>
              </a:rPr>
              <a:t>usual brand </a:t>
            </a:r>
            <a:r>
              <a:rPr lang="en-AU" sz="1800" dirty="0">
                <a:latin typeface="+mn-lt"/>
              </a:rPr>
              <a:t>or branch out and </a:t>
            </a:r>
            <a:r>
              <a:rPr lang="en-AU" sz="1800" b="1" dirty="0">
                <a:latin typeface="+mn-lt"/>
              </a:rPr>
              <a:t>try a new one</a:t>
            </a:r>
          </a:p>
          <a:p>
            <a:pPr marL="1009206" lvl="1" indent="-342900">
              <a:buFont typeface="Arial" panose="020B0604020202020204" pitchFamily="34" charset="0"/>
              <a:buChar char="•"/>
            </a:pPr>
            <a:r>
              <a:rPr lang="en-AU" sz="1800" dirty="0">
                <a:latin typeface="+mn-lt"/>
              </a:rPr>
              <a:t>The</a:t>
            </a:r>
            <a:r>
              <a:rPr lang="en-AU" sz="1800" b="1" dirty="0">
                <a:latin typeface="+mn-lt"/>
              </a:rPr>
              <a:t> type of store and specific store </a:t>
            </a:r>
            <a:r>
              <a:rPr lang="en-AU" sz="1800" dirty="0">
                <a:latin typeface="+mn-lt"/>
              </a:rPr>
              <a:t>to buy from</a:t>
            </a:r>
          </a:p>
          <a:p>
            <a:pPr marL="1009206" lvl="1" indent="-342900">
              <a:buFont typeface="Arial" panose="020B0604020202020204" pitchFamily="34" charset="0"/>
              <a:buChar char="•"/>
            </a:pPr>
            <a:r>
              <a:rPr lang="en-AU" sz="1800" dirty="0">
                <a:latin typeface="+mn-lt"/>
              </a:rPr>
              <a:t>Whether to buy in </a:t>
            </a:r>
            <a:r>
              <a:rPr lang="en-AU" sz="1800" b="1" dirty="0">
                <a:latin typeface="+mn-lt"/>
              </a:rPr>
              <a:t>a store or online</a:t>
            </a:r>
          </a:p>
          <a:p>
            <a:pPr marL="1009206" lvl="1" indent="-342900">
              <a:buFont typeface="Arial" panose="020B0604020202020204" pitchFamily="34" charset="0"/>
              <a:buChar char="•"/>
            </a:pPr>
            <a:r>
              <a:rPr lang="en-AU" sz="1800" dirty="0">
                <a:latin typeface="+mn-lt"/>
              </a:rPr>
              <a:t>The well-known influence of </a:t>
            </a:r>
            <a:r>
              <a:rPr lang="en-AU" sz="1800" b="1" dirty="0">
                <a:latin typeface="+mn-lt"/>
              </a:rPr>
              <a:t>‘country of origin’ </a:t>
            </a:r>
            <a:r>
              <a:rPr lang="en-AU" sz="1800" dirty="0">
                <a:latin typeface="+mn-lt"/>
              </a:rPr>
              <a:t>of product</a:t>
            </a:r>
            <a:endParaRPr lang="en-AU" sz="1846" dirty="0">
              <a:latin typeface="+mn-lt"/>
            </a:endParaRPr>
          </a:p>
        </p:txBody>
      </p:sp>
      <p:sp>
        <p:nvSpPr>
          <p:cNvPr id="4" name="Slide Number Placeholder 3">
            <a:extLst>
              <a:ext uri="{FF2B5EF4-FFF2-40B4-BE49-F238E27FC236}">
                <a16:creationId xmlns:a16="http://schemas.microsoft.com/office/drawing/2014/main" id="{AD0E1842-4D1D-4C6C-B524-778A36BB9540}"/>
              </a:ext>
            </a:extLst>
          </p:cNvPr>
          <p:cNvSpPr>
            <a:spLocks noGrp="1"/>
          </p:cNvSpPr>
          <p:nvPr>
            <p:ph type="sldNum" sz="quarter" idx="10"/>
          </p:nvPr>
        </p:nvSpPr>
        <p:spPr bwMode="gray">
          <a:xfrm>
            <a:off x="8811358" y="6428643"/>
            <a:ext cx="332642" cy="165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defPPr>
              <a:defRPr lang="en-GB"/>
            </a:defPPr>
            <a:lvl1pPr algn="l" rtl="0" fontAlgn="base">
              <a:spcBef>
                <a:spcPct val="0"/>
              </a:spcBef>
              <a:spcAft>
                <a:spcPct val="0"/>
              </a:spcAft>
              <a:defRPr sz="831" kern="1200">
                <a:solidFill>
                  <a:srgbClr val="4D4D4D"/>
                </a:solidFill>
                <a:latin typeface="Verdana" pitchFamily="34" charset="0"/>
                <a:ea typeface="+mn-ea"/>
                <a:cs typeface="Arial" charset="0"/>
              </a:defRPr>
            </a:lvl1pPr>
            <a:lvl2pPr marL="422041" algn="l" rtl="0" fontAlgn="base">
              <a:spcBef>
                <a:spcPct val="50000"/>
              </a:spcBef>
              <a:spcAft>
                <a:spcPct val="0"/>
              </a:spcAft>
              <a:defRPr sz="923" kern="1200">
                <a:solidFill>
                  <a:schemeClr val="tx1"/>
                </a:solidFill>
                <a:latin typeface="Verdana" pitchFamily="34" charset="0"/>
                <a:ea typeface="+mn-ea"/>
                <a:cs typeface="Arial" charset="0"/>
              </a:defRPr>
            </a:lvl2pPr>
            <a:lvl3pPr marL="844083" algn="l" rtl="0" fontAlgn="base">
              <a:spcBef>
                <a:spcPct val="50000"/>
              </a:spcBef>
              <a:spcAft>
                <a:spcPct val="0"/>
              </a:spcAft>
              <a:defRPr sz="923" kern="1200">
                <a:solidFill>
                  <a:schemeClr val="tx1"/>
                </a:solidFill>
                <a:latin typeface="Verdana" pitchFamily="34" charset="0"/>
                <a:ea typeface="+mn-ea"/>
                <a:cs typeface="Arial" charset="0"/>
              </a:defRPr>
            </a:lvl3pPr>
            <a:lvl4pPr marL="1266124" algn="l" rtl="0" fontAlgn="base">
              <a:spcBef>
                <a:spcPct val="50000"/>
              </a:spcBef>
              <a:spcAft>
                <a:spcPct val="0"/>
              </a:spcAft>
              <a:defRPr sz="923" kern="1200">
                <a:solidFill>
                  <a:schemeClr val="tx1"/>
                </a:solidFill>
                <a:latin typeface="Verdana" pitchFamily="34" charset="0"/>
                <a:ea typeface="+mn-ea"/>
                <a:cs typeface="Arial" charset="0"/>
              </a:defRPr>
            </a:lvl4pPr>
            <a:lvl5pPr marL="1688165" algn="l" rtl="0" fontAlgn="base">
              <a:spcBef>
                <a:spcPct val="50000"/>
              </a:spcBef>
              <a:spcAft>
                <a:spcPct val="0"/>
              </a:spcAft>
              <a:defRPr sz="923" kern="1200">
                <a:solidFill>
                  <a:schemeClr val="tx1"/>
                </a:solidFill>
                <a:latin typeface="Verdana" pitchFamily="34" charset="0"/>
                <a:ea typeface="+mn-ea"/>
                <a:cs typeface="Arial" charset="0"/>
              </a:defRPr>
            </a:lvl5pPr>
            <a:lvl6pPr marL="2110207" algn="l" defTabSz="844083" rtl="0" eaLnBrk="1" latinLnBrk="0" hangingPunct="1">
              <a:defRPr sz="923" kern="1200">
                <a:solidFill>
                  <a:schemeClr val="tx1"/>
                </a:solidFill>
                <a:latin typeface="Verdana" pitchFamily="34" charset="0"/>
                <a:ea typeface="+mn-ea"/>
                <a:cs typeface="Arial" charset="0"/>
              </a:defRPr>
            </a:lvl6pPr>
            <a:lvl7pPr marL="2532248" algn="l" defTabSz="844083" rtl="0" eaLnBrk="1" latinLnBrk="0" hangingPunct="1">
              <a:defRPr sz="923" kern="1200">
                <a:solidFill>
                  <a:schemeClr val="tx1"/>
                </a:solidFill>
                <a:latin typeface="Verdana" pitchFamily="34" charset="0"/>
                <a:ea typeface="+mn-ea"/>
                <a:cs typeface="Arial" charset="0"/>
              </a:defRPr>
            </a:lvl7pPr>
            <a:lvl8pPr marL="2954289" algn="l" defTabSz="844083" rtl="0" eaLnBrk="1" latinLnBrk="0" hangingPunct="1">
              <a:defRPr sz="923" kern="1200">
                <a:solidFill>
                  <a:schemeClr val="tx1"/>
                </a:solidFill>
                <a:latin typeface="Verdana" pitchFamily="34" charset="0"/>
                <a:ea typeface="+mn-ea"/>
                <a:cs typeface="Arial" charset="0"/>
              </a:defRPr>
            </a:lvl8pPr>
            <a:lvl9pPr marL="3376331" algn="l" defTabSz="844083" rtl="0" eaLnBrk="1" latinLnBrk="0" hangingPunct="1">
              <a:defRPr sz="923" kern="1200">
                <a:solidFill>
                  <a:schemeClr val="tx1"/>
                </a:solidFill>
                <a:latin typeface="Verdana" pitchFamily="34" charset="0"/>
                <a:ea typeface="+mn-ea"/>
                <a:cs typeface="Arial" charset="0"/>
              </a:defRPr>
            </a:lvl9pPr>
          </a:lstStyle>
          <a:p>
            <a:pPr>
              <a:defRPr/>
            </a:pPr>
            <a:endParaRPr lang="en-GB" dirty="0"/>
          </a:p>
        </p:txBody>
      </p:sp>
      <p:pic>
        <p:nvPicPr>
          <p:cNvPr id="7" name="Picture 6" descr="MCj03342960000[1]">
            <a:extLst>
              <a:ext uri="{FF2B5EF4-FFF2-40B4-BE49-F238E27FC236}">
                <a16:creationId xmlns:a16="http://schemas.microsoft.com/office/drawing/2014/main" id="{9BC0E86E-28D7-45DB-8A2F-181DC91FC211}"/>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5016598" y="1270340"/>
            <a:ext cx="1672297" cy="1383323"/>
          </a:xfrm>
          <a:prstGeom prst="rect">
            <a:avLst/>
          </a:prstGeom>
          <a:noFill/>
          <a:ln>
            <a:noFill/>
          </a:ln>
        </p:spPr>
      </p:pic>
      <p:pic>
        <p:nvPicPr>
          <p:cNvPr id="9" name="Picture 8" descr="MCj04344110000[1]">
            <a:extLst>
              <a:ext uri="{FF2B5EF4-FFF2-40B4-BE49-F238E27FC236}">
                <a16:creationId xmlns:a16="http://schemas.microsoft.com/office/drawing/2014/main" id="{55E28F2B-C3BE-4CAC-89EB-448254DAA5E9}"/>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950720" y="1123654"/>
            <a:ext cx="1500554" cy="1688123"/>
          </a:xfrm>
          <a:prstGeom prst="rect">
            <a:avLst/>
          </a:prstGeom>
          <a:noFill/>
          <a:ln>
            <a:noFill/>
          </a:ln>
        </p:spPr>
      </p:pic>
    </p:spTree>
    <p:extLst>
      <p:ext uri="{BB962C8B-B14F-4D97-AF65-F5344CB8AC3E}">
        <p14:creationId xmlns:p14="http://schemas.microsoft.com/office/powerpoint/2010/main" val="42840981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bwMode="auto">
          <a:xfrm>
            <a:off x="141316" y="173995"/>
            <a:ext cx="8607397" cy="803905"/>
          </a:xfrm>
        </p:spPr>
        <p:txBody>
          <a:bodyPr wrap="square" numCol="1" anchor="b" anchorCtr="0" compatLnSpc="1">
            <a:noAutofit/>
          </a:bodyPr>
          <a:lstStyle/>
          <a:p>
            <a:r>
              <a:rPr lang="en-AU" altLang="en-US" sz="3200" dirty="0">
                <a:solidFill>
                  <a:srgbClr val="007FA3"/>
                </a:solidFill>
                <a:latin typeface="+mj-lt"/>
              </a:rPr>
              <a:t>Consumer Decision-Making Process</a:t>
            </a:r>
          </a:p>
        </p:txBody>
      </p:sp>
      <p:pic>
        <p:nvPicPr>
          <p:cNvPr id="22531"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79696" y="835421"/>
            <a:ext cx="6130636" cy="5187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79984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2531"/>
                                        </p:tgtEl>
                                        <p:attrNameLst>
                                          <p:attrName>style.visibility</p:attrName>
                                        </p:attrNameLst>
                                      </p:cBhvr>
                                      <p:to>
                                        <p:strVal val="visible"/>
                                      </p:to>
                                    </p:set>
                                    <p:animEffect transition="in" filter="fade">
                                      <p:cBhvr>
                                        <p:cTn id="7" dur="500"/>
                                        <p:tgtEl>
                                          <p:spTgt spid="225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2" name="Title 1">
            <a:extLst>
              <a:ext uri="{FF2B5EF4-FFF2-40B4-BE49-F238E27FC236}">
                <a16:creationId xmlns:a16="http://schemas.microsoft.com/office/drawing/2014/main" id="{F5E30427-4547-4715-9C31-D129FE43C7C1}"/>
              </a:ext>
            </a:extLst>
          </p:cNvPr>
          <p:cNvSpPr>
            <a:spLocks noGrp="1"/>
          </p:cNvSpPr>
          <p:nvPr>
            <p:ph type="title"/>
          </p:nvPr>
        </p:nvSpPr>
        <p:spPr>
          <a:xfrm>
            <a:off x="457200" y="215371"/>
            <a:ext cx="8229600" cy="699029"/>
          </a:xfrm>
        </p:spPr>
        <p:txBody>
          <a:bodyPr/>
          <a:lstStyle/>
          <a:p>
            <a:r>
              <a:rPr lang="en-NZ" sz="3200" dirty="0"/>
              <a:t>The buyer decision process</a:t>
            </a:r>
            <a:endParaRPr lang="en-US" sz="2000" dirty="0"/>
          </a:p>
        </p:txBody>
      </p:sp>
      <p:sp>
        <p:nvSpPr>
          <p:cNvPr id="3" name="Text Placeholder 2">
            <a:extLst>
              <a:ext uri="{FF2B5EF4-FFF2-40B4-BE49-F238E27FC236}">
                <a16:creationId xmlns:a16="http://schemas.microsoft.com/office/drawing/2014/main" id="{C7697BCC-A93B-4430-8CDA-E7B6FF3D13DA}"/>
              </a:ext>
            </a:extLst>
          </p:cNvPr>
          <p:cNvSpPr>
            <a:spLocks noGrp="1"/>
          </p:cNvSpPr>
          <p:nvPr>
            <p:ph type="body" idx="4294967295"/>
          </p:nvPr>
        </p:nvSpPr>
        <p:spPr>
          <a:xfrm>
            <a:off x="457199" y="733082"/>
            <a:ext cx="8229599" cy="615340"/>
          </a:xfrm>
        </p:spPr>
        <p:txBody>
          <a:bodyPr/>
          <a:lstStyle/>
          <a:p>
            <a:pPr marL="101600" indent="0">
              <a:buNone/>
            </a:pPr>
            <a:r>
              <a:rPr lang="en-US" sz="2400" b="1" dirty="0">
                <a:solidFill>
                  <a:srgbClr val="007FA3"/>
                </a:solidFill>
              </a:rPr>
              <a:t>The first stage in the buyer decision process</a:t>
            </a:r>
          </a:p>
        </p:txBody>
      </p:sp>
      <p:sp>
        <p:nvSpPr>
          <p:cNvPr id="6" name="Content Placeholder 7">
            <a:extLst>
              <a:ext uri="{FF2B5EF4-FFF2-40B4-BE49-F238E27FC236}">
                <a16:creationId xmlns:a16="http://schemas.microsoft.com/office/drawing/2014/main" id="{5817A1DB-EF47-4A79-889C-539415C2F801}"/>
              </a:ext>
            </a:extLst>
          </p:cNvPr>
          <p:cNvSpPr txBox="1">
            <a:spLocks/>
          </p:cNvSpPr>
          <p:nvPr/>
        </p:nvSpPr>
        <p:spPr bwMode="auto">
          <a:xfrm>
            <a:off x="457200" y="1383518"/>
            <a:ext cx="8318499" cy="482615"/>
          </a:xfrm>
          <a:prstGeom prst="flowChartAlternateProcess">
            <a:avLst/>
          </a:prstGeom>
          <a:solidFill>
            <a:srgbClr val="89E0FF"/>
          </a:solidFill>
          <a:ln w="15875">
            <a:solidFill>
              <a:srgbClr val="002060"/>
            </a:solidFill>
          </a:ln>
          <a:effectLst/>
        </p:spPr>
        <p:txBody>
          <a:bodyPr vert="horz" wrap="square" lIns="0" tIns="0" rIns="0" bIns="0" numCol="1" rtlCol="0" anchor="ctr" anchorCtr="0" compatLnSpc="1">
            <a:prstTxWarp prst="textNoShape">
              <a:avLst/>
            </a:prstTxWarp>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marL="290513" algn="ctr" defTabSz="857250" fontAlgn="base">
              <a:spcBef>
                <a:spcPct val="0"/>
              </a:spcBef>
              <a:spcAft>
                <a:spcPct val="20000"/>
              </a:spcAft>
              <a:buSzPct val="80000"/>
              <a:defRPr/>
            </a:pPr>
            <a:r>
              <a:rPr lang="en-US" sz="2000" dirty="0">
                <a:solidFill>
                  <a:schemeClr val="tx1"/>
                </a:solidFill>
                <a:latin typeface="+mn-lt"/>
                <a:ea typeface="+mn-ea"/>
                <a:cs typeface="+mn-cs"/>
              </a:rPr>
              <a:t>Need recognition</a:t>
            </a:r>
          </a:p>
        </p:txBody>
      </p:sp>
      <p:sp>
        <p:nvSpPr>
          <p:cNvPr id="31" name="Content Placeholder 7">
            <a:extLst>
              <a:ext uri="{FF2B5EF4-FFF2-40B4-BE49-F238E27FC236}">
                <a16:creationId xmlns:a16="http://schemas.microsoft.com/office/drawing/2014/main" id="{28735058-DC08-76CA-4C33-46D2692159DE}"/>
              </a:ext>
            </a:extLst>
          </p:cNvPr>
          <p:cNvSpPr txBox="1">
            <a:spLocks/>
          </p:cNvSpPr>
          <p:nvPr/>
        </p:nvSpPr>
        <p:spPr bwMode="auto">
          <a:xfrm>
            <a:off x="457201" y="2677508"/>
            <a:ext cx="8318499" cy="1667366"/>
          </a:xfrm>
          <a:prstGeom prst="flowChartAlternateProcess">
            <a:avLst/>
          </a:prstGeom>
          <a:solidFill>
            <a:srgbClr val="FCF8E8"/>
          </a:solidFill>
          <a:ln w="15875">
            <a:solidFill>
              <a:srgbClr val="002060"/>
            </a:solidFill>
          </a:ln>
          <a:effectLst/>
        </p:spPr>
        <p:txBody>
          <a:bodyPr vert="horz" wrap="square" lIns="0" tIns="0" rIns="0" bIns="0" numCol="1" rtlCol="0" anchor="t" anchorCtr="0" compatLnSpc="1">
            <a:prstTxWarp prst="textNoShape">
              <a:avLst/>
            </a:prstTxWarp>
          </a:bodyPr>
          <a:lstStyle>
            <a:lvl1pPr marL="342900" indent="-342900" algn="l" defTabSz="857250" rtl="0" eaLnBrk="0" fontAlgn="base" hangingPunct="0">
              <a:spcBef>
                <a:spcPct val="20000"/>
              </a:spcBef>
              <a:spcAft>
                <a:spcPct val="20000"/>
              </a:spcAft>
              <a:buSzPct val="80000"/>
              <a:buFont typeface="Verdana" pitchFamily="34" charset="0"/>
              <a:defRPr sz="2000">
                <a:solidFill>
                  <a:schemeClr val="tx1"/>
                </a:solidFill>
                <a:latin typeface="+mn-lt"/>
                <a:ea typeface="+mn-ea"/>
                <a:cs typeface="+mn-cs"/>
              </a:defRPr>
            </a:lvl1pPr>
            <a:lvl2pPr marL="358775" indent="-244475"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2pPr>
            <a:lvl3pPr marL="714375" indent="-247650"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3pPr>
            <a:lvl4pPr marL="1066800" indent="-247650"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4pPr>
            <a:lvl5pPr marL="1428750" indent="-257175"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5pPr>
            <a:lvl6pPr marL="18859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6pPr>
            <a:lvl7pPr marL="23431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7pPr>
            <a:lvl8pPr marL="28003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8pPr>
            <a:lvl9pPr marL="32575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9pPr>
          </a:lstStyle>
          <a:p>
            <a:pPr marL="114300" indent="0"/>
            <a:r>
              <a:rPr lang="en-US" sz="1600" dirty="0"/>
              <a:t>Imbalance between actual and desired states.</a:t>
            </a:r>
          </a:p>
          <a:p>
            <a:pPr marL="114300" indent="0"/>
            <a:r>
              <a:rPr lang="en-US" sz="1600" dirty="0"/>
              <a:t>A want exists when the need manifests into desire for a product to resolve the imbalance</a:t>
            </a:r>
          </a:p>
          <a:p>
            <a:pPr marL="114300" indent="0"/>
            <a:r>
              <a:rPr lang="en-AU" sz="1600" dirty="0"/>
              <a:t>Consumer behaviourists try to:</a:t>
            </a:r>
          </a:p>
          <a:p>
            <a:pPr lvl="1"/>
            <a:r>
              <a:rPr lang="en-AU" sz="1600" dirty="0">
                <a:ea typeface="+mn-ea"/>
              </a:rPr>
              <a:t>understand the circumstances that trigger the need, For e</a:t>
            </a:r>
            <a:r>
              <a:rPr lang="en-AU" sz="1600" dirty="0"/>
              <a:t>xample: electricity and gas companies advertise heavily in March/April? </a:t>
            </a:r>
            <a:endParaRPr lang="en-AU" sz="1600" dirty="0">
              <a:ea typeface="+mn-ea"/>
            </a:endParaRPr>
          </a:p>
          <a:p>
            <a:pPr marL="114300" indent="0"/>
            <a:endParaRPr lang="en-US" sz="1600" kern="0" dirty="0">
              <a:ea typeface="ＭＳ Ｐゴシック" pitchFamily="34" charset="-128"/>
            </a:endParaRPr>
          </a:p>
        </p:txBody>
      </p:sp>
      <p:sp>
        <p:nvSpPr>
          <p:cNvPr id="8" name="Content Placeholder 7">
            <a:extLst>
              <a:ext uri="{FF2B5EF4-FFF2-40B4-BE49-F238E27FC236}">
                <a16:creationId xmlns:a16="http://schemas.microsoft.com/office/drawing/2014/main" id="{97BC72F4-9839-3E23-F4BF-99F6F16918B3}"/>
              </a:ext>
            </a:extLst>
          </p:cNvPr>
          <p:cNvSpPr txBox="1">
            <a:spLocks/>
          </p:cNvSpPr>
          <p:nvPr/>
        </p:nvSpPr>
        <p:spPr bwMode="auto">
          <a:xfrm>
            <a:off x="457198" y="2030513"/>
            <a:ext cx="8318499" cy="482615"/>
          </a:xfrm>
          <a:prstGeom prst="flowChartAlternateProcess">
            <a:avLst/>
          </a:prstGeom>
          <a:solidFill>
            <a:srgbClr val="FCF8E8"/>
          </a:solidFill>
          <a:ln w="15875">
            <a:solidFill>
              <a:srgbClr val="002060"/>
            </a:solidFill>
          </a:ln>
          <a:effectLst/>
        </p:spPr>
        <p:txBody>
          <a:bodyPr vert="horz" wrap="square" lIns="0" tIns="0" rIns="0" bIns="0" numCol="1" rtlCol="0" anchor="ctr" anchorCtr="0" compatLnSpc="1">
            <a:prstTxWarp prst="textNoShape">
              <a:avLst/>
            </a:prstTxWarp>
          </a:bodyPr>
          <a:lstStyle>
            <a:lvl1pPr marL="342900" indent="-342900" algn="l" defTabSz="857250" rtl="0" eaLnBrk="0" fontAlgn="base" hangingPunct="0">
              <a:spcBef>
                <a:spcPct val="20000"/>
              </a:spcBef>
              <a:spcAft>
                <a:spcPct val="20000"/>
              </a:spcAft>
              <a:buSzPct val="80000"/>
              <a:buFont typeface="Verdana" pitchFamily="34" charset="0"/>
              <a:defRPr sz="2000">
                <a:solidFill>
                  <a:schemeClr val="tx1"/>
                </a:solidFill>
                <a:latin typeface="+mn-lt"/>
                <a:ea typeface="+mn-ea"/>
                <a:cs typeface="+mn-cs"/>
              </a:defRPr>
            </a:lvl1pPr>
            <a:lvl2pPr marL="358775" indent="-244475"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2pPr>
            <a:lvl3pPr marL="714375" indent="-247650"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3pPr>
            <a:lvl4pPr marL="1066800" indent="-247650"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4pPr>
            <a:lvl5pPr marL="1428750" indent="-257175"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5pPr>
            <a:lvl6pPr marL="18859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6pPr>
            <a:lvl7pPr marL="23431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7pPr>
            <a:lvl8pPr marL="28003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8pPr>
            <a:lvl9pPr marL="32575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9pPr>
          </a:lstStyle>
          <a:p>
            <a:pPr marL="114300" indent="0"/>
            <a:r>
              <a:rPr lang="en-US" sz="1600" dirty="0"/>
              <a:t>The buyer recognises a need, triggered by internal or external stimuli.</a:t>
            </a:r>
            <a:endParaRPr lang="en-US" sz="1600" kern="0" dirty="0">
              <a:ea typeface="ＭＳ Ｐゴシック" pitchFamily="34" charset="-128"/>
            </a:endParaRPr>
          </a:p>
        </p:txBody>
      </p:sp>
      <p:sp>
        <p:nvSpPr>
          <p:cNvPr id="9" name="Content Placeholder 7">
            <a:extLst>
              <a:ext uri="{FF2B5EF4-FFF2-40B4-BE49-F238E27FC236}">
                <a16:creationId xmlns:a16="http://schemas.microsoft.com/office/drawing/2014/main" id="{1E267358-9DED-21E5-491C-A36E43C7A88E}"/>
              </a:ext>
            </a:extLst>
          </p:cNvPr>
          <p:cNvSpPr txBox="1">
            <a:spLocks/>
          </p:cNvSpPr>
          <p:nvPr/>
        </p:nvSpPr>
        <p:spPr bwMode="auto">
          <a:xfrm>
            <a:off x="457198" y="4509254"/>
            <a:ext cx="8318502" cy="2348746"/>
          </a:xfrm>
          <a:prstGeom prst="flowChartAlternateProcess">
            <a:avLst/>
          </a:prstGeom>
          <a:solidFill>
            <a:srgbClr val="FCF8E8"/>
          </a:solidFill>
          <a:ln w="15875">
            <a:solidFill>
              <a:srgbClr val="002060"/>
            </a:solidFill>
          </a:ln>
          <a:effectLst/>
        </p:spPr>
        <p:txBody>
          <a:bodyPr vert="horz" wrap="square" lIns="0" tIns="0" rIns="0" bIns="0" numCol="1" rtlCol="0" anchor="t" anchorCtr="0" compatLnSpc="1">
            <a:prstTxWarp prst="textNoShape">
              <a:avLst/>
            </a:prstTxWarp>
          </a:bodyPr>
          <a:lstStyle>
            <a:lvl1pPr marL="342900" indent="-342900" algn="l" defTabSz="857250" rtl="0" eaLnBrk="0" fontAlgn="base" hangingPunct="0">
              <a:spcBef>
                <a:spcPct val="20000"/>
              </a:spcBef>
              <a:spcAft>
                <a:spcPct val="20000"/>
              </a:spcAft>
              <a:buSzPct val="80000"/>
              <a:buFont typeface="Verdana" pitchFamily="34" charset="0"/>
              <a:defRPr sz="2000">
                <a:solidFill>
                  <a:schemeClr val="tx1"/>
                </a:solidFill>
                <a:latin typeface="+mn-lt"/>
                <a:ea typeface="+mn-ea"/>
                <a:cs typeface="+mn-cs"/>
              </a:defRPr>
            </a:lvl1pPr>
            <a:lvl2pPr marL="358775" indent="-244475"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2pPr>
            <a:lvl3pPr marL="714375" indent="-247650"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3pPr>
            <a:lvl4pPr marL="1066800" indent="-247650"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4pPr>
            <a:lvl5pPr marL="1428750" indent="-257175"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5pPr>
            <a:lvl6pPr marL="18859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6pPr>
            <a:lvl7pPr marL="23431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7pPr>
            <a:lvl8pPr marL="28003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8pPr>
            <a:lvl9pPr marL="32575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9pPr>
          </a:lstStyle>
          <a:p>
            <a:pPr marL="77724" indent="0" defTabSz="875447">
              <a:spcBef>
                <a:spcPts val="300"/>
              </a:spcBef>
              <a:spcAft>
                <a:spcPts val="300"/>
              </a:spcAft>
              <a:defRPr/>
            </a:pPr>
            <a:r>
              <a:rPr lang="en-AU" sz="1600" dirty="0">
                <a:latin typeface="Arial" pitchFamily="34" charset="0"/>
                <a:cs typeface="Arial" pitchFamily="34" charset="0"/>
              </a:rPr>
              <a:t>Consumers </a:t>
            </a:r>
            <a:r>
              <a:rPr lang="en-AU" sz="1600" b="1" u="sng" dirty="0">
                <a:solidFill>
                  <a:srgbClr val="FF0000"/>
                </a:solidFill>
                <a:latin typeface="Arial" pitchFamily="34" charset="0"/>
                <a:cs typeface="Arial" pitchFamily="34" charset="0"/>
              </a:rPr>
              <a:t>recognise unfulfilled needs </a:t>
            </a:r>
            <a:r>
              <a:rPr lang="en-AU" sz="1600" dirty="0">
                <a:latin typeface="Arial" pitchFamily="34" charset="0"/>
                <a:cs typeface="Arial" pitchFamily="34" charset="0"/>
              </a:rPr>
              <a:t>by</a:t>
            </a:r>
          </a:p>
          <a:p>
            <a:pPr marL="355600" lvl="2" indent="-266700" defTabSz="875447">
              <a:spcBef>
                <a:spcPts val="300"/>
              </a:spcBef>
              <a:spcAft>
                <a:spcPts val="300"/>
              </a:spcAft>
              <a:buFont typeface="Arial"/>
              <a:buChar char="•"/>
              <a:defRPr/>
            </a:pPr>
            <a:r>
              <a:rPr lang="en-AU" sz="1600" b="1" u="sng" dirty="0">
                <a:solidFill>
                  <a:srgbClr val="FF0000"/>
                </a:solidFill>
                <a:latin typeface="Arial" pitchFamily="34" charset="0"/>
                <a:cs typeface="Arial" pitchFamily="34" charset="0"/>
              </a:rPr>
              <a:t>Dissatisfaction with performance </a:t>
            </a:r>
            <a:r>
              <a:rPr lang="en-AU" sz="1600" dirty="0">
                <a:latin typeface="Arial" pitchFamily="34" charset="0"/>
                <a:cs typeface="Arial" pitchFamily="34" charset="0"/>
              </a:rPr>
              <a:t>of existing product: computer crashes/glitches.</a:t>
            </a:r>
          </a:p>
          <a:p>
            <a:pPr marL="355600" lvl="2" indent="-266700" defTabSz="875447">
              <a:spcBef>
                <a:spcPts val="300"/>
              </a:spcBef>
              <a:spcAft>
                <a:spcPts val="300"/>
              </a:spcAft>
              <a:buFont typeface="Arial"/>
              <a:buChar char="•"/>
              <a:defRPr/>
            </a:pPr>
            <a:r>
              <a:rPr lang="en-AU" sz="1600" b="1" u="sng" dirty="0">
                <a:solidFill>
                  <a:srgbClr val="FF0000"/>
                </a:solidFill>
                <a:latin typeface="Arial" pitchFamily="34" charset="0"/>
                <a:cs typeface="Arial" pitchFamily="34" charset="0"/>
              </a:rPr>
              <a:t>Run out of something </a:t>
            </a:r>
            <a:r>
              <a:rPr lang="en-AU" sz="1600" dirty="0">
                <a:latin typeface="Arial" pitchFamily="34" charset="0"/>
                <a:cs typeface="Arial" pitchFamily="34" charset="0"/>
              </a:rPr>
              <a:t>generally kept on hand: soap</a:t>
            </a:r>
          </a:p>
          <a:p>
            <a:pPr marL="355600" lvl="2" indent="-266700" defTabSz="875447">
              <a:spcBef>
                <a:spcPts val="300"/>
              </a:spcBef>
              <a:spcAft>
                <a:spcPts val="300"/>
              </a:spcAft>
              <a:buFont typeface="Arial"/>
              <a:buChar char="•"/>
              <a:defRPr/>
            </a:pPr>
            <a:r>
              <a:rPr lang="en-AU" sz="1600" b="1" u="sng" dirty="0">
                <a:solidFill>
                  <a:srgbClr val="FF0000"/>
                </a:solidFill>
                <a:latin typeface="Arial" pitchFamily="34" charset="0"/>
                <a:cs typeface="Arial" pitchFamily="34" charset="0"/>
              </a:rPr>
              <a:t>Changed circumstances: </a:t>
            </a:r>
            <a:r>
              <a:rPr lang="en-AU" sz="1600" dirty="0">
                <a:latin typeface="Arial" pitchFamily="34" charset="0"/>
                <a:cs typeface="Arial" pitchFamily="34" charset="0"/>
              </a:rPr>
              <a:t>such as having a baby</a:t>
            </a:r>
          </a:p>
          <a:p>
            <a:pPr marL="355600" lvl="2" indent="-266700" defTabSz="875447">
              <a:spcBef>
                <a:spcPts val="300"/>
              </a:spcBef>
              <a:spcAft>
                <a:spcPts val="300"/>
              </a:spcAft>
              <a:buFont typeface="Arial"/>
              <a:buChar char="•"/>
              <a:defRPr/>
            </a:pPr>
            <a:r>
              <a:rPr lang="en-AU" sz="1600" b="1" u="sng" dirty="0">
                <a:solidFill>
                  <a:srgbClr val="FF0000"/>
                </a:solidFill>
                <a:latin typeface="Arial" pitchFamily="34" charset="0"/>
                <a:cs typeface="Arial" pitchFamily="34" charset="0"/>
              </a:rPr>
              <a:t>Product acquisition: </a:t>
            </a:r>
            <a:r>
              <a:rPr lang="en-AU" sz="1600" dirty="0">
                <a:latin typeface="Arial" pitchFamily="34" charset="0"/>
                <a:cs typeface="Arial" pitchFamily="34" charset="0"/>
              </a:rPr>
              <a:t>bought a camera now need a lens, razor &gt; blades, new sport &gt; need equipment.   </a:t>
            </a:r>
          </a:p>
          <a:p>
            <a:pPr marL="355600" lvl="2" indent="-266700" defTabSz="875447">
              <a:spcBef>
                <a:spcPts val="300"/>
              </a:spcBef>
              <a:spcAft>
                <a:spcPts val="300"/>
              </a:spcAft>
              <a:buFont typeface="Arial"/>
              <a:buChar char="•"/>
              <a:defRPr/>
            </a:pPr>
            <a:r>
              <a:rPr lang="en-US" sz="1600" b="1" u="sng" dirty="0">
                <a:solidFill>
                  <a:srgbClr val="FF0000"/>
                </a:solidFill>
                <a:latin typeface="Arial" pitchFamily="34" charset="0"/>
                <a:cs typeface="Arial" pitchFamily="34" charset="0"/>
              </a:rPr>
              <a:t>Learn about a superior product/feature; </a:t>
            </a:r>
            <a:r>
              <a:rPr lang="en-US" sz="1600" dirty="0">
                <a:latin typeface="Arial" pitchFamily="34" charset="0"/>
                <a:cs typeface="Arial" pitchFamily="34" charset="0"/>
              </a:rPr>
              <a:t>iPhone 16</a:t>
            </a:r>
            <a:endParaRPr lang="en-US" sz="1600" kern="0" dirty="0">
              <a:ea typeface="ＭＳ Ｐゴシック" pitchFamily="34" charset="-128"/>
            </a:endParaRPr>
          </a:p>
        </p:txBody>
      </p:sp>
    </p:spTree>
    <p:extLst>
      <p:ext uri="{BB962C8B-B14F-4D97-AF65-F5344CB8AC3E}">
        <p14:creationId xmlns:p14="http://schemas.microsoft.com/office/powerpoint/2010/main" val="917257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bg/>
                                          </p:spTgt>
                                        </p:tgtEl>
                                        <p:attrNameLst>
                                          <p:attrName>style.visibility</p:attrName>
                                        </p:attrNameLst>
                                      </p:cBhvr>
                                      <p:to>
                                        <p:strVal val="visible"/>
                                      </p:to>
                                    </p:set>
                                    <p:animEffect transition="in" filter="wipe(left)">
                                      <p:cBhvr>
                                        <p:cTn id="7" dur="500"/>
                                        <p:tgtEl>
                                          <p:spTgt spid="6">
                                            <p:bg/>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animEffect transition="in" filter="wipe(left)">
                                      <p:cBhvr>
                                        <p:cTn id="11" dur="500"/>
                                        <p:tgtEl>
                                          <p:spTgt spid="6">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1"/>
                                        </p:tgtEl>
                                        <p:attrNameLst>
                                          <p:attrName>style.visibility</p:attrName>
                                        </p:attrNameLst>
                                      </p:cBhvr>
                                      <p:to>
                                        <p:strVal val="visible"/>
                                      </p:to>
                                    </p:set>
                                    <p:animEffect transition="in" filter="wipe(left)">
                                      <p:cBhvr>
                                        <p:cTn id="15" dur="1000"/>
                                        <p:tgtEl>
                                          <p:spTgt spid="31"/>
                                        </p:tgtEl>
                                      </p:cBhvr>
                                    </p:animEffect>
                                  </p:childTnLst>
                                </p:cTn>
                              </p:par>
                            </p:childTnLst>
                          </p:cTn>
                        </p:par>
                        <p:par>
                          <p:cTn id="16" fill="hold">
                            <p:stCondLst>
                              <p:cond delay="2000"/>
                            </p:stCondLst>
                            <p:childTnLst>
                              <p:par>
                                <p:cTn id="17" presetID="22" presetClass="entr" presetSubtype="8"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left)">
                                      <p:cBhvr>
                                        <p:cTn id="19" dur="1000"/>
                                        <p:tgtEl>
                                          <p:spTgt spid="8"/>
                                        </p:tgtEl>
                                      </p:cBhvr>
                                    </p:animEffect>
                                  </p:childTnLst>
                                </p:cTn>
                              </p:par>
                            </p:childTnLst>
                          </p:cTn>
                        </p:par>
                        <p:par>
                          <p:cTn id="20" fill="hold">
                            <p:stCondLst>
                              <p:cond delay="3000"/>
                            </p:stCondLst>
                            <p:childTnLst>
                              <p:par>
                                <p:cTn id="21" presetID="22" presetClass="entr" presetSubtype="8"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wipe(left)">
                                      <p:cBhvr>
                                        <p:cTn id="23"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nimBg="1"/>
      <p:bldP spid="31" grpId="0" animBg="1"/>
      <p:bldP spid="8" grpId="0" animBg="1"/>
      <p:bldP spid="9"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2" name="Title 1">
            <a:extLst>
              <a:ext uri="{FF2B5EF4-FFF2-40B4-BE49-F238E27FC236}">
                <a16:creationId xmlns:a16="http://schemas.microsoft.com/office/drawing/2014/main" id="{F5E30427-4547-4715-9C31-D129FE43C7C1}"/>
              </a:ext>
            </a:extLst>
          </p:cNvPr>
          <p:cNvSpPr>
            <a:spLocks noGrp="1"/>
          </p:cNvSpPr>
          <p:nvPr>
            <p:ph type="title"/>
          </p:nvPr>
        </p:nvSpPr>
        <p:spPr>
          <a:xfrm>
            <a:off x="457200" y="215371"/>
            <a:ext cx="8229600" cy="699029"/>
          </a:xfrm>
        </p:spPr>
        <p:txBody>
          <a:bodyPr/>
          <a:lstStyle/>
          <a:p>
            <a:r>
              <a:rPr lang="en-NZ" sz="3200" dirty="0"/>
              <a:t>The buyer decision process</a:t>
            </a:r>
            <a:endParaRPr lang="en-US" sz="2000" dirty="0"/>
          </a:p>
        </p:txBody>
      </p:sp>
      <p:sp>
        <p:nvSpPr>
          <p:cNvPr id="3" name="Text Placeholder 2">
            <a:extLst>
              <a:ext uri="{FF2B5EF4-FFF2-40B4-BE49-F238E27FC236}">
                <a16:creationId xmlns:a16="http://schemas.microsoft.com/office/drawing/2014/main" id="{C7697BCC-A93B-4430-8CDA-E7B6FF3D13DA}"/>
              </a:ext>
            </a:extLst>
          </p:cNvPr>
          <p:cNvSpPr>
            <a:spLocks noGrp="1"/>
          </p:cNvSpPr>
          <p:nvPr>
            <p:ph type="body" idx="4294967295"/>
          </p:nvPr>
        </p:nvSpPr>
        <p:spPr>
          <a:xfrm>
            <a:off x="457199" y="733082"/>
            <a:ext cx="8229599" cy="615340"/>
          </a:xfrm>
        </p:spPr>
        <p:txBody>
          <a:bodyPr/>
          <a:lstStyle/>
          <a:p>
            <a:pPr marL="101600" indent="0">
              <a:buNone/>
            </a:pPr>
            <a:r>
              <a:rPr lang="en-US" sz="2400" b="1" dirty="0">
                <a:solidFill>
                  <a:srgbClr val="007FA3"/>
                </a:solidFill>
              </a:rPr>
              <a:t>The second stage in the buyer decision process</a:t>
            </a:r>
          </a:p>
        </p:txBody>
      </p:sp>
      <p:sp>
        <p:nvSpPr>
          <p:cNvPr id="7" name="Content Placeholder 7">
            <a:extLst>
              <a:ext uri="{FF2B5EF4-FFF2-40B4-BE49-F238E27FC236}">
                <a16:creationId xmlns:a16="http://schemas.microsoft.com/office/drawing/2014/main" id="{3281540A-7A6C-4D8B-9C0A-C345D54AD234}"/>
              </a:ext>
            </a:extLst>
          </p:cNvPr>
          <p:cNvSpPr txBox="1">
            <a:spLocks/>
          </p:cNvSpPr>
          <p:nvPr/>
        </p:nvSpPr>
        <p:spPr bwMode="auto">
          <a:xfrm>
            <a:off x="457199" y="2733621"/>
            <a:ext cx="8229601" cy="615340"/>
          </a:xfrm>
          <a:prstGeom prst="flowChartAlternateProcess">
            <a:avLst/>
          </a:prstGeom>
          <a:solidFill>
            <a:srgbClr val="FCF8E8"/>
          </a:solidFill>
          <a:ln w="15875">
            <a:solidFill>
              <a:srgbClr val="002060"/>
            </a:solidFill>
          </a:ln>
          <a:effectLst/>
        </p:spPr>
        <p:txBody>
          <a:bodyPr vert="horz" wrap="square" lIns="0" tIns="0" rIns="0" bIns="0" numCol="1" rtlCol="0" anchor="ctr" anchorCtr="0" compatLnSpc="1">
            <a:prstTxWarp prst="textNoShape">
              <a:avLst/>
            </a:prstTxWarp>
          </a:bodyPr>
          <a:lstStyle>
            <a:lvl1pPr marL="342900" indent="-342900" algn="l" defTabSz="857250" rtl="0" eaLnBrk="0" fontAlgn="base" hangingPunct="0">
              <a:spcBef>
                <a:spcPct val="20000"/>
              </a:spcBef>
              <a:spcAft>
                <a:spcPct val="20000"/>
              </a:spcAft>
              <a:buSzPct val="80000"/>
              <a:buFont typeface="Verdana" pitchFamily="34" charset="0"/>
              <a:defRPr sz="2000">
                <a:solidFill>
                  <a:schemeClr val="tx1"/>
                </a:solidFill>
                <a:latin typeface="+mn-lt"/>
                <a:ea typeface="+mn-ea"/>
                <a:cs typeface="+mn-cs"/>
              </a:defRPr>
            </a:lvl1pPr>
            <a:lvl2pPr marL="358775" indent="-244475"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2pPr>
            <a:lvl3pPr marL="714375" indent="-247650"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3pPr>
            <a:lvl4pPr marL="1066800" indent="-247650"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4pPr>
            <a:lvl5pPr marL="1428750" indent="-257175"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5pPr>
            <a:lvl6pPr marL="18859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6pPr>
            <a:lvl7pPr marL="23431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7pPr>
            <a:lvl8pPr marL="28003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8pPr>
            <a:lvl9pPr marL="32575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9pPr>
          </a:lstStyle>
          <a:p>
            <a:pPr marL="114300" indent="0"/>
            <a:r>
              <a:rPr lang="en-US" sz="1600" dirty="0"/>
              <a:t>Here the consumer is motivated to search for more information.</a:t>
            </a:r>
          </a:p>
        </p:txBody>
      </p:sp>
      <p:sp>
        <p:nvSpPr>
          <p:cNvPr id="4" name="Content Placeholder 7">
            <a:extLst>
              <a:ext uri="{FF2B5EF4-FFF2-40B4-BE49-F238E27FC236}">
                <a16:creationId xmlns:a16="http://schemas.microsoft.com/office/drawing/2014/main" id="{87C1088B-3804-59C5-68FC-4C9C50D3D1F0}"/>
              </a:ext>
            </a:extLst>
          </p:cNvPr>
          <p:cNvSpPr txBox="1">
            <a:spLocks/>
          </p:cNvSpPr>
          <p:nvPr/>
        </p:nvSpPr>
        <p:spPr bwMode="auto">
          <a:xfrm>
            <a:off x="457200" y="1366040"/>
            <a:ext cx="8229598" cy="500093"/>
          </a:xfrm>
          <a:prstGeom prst="flowChartAlternateProcess">
            <a:avLst/>
          </a:prstGeom>
          <a:solidFill>
            <a:srgbClr val="89E0FF"/>
          </a:solidFill>
          <a:ln w="15875">
            <a:solidFill>
              <a:srgbClr val="002060"/>
            </a:solidFill>
          </a:ln>
          <a:effectLst/>
        </p:spPr>
        <p:txBody>
          <a:bodyPr vert="horz" wrap="square" lIns="0" tIns="0" rIns="0" bIns="0" numCol="1" rtlCol="0" anchor="ctr" anchorCtr="0" compatLnSpc="1">
            <a:prstTxWarp prst="textNoShape">
              <a:avLst/>
            </a:prstTxWarp>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marL="290513" algn="ctr" defTabSz="857250" fontAlgn="base">
              <a:spcBef>
                <a:spcPct val="0"/>
              </a:spcBef>
              <a:spcAft>
                <a:spcPct val="20000"/>
              </a:spcAft>
              <a:buSzPct val="80000"/>
              <a:defRPr/>
            </a:pPr>
            <a:r>
              <a:rPr lang="en-US" sz="2000" dirty="0">
                <a:solidFill>
                  <a:schemeClr val="tx1"/>
                </a:solidFill>
                <a:latin typeface="+mn-lt"/>
                <a:ea typeface="+mn-ea"/>
                <a:cs typeface="+mn-cs"/>
              </a:rPr>
              <a:t>Information Search</a:t>
            </a:r>
          </a:p>
        </p:txBody>
      </p:sp>
      <p:sp>
        <p:nvSpPr>
          <p:cNvPr id="8" name="Content Placeholder 7">
            <a:extLst>
              <a:ext uri="{FF2B5EF4-FFF2-40B4-BE49-F238E27FC236}">
                <a16:creationId xmlns:a16="http://schemas.microsoft.com/office/drawing/2014/main" id="{E280152A-1353-6E1A-91CE-998359D69A3B}"/>
              </a:ext>
            </a:extLst>
          </p:cNvPr>
          <p:cNvSpPr txBox="1">
            <a:spLocks/>
          </p:cNvSpPr>
          <p:nvPr/>
        </p:nvSpPr>
        <p:spPr bwMode="auto">
          <a:xfrm>
            <a:off x="457197" y="3531646"/>
            <a:ext cx="8229601" cy="3326354"/>
          </a:xfrm>
          <a:prstGeom prst="flowChartAlternateProcess">
            <a:avLst/>
          </a:prstGeom>
          <a:solidFill>
            <a:srgbClr val="FCF8E8"/>
          </a:solidFill>
          <a:ln w="15875">
            <a:solidFill>
              <a:srgbClr val="002060"/>
            </a:solidFill>
          </a:ln>
          <a:effectLst/>
        </p:spPr>
        <p:txBody>
          <a:bodyPr vert="horz" wrap="square" lIns="0" tIns="0" rIns="0" bIns="0" numCol="1" rtlCol="0" anchor="t" anchorCtr="0" compatLnSpc="1">
            <a:prstTxWarp prst="textNoShape">
              <a:avLst/>
            </a:prstTxWarp>
          </a:bodyPr>
          <a:lstStyle>
            <a:lvl1pPr marL="342900" indent="-342900" algn="l" defTabSz="857250" rtl="0" eaLnBrk="0" fontAlgn="base" hangingPunct="0">
              <a:spcBef>
                <a:spcPct val="20000"/>
              </a:spcBef>
              <a:spcAft>
                <a:spcPct val="20000"/>
              </a:spcAft>
              <a:buSzPct val="80000"/>
              <a:buFont typeface="Verdana" pitchFamily="34" charset="0"/>
              <a:defRPr sz="2000">
                <a:solidFill>
                  <a:schemeClr val="tx1"/>
                </a:solidFill>
                <a:latin typeface="+mn-lt"/>
                <a:ea typeface="+mn-ea"/>
                <a:cs typeface="+mn-cs"/>
              </a:defRPr>
            </a:lvl1pPr>
            <a:lvl2pPr marL="358775" indent="-244475"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2pPr>
            <a:lvl3pPr marL="714375" indent="-247650"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3pPr>
            <a:lvl4pPr marL="1066800" indent="-247650"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4pPr>
            <a:lvl5pPr marL="1428750" indent="-257175"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5pPr>
            <a:lvl6pPr marL="18859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6pPr>
            <a:lvl7pPr marL="23431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7pPr>
            <a:lvl8pPr marL="28003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8pPr>
            <a:lvl9pPr marL="32575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9pPr>
          </a:lstStyle>
          <a:p>
            <a:r>
              <a:rPr lang="en-AU" sz="1600" dirty="0"/>
              <a:t>Sources of information (internal vs external):</a:t>
            </a:r>
          </a:p>
          <a:p>
            <a:pPr marL="0" lvl="1" indent="0">
              <a:buNone/>
            </a:pPr>
            <a:r>
              <a:rPr lang="en-AU" sz="1600" b="1" dirty="0"/>
              <a:t>External</a:t>
            </a:r>
            <a:r>
              <a:rPr lang="en-AU" sz="1600" dirty="0"/>
              <a:t> (Non-marketing controlled)</a:t>
            </a:r>
          </a:p>
          <a:p>
            <a:pPr lvl="1"/>
            <a:r>
              <a:rPr lang="en-AU" sz="1600" dirty="0"/>
              <a:t>Experiential sources (personal experience)</a:t>
            </a:r>
          </a:p>
          <a:p>
            <a:pPr lvl="1"/>
            <a:r>
              <a:rPr lang="en-AU" sz="1600" dirty="0"/>
              <a:t>Personal sources(e.g., family/friends) </a:t>
            </a:r>
          </a:p>
          <a:p>
            <a:pPr lvl="1"/>
            <a:r>
              <a:rPr lang="en-AU" sz="1600" dirty="0"/>
              <a:t>Public sources(e.g., consumer report, magazine, blog, internet)</a:t>
            </a:r>
          </a:p>
          <a:p>
            <a:pPr marL="0" lvl="1" indent="0">
              <a:buNone/>
            </a:pPr>
            <a:r>
              <a:rPr lang="en-AU" sz="1600" b="1" dirty="0"/>
              <a:t>Internal</a:t>
            </a:r>
            <a:r>
              <a:rPr lang="en-AU" sz="1600" dirty="0"/>
              <a:t> (Marketing controlled)</a:t>
            </a:r>
          </a:p>
          <a:p>
            <a:pPr lvl="1"/>
            <a:r>
              <a:rPr lang="en-AU" sz="1600" dirty="0"/>
              <a:t>Commercial sources (marketing-driven-advertising, company web-site, salesperson)</a:t>
            </a:r>
          </a:p>
          <a:p>
            <a:r>
              <a:rPr lang="en-AU" sz="1600" b="1" dirty="0">
                <a:solidFill>
                  <a:srgbClr val="FF0000"/>
                </a:solidFill>
              </a:rPr>
              <a:t>Generally, the higher the risk, the greater the search &gt;&gt; </a:t>
            </a:r>
            <a:r>
              <a:rPr lang="en-AU" sz="1600" b="1" dirty="0">
                <a:solidFill>
                  <a:srgbClr val="0070C0"/>
                </a:solidFill>
              </a:rPr>
              <a:t>Goal is to reduce uncertainty</a:t>
            </a:r>
          </a:p>
        </p:txBody>
      </p:sp>
      <p:sp>
        <p:nvSpPr>
          <p:cNvPr id="9" name="Content Placeholder 7">
            <a:extLst>
              <a:ext uri="{FF2B5EF4-FFF2-40B4-BE49-F238E27FC236}">
                <a16:creationId xmlns:a16="http://schemas.microsoft.com/office/drawing/2014/main" id="{40D4E202-9F72-9E7F-3E32-E381C66061B4}"/>
              </a:ext>
            </a:extLst>
          </p:cNvPr>
          <p:cNvSpPr txBox="1">
            <a:spLocks/>
          </p:cNvSpPr>
          <p:nvPr/>
        </p:nvSpPr>
        <p:spPr bwMode="auto">
          <a:xfrm>
            <a:off x="457200" y="2049830"/>
            <a:ext cx="8229601" cy="500094"/>
          </a:xfrm>
          <a:prstGeom prst="flowChartAlternateProcess">
            <a:avLst/>
          </a:prstGeom>
          <a:solidFill>
            <a:srgbClr val="FCF8E8"/>
          </a:solidFill>
          <a:ln w="15875">
            <a:solidFill>
              <a:srgbClr val="002060"/>
            </a:solidFill>
          </a:ln>
          <a:effectLst/>
        </p:spPr>
        <p:txBody>
          <a:bodyPr vert="horz" wrap="square" lIns="0" tIns="0" rIns="0" bIns="0" numCol="1" rtlCol="0" anchor="ctr" anchorCtr="0" compatLnSpc="1">
            <a:prstTxWarp prst="textNoShape">
              <a:avLst/>
            </a:prstTxWarp>
          </a:bodyPr>
          <a:lstStyle>
            <a:lvl1pPr marL="342900" indent="-342900" algn="l" defTabSz="857250" rtl="0" eaLnBrk="0" fontAlgn="base" hangingPunct="0">
              <a:spcBef>
                <a:spcPct val="20000"/>
              </a:spcBef>
              <a:spcAft>
                <a:spcPct val="20000"/>
              </a:spcAft>
              <a:buSzPct val="80000"/>
              <a:buFont typeface="Verdana" pitchFamily="34" charset="0"/>
              <a:defRPr sz="2000">
                <a:solidFill>
                  <a:schemeClr val="tx1"/>
                </a:solidFill>
                <a:latin typeface="+mn-lt"/>
                <a:ea typeface="+mn-ea"/>
                <a:cs typeface="+mn-cs"/>
              </a:defRPr>
            </a:lvl1pPr>
            <a:lvl2pPr marL="358775" indent="-244475"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2pPr>
            <a:lvl3pPr marL="714375" indent="-247650"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3pPr>
            <a:lvl4pPr marL="1066800" indent="-247650"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4pPr>
            <a:lvl5pPr marL="1428750" indent="-257175"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5pPr>
            <a:lvl6pPr marL="18859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6pPr>
            <a:lvl7pPr marL="23431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7pPr>
            <a:lvl8pPr marL="28003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8pPr>
            <a:lvl9pPr marL="32575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9pPr>
          </a:lstStyle>
          <a:p>
            <a:pPr marL="114300" indent="0"/>
            <a:r>
              <a:rPr lang="en-US" sz="1600" dirty="0"/>
              <a:t>The buyer seeks out information about products or services with potential to satisfy the need. </a:t>
            </a:r>
          </a:p>
        </p:txBody>
      </p:sp>
    </p:spTree>
    <p:extLst>
      <p:ext uri="{BB962C8B-B14F-4D97-AF65-F5344CB8AC3E}">
        <p14:creationId xmlns:p14="http://schemas.microsoft.com/office/powerpoint/2010/main" val="3300723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1000"/>
                                        <p:tgtEl>
                                          <p:spTgt spid="7"/>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4">
                                            <p:bg/>
                                          </p:spTgt>
                                        </p:tgtEl>
                                        <p:attrNameLst>
                                          <p:attrName>style.visibility</p:attrName>
                                        </p:attrNameLst>
                                      </p:cBhvr>
                                      <p:to>
                                        <p:strVal val="visible"/>
                                      </p:to>
                                    </p:set>
                                    <p:animEffect transition="in" filter="wipe(left)">
                                      <p:cBhvr>
                                        <p:cTn id="11" dur="500"/>
                                        <p:tgtEl>
                                          <p:spTgt spid="4">
                                            <p:bg/>
                                          </p:spTgt>
                                        </p:tgtEl>
                                      </p:cBhvr>
                                    </p:animEffect>
                                  </p:childTnLst>
                                </p:cTn>
                              </p:par>
                            </p:childTnLst>
                          </p:cTn>
                        </p:par>
                        <p:par>
                          <p:cTn id="12" fill="hold">
                            <p:stCondLst>
                              <p:cond delay="1500"/>
                            </p:stCondLst>
                            <p:childTnLst>
                              <p:par>
                                <p:cTn id="13" presetID="22" presetClass="entr" presetSubtype="8" fill="hold" grpId="0" nodeType="after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animEffect transition="in" filter="wipe(left)">
                                      <p:cBhvr>
                                        <p:cTn id="15" dur="500"/>
                                        <p:tgtEl>
                                          <p:spTgt spid="4">
                                            <p:txEl>
                                              <p:pRg st="0" end="0"/>
                                            </p:txEl>
                                          </p:spTgt>
                                        </p:tgtEl>
                                      </p:cBhvr>
                                    </p:animEffect>
                                  </p:childTnLst>
                                </p:cTn>
                              </p:par>
                            </p:childTnLst>
                          </p:cTn>
                        </p:par>
                        <p:par>
                          <p:cTn id="16" fill="hold">
                            <p:stCondLst>
                              <p:cond delay="2000"/>
                            </p:stCondLst>
                            <p:childTnLst>
                              <p:par>
                                <p:cTn id="17" presetID="22" presetClass="entr" presetSubtype="8"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left)">
                                      <p:cBhvr>
                                        <p:cTn id="19"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4" grpId="0" build="p" animBg="1"/>
      <p:bldP spid="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2" name="Title 1">
            <a:extLst>
              <a:ext uri="{FF2B5EF4-FFF2-40B4-BE49-F238E27FC236}">
                <a16:creationId xmlns:a16="http://schemas.microsoft.com/office/drawing/2014/main" id="{F5E30427-4547-4715-9C31-D129FE43C7C1}"/>
              </a:ext>
            </a:extLst>
          </p:cNvPr>
          <p:cNvSpPr>
            <a:spLocks noGrp="1"/>
          </p:cNvSpPr>
          <p:nvPr>
            <p:ph type="title"/>
          </p:nvPr>
        </p:nvSpPr>
        <p:spPr>
          <a:xfrm>
            <a:off x="457200" y="215371"/>
            <a:ext cx="8229600" cy="699029"/>
          </a:xfrm>
        </p:spPr>
        <p:txBody>
          <a:bodyPr/>
          <a:lstStyle/>
          <a:p>
            <a:r>
              <a:rPr lang="en-NZ" sz="3200" dirty="0"/>
              <a:t>The buyer decision process</a:t>
            </a:r>
            <a:endParaRPr lang="en-US" sz="2000" dirty="0"/>
          </a:p>
        </p:txBody>
      </p:sp>
      <p:sp>
        <p:nvSpPr>
          <p:cNvPr id="3" name="Text Placeholder 2">
            <a:extLst>
              <a:ext uri="{FF2B5EF4-FFF2-40B4-BE49-F238E27FC236}">
                <a16:creationId xmlns:a16="http://schemas.microsoft.com/office/drawing/2014/main" id="{C7697BCC-A93B-4430-8CDA-E7B6FF3D13DA}"/>
              </a:ext>
            </a:extLst>
          </p:cNvPr>
          <p:cNvSpPr>
            <a:spLocks noGrp="1"/>
          </p:cNvSpPr>
          <p:nvPr>
            <p:ph type="body" idx="4294967295"/>
          </p:nvPr>
        </p:nvSpPr>
        <p:spPr>
          <a:xfrm>
            <a:off x="457199" y="733082"/>
            <a:ext cx="8229599" cy="615340"/>
          </a:xfrm>
        </p:spPr>
        <p:txBody>
          <a:bodyPr/>
          <a:lstStyle/>
          <a:p>
            <a:pPr marL="101600" indent="0">
              <a:buNone/>
            </a:pPr>
            <a:r>
              <a:rPr lang="en-US" sz="2400" b="1" dirty="0">
                <a:solidFill>
                  <a:srgbClr val="007FA3"/>
                </a:solidFill>
              </a:rPr>
              <a:t>The third stage in the buyer decision process</a:t>
            </a:r>
          </a:p>
        </p:txBody>
      </p:sp>
      <p:sp>
        <p:nvSpPr>
          <p:cNvPr id="5" name="Content Placeholder 7">
            <a:extLst>
              <a:ext uri="{FF2B5EF4-FFF2-40B4-BE49-F238E27FC236}">
                <a16:creationId xmlns:a16="http://schemas.microsoft.com/office/drawing/2014/main" id="{61048EA1-2685-415B-236D-836F83A569F0}"/>
              </a:ext>
            </a:extLst>
          </p:cNvPr>
          <p:cNvSpPr txBox="1">
            <a:spLocks/>
          </p:cNvSpPr>
          <p:nvPr/>
        </p:nvSpPr>
        <p:spPr bwMode="auto">
          <a:xfrm>
            <a:off x="457198" y="1355870"/>
            <a:ext cx="8229601" cy="510263"/>
          </a:xfrm>
          <a:prstGeom prst="flowChartAlternateProcess">
            <a:avLst/>
          </a:prstGeom>
          <a:solidFill>
            <a:srgbClr val="89E0FF"/>
          </a:solidFill>
          <a:ln w="15875">
            <a:solidFill>
              <a:srgbClr val="002060"/>
            </a:solidFill>
          </a:ln>
          <a:effectLst/>
        </p:spPr>
        <p:txBody>
          <a:bodyPr vert="horz" wrap="square" lIns="0" tIns="0" rIns="0" bIns="0" numCol="1" rtlCol="0" anchor="ctr" anchorCtr="0" compatLnSpc="1">
            <a:prstTxWarp prst="textNoShape">
              <a:avLst/>
            </a:prstTxWarp>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marL="84138" algn="ctr" defTabSz="857250" fontAlgn="base">
              <a:spcBef>
                <a:spcPct val="0"/>
              </a:spcBef>
              <a:spcAft>
                <a:spcPct val="20000"/>
              </a:spcAft>
              <a:buSzPct val="80000"/>
              <a:defRPr/>
            </a:pPr>
            <a:r>
              <a:rPr lang="en-US" sz="2000" dirty="0">
                <a:solidFill>
                  <a:schemeClr val="tx1"/>
                </a:solidFill>
                <a:latin typeface="+mn-lt"/>
                <a:ea typeface="+mn-ea"/>
                <a:cs typeface="+mn-cs"/>
              </a:rPr>
              <a:t>Evaluation of Alternatives</a:t>
            </a:r>
          </a:p>
        </p:txBody>
      </p:sp>
      <p:sp>
        <p:nvSpPr>
          <p:cNvPr id="32" name="Content Placeholder 7">
            <a:extLst>
              <a:ext uri="{FF2B5EF4-FFF2-40B4-BE49-F238E27FC236}">
                <a16:creationId xmlns:a16="http://schemas.microsoft.com/office/drawing/2014/main" id="{04B28905-D82E-1AA3-9F2B-75B8D0F06228}"/>
              </a:ext>
            </a:extLst>
          </p:cNvPr>
          <p:cNvSpPr txBox="1">
            <a:spLocks/>
          </p:cNvSpPr>
          <p:nvPr/>
        </p:nvSpPr>
        <p:spPr bwMode="auto">
          <a:xfrm>
            <a:off x="457205" y="2700229"/>
            <a:ext cx="8229598" cy="1638614"/>
          </a:xfrm>
          <a:prstGeom prst="flowChartAlternateProcess">
            <a:avLst/>
          </a:prstGeom>
          <a:solidFill>
            <a:srgbClr val="FCF8E8"/>
          </a:solidFill>
          <a:ln w="15875">
            <a:solidFill>
              <a:srgbClr val="002060"/>
            </a:solidFill>
          </a:ln>
          <a:effectLst/>
        </p:spPr>
        <p:txBody>
          <a:bodyPr vert="horz" wrap="square" lIns="0" tIns="0" rIns="0" bIns="0" numCol="1" rtlCol="0" anchor="t" anchorCtr="0" compatLnSpc="1">
            <a:prstTxWarp prst="textNoShape">
              <a:avLst/>
            </a:prstTxWarp>
          </a:bodyPr>
          <a:lstStyle>
            <a:lvl1pPr marL="342900" indent="-342900" algn="l" defTabSz="857250" rtl="0" eaLnBrk="0" fontAlgn="base" hangingPunct="0">
              <a:spcBef>
                <a:spcPct val="20000"/>
              </a:spcBef>
              <a:spcAft>
                <a:spcPct val="20000"/>
              </a:spcAft>
              <a:buSzPct val="80000"/>
              <a:buFont typeface="Verdana" pitchFamily="34" charset="0"/>
              <a:defRPr sz="2000">
                <a:solidFill>
                  <a:schemeClr val="tx1"/>
                </a:solidFill>
                <a:latin typeface="+mn-lt"/>
                <a:ea typeface="+mn-ea"/>
                <a:cs typeface="+mn-cs"/>
              </a:defRPr>
            </a:lvl1pPr>
            <a:lvl2pPr marL="358775" indent="-244475"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2pPr>
            <a:lvl3pPr marL="714375" indent="-247650"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3pPr>
            <a:lvl4pPr marL="1066800" indent="-247650"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4pPr>
            <a:lvl5pPr marL="1428750" indent="-257175"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5pPr>
            <a:lvl6pPr marL="18859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6pPr>
            <a:lvl7pPr marL="23431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7pPr>
            <a:lvl8pPr marL="28003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8pPr>
            <a:lvl9pPr marL="32575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9pPr>
          </a:lstStyle>
          <a:p>
            <a:pPr marL="114300" indent="0"/>
            <a:r>
              <a:rPr lang="en-US" sz="1600" dirty="0"/>
              <a:t>No single process is used by consumers.</a:t>
            </a:r>
          </a:p>
          <a:p>
            <a:pPr marL="114300" indent="0"/>
            <a:r>
              <a:rPr lang="en-US" sz="1600" dirty="0"/>
              <a:t>Evaluation involves the development of a set of criteria, followed by a ranking process based on the most important attributes </a:t>
            </a:r>
          </a:p>
          <a:p>
            <a:pPr marL="114300" indent="0"/>
            <a:r>
              <a:rPr lang="en-US" altLang="en-US" sz="1600" dirty="0">
                <a:ea typeface="ＭＳ Ｐゴシック" charset="-128"/>
                <a:cs typeface="ＭＳ Ｐゴシック" charset="-128"/>
              </a:rPr>
              <a:t>Marketers try to determine </a:t>
            </a:r>
            <a:r>
              <a:rPr lang="en-US" altLang="en-US" sz="1600" b="1" dirty="0">
                <a:solidFill>
                  <a:srgbClr val="00B050"/>
                </a:solidFill>
                <a:ea typeface="ＭＳ Ｐゴシック" charset="-128"/>
                <a:cs typeface="ＭＳ Ｐゴシック" charset="-128"/>
              </a:rPr>
              <a:t>which attributes are most important</a:t>
            </a:r>
            <a:endParaRPr lang="en-US" sz="1600" dirty="0"/>
          </a:p>
          <a:p>
            <a:pPr marL="114300" indent="0"/>
            <a:r>
              <a:rPr lang="en-US" sz="1600" dirty="0"/>
              <a:t>Consumers will use both </a:t>
            </a:r>
            <a:r>
              <a:rPr lang="en-US" sz="1600" dirty="0">
                <a:solidFill>
                  <a:srgbClr val="FF0000"/>
                </a:solidFill>
              </a:rPr>
              <a:t>objective (facts) and subjective (emotions) </a:t>
            </a:r>
            <a:r>
              <a:rPr lang="en-US" sz="1600" dirty="0"/>
              <a:t>evaluation criteria </a:t>
            </a:r>
          </a:p>
        </p:txBody>
      </p:sp>
      <p:sp>
        <p:nvSpPr>
          <p:cNvPr id="8" name="Content Placeholder 7">
            <a:extLst>
              <a:ext uri="{FF2B5EF4-FFF2-40B4-BE49-F238E27FC236}">
                <a16:creationId xmlns:a16="http://schemas.microsoft.com/office/drawing/2014/main" id="{729CE855-0645-015C-3E81-7DD4836380BF}"/>
              </a:ext>
            </a:extLst>
          </p:cNvPr>
          <p:cNvSpPr txBox="1">
            <a:spLocks/>
          </p:cNvSpPr>
          <p:nvPr/>
        </p:nvSpPr>
        <p:spPr bwMode="auto">
          <a:xfrm>
            <a:off x="457200" y="2047203"/>
            <a:ext cx="8229603" cy="471955"/>
          </a:xfrm>
          <a:prstGeom prst="flowChartAlternateProcess">
            <a:avLst/>
          </a:prstGeom>
          <a:solidFill>
            <a:srgbClr val="FCF8E8"/>
          </a:solidFill>
          <a:ln w="15875">
            <a:solidFill>
              <a:srgbClr val="002060"/>
            </a:solidFill>
          </a:ln>
          <a:effectLst/>
        </p:spPr>
        <p:txBody>
          <a:bodyPr vert="horz" wrap="square" lIns="0" tIns="0" rIns="0" bIns="0" numCol="1" rtlCol="0" anchor="ctr" anchorCtr="0" compatLnSpc="1">
            <a:prstTxWarp prst="textNoShape">
              <a:avLst/>
            </a:prstTxWarp>
          </a:bodyPr>
          <a:lstStyle>
            <a:lvl1pPr marL="342900" indent="-342900" algn="l" defTabSz="857250" rtl="0" eaLnBrk="0" fontAlgn="base" hangingPunct="0">
              <a:spcBef>
                <a:spcPct val="20000"/>
              </a:spcBef>
              <a:spcAft>
                <a:spcPct val="20000"/>
              </a:spcAft>
              <a:buSzPct val="80000"/>
              <a:buFont typeface="Verdana" pitchFamily="34" charset="0"/>
              <a:defRPr sz="2000">
                <a:solidFill>
                  <a:schemeClr val="tx1"/>
                </a:solidFill>
                <a:latin typeface="+mn-lt"/>
                <a:ea typeface="+mn-ea"/>
                <a:cs typeface="+mn-cs"/>
              </a:defRPr>
            </a:lvl1pPr>
            <a:lvl2pPr marL="358775" indent="-244475"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2pPr>
            <a:lvl3pPr marL="714375" indent="-247650"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3pPr>
            <a:lvl4pPr marL="1066800" indent="-247650"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4pPr>
            <a:lvl5pPr marL="1428750" indent="-257175"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5pPr>
            <a:lvl6pPr marL="18859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6pPr>
            <a:lvl7pPr marL="23431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7pPr>
            <a:lvl8pPr marL="28003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8pPr>
            <a:lvl9pPr marL="32575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9pPr>
          </a:lstStyle>
          <a:p>
            <a:pPr marL="114300" indent="0"/>
            <a:r>
              <a:rPr lang="en-US" sz="1600" dirty="0"/>
              <a:t>The consumer processes information in order to arrive at brand choices.</a:t>
            </a:r>
          </a:p>
        </p:txBody>
      </p:sp>
      <p:sp>
        <p:nvSpPr>
          <p:cNvPr id="9" name="Content Placeholder 7">
            <a:extLst>
              <a:ext uri="{FF2B5EF4-FFF2-40B4-BE49-F238E27FC236}">
                <a16:creationId xmlns:a16="http://schemas.microsoft.com/office/drawing/2014/main" id="{B33AC9A3-0EAE-DF5F-F422-DDDBF8F943BC}"/>
              </a:ext>
            </a:extLst>
          </p:cNvPr>
          <p:cNvSpPr txBox="1">
            <a:spLocks/>
          </p:cNvSpPr>
          <p:nvPr/>
        </p:nvSpPr>
        <p:spPr bwMode="auto">
          <a:xfrm>
            <a:off x="457205" y="4519914"/>
            <a:ext cx="8229598" cy="2338086"/>
          </a:xfrm>
          <a:prstGeom prst="flowChartAlternateProcess">
            <a:avLst/>
          </a:prstGeom>
          <a:solidFill>
            <a:srgbClr val="FCF8E8"/>
          </a:solidFill>
          <a:ln w="15875">
            <a:solidFill>
              <a:srgbClr val="002060"/>
            </a:solidFill>
          </a:ln>
          <a:effectLst/>
        </p:spPr>
        <p:txBody>
          <a:bodyPr vert="horz" wrap="square" lIns="0" tIns="0" rIns="0" bIns="0" numCol="1" rtlCol="0" anchor="t" anchorCtr="0" compatLnSpc="1">
            <a:prstTxWarp prst="textNoShape">
              <a:avLst/>
            </a:prstTxWarp>
          </a:bodyPr>
          <a:lstStyle>
            <a:lvl1pPr marL="342900" indent="-342900" algn="l" defTabSz="857250" rtl="0" eaLnBrk="0" fontAlgn="base" hangingPunct="0">
              <a:spcBef>
                <a:spcPct val="20000"/>
              </a:spcBef>
              <a:spcAft>
                <a:spcPct val="20000"/>
              </a:spcAft>
              <a:buSzPct val="80000"/>
              <a:buFont typeface="Verdana" pitchFamily="34" charset="0"/>
              <a:defRPr sz="2000">
                <a:solidFill>
                  <a:schemeClr val="tx1"/>
                </a:solidFill>
                <a:latin typeface="+mn-lt"/>
                <a:ea typeface="+mn-ea"/>
                <a:cs typeface="+mn-cs"/>
              </a:defRPr>
            </a:lvl1pPr>
            <a:lvl2pPr marL="358775" indent="-244475"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2pPr>
            <a:lvl3pPr marL="714375" indent="-247650"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3pPr>
            <a:lvl4pPr marL="1066800" indent="-247650"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4pPr>
            <a:lvl5pPr marL="1428750" indent="-257175"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5pPr>
            <a:lvl6pPr marL="18859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6pPr>
            <a:lvl7pPr marL="23431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7pPr>
            <a:lvl8pPr marL="28003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8pPr>
            <a:lvl9pPr marL="32575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9pPr>
          </a:lstStyle>
          <a:p>
            <a:pPr marL="0" indent="0" defTabSz="875447">
              <a:defRPr/>
            </a:pPr>
            <a:r>
              <a:rPr lang="en-US" altLang="en-US" sz="1600" b="1" dirty="0">
                <a:solidFill>
                  <a:srgbClr val="FF0000"/>
                </a:solidFill>
              </a:rPr>
              <a:t>Consumers narrow their  choice of brands by evaluating brands according to attributes that are important to them, e.g., a good camera on a phone. </a:t>
            </a:r>
            <a:r>
              <a:rPr lang="en-US" altLang="en-US" sz="1600" dirty="0"/>
              <a:t>Then they will select brands that have that attribute.</a:t>
            </a:r>
          </a:p>
          <a:p>
            <a:pPr marL="0" indent="0" defTabSz="875447">
              <a:spcBef>
                <a:spcPts val="0"/>
              </a:spcBef>
              <a:spcAft>
                <a:spcPts val="0"/>
              </a:spcAft>
              <a:defRPr/>
            </a:pPr>
            <a:r>
              <a:rPr lang="en-US" altLang="en-US" sz="1600" b="1" dirty="0">
                <a:solidFill>
                  <a:srgbClr val="FF0000"/>
                </a:solidFill>
              </a:rPr>
              <a:t>Brands can impact choice</a:t>
            </a:r>
          </a:p>
          <a:p>
            <a:pPr marL="355600" lvl="1" indent="-177800" defTabSz="875447">
              <a:spcBef>
                <a:spcPts val="0"/>
              </a:spcBef>
              <a:spcAft>
                <a:spcPts val="0"/>
              </a:spcAft>
              <a:buFont typeface="Arial"/>
              <a:buChar char="•"/>
              <a:defRPr/>
            </a:pPr>
            <a:r>
              <a:rPr lang="en-US" altLang="en-US" sz="1600" b="1" dirty="0">
                <a:solidFill>
                  <a:srgbClr val="FF0000"/>
                </a:solidFill>
              </a:rPr>
              <a:t>Used to simplify decision making process</a:t>
            </a:r>
          </a:p>
          <a:p>
            <a:pPr marL="355600" lvl="1" indent="-177800" defTabSz="875447">
              <a:spcBef>
                <a:spcPts val="0"/>
              </a:spcBef>
              <a:spcAft>
                <a:spcPts val="0"/>
              </a:spcAft>
              <a:buFont typeface="Arial"/>
              <a:buChar char="•"/>
              <a:defRPr/>
            </a:pPr>
            <a:r>
              <a:rPr lang="en-AU" sz="1600" b="1" dirty="0">
                <a:cs typeface="ＭＳ Ｐゴシック" charset="-128"/>
              </a:rPr>
              <a:t>Signal trust and quality</a:t>
            </a:r>
          </a:p>
          <a:p>
            <a:pPr marL="533400" lvl="2" indent="-177800" defTabSz="875447">
              <a:spcBef>
                <a:spcPts val="0"/>
              </a:spcBef>
              <a:spcAft>
                <a:spcPts val="0"/>
              </a:spcAft>
              <a:buFont typeface="Wingdings" panose="05000000000000000000" pitchFamily="2" charset="2"/>
              <a:buChar char="§"/>
              <a:defRPr/>
            </a:pPr>
            <a:r>
              <a:rPr lang="en-US" altLang="en-US" sz="1400" dirty="0"/>
              <a:t>Might trust a brand </a:t>
            </a:r>
            <a:r>
              <a:rPr lang="en-US" altLang="en-US" sz="1400" b="1" dirty="0"/>
              <a:t>based on experience with it</a:t>
            </a:r>
          </a:p>
          <a:p>
            <a:pPr marL="533400" lvl="2" indent="-177800" defTabSz="875447">
              <a:spcBef>
                <a:spcPts val="0"/>
              </a:spcBef>
              <a:spcAft>
                <a:spcPts val="0"/>
              </a:spcAft>
              <a:buFont typeface="Wingdings" panose="05000000000000000000" pitchFamily="2" charset="2"/>
              <a:buChar char="§"/>
              <a:defRPr/>
            </a:pPr>
            <a:r>
              <a:rPr lang="en-US" altLang="en-US" sz="1400" dirty="0"/>
              <a:t>Might trust </a:t>
            </a:r>
            <a:r>
              <a:rPr lang="en-US" altLang="en-US" sz="1400" b="1" dirty="0"/>
              <a:t>based on type of people you think use it</a:t>
            </a:r>
          </a:p>
          <a:p>
            <a:pPr marL="533400" lvl="2" indent="-177800" defTabSz="875447">
              <a:spcBef>
                <a:spcPts val="0"/>
              </a:spcBef>
              <a:spcAft>
                <a:spcPts val="0"/>
              </a:spcAft>
              <a:buFont typeface="Wingdings" panose="05000000000000000000" pitchFamily="2" charset="2"/>
              <a:buChar char="§"/>
              <a:defRPr/>
            </a:pPr>
            <a:r>
              <a:rPr lang="en-US" altLang="en-US" sz="1400" b="1" dirty="0"/>
              <a:t>Don’t want to ‘think’ so buy market leader &gt; </a:t>
            </a:r>
            <a:r>
              <a:rPr lang="en-US" altLang="en-US" sz="1400" dirty="0"/>
              <a:t>e.g. Panadol</a:t>
            </a:r>
          </a:p>
          <a:p>
            <a:pPr marL="164146" indent="-164146" defTabSz="875447">
              <a:buFont typeface="Arial"/>
              <a:buChar char="•"/>
              <a:defRPr/>
            </a:pPr>
            <a:endParaRPr lang="en-US" altLang="en-US" sz="1600" b="1" dirty="0">
              <a:solidFill>
                <a:srgbClr val="00B050"/>
              </a:solidFill>
              <a:ea typeface="ＭＳ Ｐゴシック" charset="-128"/>
              <a:cs typeface="ＭＳ Ｐゴシック" charset="-128"/>
            </a:endParaRPr>
          </a:p>
          <a:p>
            <a:pPr marL="164146" indent="-164146" defTabSz="875447">
              <a:buFont typeface="Arial"/>
              <a:buChar char="•"/>
              <a:defRPr/>
            </a:pPr>
            <a:endParaRPr lang="en-US" altLang="en-US" sz="1600" dirty="0"/>
          </a:p>
        </p:txBody>
      </p:sp>
      <p:pic>
        <p:nvPicPr>
          <p:cNvPr id="10" name="Picture 9">
            <a:extLst>
              <a:ext uri="{FF2B5EF4-FFF2-40B4-BE49-F238E27FC236}">
                <a16:creationId xmlns:a16="http://schemas.microsoft.com/office/drawing/2014/main" id="{B3D18B4E-F154-DA98-6F7C-5C7FACEBA14C}"/>
              </a:ext>
            </a:extLst>
          </p:cNvPr>
          <p:cNvPicPr>
            <a:picLocks noChangeAspect="1"/>
          </p:cNvPicPr>
          <p:nvPr/>
        </p:nvPicPr>
        <p:blipFill>
          <a:blip r:embed="rId3"/>
          <a:stretch>
            <a:fillRect/>
          </a:stretch>
        </p:blipFill>
        <p:spPr>
          <a:xfrm>
            <a:off x="5850453" y="5240115"/>
            <a:ext cx="2404547" cy="981944"/>
          </a:xfrm>
          <a:prstGeom prst="rect">
            <a:avLst/>
          </a:prstGeom>
        </p:spPr>
      </p:pic>
      <p:sp>
        <p:nvSpPr>
          <p:cNvPr id="12" name="TextBox 11">
            <a:extLst>
              <a:ext uri="{FF2B5EF4-FFF2-40B4-BE49-F238E27FC236}">
                <a16:creationId xmlns:a16="http://schemas.microsoft.com/office/drawing/2014/main" id="{BCA068FE-6A32-6D24-3CF4-C59EB9E322BB}"/>
              </a:ext>
            </a:extLst>
          </p:cNvPr>
          <p:cNvSpPr txBox="1"/>
          <p:nvPr/>
        </p:nvSpPr>
        <p:spPr>
          <a:xfrm>
            <a:off x="5710752" y="6293449"/>
            <a:ext cx="2683947" cy="523220"/>
          </a:xfrm>
          <a:prstGeom prst="rect">
            <a:avLst/>
          </a:prstGeom>
          <a:noFill/>
        </p:spPr>
        <p:txBody>
          <a:bodyPr wrap="square" rtlCol="0">
            <a:spAutoFit/>
          </a:bodyPr>
          <a:lstStyle/>
          <a:p>
            <a:pPr marL="177800" lvl="2" defTabSz="875447">
              <a:spcBef>
                <a:spcPts val="0"/>
              </a:spcBef>
              <a:spcAft>
                <a:spcPts val="0"/>
              </a:spcAft>
              <a:defRPr/>
            </a:pPr>
            <a:r>
              <a:rPr lang="en-US" sz="1400" b="1" i="1" dirty="0">
                <a:solidFill>
                  <a:srgbClr val="FF0000"/>
                </a:solidFill>
              </a:rPr>
              <a:t>Australia's</a:t>
            </a:r>
            <a:r>
              <a:rPr lang="en-US" sz="1400" b="1" dirty="0">
                <a:solidFill>
                  <a:srgbClr val="FF0000"/>
                </a:solidFill>
              </a:rPr>
              <a:t> </a:t>
            </a:r>
            <a:r>
              <a:rPr lang="en-US" sz="1400" b="1" i="1" dirty="0">
                <a:solidFill>
                  <a:srgbClr val="FF0000"/>
                </a:solidFill>
              </a:rPr>
              <a:t>most</a:t>
            </a:r>
            <a:r>
              <a:rPr lang="en-US" sz="1400" b="1" dirty="0">
                <a:solidFill>
                  <a:srgbClr val="FF0000"/>
                </a:solidFill>
              </a:rPr>
              <a:t> </a:t>
            </a:r>
            <a:r>
              <a:rPr lang="en-US" sz="1400" b="1" i="1" dirty="0">
                <a:solidFill>
                  <a:srgbClr val="FF0000"/>
                </a:solidFill>
              </a:rPr>
              <a:t>trusted brand</a:t>
            </a:r>
            <a:r>
              <a:rPr lang="en-US" sz="1400" b="1" dirty="0">
                <a:solidFill>
                  <a:srgbClr val="FF0000"/>
                </a:solidFill>
              </a:rPr>
              <a:t> </a:t>
            </a:r>
            <a:r>
              <a:rPr lang="en-US" sz="1400" dirty="0"/>
              <a:t>of pain reliever</a:t>
            </a:r>
            <a:endParaRPr lang="en-US" altLang="en-US" sz="1400" dirty="0"/>
          </a:p>
        </p:txBody>
      </p:sp>
    </p:spTree>
    <p:extLst>
      <p:ext uri="{BB962C8B-B14F-4D97-AF65-F5344CB8AC3E}">
        <p14:creationId xmlns:p14="http://schemas.microsoft.com/office/powerpoint/2010/main" val="602088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
                                            <p:bg/>
                                          </p:spTgt>
                                        </p:tgtEl>
                                        <p:attrNameLst>
                                          <p:attrName>style.visibility</p:attrName>
                                        </p:attrNameLst>
                                      </p:cBhvr>
                                      <p:to>
                                        <p:strVal val="visible"/>
                                      </p:to>
                                    </p:set>
                                    <p:animEffect transition="in" filter="wipe(left)">
                                      <p:cBhvr>
                                        <p:cTn id="7" dur="500"/>
                                        <p:tgtEl>
                                          <p:spTgt spid="5">
                                            <p:bg/>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left)">
                                      <p:cBhvr>
                                        <p:cTn id="11" dur="500"/>
                                        <p:tgtEl>
                                          <p:spTgt spid="5">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2"/>
                                        </p:tgtEl>
                                        <p:attrNameLst>
                                          <p:attrName>style.visibility</p:attrName>
                                        </p:attrNameLst>
                                      </p:cBhvr>
                                      <p:to>
                                        <p:strVal val="visible"/>
                                      </p:to>
                                    </p:set>
                                    <p:animEffect transition="in" filter="wipe(left)">
                                      <p:cBhvr>
                                        <p:cTn id="15" dur="1000"/>
                                        <p:tgtEl>
                                          <p:spTgt spid="32"/>
                                        </p:tgtEl>
                                      </p:cBhvr>
                                    </p:animEffect>
                                  </p:childTnLst>
                                </p:cTn>
                              </p:par>
                            </p:childTnLst>
                          </p:cTn>
                        </p:par>
                        <p:par>
                          <p:cTn id="16" fill="hold">
                            <p:stCondLst>
                              <p:cond delay="2000"/>
                            </p:stCondLst>
                            <p:childTnLst>
                              <p:par>
                                <p:cTn id="17" presetID="22" presetClass="entr" presetSubtype="8"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nimBg="1"/>
      <p:bldP spid="32" grpId="0" animBg="1"/>
      <p:bldP spid="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29554-F475-16CC-3626-2E0BD648701D}"/>
              </a:ext>
            </a:extLst>
          </p:cNvPr>
          <p:cNvSpPr>
            <a:spLocks noGrp="1"/>
          </p:cNvSpPr>
          <p:nvPr>
            <p:ph type="title"/>
          </p:nvPr>
        </p:nvSpPr>
        <p:spPr/>
        <p:txBody>
          <a:bodyPr/>
          <a:lstStyle/>
          <a:p>
            <a:r>
              <a:rPr lang="en-NZ" sz="3200" dirty="0"/>
              <a:t>The buyer decision process</a:t>
            </a:r>
            <a:endParaRPr lang="en-AU" sz="3200" dirty="0"/>
          </a:p>
        </p:txBody>
      </p:sp>
      <p:sp>
        <p:nvSpPr>
          <p:cNvPr id="3" name="Text Placeholder 2">
            <a:extLst>
              <a:ext uri="{FF2B5EF4-FFF2-40B4-BE49-F238E27FC236}">
                <a16:creationId xmlns:a16="http://schemas.microsoft.com/office/drawing/2014/main" id="{A55311DF-8293-649A-83BA-695D9E51724E}"/>
              </a:ext>
            </a:extLst>
          </p:cNvPr>
          <p:cNvSpPr>
            <a:spLocks noGrp="1"/>
          </p:cNvSpPr>
          <p:nvPr>
            <p:ph type="body" idx="1"/>
          </p:nvPr>
        </p:nvSpPr>
        <p:spPr/>
        <p:txBody>
          <a:bodyPr/>
          <a:lstStyle/>
          <a:p>
            <a:r>
              <a:rPr lang="en-AU" dirty="0"/>
              <a:t>Evaluation of Alternatives</a:t>
            </a:r>
          </a:p>
          <a:p>
            <a:endParaRPr lang="en-AU" dirty="0"/>
          </a:p>
        </p:txBody>
      </p:sp>
      <p:sp>
        <p:nvSpPr>
          <p:cNvPr id="9" name="TextBox 8">
            <a:extLst>
              <a:ext uri="{FF2B5EF4-FFF2-40B4-BE49-F238E27FC236}">
                <a16:creationId xmlns:a16="http://schemas.microsoft.com/office/drawing/2014/main" id="{7D682DC9-5590-5C7C-E639-E8C0B7D8D53D}"/>
              </a:ext>
            </a:extLst>
          </p:cNvPr>
          <p:cNvSpPr txBox="1"/>
          <p:nvPr/>
        </p:nvSpPr>
        <p:spPr>
          <a:xfrm>
            <a:off x="330201" y="1436927"/>
            <a:ext cx="3920452" cy="4555093"/>
          </a:xfrm>
          <a:prstGeom prst="rect">
            <a:avLst/>
          </a:prstGeom>
          <a:noFill/>
        </p:spPr>
        <p:txBody>
          <a:bodyPr wrap="square">
            <a:spAutoFit/>
          </a:bodyPr>
          <a:lstStyle/>
          <a:p>
            <a:pPr marL="342900" indent="-342900">
              <a:spcBef>
                <a:spcPts val="600"/>
              </a:spcBef>
              <a:spcAft>
                <a:spcPts val="600"/>
              </a:spcAft>
              <a:buFont typeface="Arial" panose="020B0604020202020204" pitchFamily="34" charset="0"/>
              <a:buChar char="•"/>
            </a:pPr>
            <a:r>
              <a:rPr lang="en-AU" sz="2000" dirty="0">
                <a:solidFill>
                  <a:schemeClr val="tx1"/>
                </a:solidFill>
                <a:latin typeface="+mn-lt"/>
              </a:rPr>
              <a:t>Marketers can </a:t>
            </a:r>
            <a:r>
              <a:rPr lang="en-AU" sz="2000" b="1" dirty="0">
                <a:solidFill>
                  <a:srgbClr val="FF0000"/>
                </a:solidFill>
                <a:latin typeface="+mn-lt"/>
              </a:rPr>
              <a:t>influence a consumer’s evaluations by </a:t>
            </a:r>
            <a:r>
              <a:rPr lang="en-AU" sz="2000" b="1" i="1" u="sng" dirty="0">
                <a:solidFill>
                  <a:srgbClr val="FF0000"/>
                </a:solidFill>
                <a:latin typeface="+mn-lt"/>
              </a:rPr>
              <a:t>framing</a:t>
            </a:r>
            <a:r>
              <a:rPr lang="en-AU" sz="2000" b="1" u="sng" dirty="0">
                <a:solidFill>
                  <a:srgbClr val="FF0000"/>
                </a:solidFill>
                <a:latin typeface="+mn-lt"/>
              </a:rPr>
              <a:t> t</a:t>
            </a:r>
            <a:r>
              <a:rPr lang="en-AU" sz="2000" b="1" dirty="0">
                <a:solidFill>
                  <a:srgbClr val="FF0000"/>
                </a:solidFill>
                <a:latin typeface="+mn-lt"/>
              </a:rPr>
              <a:t>he alternatives</a:t>
            </a:r>
          </a:p>
          <a:p>
            <a:pPr marL="342900" lvl="1" indent="-342900">
              <a:spcBef>
                <a:spcPts val="600"/>
              </a:spcBef>
              <a:spcAft>
                <a:spcPts val="600"/>
              </a:spcAft>
              <a:buFont typeface="Arial" panose="020B0604020202020204" pitchFamily="34" charset="0"/>
              <a:buChar char="•"/>
            </a:pPr>
            <a:r>
              <a:rPr lang="en-AU" sz="2000" b="1" dirty="0">
                <a:solidFill>
                  <a:srgbClr val="FF0000"/>
                </a:solidFill>
                <a:latin typeface="+mn-lt"/>
                <a:cs typeface="ＭＳ Ｐゴシック" charset="-128"/>
              </a:rPr>
              <a:t>Describes the alternatives </a:t>
            </a:r>
            <a:r>
              <a:rPr lang="en-AU" sz="2000" dirty="0">
                <a:solidFill>
                  <a:schemeClr val="tx1"/>
                </a:solidFill>
                <a:latin typeface="+mn-lt"/>
                <a:cs typeface="ＭＳ Ｐゴシック" charset="-128"/>
              </a:rPr>
              <a:t>and their attributes </a:t>
            </a:r>
            <a:r>
              <a:rPr lang="en-AU" sz="2000" b="1" dirty="0">
                <a:solidFill>
                  <a:srgbClr val="FF0000"/>
                </a:solidFill>
                <a:latin typeface="+mn-lt"/>
                <a:cs typeface="ＭＳ Ｐゴシック" charset="-128"/>
              </a:rPr>
              <a:t>in a certain manner</a:t>
            </a:r>
            <a:br>
              <a:rPr lang="en-AU" sz="2000" b="1" dirty="0">
                <a:solidFill>
                  <a:srgbClr val="FF0000"/>
                </a:solidFill>
                <a:latin typeface="+mn-lt"/>
                <a:cs typeface="ＭＳ Ｐゴシック" charset="-128"/>
              </a:rPr>
            </a:br>
            <a:br>
              <a:rPr lang="en-AU" sz="2000" b="1" dirty="0">
                <a:solidFill>
                  <a:srgbClr val="FF0000"/>
                </a:solidFill>
                <a:latin typeface="+mn-lt"/>
                <a:cs typeface="ＭＳ Ｐゴシック" charset="-128"/>
              </a:rPr>
            </a:br>
            <a:endParaRPr lang="en-AU" sz="2000" b="1" dirty="0">
              <a:solidFill>
                <a:srgbClr val="FF0000"/>
              </a:solidFill>
              <a:latin typeface="+mn-lt"/>
              <a:cs typeface="ＭＳ Ｐゴシック" charset="-128"/>
            </a:endParaRPr>
          </a:p>
          <a:p>
            <a:pPr marL="342900" lvl="1" indent="-342900">
              <a:spcBef>
                <a:spcPts val="600"/>
              </a:spcBef>
              <a:spcAft>
                <a:spcPts val="600"/>
              </a:spcAft>
              <a:buFont typeface="Arial" panose="020B0604020202020204" pitchFamily="34" charset="0"/>
              <a:buChar char="•"/>
            </a:pPr>
            <a:r>
              <a:rPr lang="en-AU" sz="2000" dirty="0">
                <a:solidFill>
                  <a:schemeClr val="tx1"/>
                </a:solidFill>
                <a:latin typeface="+mn-lt"/>
                <a:cs typeface="ＭＳ Ｐゴシック" charset="-128"/>
              </a:rPr>
              <a:t>Make a</a:t>
            </a:r>
            <a:r>
              <a:rPr lang="en-AU" sz="2000" dirty="0">
                <a:latin typeface="+mn-lt"/>
                <a:cs typeface="ＭＳ Ｐゴシック" charset="-128"/>
              </a:rPr>
              <a:t> </a:t>
            </a:r>
            <a:r>
              <a:rPr lang="en-AU" sz="2000" b="1" dirty="0">
                <a:solidFill>
                  <a:srgbClr val="FF0000"/>
                </a:solidFill>
                <a:latin typeface="+mn-lt"/>
                <a:cs typeface="ＭＳ Ｐゴシック" charset="-128"/>
              </a:rPr>
              <a:t>certain attribute seem more important </a:t>
            </a:r>
            <a:r>
              <a:rPr lang="en-AU" sz="2000" dirty="0">
                <a:solidFill>
                  <a:schemeClr val="tx1"/>
                </a:solidFill>
                <a:latin typeface="+mn-lt"/>
                <a:cs typeface="ＭＳ Ｐゴシック" charset="-128"/>
              </a:rPr>
              <a:t>to consumers</a:t>
            </a:r>
          </a:p>
          <a:p>
            <a:pPr marL="342900" indent="-342900">
              <a:spcBef>
                <a:spcPts val="600"/>
              </a:spcBef>
              <a:spcAft>
                <a:spcPts val="600"/>
              </a:spcAft>
              <a:buFont typeface="Arial" panose="020B0604020202020204" pitchFamily="34" charset="0"/>
              <a:buChar char="•"/>
            </a:pPr>
            <a:r>
              <a:rPr lang="en-AU" sz="2000" dirty="0">
                <a:solidFill>
                  <a:schemeClr val="tx1"/>
                </a:solidFill>
                <a:latin typeface="+mn-lt"/>
              </a:rPr>
              <a:t>More likely to influence inexperienced buyers</a:t>
            </a:r>
          </a:p>
        </p:txBody>
      </p:sp>
      <p:pic>
        <p:nvPicPr>
          <p:cNvPr id="13" name="Picture 2" descr="http://27.media.tumblr.com/nsdE15fKjq5ss2lwwKhfxCimo1_500.jpg">
            <a:hlinkClick r:id="rId2"/>
            <a:extLst>
              <a:ext uri="{FF2B5EF4-FFF2-40B4-BE49-F238E27FC236}">
                <a16:creationId xmlns:a16="http://schemas.microsoft.com/office/drawing/2014/main" id="{BD58DBB2-C7D0-7592-FC0E-D79150D63B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6485" y="1436927"/>
            <a:ext cx="3886969" cy="2565400"/>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4" descr="http://static.guim.co.uk/sys-images/Media/Pix/pictures/2010/3/2/1267552496369/easyJet-ad-about-Ryanair-001.jpg">
            <a:hlinkClick r:id="rId4"/>
            <a:extLst>
              <a:ext uri="{FF2B5EF4-FFF2-40B4-BE49-F238E27FC236}">
                <a16:creationId xmlns:a16="http://schemas.microsoft.com/office/drawing/2014/main" id="{1FBC2E2B-3437-7AF7-D343-0E45EB24A8B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93348" y="4143855"/>
            <a:ext cx="3920452" cy="256540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Straight Arrow Connector 15">
            <a:extLst>
              <a:ext uri="{FF2B5EF4-FFF2-40B4-BE49-F238E27FC236}">
                <a16:creationId xmlns:a16="http://schemas.microsoft.com/office/drawing/2014/main" id="{1AA4DDCB-F838-443A-D47F-06731B5DE6D5}"/>
              </a:ext>
            </a:extLst>
          </p:cNvPr>
          <p:cNvCxnSpPr>
            <a:cxnSpLocks/>
          </p:cNvCxnSpPr>
          <p:nvPr/>
        </p:nvCxnSpPr>
        <p:spPr>
          <a:xfrm>
            <a:off x="3708400" y="3048000"/>
            <a:ext cx="990600" cy="0"/>
          </a:xfrm>
          <a:prstGeom prst="straightConnector1">
            <a:avLst/>
          </a:prstGeom>
          <a:ln w="76200">
            <a:tailEnd type="arrow"/>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F8E36BC2-0086-3ED4-32DA-2445987B7F5A}"/>
              </a:ext>
            </a:extLst>
          </p:cNvPr>
          <p:cNvCxnSpPr>
            <a:cxnSpLocks/>
          </p:cNvCxnSpPr>
          <p:nvPr/>
        </p:nvCxnSpPr>
        <p:spPr>
          <a:xfrm>
            <a:off x="3771900" y="4914900"/>
            <a:ext cx="990600" cy="0"/>
          </a:xfrm>
          <a:prstGeom prst="straightConnector1">
            <a:avLst/>
          </a:prstGeom>
          <a:ln w="76200">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009956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397120" y="356556"/>
            <a:ext cx="8058723" cy="728826"/>
          </a:xfrm>
        </p:spPr>
        <p:txBody>
          <a:bodyPr/>
          <a:lstStyle/>
          <a:p>
            <a:pPr marL="101600">
              <a:spcBef>
                <a:spcPts val="1500"/>
              </a:spcBef>
              <a:buSzPct val="100000"/>
            </a:pPr>
            <a:r>
              <a:rPr lang="en-AU" sz="3200" dirty="0">
                <a:solidFill>
                  <a:srgbClr val="007FA3"/>
                </a:solidFill>
                <a:latin typeface="Arial"/>
                <a:cs typeface="Arial"/>
              </a:rPr>
              <a:t>The ‘evaluation of alternatives’ stage; examples of consumer criteria used</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012664418"/>
              </p:ext>
            </p:extLst>
          </p:nvPr>
        </p:nvGraphicFramePr>
        <p:xfrm>
          <a:off x="294543" y="1346786"/>
          <a:ext cx="8373208" cy="44064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Footer Placeholder 4"/>
          <p:cNvSpPr>
            <a:spLocks noGrp="1"/>
          </p:cNvSpPr>
          <p:nvPr>
            <p:ph type="ftr" sz="quarter" idx="11"/>
          </p:nvPr>
        </p:nvSpPr>
        <p:spPr bwMode="gray">
          <a:xfrm>
            <a:off x="385397" y="5899473"/>
            <a:ext cx="8253046" cy="1480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defPPr>
              <a:defRPr lang="en-GB"/>
            </a:defPPr>
            <a:lvl1pPr algn="l" rtl="0" fontAlgn="base">
              <a:spcBef>
                <a:spcPct val="0"/>
              </a:spcBef>
              <a:spcAft>
                <a:spcPct val="0"/>
              </a:spcAft>
              <a:defRPr lang="en-AU" sz="738" b="0" i="0" kern="1200">
                <a:solidFill>
                  <a:srgbClr val="4D4D4D"/>
                </a:solidFill>
                <a:effectLst/>
                <a:latin typeface="Verdana" pitchFamily="34" charset="0"/>
                <a:ea typeface="+mn-ea"/>
                <a:cs typeface="Arial" charset="0"/>
              </a:defRPr>
            </a:lvl1pPr>
            <a:lvl2pPr marL="422041" algn="l" rtl="0" fontAlgn="base">
              <a:spcBef>
                <a:spcPct val="50000"/>
              </a:spcBef>
              <a:spcAft>
                <a:spcPct val="0"/>
              </a:spcAft>
              <a:defRPr sz="923" kern="1200">
                <a:solidFill>
                  <a:schemeClr val="tx1"/>
                </a:solidFill>
                <a:latin typeface="Verdana" pitchFamily="34" charset="0"/>
                <a:ea typeface="+mn-ea"/>
                <a:cs typeface="Arial" charset="0"/>
              </a:defRPr>
            </a:lvl2pPr>
            <a:lvl3pPr marL="844083" algn="l" rtl="0" fontAlgn="base">
              <a:spcBef>
                <a:spcPct val="50000"/>
              </a:spcBef>
              <a:spcAft>
                <a:spcPct val="0"/>
              </a:spcAft>
              <a:defRPr sz="923" kern="1200">
                <a:solidFill>
                  <a:schemeClr val="tx1"/>
                </a:solidFill>
                <a:latin typeface="Verdana" pitchFamily="34" charset="0"/>
                <a:ea typeface="+mn-ea"/>
                <a:cs typeface="Arial" charset="0"/>
              </a:defRPr>
            </a:lvl3pPr>
            <a:lvl4pPr marL="1266124" algn="l" rtl="0" fontAlgn="base">
              <a:spcBef>
                <a:spcPct val="50000"/>
              </a:spcBef>
              <a:spcAft>
                <a:spcPct val="0"/>
              </a:spcAft>
              <a:defRPr sz="923" kern="1200">
                <a:solidFill>
                  <a:schemeClr val="tx1"/>
                </a:solidFill>
                <a:latin typeface="Verdana" pitchFamily="34" charset="0"/>
                <a:ea typeface="+mn-ea"/>
                <a:cs typeface="Arial" charset="0"/>
              </a:defRPr>
            </a:lvl4pPr>
            <a:lvl5pPr marL="1688165" algn="l" rtl="0" fontAlgn="base">
              <a:spcBef>
                <a:spcPct val="50000"/>
              </a:spcBef>
              <a:spcAft>
                <a:spcPct val="0"/>
              </a:spcAft>
              <a:defRPr sz="923" kern="1200">
                <a:solidFill>
                  <a:schemeClr val="tx1"/>
                </a:solidFill>
                <a:latin typeface="Verdana" pitchFamily="34" charset="0"/>
                <a:ea typeface="+mn-ea"/>
                <a:cs typeface="Arial" charset="0"/>
              </a:defRPr>
            </a:lvl5pPr>
            <a:lvl6pPr marL="2110207" algn="l" defTabSz="844083" rtl="0" eaLnBrk="1" latinLnBrk="0" hangingPunct="1">
              <a:defRPr sz="923" kern="1200">
                <a:solidFill>
                  <a:schemeClr val="tx1"/>
                </a:solidFill>
                <a:latin typeface="Verdana" pitchFamily="34" charset="0"/>
                <a:ea typeface="+mn-ea"/>
                <a:cs typeface="Arial" charset="0"/>
              </a:defRPr>
            </a:lvl6pPr>
            <a:lvl7pPr marL="2532248" algn="l" defTabSz="844083" rtl="0" eaLnBrk="1" latinLnBrk="0" hangingPunct="1">
              <a:defRPr sz="923" kern="1200">
                <a:solidFill>
                  <a:schemeClr val="tx1"/>
                </a:solidFill>
                <a:latin typeface="Verdana" pitchFamily="34" charset="0"/>
                <a:ea typeface="+mn-ea"/>
                <a:cs typeface="Arial" charset="0"/>
              </a:defRPr>
            </a:lvl7pPr>
            <a:lvl8pPr marL="2954289" algn="l" defTabSz="844083" rtl="0" eaLnBrk="1" latinLnBrk="0" hangingPunct="1">
              <a:defRPr sz="923" kern="1200">
                <a:solidFill>
                  <a:schemeClr val="tx1"/>
                </a:solidFill>
                <a:latin typeface="Verdana" pitchFamily="34" charset="0"/>
                <a:ea typeface="+mn-ea"/>
                <a:cs typeface="Arial" charset="0"/>
              </a:defRPr>
            </a:lvl8pPr>
            <a:lvl9pPr marL="3376331" algn="l" defTabSz="844083" rtl="0" eaLnBrk="1" latinLnBrk="0" hangingPunct="1">
              <a:defRPr sz="923" kern="1200">
                <a:solidFill>
                  <a:schemeClr val="tx1"/>
                </a:solidFill>
                <a:latin typeface="Verdana" pitchFamily="34" charset="0"/>
                <a:ea typeface="+mn-ea"/>
                <a:cs typeface="Arial" charset="0"/>
              </a:defRPr>
            </a:lvl9pPr>
          </a:lstStyle>
          <a:p>
            <a:pPr eaLnBrk="1" hangingPunct="1"/>
            <a:r>
              <a:rPr lang="en-US"/>
              <a:t>Copyright ©2015 Pearson Australia (a division of Pearson Australia Group Pty Ltd) – 9781486002696/Armstrong/Principles of Marketing/6</a:t>
            </a:r>
            <a:r>
              <a:rPr lang="en-US" baseline="30000"/>
              <a:t>th</a:t>
            </a:r>
            <a:r>
              <a:rPr lang="en-US"/>
              <a:t> edition</a:t>
            </a:r>
            <a:endParaRPr lang="en-GB" dirty="0"/>
          </a:p>
        </p:txBody>
      </p:sp>
    </p:spTree>
    <p:extLst>
      <p:ext uri="{BB962C8B-B14F-4D97-AF65-F5344CB8AC3E}">
        <p14:creationId xmlns:p14="http://schemas.microsoft.com/office/powerpoint/2010/main" val="10436882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2" name="Title 1">
            <a:extLst>
              <a:ext uri="{FF2B5EF4-FFF2-40B4-BE49-F238E27FC236}">
                <a16:creationId xmlns:a16="http://schemas.microsoft.com/office/drawing/2014/main" id="{F5E30427-4547-4715-9C31-D129FE43C7C1}"/>
              </a:ext>
            </a:extLst>
          </p:cNvPr>
          <p:cNvSpPr>
            <a:spLocks noGrp="1"/>
          </p:cNvSpPr>
          <p:nvPr>
            <p:ph type="title"/>
          </p:nvPr>
        </p:nvSpPr>
        <p:spPr>
          <a:xfrm>
            <a:off x="457200" y="215371"/>
            <a:ext cx="8229600" cy="699029"/>
          </a:xfrm>
        </p:spPr>
        <p:txBody>
          <a:bodyPr/>
          <a:lstStyle/>
          <a:p>
            <a:r>
              <a:rPr lang="en-NZ" sz="3200" dirty="0"/>
              <a:t>The buyer decision process</a:t>
            </a:r>
            <a:endParaRPr lang="en-US" sz="2000" dirty="0"/>
          </a:p>
        </p:txBody>
      </p:sp>
      <p:sp>
        <p:nvSpPr>
          <p:cNvPr id="3" name="Text Placeholder 2">
            <a:extLst>
              <a:ext uri="{FF2B5EF4-FFF2-40B4-BE49-F238E27FC236}">
                <a16:creationId xmlns:a16="http://schemas.microsoft.com/office/drawing/2014/main" id="{C7697BCC-A93B-4430-8CDA-E7B6FF3D13DA}"/>
              </a:ext>
            </a:extLst>
          </p:cNvPr>
          <p:cNvSpPr>
            <a:spLocks noGrp="1"/>
          </p:cNvSpPr>
          <p:nvPr>
            <p:ph type="body" idx="4294967295"/>
          </p:nvPr>
        </p:nvSpPr>
        <p:spPr>
          <a:xfrm>
            <a:off x="457199" y="733082"/>
            <a:ext cx="8229599" cy="615340"/>
          </a:xfrm>
        </p:spPr>
        <p:txBody>
          <a:bodyPr/>
          <a:lstStyle/>
          <a:p>
            <a:pPr marL="101600" indent="0">
              <a:buNone/>
            </a:pPr>
            <a:r>
              <a:rPr lang="en-US" sz="2400" b="1" dirty="0">
                <a:solidFill>
                  <a:srgbClr val="007FA3"/>
                </a:solidFill>
              </a:rPr>
              <a:t>The five stages in the buyer decision process</a:t>
            </a:r>
          </a:p>
        </p:txBody>
      </p:sp>
      <p:sp>
        <p:nvSpPr>
          <p:cNvPr id="29" name="Content Placeholder 7">
            <a:extLst>
              <a:ext uri="{FF2B5EF4-FFF2-40B4-BE49-F238E27FC236}">
                <a16:creationId xmlns:a16="http://schemas.microsoft.com/office/drawing/2014/main" id="{C4DF55AE-F305-E03E-98A5-ECE457F6784B}"/>
              </a:ext>
            </a:extLst>
          </p:cNvPr>
          <p:cNvSpPr txBox="1">
            <a:spLocks/>
          </p:cNvSpPr>
          <p:nvPr/>
        </p:nvSpPr>
        <p:spPr bwMode="auto">
          <a:xfrm>
            <a:off x="457198" y="1366040"/>
            <a:ext cx="8229601" cy="500093"/>
          </a:xfrm>
          <a:prstGeom prst="flowChartAlternateProcess">
            <a:avLst/>
          </a:prstGeom>
          <a:solidFill>
            <a:srgbClr val="89E0FF"/>
          </a:solidFill>
          <a:ln w="15875">
            <a:solidFill>
              <a:srgbClr val="002060"/>
            </a:solidFill>
          </a:ln>
          <a:effectLst/>
        </p:spPr>
        <p:txBody>
          <a:bodyPr vert="horz" wrap="square" lIns="0" tIns="0" rIns="0" bIns="0" numCol="1" rtlCol="0" anchor="ctr" anchorCtr="0" compatLnSpc="1">
            <a:prstTxWarp prst="textNoShape">
              <a:avLst/>
            </a:prstTxWarp>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marL="290513" algn="ctr" defTabSz="857250" fontAlgn="base">
              <a:spcBef>
                <a:spcPct val="0"/>
              </a:spcBef>
              <a:spcAft>
                <a:spcPct val="20000"/>
              </a:spcAft>
              <a:buSzPct val="80000"/>
              <a:defRPr/>
            </a:pPr>
            <a:r>
              <a:rPr lang="en-US" sz="2000" dirty="0">
                <a:solidFill>
                  <a:schemeClr val="tx1"/>
                </a:solidFill>
                <a:latin typeface="+mn-lt"/>
                <a:ea typeface="+mn-ea"/>
                <a:cs typeface="+mn-cs"/>
              </a:rPr>
              <a:t>Purchase Decision</a:t>
            </a:r>
          </a:p>
        </p:txBody>
      </p:sp>
      <p:sp>
        <p:nvSpPr>
          <p:cNvPr id="33" name="Content Placeholder 7">
            <a:extLst>
              <a:ext uri="{FF2B5EF4-FFF2-40B4-BE49-F238E27FC236}">
                <a16:creationId xmlns:a16="http://schemas.microsoft.com/office/drawing/2014/main" id="{A1A26FD0-B572-8EE3-2577-F54E472D8FE7}"/>
              </a:ext>
            </a:extLst>
          </p:cNvPr>
          <p:cNvSpPr txBox="1">
            <a:spLocks/>
          </p:cNvSpPr>
          <p:nvPr/>
        </p:nvSpPr>
        <p:spPr bwMode="auto">
          <a:xfrm>
            <a:off x="457187" y="3074401"/>
            <a:ext cx="8229598" cy="750063"/>
          </a:xfrm>
          <a:prstGeom prst="flowChartAlternateProcess">
            <a:avLst/>
          </a:prstGeom>
          <a:solidFill>
            <a:srgbClr val="FCF8E8"/>
          </a:solidFill>
          <a:ln w="15875">
            <a:solidFill>
              <a:srgbClr val="002060"/>
            </a:solidFill>
          </a:ln>
          <a:effectLst/>
        </p:spPr>
        <p:txBody>
          <a:bodyPr vert="horz" wrap="square" lIns="0" tIns="0" rIns="0" bIns="0" numCol="1" rtlCol="0" anchor="t" anchorCtr="0" compatLnSpc="1">
            <a:prstTxWarp prst="textNoShape">
              <a:avLst/>
            </a:prstTxWarp>
          </a:bodyPr>
          <a:lstStyle>
            <a:lvl1pPr marL="342900" indent="-342900" algn="l" defTabSz="857250" rtl="0" eaLnBrk="0" fontAlgn="base" hangingPunct="0">
              <a:spcBef>
                <a:spcPct val="20000"/>
              </a:spcBef>
              <a:spcAft>
                <a:spcPct val="20000"/>
              </a:spcAft>
              <a:buSzPct val="80000"/>
              <a:buFont typeface="Verdana" pitchFamily="34" charset="0"/>
              <a:defRPr sz="2000">
                <a:solidFill>
                  <a:schemeClr val="tx1"/>
                </a:solidFill>
                <a:latin typeface="+mn-lt"/>
                <a:ea typeface="+mn-ea"/>
                <a:cs typeface="+mn-cs"/>
              </a:defRPr>
            </a:lvl1pPr>
            <a:lvl2pPr marL="358775" indent="-244475"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2pPr>
            <a:lvl3pPr marL="714375" indent="-247650"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3pPr>
            <a:lvl4pPr marL="1066800" indent="-247650"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4pPr>
            <a:lvl5pPr marL="1428750" indent="-257175"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5pPr>
            <a:lvl6pPr marL="18859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6pPr>
            <a:lvl7pPr marL="23431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7pPr>
            <a:lvl8pPr marL="28003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8pPr>
            <a:lvl9pPr marL="32575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9pPr>
          </a:lstStyle>
          <a:p>
            <a:pPr marL="88900" indent="0"/>
            <a:r>
              <a:rPr lang="en-AU" sz="1600" dirty="0"/>
              <a:t>Purchase decision is the buyer’s decision about which brand to purchase, from whom to purchase and when to purchase.</a:t>
            </a:r>
          </a:p>
        </p:txBody>
      </p:sp>
      <p:sp>
        <p:nvSpPr>
          <p:cNvPr id="8" name="Content Placeholder 7">
            <a:extLst>
              <a:ext uri="{FF2B5EF4-FFF2-40B4-BE49-F238E27FC236}">
                <a16:creationId xmlns:a16="http://schemas.microsoft.com/office/drawing/2014/main" id="{11560F1E-B04A-0171-81EE-A0528372F3ED}"/>
              </a:ext>
            </a:extLst>
          </p:cNvPr>
          <p:cNvSpPr txBox="1">
            <a:spLocks/>
          </p:cNvSpPr>
          <p:nvPr/>
        </p:nvSpPr>
        <p:spPr bwMode="auto">
          <a:xfrm>
            <a:off x="457187" y="2019895"/>
            <a:ext cx="8229603" cy="900744"/>
          </a:xfrm>
          <a:prstGeom prst="flowChartAlternateProcess">
            <a:avLst/>
          </a:prstGeom>
          <a:solidFill>
            <a:srgbClr val="FCF8E8"/>
          </a:solidFill>
          <a:ln w="15875">
            <a:solidFill>
              <a:srgbClr val="002060"/>
            </a:solidFill>
          </a:ln>
          <a:effectLst/>
        </p:spPr>
        <p:txBody>
          <a:bodyPr vert="horz" wrap="square" lIns="0" tIns="0" rIns="0" bIns="0" numCol="1" rtlCol="0" anchor="ctr" anchorCtr="0" compatLnSpc="1">
            <a:prstTxWarp prst="textNoShape">
              <a:avLst/>
            </a:prstTxWarp>
          </a:bodyPr>
          <a:lstStyle>
            <a:lvl1pPr marL="342900" indent="-342900" algn="l" defTabSz="857250" rtl="0" eaLnBrk="0" fontAlgn="base" hangingPunct="0">
              <a:spcBef>
                <a:spcPct val="20000"/>
              </a:spcBef>
              <a:spcAft>
                <a:spcPct val="20000"/>
              </a:spcAft>
              <a:buSzPct val="80000"/>
              <a:buFont typeface="Verdana" pitchFamily="34" charset="0"/>
              <a:defRPr sz="2000">
                <a:solidFill>
                  <a:schemeClr val="tx1"/>
                </a:solidFill>
                <a:latin typeface="+mn-lt"/>
                <a:ea typeface="+mn-ea"/>
                <a:cs typeface="+mn-cs"/>
              </a:defRPr>
            </a:lvl1pPr>
            <a:lvl2pPr marL="358775" indent="-244475"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2pPr>
            <a:lvl3pPr marL="714375" indent="-247650"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3pPr>
            <a:lvl4pPr marL="1066800" indent="-247650"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4pPr>
            <a:lvl5pPr marL="1428750" indent="-257175"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5pPr>
            <a:lvl6pPr marL="18859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6pPr>
            <a:lvl7pPr marL="23431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7pPr>
            <a:lvl8pPr marL="28003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8pPr>
            <a:lvl9pPr marL="32575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9pPr>
          </a:lstStyle>
          <a:p>
            <a:pPr marL="114300" indent="0"/>
            <a:r>
              <a:rPr lang="en-US" sz="1600" dirty="0"/>
              <a:t>The consumer forms a </a:t>
            </a:r>
            <a:r>
              <a:rPr lang="en-US" sz="1600" b="1" i="1" dirty="0"/>
              <a:t>purchase intention </a:t>
            </a:r>
            <a:r>
              <a:rPr lang="en-US" sz="1600" dirty="0"/>
              <a:t>and ultimately makes the </a:t>
            </a:r>
            <a:r>
              <a:rPr lang="en-US" sz="1600" b="1" i="1" dirty="0"/>
              <a:t>actual purchase</a:t>
            </a:r>
            <a:r>
              <a:rPr lang="en-US" sz="1600" i="1" dirty="0"/>
              <a:t>.</a:t>
            </a:r>
            <a:r>
              <a:rPr lang="en-NZ" sz="1600" dirty="0">
                <a:solidFill>
                  <a:srgbClr val="000000"/>
                </a:solidFill>
                <a:latin typeface="+mn-lt"/>
              </a:rPr>
              <a:t>This process can be impacted by attitudes of others and unexpected situational factors.</a:t>
            </a:r>
            <a:endParaRPr lang="en-US" sz="1600" i="1" dirty="0"/>
          </a:p>
        </p:txBody>
      </p:sp>
      <p:sp>
        <p:nvSpPr>
          <p:cNvPr id="9" name="Content Placeholder 7">
            <a:extLst>
              <a:ext uri="{FF2B5EF4-FFF2-40B4-BE49-F238E27FC236}">
                <a16:creationId xmlns:a16="http://schemas.microsoft.com/office/drawing/2014/main" id="{07182ECD-554E-43F4-EB1C-0ED3AA821DA4}"/>
              </a:ext>
            </a:extLst>
          </p:cNvPr>
          <p:cNvSpPr txBox="1">
            <a:spLocks/>
          </p:cNvSpPr>
          <p:nvPr/>
        </p:nvSpPr>
        <p:spPr bwMode="auto">
          <a:xfrm>
            <a:off x="457187" y="3978226"/>
            <a:ext cx="8229598" cy="1522638"/>
          </a:xfrm>
          <a:prstGeom prst="flowChartAlternateProcess">
            <a:avLst/>
          </a:prstGeom>
          <a:solidFill>
            <a:srgbClr val="FCF8E8"/>
          </a:solidFill>
          <a:ln w="15875">
            <a:solidFill>
              <a:srgbClr val="002060"/>
            </a:solidFill>
          </a:ln>
          <a:effectLst/>
        </p:spPr>
        <p:txBody>
          <a:bodyPr vert="horz" wrap="square" lIns="0" tIns="0" rIns="0" bIns="0" numCol="1" rtlCol="0" anchor="t" anchorCtr="0" compatLnSpc="1">
            <a:prstTxWarp prst="textNoShape">
              <a:avLst/>
            </a:prstTxWarp>
          </a:bodyPr>
          <a:lstStyle>
            <a:lvl1pPr marL="342900" indent="-342900" algn="l" defTabSz="857250" rtl="0" eaLnBrk="0" fontAlgn="base" hangingPunct="0">
              <a:spcBef>
                <a:spcPct val="20000"/>
              </a:spcBef>
              <a:spcAft>
                <a:spcPct val="20000"/>
              </a:spcAft>
              <a:buSzPct val="80000"/>
              <a:buFont typeface="Verdana" pitchFamily="34" charset="0"/>
              <a:defRPr sz="2000">
                <a:solidFill>
                  <a:schemeClr val="tx1"/>
                </a:solidFill>
                <a:latin typeface="+mn-lt"/>
                <a:ea typeface="+mn-ea"/>
                <a:cs typeface="+mn-cs"/>
              </a:defRPr>
            </a:lvl1pPr>
            <a:lvl2pPr marL="358775" indent="-244475"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2pPr>
            <a:lvl3pPr marL="714375" indent="-247650"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3pPr>
            <a:lvl4pPr marL="1066800" indent="-247650"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4pPr>
            <a:lvl5pPr marL="1428750" indent="-257175"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5pPr>
            <a:lvl6pPr marL="18859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6pPr>
            <a:lvl7pPr marL="23431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7pPr>
            <a:lvl8pPr marL="28003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8pPr>
            <a:lvl9pPr marL="32575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9pPr>
          </a:lstStyle>
          <a:p>
            <a:pPr marL="88900" indent="0"/>
            <a:r>
              <a:rPr lang="en-AU" sz="1600" dirty="0"/>
              <a:t>The purchase intention may not be the purchase decision. Factors that may distort the intention to purchase due to:</a:t>
            </a:r>
          </a:p>
          <a:p>
            <a:pPr lvl="1"/>
            <a:r>
              <a:rPr lang="en-AU" sz="1600" b="1" dirty="0">
                <a:solidFill>
                  <a:srgbClr val="FF0000"/>
                </a:solidFill>
              </a:rPr>
              <a:t>Unexpected situational factors </a:t>
            </a:r>
            <a:r>
              <a:rPr lang="en-AU" sz="1600" dirty="0"/>
              <a:t>(e.g., supermarket aisle placement and promotions)</a:t>
            </a:r>
          </a:p>
          <a:p>
            <a:pPr lvl="1"/>
            <a:r>
              <a:rPr lang="en-AU" sz="1600" b="1" dirty="0">
                <a:solidFill>
                  <a:srgbClr val="FF0000"/>
                </a:solidFill>
              </a:rPr>
              <a:t>Attitudes of others &amp; Social desirability bias</a:t>
            </a:r>
          </a:p>
        </p:txBody>
      </p:sp>
    </p:spTree>
    <p:extLst>
      <p:ext uri="{BB962C8B-B14F-4D97-AF65-F5344CB8AC3E}">
        <p14:creationId xmlns:p14="http://schemas.microsoft.com/office/powerpoint/2010/main" val="1950416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9">
                                            <p:bg/>
                                          </p:spTgt>
                                        </p:tgtEl>
                                        <p:attrNameLst>
                                          <p:attrName>style.visibility</p:attrName>
                                        </p:attrNameLst>
                                      </p:cBhvr>
                                      <p:to>
                                        <p:strVal val="visible"/>
                                      </p:to>
                                    </p:set>
                                    <p:animEffect transition="in" filter="wipe(left)">
                                      <p:cBhvr>
                                        <p:cTn id="7" dur="500"/>
                                        <p:tgtEl>
                                          <p:spTgt spid="29">
                                            <p:bg/>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9">
                                            <p:txEl>
                                              <p:pRg st="0" end="0"/>
                                            </p:txEl>
                                          </p:spTgt>
                                        </p:tgtEl>
                                        <p:attrNameLst>
                                          <p:attrName>style.visibility</p:attrName>
                                        </p:attrNameLst>
                                      </p:cBhvr>
                                      <p:to>
                                        <p:strVal val="visible"/>
                                      </p:to>
                                    </p:set>
                                    <p:animEffect transition="in" filter="wipe(left)">
                                      <p:cBhvr>
                                        <p:cTn id="11" dur="500"/>
                                        <p:tgtEl>
                                          <p:spTgt spid="29">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wipe(left)">
                                      <p:cBhvr>
                                        <p:cTn id="15" dur="1000"/>
                                        <p:tgtEl>
                                          <p:spTgt spid="33"/>
                                        </p:tgtEl>
                                      </p:cBhvr>
                                    </p:animEffect>
                                  </p:childTnLst>
                                </p:cTn>
                              </p:par>
                            </p:childTnLst>
                          </p:cTn>
                        </p:par>
                        <p:par>
                          <p:cTn id="16" fill="hold">
                            <p:stCondLst>
                              <p:cond delay="2000"/>
                            </p:stCondLst>
                            <p:childTnLst>
                              <p:par>
                                <p:cTn id="17" presetID="22" presetClass="entr" presetSubtype="8"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build="p" animBg="1"/>
      <p:bldP spid="33" grpId="0" animBg="1"/>
      <p:bldP spid="9"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2" name="Title 1">
            <a:extLst>
              <a:ext uri="{FF2B5EF4-FFF2-40B4-BE49-F238E27FC236}">
                <a16:creationId xmlns:a16="http://schemas.microsoft.com/office/drawing/2014/main" id="{F5E30427-4547-4715-9C31-D129FE43C7C1}"/>
              </a:ext>
            </a:extLst>
          </p:cNvPr>
          <p:cNvSpPr>
            <a:spLocks noGrp="1"/>
          </p:cNvSpPr>
          <p:nvPr>
            <p:ph type="title"/>
          </p:nvPr>
        </p:nvSpPr>
        <p:spPr>
          <a:xfrm>
            <a:off x="457200" y="215371"/>
            <a:ext cx="8229600" cy="699029"/>
          </a:xfrm>
        </p:spPr>
        <p:txBody>
          <a:bodyPr/>
          <a:lstStyle/>
          <a:p>
            <a:r>
              <a:rPr lang="en-NZ" sz="3200" dirty="0"/>
              <a:t>The buyer decision process</a:t>
            </a:r>
            <a:endParaRPr lang="en-US" sz="2000" dirty="0"/>
          </a:p>
        </p:txBody>
      </p:sp>
      <p:sp>
        <p:nvSpPr>
          <p:cNvPr id="3" name="Text Placeholder 2">
            <a:extLst>
              <a:ext uri="{FF2B5EF4-FFF2-40B4-BE49-F238E27FC236}">
                <a16:creationId xmlns:a16="http://schemas.microsoft.com/office/drawing/2014/main" id="{C7697BCC-A93B-4430-8CDA-E7B6FF3D13DA}"/>
              </a:ext>
            </a:extLst>
          </p:cNvPr>
          <p:cNvSpPr>
            <a:spLocks noGrp="1"/>
          </p:cNvSpPr>
          <p:nvPr>
            <p:ph type="body" idx="4294967295"/>
          </p:nvPr>
        </p:nvSpPr>
        <p:spPr>
          <a:xfrm>
            <a:off x="457199" y="733082"/>
            <a:ext cx="8229599" cy="615340"/>
          </a:xfrm>
        </p:spPr>
        <p:txBody>
          <a:bodyPr/>
          <a:lstStyle/>
          <a:p>
            <a:pPr marL="101600" indent="0">
              <a:buNone/>
            </a:pPr>
            <a:r>
              <a:rPr lang="en-US" sz="2400" b="1" dirty="0">
                <a:solidFill>
                  <a:srgbClr val="007FA3"/>
                </a:solidFill>
              </a:rPr>
              <a:t>The five stages in the buyer decision process</a:t>
            </a:r>
          </a:p>
        </p:txBody>
      </p:sp>
      <p:sp>
        <p:nvSpPr>
          <p:cNvPr id="30" name="Content Placeholder 7">
            <a:extLst>
              <a:ext uri="{FF2B5EF4-FFF2-40B4-BE49-F238E27FC236}">
                <a16:creationId xmlns:a16="http://schemas.microsoft.com/office/drawing/2014/main" id="{6348BBB7-BB5E-AD6F-5EA4-0B7B66B34DF3}"/>
              </a:ext>
            </a:extLst>
          </p:cNvPr>
          <p:cNvSpPr txBox="1">
            <a:spLocks/>
          </p:cNvSpPr>
          <p:nvPr/>
        </p:nvSpPr>
        <p:spPr bwMode="auto">
          <a:xfrm>
            <a:off x="457199" y="1355672"/>
            <a:ext cx="8229601" cy="510462"/>
          </a:xfrm>
          <a:prstGeom prst="flowChartAlternateProcess">
            <a:avLst/>
          </a:prstGeom>
          <a:solidFill>
            <a:srgbClr val="89E0FF"/>
          </a:solidFill>
          <a:ln w="15875">
            <a:solidFill>
              <a:srgbClr val="002060"/>
            </a:solidFill>
          </a:ln>
          <a:effectLst/>
        </p:spPr>
        <p:txBody>
          <a:bodyPr vert="horz" wrap="square" lIns="0" tIns="0" rIns="0" bIns="0" numCol="1" rtlCol="0" anchor="ctr" anchorCtr="0" compatLnSpc="1">
            <a:prstTxWarp prst="textNoShape">
              <a:avLst/>
            </a:prstTxWarp>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marL="290513" algn="ctr" defTabSz="857250" fontAlgn="base">
              <a:spcBef>
                <a:spcPct val="0"/>
              </a:spcBef>
              <a:spcAft>
                <a:spcPct val="20000"/>
              </a:spcAft>
              <a:buSzPct val="80000"/>
              <a:defRPr/>
            </a:pPr>
            <a:r>
              <a:rPr lang="en-US" sz="2000" dirty="0">
                <a:solidFill>
                  <a:schemeClr val="tx1"/>
                </a:solidFill>
                <a:latin typeface="+mn-lt"/>
                <a:ea typeface="+mn-ea"/>
                <a:cs typeface="+mn-cs"/>
              </a:rPr>
              <a:t>Post Purchase</a:t>
            </a:r>
          </a:p>
        </p:txBody>
      </p:sp>
      <p:sp>
        <p:nvSpPr>
          <p:cNvPr id="34" name="Content Placeholder 7">
            <a:extLst>
              <a:ext uri="{FF2B5EF4-FFF2-40B4-BE49-F238E27FC236}">
                <a16:creationId xmlns:a16="http://schemas.microsoft.com/office/drawing/2014/main" id="{100574F4-DD3E-2791-7DE4-CD12F0DE3945}"/>
              </a:ext>
            </a:extLst>
          </p:cNvPr>
          <p:cNvSpPr txBox="1">
            <a:spLocks/>
          </p:cNvSpPr>
          <p:nvPr/>
        </p:nvSpPr>
        <p:spPr bwMode="auto">
          <a:xfrm>
            <a:off x="457199" y="2815254"/>
            <a:ext cx="8229602" cy="1227492"/>
          </a:xfrm>
          <a:prstGeom prst="flowChartAlternateProcess">
            <a:avLst/>
          </a:prstGeom>
          <a:solidFill>
            <a:srgbClr val="FCF8E8"/>
          </a:solidFill>
          <a:ln w="15875">
            <a:solidFill>
              <a:srgbClr val="002060"/>
            </a:solidFill>
          </a:ln>
          <a:effectLst/>
        </p:spPr>
        <p:txBody>
          <a:bodyPr vert="horz" wrap="square" lIns="0" tIns="0" rIns="0" bIns="0" numCol="1" rtlCol="0" anchor="t" anchorCtr="0" compatLnSpc="1">
            <a:prstTxWarp prst="textNoShape">
              <a:avLst/>
            </a:prstTxWarp>
          </a:bodyPr>
          <a:lstStyle>
            <a:lvl1pPr marL="342900" indent="-342900" algn="l" defTabSz="857250" rtl="0" eaLnBrk="0" fontAlgn="base" hangingPunct="0">
              <a:spcBef>
                <a:spcPct val="20000"/>
              </a:spcBef>
              <a:spcAft>
                <a:spcPct val="20000"/>
              </a:spcAft>
              <a:buSzPct val="80000"/>
              <a:buFont typeface="Verdana" pitchFamily="34" charset="0"/>
              <a:defRPr sz="2000">
                <a:solidFill>
                  <a:schemeClr val="tx1"/>
                </a:solidFill>
                <a:latin typeface="+mn-lt"/>
                <a:ea typeface="+mn-ea"/>
                <a:cs typeface="+mn-cs"/>
              </a:defRPr>
            </a:lvl1pPr>
            <a:lvl2pPr marL="358775" indent="-244475"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2pPr>
            <a:lvl3pPr marL="714375" indent="-247650"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3pPr>
            <a:lvl4pPr marL="1066800" indent="-247650"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4pPr>
            <a:lvl5pPr marL="1428750" indent="-257175"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5pPr>
            <a:lvl6pPr marL="18859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6pPr>
            <a:lvl7pPr marL="23431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7pPr>
            <a:lvl8pPr marL="28003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8pPr>
            <a:lvl9pPr marL="32575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9pPr>
          </a:lstStyle>
          <a:p>
            <a:pPr marL="88900" indent="0"/>
            <a:r>
              <a:rPr lang="en-AU" sz="1600" dirty="0"/>
              <a:t>The stage where consumers take further action after purchase, based on their satisfaction or dissatisfaction. </a:t>
            </a:r>
          </a:p>
          <a:p>
            <a:pPr marL="88900" indent="0"/>
            <a:r>
              <a:rPr lang="en-AU" sz="1600" dirty="0"/>
              <a:t>Potential for “</a:t>
            </a:r>
            <a:r>
              <a:rPr lang="en-AU" sz="1600" b="1" dirty="0"/>
              <a:t>post-purchase dissonance</a:t>
            </a:r>
            <a:r>
              <a:rPr lang="en-AU" sz="1600" dirty="0"/>
              <a:t>” an inner tension over the </a:t>
            </a:r>
            <a:r>
              <a:rPr lang="en-AU" sz="1600" b="1" dirty="0"/>
              <a:t>perceived appropriateness of a purchase</a:t>
            </a:r>
            <a:endParaRPr lang="en-AU" sz="1600" dirty="0"/>
          </a:p>
        </p:txBody>
      </p:sp>
      <p:sp>
        <p:nvSpPr>
          <p:cNvPr id="8" name="Content Placeholder 7">
            <a:extLst>
              <a:ext uri="{FF2B5EF4-FFF2-40B4-BE49-F238E27FC236}">
                <a16:creationId xmlns:a16="http://schemas.microsoft.com/office/drawing/2014/main" id="{830371B0-D756-C484-2D66-4ADF4C6C9A9E}"/>
              </a:ext>
            </a:extLst>
          </p:cNvPr>
          <p:cNvSpPr txBox="1">
            <a:spLocks/>
          </p:cNvSpPr>
          <p:nvPr/>
        </p:nvSpPr>
        <p:spPr bwMode="auto">
          <a:xfrm>
            <a:off x="457200" y="1991179"/>
            <a:ext cx="8229600" cy="699029"/>
          </a:xfrm>
          <a:prstGeom prst="flowChartAlternateProcess">
            <a:avLst/>
          </a:prstGeom>
          <a:solidFill>
            <a:srgbClr val="FCF8E8"/>
          </a:solidFill>
          <a:ln w="15875">
            <a:solidFill>
              <a:srgbClr val="002060"/>
            </a:solidFill>
          </a:ln>
          <a:effectLst/>
        </p:spPr>
        <p:txBody>
          <a:bodyPr vert="horz" wrap="square" lIns="0" tIns="0" rIns="0" bIns="0" numCol="1" rtlCol="0" anchor="ctr" anchorCtr="0" compatLnSpc="1">
            <a:prstTxWarp prst="textNoShape">
              <a:avLst/>
            </a:prstTxWarp>
          </a:bodyPr>
          <a:lstStyle>
            <a:lvl1pPr marL="342900" indent="-342900" algn="l" defTabSz="857250" rtl="0" eaLnBrk="0" fontAlgn="base" hangingPunct="0">
              <a:spcBef>
                <a:spcPct val="20000"/>
              </a:spcBef>
              <a:spcAft>
                <a:spcPct val="20000"/>
              </a:spcAft>
              <a:buSzPct val="80000"/>
              <a:buFont typeface="Verdana" pitchFamily="34" charset="0"/>
              <a:defRPr sz="2000">
                <a:solidFill>
                  <a:schemeClr val="tx1"/>
                </a:solidFill>
                <a:latin typeface="+mn-lt"/>
                <a:ea typeface="+mn-ea"/>
                <a:cs typeface="+mn-cs"/>
              </a:defRPr>
            </a:lvl1pPr>
            <a:lvl2pPr marL="358775" indent="-244475"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2pPr>
            <a:lvl3pPr marL="714375" indent="-247650"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3pPr>
            <a:lvl4pPr marL="1066800" indent="-247650"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4pPr>
            <a:lvl5pPr marL="1428750" indent="-257175"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5pPr>
            <a:lvl6pPr marL="18859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6pPr>
            <a:lvl7pPr marL="23431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7pPr>
            <a:lvl8pPr marL="28003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8pPr>
            <a:lvl9pPr marL="32575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9pPr>
          </a:lstStyle>
          <a:p>
            <a:pPr marL="114300" indent="0"/>
            <a:r>
              <a:rPr lang="en-US" sz="1600" dirty="0"/>
              <a:t>Following purchase, the consumer will engage in a variety of post-purchase behaviours – including satisfaction, formation of future purchase intentions and loyalty intentions.</a:t>
            </a:r>
          </a:p>
        </p:txBody>
      </p:sp>
      <p:sp>
        <p:nvSpPr>
          <p:cNvPr id="9" name="Content Placeholder 7">
            <a:extLst>
              <a:ext uri="{FF2B5EF4-FFF2-40B4-BE49-F238E27FC236}">
                <a16:creationId xmlns:a16="http://schemas.microsoft.com/office/drawing/2014/main" id="{9D8474A5-0F04-C962-087F-B25FB604586C}"/>
              </a:ext>
            </a:extLst>
          </p:cNvPr>
          <p:cNvSpPr txBox="1">
            <a:spLocks/>
          </p:cNvSpPr>
          <p:nvPr/>
        </p:nvSpPr>
        <p:spPr bwMode="auto">
          <a:xfrm>
            <a:off x="457198" y="4167792"/>
            <a:ext cx="8229603" cy="1957126"/>
          </a:xfrm>
          <a:prstGeom prst="flowChartAlternateProcess">
            <a:avLst/>
          </a:prstGeom>
          <a:solidFill>
            <a:srgbClr val="FCF8E8"/>
          </a:solidFill>
          <a:ln w="15875">
            <a:solidFill>
              <a:srgbClr val="002060"/>
            </a:solidFill>
          </a:ln>
          <a:effectLst/>
        </p:spPr>
        <p:txBody>
          <a:bodyPr vert="horz" wrap="square" lIns="0" tIns="0" rIns="0" bIns="0" numCol="1" rtlCol="0" anchor="t" anchorCtr="0" compatLnSpc="1">
            <a:prstTxWarp prst="textNoShape">
              <a:avLst/>
            </a:prstTxWarp>
          </a:bodyPr>
          <a:lstStyle>
            <a:lvl1pPr marL="342900" indent="-342900" algn="l" defTabSz="857250" rtl="0" eaLnBrk="0" fontAlgn="base" hangingPunct="0">
              <a:spcBef>
                <a:spcPct val="20000"/>
              </a:spcBef>
              <a:spcAft>
                <a:spcPct val="20000"/>
              </a:spcAft>
              <a:buSzPct val="80000"/>
              <a:buFont typeface="Verdana" pitchFamily="34" charset="0"/>
              <a:defRPr sz="2000">
                <a:solidFill>
                  <a:schemeClr val="tx1"/>
                </a:solidFill>
                <a:latin typeface="+mn-lt"/>
                <a:ea typeface="+mn-ea"/>
                <a:cs typeface="+mn-cs"/>
              </a:defRPr>
            </a:lvl1pPr>
            <a:lvl2pPr marL="358775" indent="-244475"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2pPr>
            <a:lvl3pPr marL="714375" indent="-247650"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3pPr>
            <a:lvl4pPr marL="1066800" indent="-247650"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4pPr>
            <a:lvl5pPr marL="1428750" indent="-257175"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5pPr>
            <a:lvl6pPr marL="18859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6pPr>
            <a:lvl7pPr marL="23431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7pPr>
            <a:lvl8pPr marL="28003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8pPr>
            <a:lvl9pPr marL="32575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9pPr>
          </a:lstStyle>
          <a:p>
            <a:pPr marL="114300" indent="0">
              <a:defRPr/>
            </a:pPr>
            <a:r>
              <a:rPr lang="en-AU" altLang="en-US" sz="1600" dirty="0"/>
              <a:t>Marketing can minimise dissonance through effective communication with purchasers.</a:t>
            </a:r>
          </a:p>
          <a:p>
            <a:pPr marL="114300" indent="0">
              <a:defRPr/>
            </a:pPr>
            <a:r>
              <a:rPr lang="en-AU" altLang="en-US" sz="1600" dirty="0"/>
              <a:t>Consumers seek to reduce dissonance by justifying their purchase decision and may:</a:t>
            </a:r>
          </a:p>
          <a:p>
            <a:pPr marL="400050" indent="-285750">
              <a:buFont typeface="Arial" panose="020B0604020202020204" pitchFamily="34" charset="0"/>
              <a:buChar char="•"/>
              <a:defRPr/>
            </a:pPr>
            <a:r>
              <a:rPr lang="en-AU" altLang="en-US" sz="1600" dirty="0"/>
              <a:t>seek information that reinforces positive ideas about the purchase</a:t>
            </a:r>
          </a:p>
          <a:p>
            <a:pPr marL="400050" indent="-285750">
              <a:buFont typeface="Arial" panose="020B0604020202020204" pitchFamily="34" charset="0"/>
              <a:buChar char="•"/>
              <a:defRPr/>
            </a:pPr>
            <a:r>
              <a:rPr lang="en-AU" altLang="en-US" sz="1600" dirty="0"/>
              <a:t>deliberately seek contrary information so as to refute it</a:t>
            </a:r>
          </a:p>
          <a:p>
            <a:pPr marL="400050" indent="-285750">
              <a:buFont typeface="Arial" panose="020B0604020202020204" pitchFamily="34" charset="0"/>
              <a:buChar char="•"/>
              <a:defRPr/>
            </a:pPr>
            <a:r>
              <a:rPr lang="en-AU" sz="1600" dirty="0"/>
              <a:t>change their attitudes to conform to the decision.</a:t>
            </a:r>
            <a:endParaRPr lang="en-AU" altLang="en-US" sz="1600" dirty="0"/>
          </a:p>
        </p:txBody>
      </p:sp>
    </p:spTree>
    <p:extLst>
      <p:ext uri="{BB962C8B-B14F-4D97-AF65-F5344CB8AC3E}">
        <p14:creationId xmlns:p14="http://schemas.microsoft.com/office/powerpoint/2010/main" val="1162706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0">
                                            <p:bg/>
                                          </p:spTgt>
                                        </p:tgtEl>
                                        <p:attrNameLst>
                                          <p:attrName>style.visibility</p:attrName>
                                        </p:attrNameLst>
                                      </p:cBhvr>
                                      <p:to>
                                        <p:strVal val="visible"/>
                                      </p:to>
                                    </p:set>
                                    <p:animEffect transition="in" filter="wipe(left)">
                                      <p:cBhvr>
                                        <p:cTn id="7" dur="500"/>
                                        <p:tgtEl>
                                          <p:spTgt spid="30">
                                            <p:bg/>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0">
                                            <p:txEl>
                                              <p:pRg st="0" end="0"/>
                                            </p:txEl>
                                          </p:spTgt>
                                        </p:tgtEl>
                                        <p:attrNameLst>
                                          <p:attrName>style.visibility</p:attrName>
                                        </p:attrNameLst>
                                      </p:cBhvr>
                                      <p:to>
                                        <p:strVal val="visible"/>
                                      </p:to>
                                    </p:set>
                                    <p:animEffect transition="in" filter="wipe(left)">
                                      <p:cBhvr>
                                        <p:cTn id="11" dur="500"/>
                                        <p:tgtEl>
                                          <p:spTgt spid="30">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4"/>
                                        </p:tgtEl>
                                        <p:attrNameLst>
                                          <p:attrName>style.visibility</p:attrName>
                                        </p:attrNameLst>
                                      </p:cBhvr>
                                      <p:to>
                                        <p:strVal val="visible"/>
                                      </p:to>
                                    </p:set>
                                    <p:animEffect transition="in" filter="wipe(left)">
                                      <p:cBhvr>
                                        <p:cTn id="15" dur="1000"/>
                                        <p:tgtEl>
                                          <p:spTgt spid="34"/>
                                        </p:tgtEl>
                                      </p:cBhvr>
                                    </p:animEffect>
                                  </p:childTnLst>
                                </p:cTn>
                              </p:par>
                            </p:childTnLst>
                          </p:cTn>
                        </p:par>
                        <p:par>
                          <p:cTn id="16" fill="hold">
                            <p:stCondLst>
                              <p:cond delay="2000"/>
                            </p:stCondLst>
                            <p:childTnLst>
                              <p:par>
                                <p:cTn id="17" presetID="22" presetClass="entr" presetSubtype="8"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left)">
                                      <p:cBhvr>
                                        <p:cTn id="19" dur="1000"/>
                                        <p:tgtEl>
                                          <p:spTgt spid="8"/>
                                        </p:tgtEl>
                                      </p:cBhvr>
                                    </p:animEffect>
                                  </p:childTnLst>
                                </p:cTn>
                              </p:par>
                            </p:childTnLst>
                          </p:cTn>
                        </p:par>
                        <p:par>
                          <p:cTn id="20" fill="hold">
                            <p:stCondLst>
                              <p:cond delay="3000"/>
                            </p:stCondLst>
                            <p:childTnLst>
                              <p:par>
                                <p:cTn id="21" presetID="22" presetClass="entr" presetSubtype="8"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wipe(left)">
                                      <p:cBhvr>
                                        <p:cTn id="23"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build="p" animBg="1"/>
      <p:bldP spid="34" grpId="0" animBg="1"/>
      <p:bldP spid="8" grpId="0" animBg="1"/>
      <p:bldP spid="9" grpId="0" animBg="1"/>
    </p:bldLst>
  </p:timing>
</p:sld>
</file>

<file path=ppt/theme/theme1.xml><?xml version="1.0" encoding="utf-8"?>
<a:theme xmlns:a="http://schemas.openxmlformats.org/drawingml/2006/main" name="2_508 Lecture">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508 Lecture">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Metadata/LabelInfo.xml><?xml version="1.0" encoding="utf-8"?>
<clbl:labelList xmlns:clbl="http://schemas.microsoft.com/office/2020/mipLabelMetadata">
  <clbl:label id="{5583b3fa-365b-4fa2-9885-a560b35483b3}" enabled="1" method="Standard" siteId="{df7f7579-3e9c-4a7e-b844-420280f53859}" contentBits="1" removed="0"/>
</clbl:labelList>
</file>

<file path=docProps/app.xml><?xml version="1.0" encoding="utf-8"?>
<Properties xmlns="http://schemas.openxmlformats.org/officeDocument/2006/extended-properties" xmlns:vt="http://schemas.openxmlformats.org/officeDocument/2006/docPropsVTypes">
  <TotalTime>3454</TotalTime>
  <Words>2313</Words>
  <Application>Microsoft Office PowerPoint</Application>
  <PresentationFormat>On-screen Show (4:3)</PresentationFormat>
  <Paragraphs>251</Paragraphs>
  <Slides>28</Slides>
  <Notes>24</Notes>
  <HiddenSlides>0</HiddenSlides>
  <MMClips>2</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28</vt:i4>
      </vt:variant>
    </vt:vector>
  </HeadingPairs>
  <TitlesOfParts>
    <vt:vector size="39" baseType="lpstr">
      <vt:lpstr>ＭＳ Ｐゴシック</vt:lpstr>
      <vt:lpstr>Arial</vt:lpstr>
      <vt:lpstr>Calibri</vt:lpstr>
      <vt:lpstr>Noto Sans Symbols</vt:lpstr>
      <vt:lpstr>Open Sans</vt:lpstr>
      <vt:lpstr>Symbol</vt:lpstr>
      <vt:lpstr>Times New Roman</vt:lpstr>
      <vt:lpstr>Verdana</vt:lpstr>
      <vt:lpstr>Wingdings</vt:lpstr>
      <vt:lpstr>2_508 Lecture</vt:lpstr>
      <vt:lpstr>508 Lecture</vt:lpstr>
      <vt:lpstr>Principles of Marketing</vt:lpstr>
      <vt:lpstr>Consumer markets and consumer behaviour</vt:lpstr>
      <vt:lpstr>Where would you find Consumer Behaviour on our Marketing Process flowchart? </vt:lpstr>
      <vt:lpstr>Consumer markets and consumer behaviour</vt:lpstr>
      <vt:lpstr>Model of buyer behaviour</vt:lpstr>
      <vt:lpstr>Consumer markets and consumer behaviour</vt:lpstr>
      <vt:lpstr>Factors influencing consumer behaviour</vt:lpstr>
      <vt:lpstr>Characteristics affecting consumer behaviour</vt:lpstr>
      <vt:lpstr>Characteristics affecting consumer behaviour</vt:lpstr>
      <vt:lpstr>Characteristics affecting consumer behaviour</vt:lpstr>
      <vt:lpstr>Consumer markets and consumer behaviour</vt:lpstr>
      <vt:lpstr>Consumer markets and consumer behaviour</vt:lpstr>
      <vt:lpstr>Consumer markets and consumer behaviour</vt:lpstr>
      <vt:lpstr>Consumer markets and consumer behaviour</vt:lpstr>
      <vt:lpstr>Consumer markets and consumer behaviour</vt:lpstr>
      <vt:lpstr>Consumer markets and consumer behaviour</vt:lpstr>
      <vt:lpstr>Maslow’s hierarchy of needs</vt:lpstr>
      <vt:lpstr>Consumer markets and consumer behaviour</vt:lpstr>
      <vt:lpstr>Consumer markets and consumer behaviour</vt:lpstr>
      <vt:lpstr>What is a decision…..Key consumer decisions</vt:lpstr>
      <vt:lpstr>Consumer Decision-Making Process</vt:lpstr>
      <vt:lpstr>The buyer decision process</vt:lpstr>
      <vt:lpstr>The buyer decision process</vt:lpstr>
      <vt:lpstr>The buyer decision process</vt:lpstr>
      <vt:lpstr>The buyer decision process</vt:lpstr>
      <vt:lpstr>The ‘evaluation of alternatives’ stage; examples of consumer criteria used</vt:lpstr>
      <vt:lpstr>The buyer decision process</vt:lpstr>
      <vt:lpstr>The buyer decision process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Principles of Marketing</dc:title>
  <dc:creator>Helen Eastwood</dc:creator>
  <cp:lastModifiedBy>Sean Doherty</cp:lastModifiedBy>
  <cp:revision>87</cp:revision>
  <dcterms:created xsi:type="dcterms:W3CDTF">2020-08-12T05:06:07Z</dcterms:created>
  <dcterms:modified xsi:type="dcterms:W3CDTF">2025-11-21T07:06:48Z</dcterms:modified>
</cp:coreProperties>
</file>